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56" r:id="rId2"/>
    <p:sldId id="284" r:id="rId3"/>
    <p:sldId id="261" r:id="rId4"/>
    <p:sldId id="258" r:id="rId5"/>
    <p:sldId id="263" r:id="rId6"/>
    <p:sldId id="257" r:id="rId7"/>
    <p:sldId id="287" r:id="rId8"/>
    <p:sldId id="289" r:id="rId9"/>
    <p:sldId id="268" r:id="rId10"/>
    <p:sldId id="279" r:id="rId11"/>
    <p:sldId id="267" r:id="rId12"/>
    <p:sldId id="269" r:id="rId13"/>
    <p:sldId id="270" r:id="rId14"/>
    <p:sldId id="271" r:id="rId15"/>
    <p:sldId id="274" r:id="rId16"/>
    <p:sldId id="273" r:id="rId17"/>
    <p:sldId id="276" r:id="rId18"/>
    <p:sldId id="278" r:id="rId19"/>
    <p:sldId id="275" r:id="rId20"/>
    <p:sldId id="277" r:id="rId21"/>
    <p:sldId id="280" r:id="rId22"/>
    <p:sldId id="285" r:id="rId23"/>
    <p:sldId id="281" r:id="rId24"/>
    <p:sldId id="283" r:id="rId25"/>
    <p:sldId id="288" r:id="rId26"/>
    <p:sldId id="282" r:id="rId27"/>
    <p:sldId id="259" r:id="rId28"/>
    <p:sldId id="290" r:id="rId29"/>
    <p:sldId id="286"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varScale="1">
        <p:scale>
          <a:sx n="105" d="100"/>
          <a:sy n="105" d="100"/>
        </p:scale>
        <p:origin x="82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_rels/data2.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6FF3701-45DE-4332-85CE-F9AAAD7CD9AF}"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5A59AFC8-6699-4791-8C2F-B7FA9D41E005}">
      <dgm:prSet/>
      <dgm:spPr/>
      <dgm:t>
        <a:bodyPr/>
        <a:lstStyle/>
        <a:p>
          <a:r>
            <a:rPr lang="en-US" b="1" i="0" baseline="0" dirty="0"/>
            <a:t>Perturb-seq / </a:t>
          </a:r>
          <a:r>
            <a:rPr lang="en-US" b="1" i="0" baseline="0" dirty="0" err="1"/>
            <a:t>Mixscape</a:t>
          </a:r>
          <a:r>
            <a:rPr lang="en-US" b="0" i="0" baseline="0" dirty="0"/>
            <a:t> – CRISPR perturbations with transcriptomic readouts for </a:t>
          </a:r>
          <a:r>
            <a:rPr lang="en-US" b="1" i="0" baseline="0" dirty="0"/>
            <a:t>validation.</a:t>
          </a:r>
          <a:endParaRPr lang="en-US" b="1" dirty="0"/>
        </a:p>
      </dgm:t>
    </dgm:pt>
    <dgm:pt modelId="{2325147D-06A1-430E-8597-E111E711F301}" type="parTrans" cxnId="{191EE81E-7F10-42F6-BC7C-2C593EEA863A}">
      <dgm:prSet/>
      <dgm:spPr/>
      <dgm:t>
        <a:bodyPr/>
        <a:lstStyle/>
        <a:p>
          <a:endParaRPr lang="en-US"/>
        </a:p>
      </dgm:t>
    </dgm:pt>
    <dgm:pt modelId="{5763D4E9-1CF5-4905-8E16-E546996F07A8}" type="sibTrans" cxnId="{191EE81E-7F10-42F6-BC7C-2C593EEA863A}">
      <dgm:prSet/>
      <dgm:spPr/>
      <dgm:t>
        <a:bodyPr/>
        <a:lstStyle/>
        <a:p>
          <a:endParaRPr lang="en-US"/>
        </a:p>
      </dgm:t>
    </dgm:pt>
    <dgm:pt modelId="{6DE2D6FA-ACED-4DD5-8758-4F65DFFAD282}">
      <dgm:prSet/>
      <dgm:spPr/>
      <dgm:t>
        <a:bodyPr/>
        <a:lstStyle/>
        <a:p>
          <a:r>
            <a:rPr lang="en-US" b="1" i="0" baseline="0" dirty="0" err="1"/>
            <a:t>scRNA</a:t>
          </a:r>
          <a:r>
            <a:rPr lang="en-US" b="1" i="0" baseline="0" dirty="0"/>
            <a:t>-seq </a:t>
          </a:r>
          <a:r>
            <a:rPr lang="en-US" b="0" i="0" baseline="0" dirty="0"/>
            <a:t>– Multi-</a:t>
          </a:r>
          <a:r>
            <a:rPr lang="en-US" b="0" i="0" baseline="0" dirty="0" err="1"/>
            <a:t>omic</a:t>
          </a:r>
          <a:r>
            <a:rPr lang="en-US" b="0" i="0" baseline="0" dirty="0"/>
            <a:t> single-cell data.</a:t>
          </a:r>
          <a:endParaRPr lang="en-US" dirty="0"/>
        </a:p>
      </dgm:t>
    </dgm:pt>
    <dgm:pt modelId="{1D5A7600-DBD6-43BC-B94D-3FD31A4AC460}" type="parTrans" cxnId="{5CFB4E4A-D86A-457A-888D-8116E2668E36}">
      <dgm:prSet/>
      <dgm:spPr/>
      <dgm:t>
        <a:bodyPr/>
        <a:lstStyle/>
        <a:p>
          <a:endParaRPr lang="en-US"/>
        </a:p>
      </dgm:t>
    </dgm:pt>
    <dgm:pt modelId="{B043B846-413F-4CD1-B0E5-5F9F144EEC26}" type="sibTrans" cxnId="{5CFB4E4A-D86A-457A-888D-8116E2668E36}">
      <dgm:prSet/>
      <dgm:spPr/>
      <dgm:t>
        <a:bodyPr/>
        <a:lstStyle/>
        <a:p>
          <a:endParaRPr lang="en-US"/>
        </a:p>
      </dgm:t>
    </dgm:pt>
    <dgm:pt modelId="{18D6ADEF-D6AB-42A1-BB39-A90A446EAA0C}">
      <dgm:prSet/>
      <dgm:spPr/>
      <dgm:t>
        <a:bodyPr/>
        <a:lstStyle/>
        <a:p>
          <a:r>
            <a:rPr lang="en-US" b="1" i="0" baseline="0" dirty="0"/>
            <a:t>Simulated GRNs</a:t>
          </a:r>
          <a:r>
            <a:rPr lang="en-US" b="0" i="0" baseline="0" dirty="0"/>
            <a:t> – In-silico perturbation environments for </a:t>
          </a:r>
          <a:r>
            <a:rPr lang="en-US" b="1" i="0" baseline="0" dirty="0"/>
            <a:t>model training.</a:t>
          </a:r>
          <a:endParaRPr lang="en-US" b="1" dirty="0"/>
        </a:p>
      </dgm:t>
    </dgm:pt>
    <dgm:pt modelId="{0210C5A9-0638-414F-ABED-9409B76CC4C1}" type="parTrans" cxnId="{454A77ED-9065-40FF-9CED-868E575E6EF3}">
      <dgm:prSet/>
      <dgm:spPr/>
      <dgm:t>
        <a:bodyPr/>
        <a:lstStyle/>
        <a:p>
          <a:endParaRPr lang="en-US"/>
        </a:p>
      </dgm:t>
    </dgm:pt>
    <dgm:pt modelId="{5C1C6139-9D97-431D-B442-4388C9EFD49D}" type="sibTrans" cxnId="{454A77ED-9065-40FF-9CED-868E575E6EF3}">
      <dgm:prSet/>
      <dgm:spPr/>
      <dgm:t>
        <a:bodyPr/>
        <a:lstStyle/>
        <a:p>
          <a:endParaRPr lang="en-US"/>
        </a:p>
      </dgm:t>
    </dgm:pt>
    <dgm:pt modelId="{3D582306-406A-4688-8FE0-5B22D99776E3}" type="pres">
      <dgm:prSet presAssocID="{36FF3701-45DE-4332-85CE-F9AAAD7CD9AF}" presName="hierChild1" presStyleCnt="0">
        <dgm:presLayoutVars>
          <dgm:chPref val="1"/>
          <dgm:dir/>
          <dgm:animOne val="branch"/>
          <dgm:animLvl val="lvl"/>
          <dgm:resizeHandles/>
        </dgm:presLayoutVars>
      </dgm:prSet>
      <dgm:spPr/>
    </dgm:pt>
    <dgm:pt modelId="{B0511DC8-99C6-4DAC-96FF-E669BCABCB9E}" type="pres">
      <dgm:prSet presAssocID="{5A59AFC8-6699-4791-8C2F-B7FA9D41E005}" presName="hierRoot1" presStyleCnt="0"/>
      <dgm:spPr/>
    </dgm:pt>
    <dgm:pt modelId="{E95061CA-2CAA-4202-90FE-DA282C18D7F8}" type="pres">
      <dgm:prSet presAssocID="{5A59AFC8-6699-4791-8C2F-B7FA9D41E005}" presName="composite" presStyleCnt="0"/>
      <dgm:spPr/>
    </dgm:pt>
    <dgm:pt modelId="{26122A1E-4B78-4EAE-B426-DE9975110259}" type="pres">
      <dgm:prSet presAssocID="{5A59AFC8-6699-4791-8C2F-B7FA9D41E005}" presName="background" presStyleLbl="node0" presStyleIdx="0" presStyleCnt="3"/>
      <dgm:spPr/>
    </dgm:pt>
    <dgm:pt modelId="{DD6ED2D3-287F-4F0A-B231-DA877C50F933}" type="pres">
      <dgm:prSet presAssocID="{5A59AFC8-6699-4791-8C2F-B7FA9D41E005}" presName="text" presStyleLbl="fgAcc0" presStyleIdx="0" presStyleCnt="3">
        <dgm:presLayoutVars>
          <dgm:chPref val="3"/>
        </dgm:presLayoutVars>
      </dgm:prSet>
      <dgm:spPr/>
    </dgm:pt>
    <dgm:pt modelId="{78C09AA5-0CBC-40C6-ADF0-EA928C8E87EB}" type="pres">
      <dgm:prSet presAssocID="{5A59AFC8-6699-4791-8C2F-B7FA9D41E005}" presName="hierChild2" presStyleCnt="0"/>
      <dgm:spPr/>
    </dgm:pt>
    <dgm:pt modelId="{17CE2374-6A5C-479D-B44D-8D785AB53852}" type="pres">
      <dgm:prSet presAssocID="{6DE2D6FA-ACED-4DD5-8758-4F65DFFAD282}" presName="hierRoot1" presStyleCnt="0"/>
      <dgm:spPr/>
    </dgm:pt>
    <dgm:pt modelId="{C0AF88F7-B051-4EFD-AFCB-B973F09529BA}" type="pres">
      <dgm:prSet presAssocID="{6DE2D6FA-ACED-4DD5-8758-4F65DFFAD282}" presName="composite" presStyleCnt="0"/>
      <dgm:spPr/>
    </dgm:pt>
    <dgm:pt modelId="{E71E7F66-E1D1-420F-B147-D2D207BE2F83}" type="pres">
      <dgm:prSet presAssocID="{6DE2D6FA-ACED-4DD5-8758-4F65DFFAD282}" presName="background" presStyleLbl="node0" presStyleIdx="1" presStyleCnt="3"/>
      <dgm:spPr/>
    </dgm:pt>
    <dgm:pt modelId="{4048A0B6-0051-40AC-98C9-1318C17D0FD5}" type="pres">
      <dgm:prSet presAssocID="{6DE2D6FA-ACED-4DD5-8758-4F65DFFAD282}" presName="text" presStyleLbl="fgAcc0" presStyleIdx="1" presStyleCnt="3">
        <dgm:presLayoutVars>
          <dgm:chPref val="3"/>
        </dgm:presLayoutVars>
      </dgm:prSet>
      <dgm:spPr/>
    </dgm:pt>
    <dgm:pt modelId="{B824CC7A-E0C4-4EBB-B36F-D7CC5E87A3ED}" type="pres">
      <dgm:prSet presAssocID="{6DE2D6FA-ACED-4DD5-8758-4F65DFFAD282}" presName="hierChild2" presStyleCnt="0"/>
      <dgm:spPr/>
    </dgm:pt>
    <dgm:pt modelId="{C5747B4D-282D-4ACC-AE90-411421DA4A10}" type="pres">
      <dgm:prSet presAssocID="{18D6ADEF-D6AB-42A1-BB39-A90A446EAA0C}" presName="hierRoot1" presStyleCnt="0"/>
      <dgm:spPr/>
    </dgm:pt>
    <dgm:pt modelId="{CA3EE9E2-CBF4-43E6-8DE6-EE9DAF07CEE0}" type="pres">
      <dgm:prSet presAssocID="{18D6ADEF-D6AB-42A1-BB39-A90A446EAA0C}" presName="composite" presStyleCnt="0"/>
      <dgm:spPr/>
    </dgm:pt>
    <dgm:pt modelId="{6CAFF1A9-0674-41C6-98EB-DD6DCB49F8F8}" type="pres">
      <dgm:prSet presAssocID="{18D6ADEF-D6AB-42A1-BB39-A90A446EAA0C}" presName="background" presStyleLbl="node0" presStyleIdx="2" presStyleCnt="3"/>
      <dgm:spPr/>
    </dgm:pt>
    <dgm:pt modelId="{9B2A9C51-E454-4C17-9E16-41BB61A53E0E}" type="pres">
      <dgm:prSet presAssocID="{18D6ADEF-D6AB-42A1-BB39-A90A446EAA0C}" presName="text" presStyleLbl="fgAcc0" presStyleIdx="2" presStyleCnt="3">
        <dgm:presLayoutVars>
          <dgm:chPref val="3"/>
        </dgm:presLayoutVars>
      </dgm:prSet>
      <dgm:spPr/>
    </dgm:pt>
    <dgm:pt modelId="{F77B110C-508A-4D54-AE1A-C7874DF14F1B}" type="pres">
      <dgm:prSet presAssocID="{18D6ADEF-D6AB-42A1-BB39-A90A446EAA0C}" presName="hierChild2" presStyleCnt="0"/>
      <dgm:spPr/>
    </dgm:pt>
  </dgm:ptLst>
  <dgm:cxnLst>
    <dgm:cxn modelId="{191EE81E-7F10-42F6-BC7C-2C593EEA863A}" srcId="{36FF3701-45DE-4332-85CE-F9AAAD7CD9AF}" destId="{5A59AFC8-6699-4791-8C2F-B7FA9D41E005}" srcOrd="0" destOrd="0" parTransId="{2325147D-06A1-430E-8597-E111E711F301}" sibTransId="{5763D4E9-1CF5-4905-8E16-E546996F07A8}"/>
    <dgm:cxn modelId="{30AB1D2C-20D8-4AE6-B69F-542335B9B485}" type="presOf" srcId="{18D6ADEF-D6AB-42A1-BB39-A90A446EAA0C}" destId="{9B2A9C51-E454-4C17-9E16-41BB61A53E0E}" srcOrd="0" destOrd="0" presId="urn:microsoft.com/office/officeart/2005/8/layout/hierarchy1"/>
    <dgm:cxn modelId="{5CFB4E4A-D86A-457A-888D-8116E2668E36}" srcId="{36FF3701-45DE-4332-85CE-F9AAAD7CD9AF}" destId="{6DE2D6FA-ACED-4DD5-8758-4F65DFFAD282}" srcOrd="1" destOrd="0" parTransId="{1D5A7600-DBD6-43BC-B94D-3FD31A4AC460}" sibTransId="{B043B846-413F-4CD1-B0E5-5F9F144EEC26}"/>
    <dgm:cxn modelId="{D54C344F-F80C-4794-BA55-B63FF626D0F5}" type="presOf" srcId="{36FF3701-45DE-4332-85CE-F9AAAD7CD9AF}" destId="{3D582306-406A-4688-8FE0-5B22D99776E3}" srcOrd="0" destOrd="0" presId="urn:microsoft.com/office/officeart/2005/8/layout/hierarchy1"/>
    <dgm:cxn modelId="{DFD3A89D-E3ED-4FC6-BB12-EF4034BF61B7}" type="presOf" srcId="{5A59AFC8-6699-4791-8C2F-B7FA9D41E005}" destId="{DD6ED2D3-287F-4F0A-B231-DA877C50F933}" srcOrd="0" destOrd="0" presId="urn:microsoft.com/office/officeart/2005/8/layout/hierarchy1"/>
    <dgm:cxn modelId="{FFF011ED-DE25-4E89-A73A-A37C497A0C9D}" type="presOf" srcId="{6DE2D6FA-ACED-4DD5-8758-4F65DFFAD282}" destId="{4048A0B6-0051-40AC-98C9-1318C17D0FD5}" srcOrd="0" destOrd="0" presId="urn:microsoft.com/office/officeart/2005/8/layout/hierarchy1"/>
    <dgm:cxn modelId="{454A77ED-9065-40FF-9CED-868E575E6EF3}" srcId="{36FF3701-45DE-4332-85CE-F9AAAD7CD9AF}" destId="{18D6ADEF-D6AB-42A1-BB39-A90A446EAA0C}" srcOrd="2" destOrd="0" parTransId="{0210C5A9-0638-414F-ABED-9409B76CC4C1}" sibTransId="{5C1C6139-9D97-431D-B442-4388C9EFD49D}"/>
    <dgm:cxn modelId="{32528189-13F9-4C30-9A8A-319B69F5F79E}" type="presParOf" srcId="{3D582306-406A-4688-8FE0-5B22D99776E3}" destId="{B0511DC8-99C6-4DAC-96FF-E669BCABCB9E}" srcOrd="0" destOrd="0" presId="urn:microsoft.com/office/officeart/2005/8/layout/hierarchy1"/>
    <dgm:cxn modelId="{3567021D-8FA6-4DCD-B4E6-3EE6CE5F95D7}" type="presParOf" srcId="{B0511DC8-99C6-4DAC-96FF-E669BCABCB9E}" destId="{E95061CA-2CAA-4202-90FE-DA282C18D7F8}" srcOrd="0" destOrd="0" presId="urn:microsoft.com/office/officeart/2005/8/layout/hierarchy1"/>
    <dgm:cxn modelId="{1EA1DA41-3C68-4148-ADDF-8A6F78B9F19F}" type="presParOf" srcId="{E95061CA-2CAA-4202-90FE-DA282C18D7F8}" destId="{26122A1E-4B78-4EAE-B426-DE9975110259}" srcOrd="0" destOrd="0" presId="urn:microsoft.com/office/officeart/2005/8/layout/hierarchy1"/>
    <dgm:cxn modelId="{1F704145-3DD1-4642-99E1-4A1491B14360}" type="presParOf" srcId="{E95061CA-2CAA-4202-90FE-DA282C18D7F8}" destId="{DD6ED2D3-287F-4F0A-B231-DA877C50F933}" srcOrd="1" destOrd="0" presId="urn:microsoft.com/office/officeart/2005/8/layout/hierarchy1"/>
    <dgm:cxn modelId="{01D134C3-369A-4EE6-BDF3-57D266E1083D}" type="presParOf" srcId="{B0511DC8-99C6-4DAC-96FF-E669BCABCB9E}" destId="{78C09AA5-0CBC-40C6-ADF0-EA928C8E87EB}" srcOrd="1" destOrd="0" presId="urn:microsoft.com/office/officeart/2005/8/layout/hierarchy1"/>
    <dgm:cxn modelId="{2613AAC4-A3C5-4F62-A0AB-D9B7C2884BDE}" type="presParOf" srcId="{3D582306-406A-4688-8FE0-5B22D99776E3}" destId="{17CE2374-6A5C-479D-B44D-8D785AB53852}" srcOrd="1" destOrd="0" presId="urn:microsoft.com/office/officeart/2005/8/layout/hierarchy1"/>
    <dgm:cxn modelId="{70ADC9B2-E822-4172-B4FB-C8E9DBA0571A}" type="presParOf" srcId="{17CE2374-6A5C-479D-B44D-8D785AB53852}" destId="{C0AF88F7-B051-4EFD-AFCB-B973F09529BA}" srcOrd="0" destOrd="0" presId="urn:microsoft.com/office/officeart/2005/8/layout/hierarchy1"/>
    <dgm:cxn modelId="{3DF68FA6-0686-4451-81D8-3907170C0D8D}" type="presParOf" srcId="{C0AF88F7-B051-4EFD-AFCB-B973F09529BA}" destId="{E71E7F66-E1D1-420F-B147-D2D207BE2F83}" srcOrd="0" destOrd="0" presId="urn:microsoft.com/office/officeart/2005/8/layout/hierarchy1"/>
    <dgm:cxn modelId="{AF75FECF-6B8F-468D-88C5-F7A240FE42B7}" type="presParOf" srcId="{C0AF88F7-B051-4EFD-AFCB-B973F09529BA}" destId="{4048A0B6-0051-40AC-98C9-1318C17D0FD5}" srcOrd="1" destOrd="0" presId="urn:microsoft.com/office/officeart/2005/8/layout/hierarchy1"/>
    <dgm:cxn modelId="{ADCA9150-4F77-4BE0-AAB6-9C0B2DDE940F}" type="presParOf" srcId="{17CE2374-6A5C-479D-B44D-8D785AB53852}" destId="{B824CC7A-E0C4-4EBB-B36F-D7CC5E87A3ED}" srcOrd="1" destOrd="0" presId="urn:microsoft.com/office/officeart/2005/8/layout/hierarchy1"/>
    <dgm:cxn modelId="{33EBEFE9-EDE5-4B11-829B-68DE2EF4DFD3}" type="presParOf" srcId="{3D582306-406A-4688-8FE0-5B22D99776E3}" destId="{C5747B4D-282D-4ACC-AE90-411421DA4A10}" srcOrd="2" destOrd="0" presId="urn:microsoft.com/office/officeart/2005/8/layout/hierarchy1"/>
    <dgm:cxn modelId="{B76D1C12-EF3D-4371-A885-D902982D3283}" type="presParOf" srcId="{C5747B4D-282D-4ACC-AE90-411421DA4A10}" destId="{CA3EE9E2-CBF4-43E6-8DE6-EE9DAF07CEE0}" srcOrd="0" destOrd="0" presId="urn:microsoft.com/office/officeart/2005/8/layout/hierarchy1"/>
    <dgm:cxn modelId="{CC9B1FC0-4922-492F-97CE-9A0F24DF323D}" type="presParOf" srcId="{CA3EE9E2-CBF4-43E6-8DE6-EE9DAF07CEE0}" destId="{6CAFF1A9-0674-41C6-98EB-DD6DCB49F8F8}" srcOrd="0" destOrd="0" presId="urn:microsoft.com/office/officeart/2005/8/layout/hierarchy1"/>
    <dgm:cxn modelId="{1D11312E-9369-4325-B9A9-BE540F064FC9}" type="presParOf" srcId="{CA3EE9E2-CBF4-43E6-8DE6-EE9DAF07CEE0}" destId="{9B2A9C51-E454-4C17-9E16-41BB61A53E0E}" srcOrd="1" destOrd="0" presId="urn:microsoft.com/office/officeart/2005/8/layout/hierarchy1"/>
    <dgm:cxn modelId="{D1399B88-800B-441F-817A-948A7121854C}" type="presParOf" srcId="{C5747B4D-282D-4ACC-AE90-411421DA4A10}" destId="{F77B110C-508A-4D54-AE1A-C7874DF14F1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EA3DAC8-B125-4C32-924D-72DB447009DA}"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461618B-C7CC-498A-A583-FE6616441ECC}">
      <dgm:prSet/>
      <dgm:spPr/>
      <dgm:t>
        <a:bodyPr/>
        <a:lstStyle/>
        <a:p>
          <a:r>
            <a:rPr lang="en-CA"/>
            <a:t>Establishes </a:t>
          </a:r>
          <a:r>
            <a:rPr lang="en-CA" b="1"/>
            <a:t>digital twin</a:t>
          </a:r>
          <a:r>
            <a:rPr lang="en-CA"/>
            <a:t> models for predictive cellular perturbation.</a:t>
          </a:r>
          <a:endParaRPr lang="en-US"/>
        </a:p>
      </dgm:t>
    </dgm:pt>
    <dgm:pt modelId="{3F9E3878-BE51-438B-A213-F1C51AADB811}" type="parTrans" cxnId="{912096D5-9AA4-4626-AAFC-C64178D81399}">
      <dgm:prSet/>
      <dgm:spPr/>
      <dgm:t>
        <a:bodyPr/>
        <a:lstStyle/>
        <a:p>
          <a:endParaRPr lang="en-US"/>
        </a:p>
      </dgm:t>
    </dgm:pt>
    <dgm:pt modelId="{F32DBA10-6844-4163-B847-827F85EA74B9}" type="sibTrans" cxnId="{912096D5-9AA4-4626-AAFC-C64178D81399}">
      <dgm:prSet/>
      <dgm:spPr/>
      <dgm:t>
        <a:bodyPr/>
        <a:lstStyle/>
        <a:p>
          <a:endParaRPr lang="en-US"/>
        </a:p>
      </dgm:t>
    </dgm:pt>
    <dgm:pt modelId="{D4FC6A99-6BEB-48AC-95CE-FD84AF85E040}">
      <dgm:prSet/>
      <dgm:spPr/>
      <dgm:t>
        <a:bodyPr/>
        <a:lstStyle/>
        <a:p>
          <a:r>
            <a:rPr lang="en-CA"/>
            <a:t>Bridges regression inference and policy optimization frameworks.</a:t>
          </a:r>
          <a:endParaRPr lang="en-US"/>
        </a:p>
      </dgm:t>
    </dgm:pt>
    <dgm:pt modelId="{24758EE2-E781-4EB5-A84D-766CB7C8BFCA}" type="parTrans" cxnId="{7A9735C9-A2C9-4223-897A-69255256EDA6}">
      <dgm:prSet/>
      <dgm:spPr/>
      <dgm:t>
        <a:bodyPr/>
        <a:lstStyle/>
        <a:p>
          <a:endParaRPr lang="en-US"/>
        </a:p>
      </dgm:t>
    </dgm:pt>
    <dgm:pt modelId="{5D869586-3656-46CB-8209-3C06784B81D2}" type="sibTrans" cxnId="{7A9735C9-A2C9-4223-897A-69255256EDA6}">
      <dgm:prSet/>
      <dgm:spPr/>
      <dgm:t>
        <a:bodyPr/>
        <a:lstStyle/>
        <a:p>
          <a:endParaRPr lang="en-US"/>
        </a:p>
      </dgm:t>
    </dgm:pt>
    <dgm:pt modelId="{0D2BEDF8-0F9A-4CA1-9C62-5FA953D3CDA6}">
      <dgm:prSet/>
      <dgm:spPr/>
      <dgm:t>
        <a:bodyPr/>
        <a:lstStyle/>
        <a:p>
          <a:r>
            <a:rPr lang="en-CA"/>
            <a:t>Facilitates future </a:t>
          </a:r>
          <a:r>
            <a:rPr lang="en-CA" b="1"/>
            <a:t>wet-lab validation</a:t>
          </a:r>
          <a:r>
            <a:rPr lang="en-CA"/>
            <a:t> of </a:t>
          </a:r>
          <a:r>
            <a:rPr lang="en-CA" i="1"/>
            <a:t>in silico</a:t>
          </a:r>
          <a:r>
            <a:rPr lang="en-CA"/>
            <a:t> predictions.</a:t>
          </a:r>
          <a:endParaRPr lang="en-US"/>
        </a:p>
      </dgm:t>
    </dgm:pt>
    <dgm:pt modelId="{B66D6702-DDCE-4400-BA4F-F9A7F62BF08D}" type="parTrans" cxnId="{A2C6FBFC-9390-4F34-8E57-2CF1AE479FE3}">
      <dgm:prSet/>
      <dgm:spPr/>
      <dgm:t>
        <a:bodyPr/>
        <a:lstStyle/>
        <a:p>
          <a:endParaRPr lang="en-US"/>
        </a:p>
      </dgm:t>
    </dgm:pt>
    <dgm:pt modelId="{FB03205B-ECAC-4944-809F-BE1C83743BA3}" type="sibTrans" cxnId="{A2C6FBFC-9390-4F34-8E57-2CF1AE479FE3}">
      <dgm:prSet/>
      <dgm:spPr/>
      <dgm:t>
        <a:bodyPr/>
        <a:lstStyle/>
        <a:p>
          <a:endParaRPr lang="en-US"/>
        </a:p>
      </dgm:t>
    </dgm:pt>
    <dgm:pt modelId="{E10F4281-1F89-4C81-AFE9-B5A744785824}">
      <dgm:prSet/>
      <dgm:spPr/>
      <dgm:t>
        <a:bodyPr/>
        <a:lstStyle/>
        <a:p>
          <a:r>
            <a:rPr lang="en-CA"/>
            <a:t>Supports regenerative medicine and therapeutic design via perturbation-aware modeling.</a:t>
          </a:r>
          <a:endParaRPr lang="en-US"/>
        </a:p>
      </dgm:t>
    </dgm:pt>
    <dgm:pt modelId="{44A70FF4-6D55-4655-B833-4F7C00DA66B2}" type="parTrans" cxnId="{74217F88-9C55-4D6D-AE79-A044DEF9B2FA}">
      <dgm:prSet/>
      <dgm:spPr/>
      <dgm:t>
        <a:bodyPr/>
        <a:lstStyle/>
        <a:p>
          <a:endParaRPr lang="en-US"/>
        </a:p>
      </dgm:t>
    </dgm:pt>
    <dgm:pt modelId="{90F91C33-CDAF-432C-A18A-4FE78C447088}" type="sibTrans" cxnId="{74217F88-9C55-4D6D-AE79-A044DEF9B2FA}">
      <dgm:prSet/>
      <dgm:spPr/>
      <dgm:t>
        <a:bodyPr/>
        <a:lstStyle/>
        <a:p>
          <a:endParaRPr lang="en-US"/>
        </a:p>
      </dgm:t>
    </dgm:pt>
    <dgm:pt modelId="{51F3E89B-C2B1-4BFA-B5D7-B671E53FDD47}" type="pres">
      <dgm:prSet presAssocID="{6EA3DAC8-B125-4C32-924D-72DB447009DA}" presName="root" presStyleCnt="0">
        <dgm:presLayoutVars>
          <dgm:dir/>
          <dgm:resizeHandles val="exact"/>
        </dgm:presLayoutVars>
      </dgm:prSet>
      <dgm:spPr/>
    </dgm:pt>
    <dgm:pt modelId="{5FD8ACA7-DC79-4738-AB24-EDE55CA4264F}" type="pres">
      <dgm:prSet presAssocID="{8461618B-C7CC-498A-A583-FE6616441ECC}" presName="compNode" presStyleCnt="0"/>
      <dgm:spPr/>
    </dgm:pt>
    <dgm:pt modelId="{DAC192B4-004C-44D7-9FC8-4C161BA277EF}" type="pres">
      <dgm:prSet presAssocID="{8461618B-C7CC-498A-A583-FE6616441EC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Nervous Face Outline"/>
        </a:ext>
      </dgm:extLst>
    </dgm:pt>
    <dgm:pt modelId="{6FD45210-81D1-4F23-A002-B91255821248}" type="pres">
      <dgm:prSet presAssocID="{8461618B-C7CC-498A-A583-FE6616441ECC}" presName="spaceRect" presStyleCnt="0"/>
      <dgm:spPr/>
    </dgm:pt>
    <dgm:pt modelId="{7E5E989E-9F77-42AC-B361-7BD391FCA46E}" type="pres">
      <dgm:prSet presAssocID="{8461618B-C7CC-498A-A583-FE6616441ECC}" presName="textRect" presStyleLbl="revTx" presStyleIdx="0" presStyleCnt="4">
        <dgm:presLayoutVars>
          <dgm:chMax val="1"/>
          <dgm:chPref val="1"/>
        </dgm:presLayoutVars>
      </dgm:prSet>
      <dgm:spPr/>
    </dgm:pt>
    <dgm:pt modelId="{F27A3A3E-EBA3-4784-B0F8-23C7C2A5C7AF}" type="pres">
      <dgm:prSet presAssocID="{F32DBA10-6844-4163-B847-827F85EA74B9}" presName="sibTrans" presStyleCnt="0"/>
      <dgm:spPr/>
    </dgm:pt>
    <dgm:pt modelId="{03EC9167-3294-4460-B2D9-E03897AD3D5F}" type="pres">
      <dgm:prSet presAssocID="{D4FC6A99-6BEB-48AC-95CE-FD84AF85E040}" presName="compNode" presStyleCnt="0"/>
      <dgm:spPr/>
    </dgm:pt>
    <dgm:pt modelId="{20E55158-48D3-43BE-B377-FB5AE9D8DC74}" type="pres">
      <dgm:prSet presAssocID="{D4FC6A99-6BEB-48AC-95CE-FD84AF85E04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850F78B7-C2E4-476C-AB01-83D6F64DDAA7}" type="pres">
      <dgm:prSet presAssocID="{D4FC6A99-6BEB-48AC-95CE-FD84AF85E040}" presName="spaceRect" presStyleCnt="0"/>
      <dgm:spPr/>
    </dgm:pt>
    <dgm:pt modelId="{29BAE0AE-C9CA-4FD7-83D5-D5C5981106ED}" type="pres">
      <dgm:prSet presAssocID="{D4FC6A99-6BEB-48AC-95CE-FD84AF85E040}" presName="textRect" presStyleLbl="revTx" presStyleIdx="1" presStyleCnt="4">
        <dgm:presLayoutVars>
          <dgm:chMax val="1"/>
          <dgm:chPref val="1"/>
        </dgm:presLayoutVars>
      </dgm:prSet>
      <dgm:spPr/>
    </dgm:pt>
    <dgm:pt modelId="{5705D9E8-6843-4A5E-BEAD-9B3D8E0625F5}" type="pres">
      <dgm:prSet presAssocID="{5D869586-3656-46CB-8209-3C06784B81D2}" presName="sibTrans" presStyleCnt="0"/>
      <dgm:spPr/>
    </dgm:pt>
    <dgm:pt modelId="{6B421497-0402-44A6-9D75-4120DE47ED4A}" type="pres">
      <dgm:prSet presAssocID="{0D2BEDF8-0F9A-4CA1-9C62-5FA953D3CDA6}" presName="compNode" presStyleCnt="0"/>
      <dgm:spPr/>
    </dgm:pt>
    <dgm:pt modelId="{20EA6B0D-6FD5-4E26-92EE-72EEB43A4C0A}" type="pres">
      <dgm:prSet presAssocID="{0D2BEDF8-0F9A-4CA1-9C62-5FA953D3CDA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ainbow"/>
        </a:ext>
      </dgm:extLst>
    </dgm:pt>
    <dgm:pt modelId="{D2AD75AC-F600-49FA-B464-C66A06980A5D}" type="pres">
      <dgm:prSet presAssocID="{0D2BEDF8-0F9A-4CA1-9C62-5FA953D3CDA6}" presName="spaceRect" presStyleCnt="0"/>
      <dgm:spPr/>
    </dgm:pt>
    <dgm:pt modelId="{35E58805-0CCF-47B6-BC47-5121C1AA37D2}" type="pres">
      <dgm:prSet presAssocID="{0D2BEDF8-0F9A-4CA1-9C62-5FA953D3CDA6}" presName="textRect" presStyleLbl="revTx" presStyleIdx="2" presStyleCnt="4">
        <dgm:presLayoutVars>
          <dgm:chMax val="1"/>
          <dgm:chPref val="1"/>
        </dgm:presLayoutVars>
      </dgm:prSet>
      <dgm:spPr/>
    </dgm:pt>
    <dgm:pt modelId="{2AE0FDD7-3BED-4080-AA3A-B33B76077D91}" type="pres">
      <dgm:prSet presAssocID="{FB03205B-ECAC-4944-809F-BE1C83743BA3}" presName="sibTrans" presStyleCnt="0"/>
      <dgm:spPr/>
    </dgm:pt>
    <dgm:pt modelId="{DD1E3980-0CAE-4ACB-ADBC-6929FA3406A8}" type="pres">
      <dgm:prSet presAssocID="{E10F4281-1F89-4C81-AFE9-B5A744785824}" presName="compNode" presStyleCnt="0"/>
      <dgm:spPr/>
    </dgm:pt>
    <dgm:pt modelId="{D27FBF9E-BBA9-4B33-AEF7-9C03B7B6947B}" type="pres">
      <dgm:prSet presAssocID="{E10F4281-1F89-4C81-AFE9-B5A74478582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cientist"/>
        </a:ext>
      </dgm:extLst>
    </dgm:pt>
    <dgm:pt modelId="{8F67FEEB-29AC-4947-87C0-6311051A41C5}" type="pres">
      <dgm:prSet presAssocID="{E10F4281-1F89-4C81-AFE9-B5A744785824}" presName="spaceRect" presStyleCnt="0"/>
      <dgm:spPr/>
    </dgm:pt>
    <dgm:pt modelId="{EA07B93D-305F-4510-AB1D-9AF565AF7E30}" type="pres">
      <dgm:prSet presAssocID="{E10F4281-1F89-4C81-AFE9-B5A744785824}" presName="textRect" presStyleLbl="revTx" presStyleIdx="3" presStyleCnt="4">
        <dgm:presLayoutVars>
          <dgm:chMax val="1"/>
          <dgm:chPref val="1"/>
        </dgm:presLayoutVars>
      </dgm:prSet>
      <dgm:spPr/>
    </dgm:pt>
  </dgm:ptLst>
  <dgm:cxnLst>
    <dgm:cxn modelId="{C1D9A70A-463B-4511-9699-1224496BBD9F}" type="presOf" srcId="{8461618B-C7CC-498A-A583-FE6616441ECC}" destId="{7E5E989E-9F77-42AC-B361-7BD391FCA46E}" srcOrd="0" destOrd="0" presId="urn:microsoft.com/office/officeart/2018/2/layout/IconLabelList"/>
    <dgm:cxn modelId="{2744EE2A-2C2B-4EFD-94FF-C2E51C3E00D0}" type="presOf" srcId="{0D2BEDF8-0F9A-4CA1-9C62-5FA953D3CDA6}" destId="{35E58805-0CCF-47B6-BC47-5121C1AA37D2}" srcOrd="0" destOrd="0" presId="urn:microsoft.com/office/officeart/2018/2/layout/IconLabelList"/>
    <dgm:cxn modelId="{BD390D42-D4AA-4D48-A064-9CDFAAF0ED0A}" type="presOf" srcId="{D4FC6A99-6BEB-48AC-95CE-FD84AF85E040}" destId="{29BAE0AE-C9CA-4FD7-83D5-D5C5981106ED}" srcOrd="0" destOrd="0" presId="urn:microsoft.com/office/officeart/2018/2/layout/IconLabelList"/>
    <dgm:cxn modelId="{1364B74F-67C2-4BD0-A653-2E6291F68D46}" type="presOf" srcId="{6EA3DAC8-B125-4C32-924D-72DB447009DA}" destId="{51F3E89B-C2B1-4BFA-B5D7-B671E53FDD47}" srcOrd="0" destOrd="0" presId="urn:microsoft.com/office/officeart/2018/2/layout/IconLabelList"/>
    <dgm:cxn modelId="{74217F88-9C55-4D6D-AE79-A044DEF9B2FA}" srcId="{6EA3DAC8-B125-4C32-924D-72DB447009DA}" destId="{E10F4281-1F89-4C81-AFE9-B5A744785824}" srcOrd="3" destOrd="0" parTransId="{44A70FF4-6D55-4655-B833-4F7C00DA66B2}" sibTransId="{90F91C33-CDAF-432C-A18A-4FE78C447088}"/>
    <dgm:cxn modelId="{7A9735C9-A2C9-4223-897A-69255256EDA6}" srcId="{6EA3DAC8-B125-4C32-924D-72DB447009DA}" destId="{D4FC6A99-6BEB-48AC-95CE-FD84AF85E040}" srcOrd="1" destOrd="0" parTransId="{24758EE2-E781-4EB5-A84D-766CB7C8BFCA}" sibTransId="{5D869586-3656-46CB-8209-3C06784B81D2}"/>
    <dgm:cxn modelId="{0BB39DCC-88D4-4FFF-B6F4-36D0CA6BD6FA}" type="presOf" srcId="{E10F4281-1F89-4C81-AFE9-B5A744785824}" destId="{EA07B93D-305F-4510-AB1D-9AF565AF7E30}" srcOrd="0" destOrd="0" presId="urn:microsoft.com/office/officeart/2018/2/layout/IconLabelList"/>
    <dgm:cxn modelId="{912096D5-9AA4-4626-AAFC-C64178D81399}" srcId="{6EA3DAC8-B125-4C32-924D-72DB447009DA}" destId="{8461618B-C7CC-498A-A583-FE6616441ECC}" srcOrd="0" destOrd="0" parTransId="{3F9E3878-BE51-438B-A213-F1C51AADB811}" sibTransId="{F32DBA10-6844-4163-B847-827F85EA74B9}"/>
    <dgm:cxn modelId="{A2C6FBFC-9390-4F34-8E57-2CF1AE479FE3}" srcId="{6EA3DAC8-B125-4C32-924D-72DB447009DA}" destId="{0D2BEDF8-0F9A-4CA1-9C62-5FA953D3CDA6}" srcOrd="2" destOrd="0" parTransId="{B66D6702-DDCE-4400-BA4F-F9A7F62BF08D}" sibTransId="{FB03205B-ECAC-4944-809F-BE1C83743BA3}"/>
    <dgm:cxn modelId="{C8EDFD81-E66C-431A-8801-A51E9856DA08}" type="presParOf" srcId="{51F3E89B-C2B1-4BFA-B5D7-B671E53FDD47}" destId="{5FD8ACA7-DC79-4738-AB24-EDE55CA4264F}" srcOrd="0" destOrd="0" presId="urn:microsoft.com/office/officeart/2018/2/layout/IconLabelList"/>
    <dgm:cxn modelId="{4B4A2784-A754-432D-ADE5-4C6558030DA1}" type="presParOf" srcId="{5FD8ACA7-DC79-4738-AB24-EDE55CA4264F}" destId="{DAC192B4-004C-44D7-9FC8-4C161BA277EF}" srcOrd="0" destOrd="0" presId="urn:microsoft.com/office/officeart/2018/2/layout/IconLabelList"/>
    <dgm:cxn modelId="{A41B7083-1321-4557-BBCE-5B22D7E15C9D}" type="presParOf" srcId="{5FD8ACA7-DC79-4738-AB24-EDE55CA4264F}" destId="{6FD45210-81D1-4F23-A002-B91255821248}" srcOrd="1" destOrd="0" presId="urn:microsoft.com/office/officeart/2018/2/layout/IconLabelList"/>
    <dgm:cxn modelId="{8DF629D1-A751-4147-95C6-06CD0ACAFE8B}" type="presParOf" srcId="{5FD8ACA7-DC79-4738-AB24-EDE55CA4264F}" destId="{7E5E989E-9F77-42AC-B361-7BD391FCA46E}" srcOrd="2" destOrd="0" presId="urn:microsoft.com/office/officeart/2018/2/layout/IconLabelList"/>
    <dgm:cxn modelId="{77F02842-0513-477F-BF85-611873E58301}" type="presParOf" srcId="{51F3E89B-C2B1-4BFA-B5D7-B671E53FDD47}" destId="{F27A3A3E-EBA3-4784-B0F8-23C7C2A5C7AF}" srcOrd="1" destOrd="0" presId="urn:microsoft.com/office/officeart/2018/2/layout/IconLabelList"/>
    <dgm:cxn modelId="{DEE50489-EC46-4BAE-8F20-E14C781E3F90}" type="presParOf" srcId="{51F3E89B-C2B1-4BFA-B5D7-B671E53FDD47}" destId="{03EC9167-3294-4460-B2D9-E03897AD3D5F}" srcOrd="2" destOrd="0" presId="urn:microsoft.com/office/officeart/2018/2/layout/IconLabelList"/>
    <dgm:cxn modelId="{031E846E-5C00-4AAD-BB11-FE1BEE68EC2A}" type="presParOf" srcId="{03EC9167-3294-4460-B2D9-E03897AD3D5F}" destId="{20E55158-48D3-43BE-B377-FB5AE9D8DC74}" srcOrd="0" destOrd="0" presId="urn:microsoft.com/office/officeart/2018/2/layout/IconLabelList"/>
    <dgm:cxn modelId="{940D2B0D-1222-47F6-BC6F-BCC3956E8551}" type="presParOf" srcId="{03EC9167-3294-4460-B2D9-E03897AD3D5F}" destId="{850F78B7-C2E4-476C-AB01-83D6F64DDAA7}" srcOrd="1" destOrd="0" presId="urn:microsoft.com/office/officeart/2018/2/layout/IconLabelList"/>
    <dgm:cxn modelId="{3BD9E003-5B2F-4D9E-8EB9-EA1F9B163F38}" type="presParOf" srcId="{03EC9167-3294-4460-B2D9-E03897AD3D5F}" destId="{29BAE0AE-C9CA-4FD7-83D5-D5C5981106ED}" srcOrd="2" destOrd="0" presId="urn:microsoft.com/office/officeart/2018/2/layout/IconLabelList"/>
    <dgm:cxn modelId="{89725625-FAB2-4BE7-B0FA-31259DC1F402}" type="presParOf" srcId="{51F3E89B-C2B1-4BFA-B5D7-B671E53FDD47}" destId="{5705D9E8-6843-4A5E-BEAD-9B3D8E0625F5}" srcOrd="3" destOrd="0" presId="urn:microsoft.com/office/officeart/2018/2/layout/IconLabelList"/>
    <dgm:cxn modelId="{A4672320-A2F1-4DDF-A8DE-44EF86D8A736}" type="presParOf" srcId="{51F3E89B-C2B1-4BFA-B5D7-B671E53FDD47}" destId="{6B421497-0402-44A6-9D75-4120DE47ED4A}" srcOrd="4" destOrd="0" presId="urn:microsoft.com/office/officeart/2018/2/layout/IconLabelList"/>
    <dgm:cxn modelId="{E4C60A79-7D61-466D-8A86-FF69267F7D7B}" type="presParOf" srcId="{6B421497-0402-44A6-9D75-4120DE47ED4A}" destId="{20EA6B0D-6FD5-4E26-92EE-72EEB43A4C0A}" srcOrd="0" destOrd="0" presId="urn:microsoft.com/office/officeart/2018/2/layout/IconLabelList"/>
    <dgm:cxn modelId="{25A7A776-A5CC-495D-95C6-E557D2DD76BE}" type="presParOf" srcId="{6B421497-0402-44A6-9D75-4120DE47ED4A}" destId="{D2AD75AC-F600-49FA-B464-C66A06980A5D}" srcOrd="1" destOrd="0" presId="urn:microsoft.com/office/officeart/2018/2/layout/IconLabelList"/>
    <dgm:cxn modelId="{FB7DC982-A6C0-45DC-9323-2B6FF7DAE872}" type="presParOf" srcId="{6B421497-0402-44A6-9D75-4120DE47ED4A}" destId="{35E58805-0CCF-47B6-BC47-5121C1AA37D2}" srcOrd="2" destOrd="0" presId="urn:microsoft.com/office/officeart/2018/2/layout/IconLabelList"/>
    <dgm:cxn modelId="{27AC3B99-86EF-4F83-A640-240EA407FC32}" type="presParOf" srcId="{51F3E89B-C2B1-4BFA-B5D7-B671E53FDD47}" destId="{2AE0FDD7-3BED-4080-AA3A-B33B76077D91}" srcOrd="5" destOrd="0" presId="urn:microsoft.com/office/officeart/2018/2/layout/IconLabelList"/>
    <dgm:cxn modelId="{1AF1CBAA-D2B9-4B6A-81C9-D7A8F011435C}" type="presParOf" srcId="{51F3E89B-C2B1-4BFA-B5D7-B671E53FDD47}" destId="{DD1E3980-0CAE-4ACB-ADBC-6929FA3406A8}" srcOrd="6" destOrd="0" presId="urn:microsoft.com/office/officeart/2018/2/layout/IconLabelList"/>
    <dgm:cxn modelId="{216A1869-D3E7-4E58-ACEF-DB4A701FFD7A}" type="presParOf" srcId="{DD1E3980-0CAE-4ACB-ADBC-6929FA3406A8}" destId="{D27FBF9E-BBA9-4B33-AEF7-9C03B7B6947B}" srcOrd="0" destOrd="0" presId="urn:microsoft.com/office/officeart/2018/2/layout/IconLabelList"/>
    <dgm:cxn modelId="{0AD82075-E24B-4F62-81EB-05C9508659DE}" type="presParOf" srcId="{DD1E3980-0CAE-4ACB-ADBC-6929FA3406A8}" destId="{8F67FEEB-29AC-4947-87C0-6311051A41C5}" srcOrd="1" destOrd="0" presId="urn:microsoft.com/office/officeart/2018/2/layout/IconLabelList"/>
    <dgm:cxn modelId="{A75D0472-DF64-4D43-BDEC-B7DCD9E50B6D}" type="presParOf" srcId="{DD1E3980-0CAE-4ACB-ADBC-6929FA3406A8}" destId="{EA07B93D-305F-4510-AB1D-9AF565AF7E30}"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122A1E-4B78-4EAE-B426-DE9975110259}">
      <dsp:nvSpPr>
        <dsp:cNvPr id="0" name=""/>
        <dsp:cNvSpPr/>
      </dsp:nvSpPr>
      <dsp:spPr>
        <a:xfrm>
          <a:off x="0" y="524133"/>
          <a:ext cx="2918936" cy="185352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6ED2D3-287F-4F0A-B231-DA877C50F933}">
      <dsp:nvSpPr>
        <dsp:cNvPr id="0" name=""/>
        <dsp:cNvSpPr/>
      </dsp:nvSpPr>
      <dsp:spPr>
        <a:xfrm>
          <a:off x="324326" y="832243"/>
          <a:ext cx="2918936" cy="185352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i="0" kern="1200" baseline="0" dirty="0"/>
            <a:t>Perturb-seq / </a:t>
          </a:r>
          <a:r>
            <a:rPr lang="en-US" sz="2100" b="1" i="0" kern="1200" baseline="0" dirty="0" err="1"/>
            <a:t>Mixscape</a:t>
          </a:r>
          <a:r>
            <a:rPr lang="en-US" sz="2100" b="0" i="0" kern="1200" baseline="0" dirty="0"/>
            <a:t> – CRISPR perturbations with transcriptomic readouts for </a:t>
          </a:r>
          <a:r>
            <a:rPr lang="en-US" sz="2100" b="1" i="0" kern="1200" baseline="0" dirty="0"/>
            <a:t>validation.</a:t>
          </a:r>
          <a:endParaRPr lang="en-US" sz="2100" b="1" kern="1200" dirty="0"/>
        </a:p>
      </dsp:txBody>
      <dsp:txXfrm>
        <a:off x="378614" y="886531"/>
        <a:ext cx="2810360" cy="1744948"/>
      </dsp:txXfrm>
    </dsp:sp>
    <dsp:sp modelId="{E71E7F66-E1D1-420F-B147-D2D207BE2F83}">
      <dsp:nvSpPr>
        <dsp:cNvPr id="0" name=""/>
        <dsp:cNvSpPr/>
      </dsp:nvSpPr>
      <dsp:spPr>
        <a:xfrm>
          <a:off x="3567588" y="524133"/>
          <a:ext cx="2918936" cy="185352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48A0B6-0051-40AC-98C9-1318C17D0FD5}">
      <dsp:nvSpPr>
        <dsp:cNvPr id="0" name=""/>
        <dsp:cNvSpPr/>
      </dsp:nvSpPr>
      <dsp:spPr>
        <a:xfrm>
          <a:off x="3891915" y="832243"/>
          <a:ext cx="2918936" cy="185352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i="0" kern="1200" baseline="0" dirty="0" err="1"/>
            <a:t>scRNA</a:t>
          </a:r>
          <a:r>
            <a:rPr lang="en-US" sz="2100" b="1" i="0" kern="1200" baseline="0" dirty="0"/>
            <a:t>-seq </a:t>
          </a:r>
          <a:r>
            <a:rPr lang="en-US" sz="2100" b="0" i="0" kern="1200" baseline="0" dirty="0"/>
            <a:t>– Multi-</a:t>
          </a:r>
          <a:r>
            <a:rPr lang="en-US" sz="2100" b="0" i="0" kern="1200" baseline="0" dirty="0" err="1"/>
            <a:t>omic</a:t>
          </a:r>
          <a:r>
            <a:rPr lang="en-US" sz="2100" b="0" i="0" kern="1200" baseline="0" dirty="0"/>
            <a:t> single-cell data.</a:t>
          </a:r>
          <a:endParaRPr lang="en-US" sz="2100" kern="1200" dirty="0"/>
        </a:p>
      </dsp:txBody>
      <dsp:txXfrm>
        <a:off x="3946203" y="886531"/>
        <a:ext cx="2810360" cy="1744948"/>
      </dsp:txXfrm>
    </dsp:sp>
    <dsp:sp modelId="{6CAFF1A9-0674-41C6-98EB-DD6DCB49F8F8}">
      <dsp:nvSpPr>
        <dsp:cNvPr id="0" name=""/>
        <dsp:cNvSpPr/>
      </dsp:nvSpPr>
      <dsp:spPr>
        <a:xfrm>
          <a:off x="7135177" y="524133"/>
          <a:ext cx="2918936" cy="185352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2A9C51-E454-4C17-9E16-41BB61A53E0E}">
      <dsp:nvSpPr>
        <dsp:cNvPr id="0" name=""/>
        <dsp:cNvSpPr/>
      </dsp:nvSpPr>
      <dsp:spPr>
        <a:xfrm>
          <a:off x="7459503" y="832243"/>
          <a:ext cx="2918936" cy="185352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i="0" kern="1200" baseline="0" dirty="0"/>
            <a:t>Simulated GRNs</a:t>
          </a:r>
          <a:r>
            <a:rPr lang="en-US" sz="2100" b="0" i="0" kern="1200" baseline="0" dirty="0"/>
            <a:t> – In-silico perturbation environments for </a:t>
          </a:r>
          <a:r>
            <a:rPr lang="en-US" sz="2100" b="1" i="0" kern="1200" baseline="0" dirty="0"/>
            <a:t>model training.</a:t>
          </a:r>
          <a:endParaRPr lang="en-US" sz="2100" b="1" kern="1200" dirty="0"/>
        </a:p>
      </dsp:txBody>
      <dsp:txXfrm>
        <a:off x="7513791" y="886531"/>
        <a:ext cx="2810360" cy="17449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C192B4-004C-44D7-9FC8-4C161BA277EF}">
      <dsp:nvSpPr>
        <dsp:cNvPr id="0" name=""/>
        <dsp:cNvSpPr/>
      </dsp:nvSpPr>
      <dsp:spPr>
        <a:xfrm>
          <a:off x="1078918" y="633965"/>
          <a:ext cx="930634" cy="93063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5E989E-9F77-42AC-B361-7BD391FCA46E}">
      <dsp:nvSpPr>
        <dsp:cNvPr id="0" name=""/>
        <dsp:cNvSpPr/>
      </dsp:nvSpPr>
      <dsp:spPr>
        <a:xfrm>
          <a:off x="510197" y="1855936"/>
          <a:ext cx="206807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CA" sz="1200" kern="1200"/>
            <a:t>Establishes </a:t>
          </a:r>
          <a:r>
            <a:rPr lang="en-CA" sz="1200" b="1" kern="1200"/>
            <a:t>digital twin</a:t>
          </a:r>
          <a:r>
            <a:rPr lang="en-CA" sz="1200" kern="1200"/>
            <a:t> models for predictive cellular perturbation.</a:t>
          </a:r>
          <a:endParaRPr lang="en-US" sz="1200" kern="1200"/>
        </a:p>
      </dsp:txBody>
      <dsp:txXfrm>
        <a:off x="510197" y="1855936"/>
        <a:ext cx="2068076" cy="720000"/>
      </dsp:txXfrm>
    </dsp:sp>
    <dsp:sp modelId="{20E55158-48D3-43BE-B377-FB5AE9D8DC74}">
      <dsp:nvSpPr>
        <dsp:cNvPr id="0" name=""/>
        <dsp:cNvSpPr/>
      </dsp:nvSpPr>
      <dsp:spPr>
        <a:xfrm>
          <a:off x="3508908" y="633965"/>
          <a:ext cx="930634" cy="93063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BAE0AE-C9CA-4FD7-83D5-D5C5981106ED}">
      <dsp:nvSpPr>
        <dsp:cNvPr id="0" name=""/>
        <dsp:cNvSpPr/>
      </dsp:nvSpPr>
      <dsp:spPr>
        <a:xfrm>
          <a:off x="2940187" y="1855936"/>
          <a:ext cx="206807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CA" sz="1200" kern="1200"/>
            <a:t>Bridges regression inference and policy optimization frameworks.</a:t>
          </a:r>
          <a:endParaRPr lang="en-US" sz="1200" kern="1200"/>
        </a:p>
      </dsp:txBody>
      <dsp:txXfrm>
        <a:off x="2940187" y="1855936"/>
        <a:ext cx="2068076" cy="720000"/>
      </dsp:txXfrm>
    </dsp:sp>
    <dsp:sp modelId="{20EA6B0D-6FD5-4E26-92EE-72EEB43A4C0A}">
      <dsp:nvSpPr>
        <dsp:cNvPr id="0" name=""/>
        <dsp:cNvSpPr/>
      </dsp:nvSpPr>
      <dsp:spPr>
        <a:xfrm>
          <a:off x="5938897" y="633965"/>
          <a:ext cx="930634" cy="93063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E58805-0CCF-47B6-BC47-5121C1AA37D2}">
      <dsp:nvSpPr>
        <dsp:cNvPr id="0" name=""/>
        <dsp:cNvSpPr/>
      </dsp:nvSpPr>
      <dsp:spPr>
        <a:xfrm>
          <a:off x="5370176" y="1855936"/>
          <a:ext cx="206807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CA" sz="1200" kern="1200"/>
            <a:t>Facilitates future </a:t>
          </a:r>
          <a:r>
            <a:rPr lang="en-CA" sz="1200" b="1" kern="1200"/>
            <a:t>wet-lab validation</a:t>
          </a:r>
          <a:r>
            <a:rPr lang="en-CA" sz="1200" kern="1200"/>
            <a:t> of </a:t>
          </a:r>
          <a:r>
            <a:rPr lang="en-CA" sz="1200" i="1" kern="1200"/>
            <a:t>in silico</a:t>
          </a:r>
          <a:r>
            <a:rPr lang="en-CA" sz="1200" kern="1200"/>
            <a:t> predictions.</a:t>
          </a:r>
          <a:endParaRPr lang="en-US" sz="1200" kern="1200"/>
        </a:p>
      </dsp:txBody>
      <dsp:txXfrm>
        <a:off x="5370176" y="1855936"/>
        <a:ext cx="2068076" cy="720000"/>
      </dsp:txXfrm>
    </dsp:sp>
    <dsp:sp modelId="{D27FBF9E-BBA9-4B33-AEF7-9C03B7B6947B}">
      <dsp:nvSpPr>
        <dsp:cNvPr id="0" name=""/>
        <dsp:cNvSpPr/>
      </dsp:nvSpPr>
      <dsp:spPr>
        <a:xfrm>
          <a:off x="8368887" y="633965"/>
          <a:ext cx="930634" cy="93063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07B93D-305F-4510-AB1D-9AF565AF7E30}">
      <dsp:nvSpPr>
        <dsp:cNvPr id="0" name=""/>
        <dsp:cNvSpPr/>
      </dsp:nvSpPr>
      <dsp:spPr>
        <a:xfrm>
          <a:off x="7800166" y="1855936"/>
          <a:ext cx="206807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CA" sz="1200" kern="1200"/>
            <a:t>Supports regenerative medicine and therapeutic design via perturbation-aware modeling.</a:t>
          </a:r>
          <a:endParaRPr lang="en-US" sz="1200" kern="1200"/>
        </a:p>
      </dsp:txBody>
      <dsp:txXfrm>
        <a:off x="7800166" y="1855936"/>
        <a:ext cx="2068076"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A98A8E-17BA-4637-BE34-16BBE5AD305E}" type="datetimeFigureOut">
              <a:rPr lang="en-CA" smtClean="0"/>
              <a:t>2026-01-06</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ECFF4B-0A5E-4A04-A84E-9F2917B495C3}" type="slidenum">
              <a:rPr lang="en-CA" smtClean="0"/>
              <a:t>‹#›</a:t>
            </a:fld>
            <a:endParaRPr lang="en-CA"/>
          </a:p>
        </p:txBody>
      </p:sp>
    </p:spTree>
    <p:extLst>
      <p:ext uri="{BB962C8B-B14F-4D97-AF65-F5344CB8AC3E}">
        <p14:creationId xmlns:p14="http://schemas.microsoft.com/office/powerpoint/2010/main" val="36368822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A6DBE6-5F48-46C6-8054-E594AA8CC26E}" type="datetimeFigureOut">
              <a:rPr lang="en-CA" smtClean="0"/>
              <a:t>2026-01-06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19569493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A6DBE6-5F48-46C6-8054-E594AA8CC26E}" type="datetimeFigureOut">
              <a:rPr lang="en-CA" smtClean="0"/>
              <a:t>2026-01-06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30628429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A6DBE6-5F48-46C6-8054-E594AA8CC26E}" type="datetimeFigureOut">
              <a:rPr lang="en-CA" smtClean="0"/>
              <a:t>2026-01-06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2995713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A6DBE6-5F48-46C6-8054-E594AA8CC26E}" type="datetimeFigureOut">
              <a:rPr lang="en-CA" smtClean="0"/>
              <a:t>2026-01-06</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107850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A6DBE6-5F48-46C6-8054-E594AA8CC26E}" type="datetimeFigureOut">
              <a:rPr lang="en-CA" smtClean="0"/>
              <a:t>2026-01-06</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481245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A6DBE6-5F48-46C6-8054-E594AA8CC26E}" type="datetimeFigureOut">
              <a:rPr lang="en-CA" smtClean="0"/>
              <a:t>2026-01-06</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279692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A6DBE6-5F48-46C6-8054-E594AA8CC26E}" type="datetimeFigureOut">
              <a:rPr lang="en-CA" smtClean="0"/>
              <a:t>2026-01-06</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1917625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A6DBE6-5F48-46C6-8054-E594AA8CC26E}" type="datetimeFigureOut">
              <a:rPr lang="en-CA" smtClean="0"/>
              <a:t>2026-01-06</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2693628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A6DBE6-5F48-46C6-8054-E594AA8CC26E}" type="datetimeFigureOut">
              <a:rPr lang="en-CA" smtClean="0"/>
              <a:t>2026-01-06</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2285566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A6DBE6-5F48-46C6-8054-E594AA8CC26E}" type="datetimeFigureOut">
              <a:rPr lang="en-CA" smtClean="0"/>
              <a:t>2026-01-06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1990156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A6DBE6-5F48-46C6-8054-E594AA8CC26E}" type="datetimeFigureOut">
              <a:rPr lang="en-CA" smtClean="0"/>
              <a:t>2026-01-06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2261678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A6DBE6-5F48-46C6-8054-E594AA8CC26E}" type="datetimeFigureOut">
              <a:rPr lang="en-CA" smtClean="0"/>
              <a:t>2026-01-06</a:t>
            </a:fld>
            <a:endParaRPr lang="en-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C18F39-34A3-4DBF-8CFA-F51A088158DC}" type="slidenum">
              <a:rPr lang="en-CA" smtClean="0"/>
              <a:t>‹#›</a:t>
            </a:fld>
            <a:endParaRPr lang="en-CA"/>
          </a:p>
        </p:txBody>
      </p:sp>
    </p:spTree>
    <p:extLst>
      <p:ext uri="{BB962C8B-B14F-4D97-AF65-F5344CB8AC3E}">
        <p14:creationId xmlns:p14="http://schemas.microsoft.com/office/powerpoint/2010/main" val="14022020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hyperlink" Target="http://www.perturbase.cn/" TargetMode="Externa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hyperlink" Target="https://drive.google.com/drive/folders/1AAI4KU9G-UHoKo72Ne6iGAaCgFPADIW3?usp=drive_link"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drive.google.com/drive/folders/1AAI4KU9G-UHoKo72Ne6iGAaCgFPADIW3?usp=drive_link" TargetMode="External"/><Relationship Id="rId2" Type="http://schemas.openxmlformats.org/officeDocument/2006/relationships/hyperlink" Target="https://www.ncbi.nlm.nih.gov/geo/query/acc.cgi?acc=GSE134139"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colab.research.google.com/drive/1pJJpmq2cz5iY0ctqEYmCx7U8p4kUNRa-?usp=sharing"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ncbi.nlm.nih.gov/geo/query/acc.cgi?acc=GSE119352" TargetMode="External"/><Relationship Id="rId2" Type="http://schemas.openxmlformats.org/officeDocument/2006/relationships/hyperlink" Target="https://colab.research.google.com/drive/1UoPEKODPjZeQ2BuGoC5iFKkUqwlj3bkm?usp=sharing"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D5E0-AEC8-43A0-11DE-D49CABF1A8AA}"/>
              </a:ext>
            </a:extLst>
          </p:cNvPr>
          <p:cNvSpPr>
            <a:spLocks noGrp="1"/>
          </p:cNvSpPr>
          <p:nvPr>
            <p:ph type="ctrTitle"/>
          </p:nvPr>
        </p:nvSpPr>
        <p:spPr>
          <a:xfrm>
            <a:off x="1124712" y="1162822"/>
            <a:ext cx="9942576" cy="2387600"/>
          </a:xfrm>
        </p:spPr>
        <p:txBody>
          <a:bodyPr>
            <a:normAutofit fontScale="90000"/>
          </a:bodyPr>
          <a:lstStyle/>
          <a:p>
            <a:r>
              <a:rPr lang="en-CA" sz="4000" dirty="0">
                <a:latin typeface="Times New Roman" panose="02020603050405020304" pitchFamily="18" charset="0"/>
                <a:cs typeface="Times New Roman" panose="02020603050405020304" pitchFamily="18" charset="0"/>
              </a:rPr>
              <a:t>Escaping Local Optima in the Waddington Landscape: A Multi-Stage TRPO-PPO Approach for Single-Cell Gene Perturbation Analysis</a:t>
            </a:r>
            <a:br>
              <a:rPr lang="en-CA" sz="4000" dirty="0">
                <a:latin typeface="Times New Roman" panose="02020603050405020304" pitchFamily="18" charset="0"/>
                <a:cs typeface="Times New Roman" panose="02020603050405020304" pitchFamily="18" charset="0"/>
              </a:rPr>
            </a:br>
            <a:br>
              <a:rPr lang="en-CA" sz="4000" dirty="0">
                <a:latin typeface="Times New Roman" panose="02020603050405020304" pitchFamily="18" charset="0"/>
                <a:cs typeface="Times New Roman" panose="02020603050405020304" pitchFamily="18" charset="0"/>
              </a:rPr>
            </a:br>
            <a:r>
              <a:rPr lang="en-CA" sz="2000" dirty="0">
                <a:latin typeface="Times New Roman" panose="02020603050405020304" pitchFamily="18" charset="0"/>
                <a:cs typeface="Times New Roman" panose="02020603050405020304" pitchFamily="18" charset="0"/>
              </a:rPr>
              <a:t>Boabang Francis</a:t>
            </a:r>
            <a:endParaRPr lang="en-CA" sz="2000" b="1" dirty="0">
              <a:latin typeface="Times New Roman" panose="02020603050405020304" pitchFamily="18" charset="0"/>
              <a:cs typeface="Times New Roman" panose="02020603050405020304" pitchFamily="18" charset="0"/>
            </a:endParaRPr>
          </a:p>
        </p:txBody>
      </p:sp>
      <p:pic>
        <p:nvPicPr>
          <p:cNvPr id="1026" name="Picture 2" descr="ASBCB – African Society for Bioinformatics and Computational Biology">
            <a:extLst>
              <a:ext uri="{FF2B5EF4-FFF2-40B4-BE49-F238E27FC236}">
                <a16:creationId xmlns:a16="http://schemas.microsoft.com/office/drawing/2014/main" id="{76CD4587-B77C-4731-95A5-EB35327851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399" y="5007747"/>
            <a:ext cx="2042889" cy="167537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National Institutes of Health - MEpedia">
            <a:extLst>
              <a:ext uri="{FF2B5EF4-FFF2-40B4-BE49-F238E27FC236}">
                <a16:creationId xmlns:a16="http://schemas.microsoft.com/office/drawing/2014/main" id="{9196C3A8-9248-5165-0CE1-BA43FDFB8C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01083" y="5286375"/>
            <a:ext cx="1842293" cy="1396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46843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5D40A-C4AE-4876-9C65-DC7AF22BAEA1}"/>
              </a:ext>
            </a:extLst>
          </p:cNvPr>
          <p:cNvSpPr>
            <a:spLocks noGrp="1"/>
          </p:cNvSpPr>
          <p:nvPr>
            <p:ph type="title"/>
          </p:nvPr>
        </p:nvSpPr>
        <p:spPr/>
        <p:txBody>
          <a:bodyPr>
            <a:normAutofit/>
          </a:bodyPr>
          <a:lstStyle/>
          <a:p>
            <a:r>
              <a:rPr lang="en-US" sz="2400" b="1" dirty="0"/>
              <a:t>Content</a:t>
            </a:r>
            <a:endParaRPr lang="en-CA" sz="2400" b="1" dirty="0"/>
          </a:p>
        </p:txBody>
      </p:sp>
      <p:sp>
        <p:nvSpPr>
          <p:cNvPr id="3" name="Content Placeholder 2">
            <a:extLst>
              <a:ext uri="{FF2B5EF4-FFF2-40B4-BE49-F238E27FC236}">
                <a16:creationId xmlns:a16="http://schemas.microsoft.com/office/drawing/2014/main" id="{9ADDA3F5-0489-F0B1-F817-F5B2DE9FC7F0}"/>
              </a:ext>
            </a:extLst>
          </p:cNvPr>
          <p:cNvSpPr>
            <a:spLocks noGrp="1"/>
          </p:cNvSpPr>
          <p:nvPr>
            <p:ph idx="1"/>
          </p:nvPr>
        </p:nvSpPr>
        <p:spPr>
          <a:xfrm>
            <a:off x="838200" y="1451537"/>
            <a:ext cx="10515600" cy="4351338"/>
          </a:xfrm>
        </p:spPr>
        <p:txBody>
          <a:bodyPr>
            <a:normAutofit/>
          </a:bodyPr>
          <a:lstStyle/>
          <a:p>
            <a:r>
              <a:rPr lang="en-US" sz="1600" dirty="0">
                <a:latin typeface="Times New Roman" panose="02020603050405020304" pitchFamily="18" charset="0"/>
                <a:cs typeface="Times New Roman" panose="02020603050405020304" pitchFamily="18" charset="0"/>
              </a:rPr>
              <a:t>Background</a:t>
            </a:r>
          </a:p>
          <a:p>
            <a:r>
              <a:rPr lang="en-US" sz="1600" dirty="0">
                <a:latin typeface="Times New Roman" panose="02020603050405020304" pitchFamily="18" charset="0"/>
                <a:cs typeface="Times New Roman" panose="02020603050405020304" pitchFamily="18" charset="0"/>
              </a:rPr>
              <a:t>Gaps in the Research</a:t>
            </a:r>
          </a:p>
          <a:p>
            <a:r>
              <a:rPr lang="en-US" sz="1600" dirty="0">
                <a:latin typeface="Times New Roman" panose="02020603050405020304" pitchFamily="18" charset="0"/>
                <a:cs typeface="Times New Roman" panose="02020603050405020304" pitchFamily="18" charset="0"/>
              </a:rPr>
              <a:t>Proposed Solution</a:t>
            </a:r>
          </a:p>
          <a:p>
            <a:r>
              <a:rPr lang="en-US" sz="1600" dirty="0">
                <a:latin typeface="Times New Roman" panose="02020603050405020304" pitchFamily="18" charset="0"/>
                <a:cs typeface="Times New Roman" panose="02020603050405020304" pitchFamily="18" charset="0"/>
              </a:rPr>
              <a:t>Datasets</a:t>
            </a:r>
          </a:p>
          <a:p>
            <a:r>
              <a:rPr lang="en-US" sz="1600" dirty="0">
                <a:latin typeface="Times New Roman" panose="02020603050405020304" pitchFamily="18" charset="0"/>
                <a:cs typeface="Times New Roman" panose="02020603050405020304" pitchFamily="18" charset="0"/>
              </a:rPr>
              <a:t>Model Design </a:t>
            </a:r>
          </a:p>
          <a:p>
            <a:r>
              <a:rPr lang="en-US" sz="1600" dirty="0">
                <a:latin typeface="Times New Roman" panose="02020603050405020304" pitchFamily="18" charset="0"/>
                <a:cs typeface="Times New Roman" panose="02020603050405020304" pitchFamily="18" charset="0"/>
              </a:rPr>
              <a:t>System Design (Hardware and Software)</a:t>
            </a:r>
          </a:p>
          <a:p>
            <a:r>
              <a:rPr lang="en-US" sz="1600" dirty="0">
                <a:latin typeface="Times New Roman" panose="02020603050405020304" pitchFamily="18" charset="0"/>
                <a:cs typeface="Times New Roman" panose="02020603050405020304" pitchFamily="18" charset="0"/>
              </a:rPr>
              <a:t>Crisper Knockout Evaluation Setting</a:t>
            </a:r>
          </a:p>
          <a:p>
            <a:r>
              <a:rPr lang="en-US" sz="1600" dirty="0">
                <a:latin typeface="Times New Roman" panose="02020603050405020304" pitchFamily="18" charset="0"/>
                <a:cs typeface="Times New Roman" panose="02020603050405020304" pitchFamily="18" charset="0"/>
              </a:rPr>
              <a:t>Drug Development Evaluation Setting</a:t>
            </a:r>
          </a:p>
          <a:p>
            <a:r>
              <a:rPr lang="en-US" sz="1600" dirty="0">
                <a:latin typeface="Times New Roman" panose="02020603050405020304" pitchFamily="18" charset="0"/>
                <a:cs typeface="Times New Roman" panose="02020603050405020304" pitchFamily="18" charset="0"/>
              </a:rPr>
              <a:t>Expected Outcome</a:t>
            </a:r>
          </a:p>
          <a:p>
            <a:r>
              <a:rPr lang="en-US" sz="1600" dirty="0">
                <a:latin typeface="Times New Roman" panose="02020603050405020304" pitchFamily="18" charset="0"/>
                <a:cs typeface="Times New Roman" panose="02020603050405020304" pitchFamily="18" charset="0"/>
              </a:rPr>
              <a:t>Future Work</a:t>
            </a:r>
          </a:p>
          <a:p>
            <a:endParaRPr lang="en-US" sz="2000" dirty="0">
              <a:latin typeface="Times New Roman" panose="02020603050405020304" pitchFamily="18" charset="0"/>
              <a:cs typeface="Times New Roman" panose="02020603050405020304" pitchFamily="18" charset="0"/>
            </a:endParaRPr>
          </a:p>
          <a:p>
            <a:endParaRPr lang="en-CA"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94289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 name="Rectangle 11">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4084BF-EBD6-F3B5-3FF1-F7B7E6E5EF06}"/>
              </a:ext>
            </a:extLst>
          </p:cNvPr>
          <p:cNvSpPr>
            <a:spLocks noGrp="1"/>
          </p:cNvSpPr>
          <p:nvPr>
            <p:ph type="title"/>
          </p:nvPr>
        </p:nvSpPr>
        <p:spPr>
          <a:xfrm>
            <a:off x="761803" y="350196"/>
            <a:ext cx="4646904" cy="1624520"/>
          </a:xfrm>
        </p:spPr>
        <p:txBody>
          <a:bodyPr anchor="ctr">
            <a:normAutofit/>
          </a:bodyPr>
          <a:lstStyle/>
          <a:p>
            <a:r>
              <a:rPr lang="en-US" sz="2400" dirty="0">
                <a:latin typeface="Times New Roman" panose="02020603050405020304" pitchFamily="18" charset="0"/>
                <a:cs typeface="Times New Roman" panose="02020603050405020304" pitchFamily="18" charset="0"/>
              </a:rPr>
              <a:t>Background</a:t>
            </a:r>
            <a:endParaRPr lang="en-CA" sz="24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EB2FE822-36C7-AB8D-1723-B026A9E3BA01}"/>
              </a:ext>
            </a:extLst>
          </p:cNvPr>
          <p:cNvSpPr>
            <a:spLocks noGrp="1" noChangeArrowheads="1"/>
          </p:cNvSpPr>
          <p:nvPr>
            <p:ph idx="1"/>
          </p:nvPr>
        </p:nvSpPr>
        <p:spPr bwMode="auto">
          <a:xfrm>
            <a:off x="613180" y="1974715"/>
            <a:ext cx="5327371" cy="361314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eaLnBrk="0" fontAlgn="base" hangingPunct="0">
              <a:spcBef>
                <a:spcPct val="0"/>
              </a:spcBef>
              <a:spcAft>
                <a:spcPts val="600"/>
              </a:spcAf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Predicting the outcome of genetic perturbations (e.g., CRISPR knockouts) is key to understanding cell differentiation and disease response.</a:t>
            </a:r>
            <a:endParaRPr lang="en-US" altLang="en-US" sz="1600" dirty="0">
              <a:latin typeface="Times New Roman" panose="02020603050405020304" pitchFamily="18" charset="0"/>
              <a:cs typeface="Times New Roman" panose="02020603050405020304" pitchFamily="18" charset="0"/>
            </a:endParaRPr>
          </a:p>
          <a:p>
            <a:pPr marL="0" indent="0" eaLnBrk="0" fontAlgn="base" hangingPunct="0">
              <a:spcBef>
                <a:spcPct val="0"/>
              </a:spcBef>
              <a:spcAft>
                <a:spcPts val="600"/>
              </a:spcAft>
              <a:buNone/>
            </a:pPr>
            <a:endPar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endParaRPr>
          </a:p>
          <a:p>
            <a:pPr eaLnBrk="0" fontAlgn="base" hangingPunct="0">
              <a:spcBef>
                <a:spcPct val="0"/>
              </a:spcBef>
              <a:spcAft>
                <a:spcPts val="600"/>
              </a:spcAf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Perturbation datasets (Perturb-seq, </a:t>
            </a:r>
            <a:r>
              <a:rPr kumimoji="0" lang="en-US" altLang="en-US" sz="1600" b="0" i="0" u="none" strike="noStrike" cap="none" normalizeH="0" baseline="0" dirty="0" err="1">
                <a:ln>
                  <a:noFill/>
                </a:ln>
                <a:effectLst/>
                <a:latin typeface="Times New Roman" panose="02020603050405020304" pitchFamily="18" charset="0"/>
                <a:cs typeface="Times New Roman" panose="02020603050405020304" pitchFamily="18" charset="0"/>
              </a:rPr>
              <a:t>Mixscape</a:t>
            </a: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a:t>
            </a:r>
          </a:p>
          <a:p>
            <a:pPr marL="0" marR="0" lvl="0" indent="0" defTabSz="914400" rtl="0" eaLnBrk="0" fontAlgn="base" latinLnBrk="0" hangingPunct="0">
              <a:spcBef>
                <a:spcPct val="0"/>
              </a:spcBef>
              <a:spcAft>
                <a:spcPts val="600"/>
              </a:spcAft>
              <a:buClrTx/>
              <a:buSzTx/>
              <a:buNone/>
              <a:tabLs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 enable modeling the causal mapping between perturbations and transcriptional outcomes.</a:t>
            </a:r>
          </a:p>
          <a:p>
            <a:pPr marL="0" marR="0" lvl="0" indent="0" defTabSz="914400" rtl="0" eaLnBrk="0" fontAlgn="base" latinLnBrk="0" hangingPunct="0">
              <a:spcBef>
                <a:spcPct val="0"/>
              </a:spcBef>
              <a:spcAft>
                <a:spcPts val="600"/>
              </a:spcAft>
              <a:buClrTx/>
              <a:buSzTx/>
              <a:buNone/>
              <a:tabLst/>
            </a:pPr>
            <a:endPar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pic>
        <p:nvPicPr>
          <p:cNvPr id="6" name="Picture 5" descr="Molecular DNA structure">
            <a:extLst>
              <a:ext uri="{FF2B5EF4-FFF2-40B4-BE49-F238E27FC236}">
                <a16:creationId xmlns:a16="http://schemas.microsoft.com/office/drawing/2014/main" id="{B9AB2687-9BAF-0D02-AB6C-C7518FE5B8B5}"/>
              </a:ext>
            </a:extLst>
          </p:cNvPr>
          <p:cNvPicPr>
            <a:picLocks noChangeAspect="1"/>
          </p:cNvPicPr>
          <p:nvPr/>
        </p:nvPicPr>
        <p:blipFill>
          <a:blip r:embed="rId2"/>
          <a:srcRect l="15498" r="25102" b="-2"/>
          <a:stretch>
            <a:fillRect/>
          </a:stretch>
        </p:blipFill>
        <p:spPr>
          <a:xfrm>
            <a:off x="6096000" y="1"/>
            <a:ext cx="6102825" cy="6858000"/>
          </a:xfrm>
          <a:prstGeom prst="rect">
            <a:avLst/>
          </a:prstGeom>
        </p:spPr>
      </p:pic>
    </p:spTree>
    <p:extLst>
      <p:ext uri="{BB962C8B-B14F-4D97-AF65-F5344CB8AC3E}">
        <p14:creationId xmlns:p14="http://schemas.microsoft.com/office/powerpoint/2010/main" val="771050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F919A-C12D-30A2-69D8-6B05403E1494}"/>
              </a:ext>
            </a:extLst>
          </p:cNvPr>
          <p:cNvSpPr>
            <a:spLocks noGrp="1"/>
          </p:cNvSpPr>
          <p:nvPr>
            <p:ph type="title"/>
          </p:nvPr>
        </p:nvSpPr>
        <p:spPr>
          <a:xfrm>
            <a:off x="502920" y="529717"/>
            <a:ext cx="10183368" cy="851027"/>
          </a:xfrm>
        </p:spPr>
        <p:txBody>
          <a:bodyPr>
            <a:normAutofit/>
          </a:bodyPr>
          <a:lstStyle/>
          <a:p>
            <a:r>
              <a:rPr lang="en-US" sz="2000" dirty="0">
                <a:latin typeface="Times New Roman" panose="02020603050405020304" pitchFamily="18" charset="0"/>
                <a:cs typeface="Times New Roman" panose="02020603050405020304" pitchFamily="18" charset="0"/>
              </a:rPr>
              <a:t>Gaps in the Research</a:t>
            </a:r>
            <a:endParaRPr lang="en-CA" sz="2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56CA37-BF2C-969E-D177-9518FD57166F}"/>
              </a:ext>
            </a:extLst>
          </p:cNvPr>
          <p:cNvSpPr>
            <a:spLocks noGrp="1"/>
          </p:cNvSpPr>
          <p:nvPr>
            <p:ph idx="1"/>
          </p:nvPr>
        </p:nvSpPr>
        <p:spPr>
          <a:xfrm>
            <a:off x="838200" y="1253331"/>
            <a:ext cx="10850880" cy="4351338"/>
          </a:xfrm>
        </p:spPr>
        <p:txBody>
          <a:bodyPr>
            <a:noAutofit/>
          </a:bodyPr>
          <a:lstStyle/>
          <a:p>
            <a:pPr marL="0" indent="0">
              <a:buNone/>
            </a:pPr>
            <a:r>
              <a:rPr lang="en-CA" sz="1400" b="1" dirty="0">
                <a:latin typeface="Times New Roman" panose="02020603050405020304" pitchFamily="18" charset="0"/>
                <a:cs typeface="Times New Roman" panose="02020603050405020304" pitchFamily="18" charset="0"/>
              </a:rPr>
              <a:t>Known:</a:t>
            </a:r>
            <a:endParaRPr lang="en-CA" sz="1400" dirty="0">
              <a:latin typeface="Times New Roman" panose="02020603050405020304" pitchFamily="18" charset="0"/>
              <a:cs typeface="Times New Roman" panose="02020603050405020304" pitchFamily="18" charset="0"/>
            </a:endParaRPr>
          </a:p>
          <a:p>
            <a:r>
              <a:rPr lang="en-CA" sz="1400" dirty="0">
                <a:latin typeface="Times New Roman" panose="02020603050405020304" pitchFamily="18" charset="0"/>
                <a:cs typeface="Times New Roman" panose="02020603050405020304" pitchFamily="18" charset="0"/>
              </a:rPr>
              <a:t>Linear models (LASSO, Elastic Net) identify sparse gene–gene dependencies. Linear models can  fail to capture nonlinear gene–gene or protein to protein dependencies or combinatorial perturbations.</a:t>
            </a:r>
          </a:p>
          <a:p>
            <a:r>
              <a:rPr lang="en-CA" sz="1400" dirty="0">
                <a:latin typeface="Times New Roman" panose="02020603050405020304" pitchFamily="18" charset="0"/>
                <a:cs typeface="Times New Roman" panose="02020603050405020304" pitchFamily="18" charset="0"/>
              </a:rPr>
              <a:t>Gaussian Process Regression captures limited nonlinearity.</a:t>
            </a:r>
          </a:p>
          <a:p>
            <a:r>
              <a:rPr lang="en-CA" sz="1400" dirty="0">
                <a:latin typeface="Times New Roman" panose="02020603050405020304" pitchFamily="18" charset="0"/>
                <a:cs typeface="Times New Roman" panose="02020603050405020304" pitchFamily="18" charset="0"/>
              </a:rPr>
              <a:t>Reinforcement learning (RL) shows promise for modeling dynamic perturbation sequences </a:t>
            </a:r>
          </a:p>
          <a:p>
            <a:endParaRPr lang="en-CA" sz="1400" b="1" dirty="0">
              <a:latin typeface="Times New Roman" panose="02020603050405020304" pitchFamily="18" charset="0"/>
              <a:cs typeface="Times New Roman" panose="02020603050405020304" pitchFamily="18" charset="0"/>
            </a:endParaRPr>
          </a:p>
          <a:p>
            <a:r>
              <a:rPr lang="en-CA" sz="1400" b="1" dirty="0">
                <a:latin typeface="Times New Roman" panose="02020603050405020304" pitchFamily="18" charset="0"/>
                <a:cs typeface="Times New Roman" panose="02020603050405020304" pitchFamily="18" charset="0"/>
              </a:rPr>
              <a:t>Unknown:</a:t>
            </a:r>
            <a:endParaRPr lang="en-CA" sz="1400" dirty="0">
              <a:latin typeface="Times New Roman" panose="02020603050405020304" pitchFamily="18" charset="0"/>
              <a:cs typeface="Times New Roman" panose="02020603050405020304" pitchFamily="18" charset="0"/>
            </a:endParaRPr>
          </a:p>
          <a:p>
            <a:r>
              <a:rPr lang="en-CA" sz="1400" dirty="0">
                <a:latin typeface="Times New Roman" panose="02020603050405020304" pitchFamily="18" charset="0"/>
                <a:cs typeface="Times New Roman" panose="02020603050405020304" pitchFamily="18" charset="0"/>
              </a:rPr>
              <a:t>The nonlinear extensions such as Gaussian Process regression, graph neural networks, or reinforcement learning frameworks that better represent biological complexity and adaptive perturbation effects however they often get stuck in local optima in the Waddington landscape.</a:t>
            </a:r>
          </a:p>
          <a:p>
            <a:r>
              <a:rPr lang="en-CA" sz="1400" dirty="0">
                <a:latin typeface="Times New Roman" panose="02020603050405020304" pitchFamily="18" charset="0"/>
                <a:cs typeface="Times New Roman" panose="02020603050405020304" pitchFamily="18" charset="0"/>
              </a:rPr>
              <a:t>Most existing models rely exclusively on either </a:t>
            </a:r>
            <a:r>
              <a:rPr lang="en-CA" sz="1400" i="1" dirty="0">
                <a:latin typeface="Times New Roman" panose="02020603050405020304" pitchFamily="18" charset="0"/>
                <a:cs typeface="Times New Roman" panose="02020603050405020304" pitchFamily="18" charset="0"/>
              </a:rPr>
              <a:t>in silico</a:t>
            </a:r>
            <a:r>
              <a:rPr lang="en-CA" sz="1400" dirty="0">
                <a:latin typeface="Times New Roman" panose="02020603050405020304" pitchFamily="18" charset="0"/>
                <a:cs typeface="Times New Roman" panose="02020603050405020304" pitchFamily="18" charset="0"/>
              </a:rPr>
              <a:t> perturbation data or experimental perturbation data but rarely integrate both limiting their ability to generalize and validate predictions across simulated and real biological contexts.</a:t>
            </a:r>
            <a:r>
              <a:rPr lang="en-CA" sz="1400" b="1" dirty="0">
                <a:latin typeface="Times New Roman" panose="02020603050405020304" pitchFamily="18" charset="0"/>
                <a:cs typeface="Times New Roman" panose="02020603050405020304" pitchFamily="18" charset="0"/>
              </a:rPr>
              <a:t> Hence, g</a:t>
            </a:r>
            <a:r>
              <a:rPr lang="en-CA" sz="1400" dirty="0">
                <a:latin typeface="Times New Roman" panose="02020603050405020304" pitchFamily="18" charset="0"/>
                <a:cs typeface="Times New Roman" panose="02020603050405020304" pitchFamily="18" charset="0"/>
              </a:rPr>
              <a:t>eneralization to </a:t>
            </a:r>
            <a:r>
              <a:rPr lang="en-CA" sz="1400" i="1" dirty="0">
                <a:latin typeface="Times New Roman" panose="02020603050405020304" pitchFamily="18" charset="0"/>
                <a:cs typeface="Times New Roman" panose="02020603050405020304" pitchFamily="18" charset="0"/>
              </a:rPr>
              <a:t>out-of-sample</a:t>
            </a:r>
            <a:r>
              <a:rPr lang="en-CA" sz="1400" dirty="0">
                <a:latin typeface="Times New Roman" panose="02020603050405020304" pitchFamily="18" charset="0"/>
                <a:cs typeface="Times New Roman" panose="02020603050405020304" pitchFamily="18" charset="0"/>
              </a:rPr>
              <a:t> experimental perturbations.</a:t>
            </a:r>
          </a:p>
          <a:p>
            <a:r>
              <a:rPr lang="en-CA" sz="1400" dirty="0">
                <a:latin typeface="Times New Roman" panose="02020603050405020304" pitchFamily="18" charset="0"/>
                <a:cs typeface="Times New Roman" panose="02020603050405020304" pitchFamily="18" charset="0"/>
              </a:rPr>
              <a:t>Interpretability of perturbation effects across multi-omics layers (RNA, ATAC, ADT) with experimental Validation.</a:t>
            </a:r>
          </a:p>
          <a:p>
            <a:pPr marL="0" indent="0">
              <a:buNone/>
            </a:pPr>
            <a:r>
              <a:rPr lang="en-CA" sz="1400" b="1" dirty="0">
                <a:latin typeface="Times New Roman" panose="02020603050405020304" pitchFamily="18" charset="0"/>
                <a:cs typeface="Times New Roman" panose="02020603050405020304" pitchFamily="18" charset="0"/>
              </a:rPr>
              <a:t>References:</a:t>
            </a:r>
            <a:endParaRPr lang="en-CA" sz="14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r>
              <a:rPr lang="en-US" altLang="en-US" sz="1200" dirty="0">
                <a:latin typeface="Times New Roman" panose="02020603050405020304" pitchFamily="18" charset="0"/>
                <a:cs typeface="Times New Roman" panose="02020603050405020304" pitchFamily="18" charset="0"/>
              </a:rPr>
              <a:t>Huynh-Thu, V. A., </a:t>
            </a:r>
            <a:r>
              <a:rPr lang="en-US" altLang="en-US" sz="1200" dirty="0" err="1">
                <a:latin typeface="Times New Roman" panose="02020603050405020304" pitchFamily="18" charset="0"/>
                <a:cs typeface="Times New Roman" panose="02020603050405020304" pitchFamily="18" charset="0"/>
              </a:rPr>
              <a:t>Irrthum</a:t>
            </a:r>
            <a:r>
              <a:rPr lang="en-US" altLang="en-US" sz="1200" dirty="0">
                <a:latin typeface="Times New Roman" panose="02020603050405020304" pitchFamily="18" charset="0"/>
                <a:cs typeface="Times New Roman" panose="02020603050405020304" pitchFamily="18" charset="0"/>
              </a:rPr>
              <a:t>, A., </a:t>
            </a:r>
            <a:r>
              <a:rPr lang="en-US" altLang="en-US" sz="1200" dirty="0" err="1">
                <a:latin typeface="Times New Roman" panose="02020603050405020304" pitchFamily="18" charset="0"/>
                <a:cs typeface="Times New Roman" panose="02020603050405020304" pitchFamily="18" charset="0"/>
              </a:rPr>
              <a:t>Wehenkel</a:t>
            </a:r>
            <a:r>
              <a:rPr lang="en-US" altLang="en-US" sz="1200" dirty="0">
                <a:latin typeface="Times New Roman" panose="02020603050405020304" pitchFamily="18" charset="0"/>
                <a:cs typeface="Times New Roman" panose="02020603050405020304" pitchFamily="18" charset="0"/>
              </a:rPr>
              <a:t>, L., &amp; Geurts, P. (2010). </a:t>
            </a:r>
            <a:r>
              <a:rPr lang="en-US" altLang="en-US" sz="1200" b="1" i="1" dirty="0">
                <a:latin typeface="Times New Roman" panose="02020603050405020304" pitchFamily="18" charset="0"/>
                <a:cs typeface="Times New Roman" panose="02020603050405020304" pitchFamily="18" charset="0"/>
              </a:rPr>
              <a:t>Inferring regulatory networks from expression data using tree-based methods</a:t>
            </a:r>
            <a:r>
              <a:rPr lang="en-US" altLang="en-US" sz="1200" i="1" dirty="0">
                <a:latin typeface="Times New Roman" panose="02020603050405020304" pitchFamily="18" charset="0"/>
                <a:cs typeface="Times New Roman" panose="02020603050405020304" pitchFamily="18" charset="0"/>
              </a:rPr>
              <a:t>.</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PLoS</a:t>
            </a:r>
            <a:r>
              <a:rPr lang="en-US" altLang="en-US" sz="1200" dirty="0">
                <a:latin typeface="Times New Roman" panose="02020603050405020304" pitchFamily="18" charset="0"/>
                <a:cs typeface="Times New Roman" panose="02020603050405020304" pitchFamily="18" charset="0"/>
              </a:rPr>
              <a:t> ONE, 5(9): e12776.</a:t>
            </a:r>
          </a:p>
          <a:p>
            <a:pPr marL="0" lvl="0" indent="0" eaLnBrk="0" fontAlgn="base" hangingPunct="0">
              <a:lnSpc>
                <a:spcPct val="100000"/>
              </a:lnSpc>
              <a:spcBef>
                <a:spcPct val="0"/>
              </a:spcBef>
              <a:spcAft>
                <a:spcPct val="0"/>
              </a:spcAft>
              <a:buNone/>
            </a:pPr>
            <a:r>
              <a:rPr lang="en-US" altLang="en-US" sz="1200" dirty="0">
                <a:latin typeface="Times New Roman" panose="02020603050405020304" pitchFamily="18" charset="0"/>
                <a:cs typeface="Times New Roman" panose="02020603050405020304" pitchFamily="18" charset="0"/>
              </a:rPr>
              <a:t>Marbach, D., Costello, J. C., Küffner, R., Vega, N. M., Prill, R. J., Camacho, D. M., ... &amp; Kellis, M. (2012). </a:t>
            </a:r>
            <a:r>
              <a:rPr lang="en-US" altLang="en-US" sz="1200" b="1" i="1" dirty="0">
                <a:latin typeface="Times New Roman" panose="02020603050405020304" pitchFamily="18" charset="0"/>
                <a:cs typeface="Times New Roman" panose="02020603050405020304" pitchFamily="18" charset="0"/>
              </a:rPr>
              <a:t>Wisdom of crowds for robust gene network inference</a:t>
            </a:r>
            <a:r>
              <a:rPr lang="en-US" altLang="en-US" sz="1200" i="1" dirty="0">
                <a:latin typeface="Times New Roman" panose="02020603050405020304" pitchFamily="18" charset="0"/>
                <a:cs typeface="Times New Roman" panose="02020603050405020304" pitchFamily="18" charset="0"/>
              </a:rPr>
              <a:t>.</a:t>
            </a:r>
            <a:r>
              <a:rPr lang="en-US" altLang="en-US" sz="1200" dirty="0">
                <a:latin typeface="Times New Roman" panose="02020603050405020304" pitchFamily="18" charset="0"/>
                <a:cs typeface="Times New Roman" panose="02020603050405020304" pitchFamily="18" charset="0"/>
              </a:rPr>
              <a:t> Nature Methods, 9(8): 796–804.</a:t>
            </a:r>
          </a:p>
          <a:p>
            <a:pPr marL="0" lvl="0" indent="0" eaLnBrk="0" fontAlgn="base" hangingPunct="0">
              <a:lnSpc>
                <a:spcPct val="100000"/>
              </a:lnSpc>
              <a:spcBef>
                <a:spcPct val="0"/>
              </a:spcBef>
              <a:spcAft>
                <a:spcPct val="0"/>
              </a:spcAft>
              <a:buNone/>
            </a:pPr>
            <a:r>
              <a:rPr lang="en-US" altLang="en-US" sz="1200" dirty="0">
                <a:latin typeface="Times New Roman" panose="02020603050405020304" pitchFamily="18" charset="0"/>
                <a:cs typeface="Times New Roman" panose="02020603050405020304" pitchFamily="18" charset="0"/>
              </a:rPr>
              <a:t>Xing, H., &amp; Yau, C. (2025). </a:t>
            </a:r>
            <a:r>
              <a:rPr lang="en-US" altLang="en-US" sz="1200" b="1" i="1" dirty="0">
                <a:latin typeface="Times New Roman" panose="02020603050405020304" pitchFamily="18" charset="0"/>
                <a:cs typeface="Times New Roman" panose="02020603050405020304" pitchFamily="18" charset="0"/>
              </a:rPr>
              <a:t>GPerturb: Gaussian Process Modelling of Single-Cell Perturbation Data</a:t>
            </a:r>
            <a:r>
              <a:rPr lang="en-US" altLang="en-US" sz="1200" i="1" dirty="0">
                <a:latin typeface="Times New Roman" panose="02020603050405020304" pitchFamily="18" charset="0"/>
                <a:cs typeface="Times New Roman" panose="02020603050405020304" pitchFamily="18" charset="0"/>
              </a:rPr>
              <a:t>.</a:t>
            </a:r>
            <a:r>
              <a:rPr lang="en-US" altLang="en-US" sz="1200" dirty="0">
                <a:latin typeface="Times New Roman" panose="02020603050405020304" pitchFamily="18" charset="0"/>
                <a:cs typeface="Times New Roman" panose="02020603050405020304" pitchFamily="18" charset="0"/>
              </a:rPr>
              <a:t> Nature Communications, 16(1): 5423.</a:t>
            </a:r>
          </a:p>
          <a:p>
            <a:pPr marL="0" lvl="0" indent="0" eaLnBrk="0" fontAlgn="base" hangingPunct="0">
              <a:lnSpc>
                <a:spcPct val="100000"/>
              </a:lnSpc>
              <a:spcBef>
                <a:spcPct val="0"/>
              </a:spcBef>
              <a:spcAft>
                <a:spcPct val="0"/>
              </a:spcAft>
              <a:buNone/>
            </a:pPr>
            <a:r>
              <a:rPr lang="en-US" altLang="en-US" sz="1200" dirty="0">
                <a:latin typeface="Times New Roman" panose="02020603050405020304" pitchFamily="18" charset="0"/>
                <a:cs typeface="Times New Roman" panose="02020603050405020304" pitchFamily="18" charset="0"/>
              </a:rPr>
              <a:t>Gavriilidis, G. I., et al. (2024). </a:t>
            </a:r>
            <a:r>
              <a:rPr lang="en-US" altLang="en-US" sz="1200" b="1" i="1" dirty="0">
                <a:latin typeface="Times New Roman" panose="02020603050405020304" pitchFamily="18" charset="0"/>
                <a:cs typeface="Times New Roman" panose="02020603050405020304" pitchFamily="18" charset="0"/>
              </a:rPr>
              <a:t>A Mini-review on Perturbation Modelling Across Single-Cell </a:t>
            </a:r>
            <a:r>
              <a:rPr lang="en-US" altLang="en-US" sz="1200" b="1" i="1" dirty="0" err="1">
                <a:latin typeface="Times New Roman" panose="02020603050405020304" pitchFamily="18" charset="0"/>
                <a:cs typeface="Times New Roman" panose="02020603050405020304" pitchFamily="18" charset="0"/>
              </a:rPr>
              <a:t>Omic</a:t>
            </a:r>
            <a:r>
              <a:rPr lang="en-US" altLang="en-US" sz="1200" b="1" i="1" dirty="0">
                <a:latin typeface="Times New Roman" panose="02020603050405020304" pitchFamily="18" charset="0"/>
                <a:cs typeface="Times New Roman" panose="02020603050405020304" pitchFamily="18" charset="0"/>
              </a:rPr>
              <a:t> Modalities</a:t>
            </a:r>
            <a:r>
              <a:rPr lang="en-US" altLang="en-US" sz="1200" i="1" dirty="0">
                <a:latin typeface="Times New Roman" panose="02020603050405020304" pitchFamily="18" charset="0"/>
                <a:cs typeface="Times New Roman" panose="02020603050405020304" pitchFamily="18" charset="0"/>
              </a:rPr>
              <a:t>.</a:t>
            </a:r>
            <a:r>
              <a:rPr lang="en-US" altLang="en-US" sz="1200" dirty="0">
                <a:latin typeface="Times New Roman" panose="02020603050405020304" pitchFamily="18" charset="0"/>
                <a:cs typeface="Times New Roman" panose="02020603050405020304" pitchFamily="18" charset="0"/>
              </a:rPr>
              <a:t> Computational and Structural Biotechnology Journal, 23: 1886–1895</a:t>
            </a:r>
            <a:r>
              <a:rPr lang="en-US" altLang="en-US" sz="1000" dirty="0">
                <a:latin typeface="Times New Roman" panose="02020603050405020304" pitchFamily="18" charset="0"/>
                <a:cs typeface="Times New Roman" panose="02020603050405020304" pitchFamily="18" charset="0"/>
              </a:rPr>
              <a:t>.</a:t>
            </a:r>
          </a:p>
          <a:p>
            <a:endParaRPr lang="en-CA"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9541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C3AF6-67CE-A2F4-D8AB-9BCD2466C373}"/>
              </a:ext>
            </a:extLst>
          </p:cNvPr>
          <p:cNvSpPr>
            <a:spLocks noGrp="1"/>
          </p:cNvSpPr>
          <p:nvPr>
            <p:ph type="title"/>
          </p:nvPr>
        </p:nvSpPr>
        <p:spPr>
          <a:xfrm>
            <a:off x="838200" y="365125"/>
            <a:ext cx="10515600" cy="905891"/>
          </a:xfrm>
        </p:spPr>
        <p:txBody>
          <a:bodyPr>
            <a:normAutofit fontScale="90000"/>
          </a:bodyPr>
          <a:lstStyle/>
          <a:p>
            <a:r>
              <a:rPr lang="en-CA" sz="2200" dirty="0">
                <a:latin typeface="Times New Roman" panose="02020603050405020304" pitchFamily="18" charset="0"/>
                <a:cs typeface="Times New Roman" panose="02020603050405020304" pitchFamily="18" charset="0"/>
              </a:rPr>
              <a:t>Proposed Solution: Using Initialization Strategies to Address Nonlinearity in Developmental Biology</a:t>
            </a:r>
            <a:br>
              <a:rPr lang="en-CA" b="1" dirty="0"/>
            </a:br>
            <a:endParaRPr lang="en-CA" dirty="0"/>
          </a:p>
        </p:txBody>
      </p:sp>
      <p:sp>
        <p:nvSpPr>
          <p:cNvPr id="3" name="Content Placeholder 2">
            <a:extLst>
              <a:ext uri="{FF2B5EF4-FFF2-40B4-BE49-F238E27FC236}">
                <a16:creationId xmlns:a16="http://schemas.microsoft.com/office/drawing/2014/main" id="{C57357E8-7CC3-7D10-E04D-DD8F72BC8A57}"/>
              </a:ext>
            </a:extLst>
          </p:cNvPr>
          <p:cNvSpPr>
            <a:spLocks noGrp="1"/>
          </p:cNvSpPr>
          <p:nvPr>
            <p:ph idx="1"/>
          </p:nvPr>
        </p:nvSpPr>
        <p:spPr>
          <a:xfrm>
            <a:off x="947928" y="1459865"/>
            <a:ext cx="10515600" cy="4351338"/>
          </a:xfrm>
        </p:spPr>
        <p:txBody>
          <a:bodyPr>
            <a:normAutofit/>
          </a:bodyPr>
          <a:lstStyle/>
          <a:p>
            <a:r>
              <a:rPr lang="en-CA" sz="1600" dirty="0">
                <a:cs typeface="Times New Roman" panose="02020603050405020304" pitchFamily="18" charset="0"/>
              </a:rPr>
              <a:t>We leverage machine-learning initialization strategies to overcome the inherent nonlinearity in developmental biology, improving the modeling of cell-differentiation trajectories.</a:t>
            </a:r>
          </a:p>
          <a:p>
            <a:endParaRPr lang="en-CA" sz="1600" dirty="0">
              <a:cs typeface="Times New Roman" panose="02020603050405020304" pitchFamily="18" charset="0"/>
            </a:endParaRPr>
          </a:p>
          <a:p>
            <a:r>
              <a:rPr lang="en-CA" sz="1600" dirty="0">
                <a:cs typeface="Times New Roman" panose="02020603050405020304" pitchFamily="18" charset="0"/>
              </a:rPr>
              <a:t>Concept: Convex or structured initializations (e.g., trust-region) provide stable starting points for highly nonlinear optimization landscapes in biological systems </a:t>
            </a:r>
            <a:r>
              <a:rPr lang="en-CA" sz="1400" dirty="0">
                <a:cs typeface="Times New Roman" panose="02020603050405020304" pitchFamily="18" charset="0"/>
              </a:rPr>
              <a:t>[1] </a:t>
            </a:r>
            <a:r>
              <a:rPr lang="en-CA" sz="1600" dirty="0">
                <a:cs typeface="Times New Roman" panose="02020603050405020304" pitchFamily="18" charset="0"/>
              </a:rPr>
              <a:t>.</a:t>
            </a:r>
          </a:p>
          <a:p>
            <a:endParaRPr lang="en-CA" sz="1600" dirty="0">
              <a:cs typeface="Times New Roman" panose="02020603050405020304" pitchFamily="18" charset="0"/>
            </a:endParaRPr>
          </a:p>
          <a:p>
            <a:r>
              <a:rPr lang="en-CA" sz="1600" dirty="0">
                <a:cs typeface="Times New Roman" panose="02020603050405020304" pitchFamily="18" charset="0"/>
              </a:rPr>
              <a:t>Goal: To ensure that nonlinear models such as deep or reinforcement-learning frameworks converge toward biologically meaningful minima rather than arbitrary local optima.</a:t>
            </a:r>
          </a:p>
          <a:p>
            <a:endParaRPr lang="en-CA" sz="1600" dirty="0">
              <a:cs typeface="Times New Roman" panose="02020603050405020304" pitchFamily="18" charset="0"/>
            </a:endParaRPr>
          </a:p>
          <a:p>
            <a:r>
              <a:rPr lang="en-CA" sz="1600" dirty="0">
                <a:cs typeface="Times New Roman" panose="02020603050405020304" pitchFamily="18" charset="0"/>
              </a:rPr>
              <a:t>Impact: Enhances the fidelity of cell-fate prediction and differentiation modeling, leading to more accurate simulations of lineage commitment and reprogramming dynamics.</a:t>
            </a:r>
          </a:p>
          <a:p>
            <a:endParaRPr lang="en-CA" sz="1600" dirty="0">
              <a:cs typeface="Times New Roman" panose="02020603050405020304" pitchFamily="18" charset="0"/>
            </a:endParaRPr>
          </a:p>
          <a:p>
            <a:r>
              <a:rPr lang="en-CA" sz="1600" dirty="0">
                <a:cs typeface="Times New Roman" panose="02020603050405020304" pitchFamily="18" charset="0"/>
              </a:rPr>
              <a:t>Outcome: A unified approach where machine-domain initialization bridges computational optimization and biological interpretability, improving predictive performance in cell differentiation and regenerative modeling.</a:t>
            </a:r>
          </a:p>
          <a:p>
            <a:endParaRPr lang="en-CA"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33196A9-B4A4-8450-7095-5825D67800FA}"/>
              </a:ext>
            </a:extLst>
          </p:cNvPr>
          <p:cNvSpPr txBox="1"/>
          <p:nvPr/>
        </p:nvSpPr>
        <p:spPr>
          <a:xfrm>
            <a:off x="374904" y="5919508"/>
            <a:ext cx="12252960" cy="461665"/>
          </a:xfrm>
          <a:prstGeom prst="rect">
            <a:avLst/>
          </a:prstGeom>
          <a:noFill/>
        </p:spPr>
        <p:txBody>
          <a:bodyPr wrap="square">
            <a:spAutoFit/>
          </a:bodyPr>
          <a:lstStyle/>
          <a:p>
            <a:pPr marL="0" indent="0" fontAlgn="base">
              <a:buNone/>
            </a:pPr>
            <a:r>
              <a:rPr lang="en-CA" sz="1200" dirty="0">
                <a:latin typeface="Times New Roman" panose="02020603050405020304" pitchFamily="18" charset="0"/>
                <a:cs typeface="Times New Roman" panose="02020603050405020304" pitchFamily="18" charset="0"/>
              </a:rPr>
              <a:t>[1] Boabang, Francis, and Samuel Asante </a:t>
            </a:r>
            <a:r>
              <a:rPr lang="en-CA" sz="1200" dirty="0" err="1">
                <a:latin typeface="Times New Roman" panose="02020603050405020304" pitchFamily="18" charset="0"/>
                <a:cs typeface="Times New Roman" panose="02020603050405020304" pitchFamily="18" charset="0"/>
              </a:rPr>
              <a:t>Gyamerah</a:t>
            </a:r>
            <a:r>
              <a:rPr lang="en-CA" sz="1200" dirty="0">
                <a:latin typeface="Times New Roman" panose="02020603050405020304" pitchFamily="18" charset="0"/>
                <a:cs typeface="Times New Roman" panose="02020603050405020304" pitchFamily="18" charset="0"/>
              </a:rPr>
              <a:t>. "Escaping Local Optima in the Waddington Landscape: A Multi-Stage TRPO-PPO Approach for Single-Cell Perturbation Analysis." </a:t>
            </a:r>
            <a:r>
              <a:rPr lang="en-CA" sz="1200" i="1" dirty="0" err="1">
                <a:latin typeface="Times New Roman" panose="02020603050405020304" pitchFamily="18" charset="0"/>
                <a:cs typeface="Times New Roman" panose="02020603050405020304" pitchFamily="18" charset="0"/>
              </a:rPr>
              <a:t>arXiv</a:t>
            </a:r>
            <a:r>
              <a:rPr lang="en-CA" sz="1200" i="1" dirty="0">
                <a:latin typeface="Times New Roman" panose="02020603050405020304" pitchFamily="18" charset="0"/>
                <a:cs typeface="Times New Roman" panose="02020603050405020304" pitchFamily="18" charset="0"/>
              </a:rPr>
              <a:t> preprint arXiv:2510.13018</a:t>
            </a:r>
            <a:r>
              <a:rPr lang="en-CA" sz="1200" dirty="0">
                <a:latin typeface="Times New Roman" panose="02020603050405020304" pitchFamily="18" charset="0"/>
                <a:cs typeface="Times New Roman" panose="02020603050405020304" pitchFamily="18" charset="0"/>
              </a:rPr>
              <a:t> (2025).</a:t>
            </a:r>
          </a:p>
        </p:txBody>
      </p:sp>
    </p:spTree>
    <p:extLst>
      <p:ext uri="{BB962C8B-B14F-4D97-AF65-F5344CB8AC3E}">
        <p14:creationId xmlns:p14="http://schemas.microsoft.com/office/powerpoint/2010/main" val="2087604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D688C2-0936-3136-9D06-726FED71A049}"/>
              </a:ext>
            </a:extLst>
          </p:cNvPr>
          <p:cNvSpPr>
            <a:spLocks noGrp="1"/>
          </p:cNvSpPr>
          <p:nvPr>
            <p:ph type="title"/>
          </p:nvPr>
        </p:nvSpPr>
        <p:spPr>
          <a:xfrm>
            <a:off x="803503" y="1410790"/>
            <a:ext cx="5435634" cy="881742"/>
          </a:xfrm>
        </p:spPr>
        <p:txBody>
          <a:bodyPr anchor="ctr">
            <a:normAutofit/>
          </a:bodyPr>
          <a:lstStyle/>
          <a:p>
            <a:r>
              <a:rPr lang="en-US" sz="2400" dirty="0">
                <a:latin typeface="Times New Roman" panose="02020603050405020304" pitchFamily="18" charset="0"/>
                <a:cs typeface="Times New Roman" panose="02020603050405020304" pitchFamily="18" charset="0"/>
              </a:rPr>
              <a:t>Datasets</a:t>
            </a:r>
            <a:endParaRPr lang="en-CA" sz="2400" dirty="0">
              <a:latin typeface="Times New Roman" panose="02020603050405020304" pitchFamily="18" charset="0"/>
              <a:cs typeface="Times New Roman" panose="02020603050405020304" pitchFamily="18" charset="0"/>
            </a:endParaRPr>
          </a:p>
        </p:txBody>
      </p:sp>
      <p:cxnSp>
        <p:nvCxnSpPr>
          <p:cNvPr id="19" name="Straight Connector 18">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6" name="Rectangle 1">
            <a:extLst>
              <a:ext uri="{FF2B5EF4-FFF2-40B4-BE49-F238E27FC236}">
                <a16:creationId xmlns:a16="http://schemas.microsoft.com/office/drawing/2014/main" id="{709A6F6B-96D8-E2AA-5D1A-1A3D4E8C31DA}"/>
              </a:ext>
            </a:extLst>
          </p:cNvPr>
          <p:cNvGraphicFramePr>
            <a:graphicFrameLocks noGrp="1"/>
          </p:cNvGraphicFramePr>
          <p:nvPr>
            <p:ph idx="1"/>
            <p:extLst>
              <p:ext uri="{D42A27DB-BD31-4B8C-83A1-F6EECF244321}">
                <p14:modId xmlns:p14="http://schemas.microsoft.com/office/powerpoint/2010/main" val="228715565"/>
              </p:ext>
            </p:extLst>
          </p:nvPr>
        </p:nvGraphicFramePr>
        <p:xfrm>
          <a:off x="975360" y="2364378"/>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E665BEE4-4CBE-826C-2EFA-81C0FF83C5FC}"/>
              </a:ext>
            </a:extLst>
          </p:cNvPr>
          <p:cNvSpPr txBox="1"/>
          <p:nvPr/>
        </p:nvSpPr>
        <p:spPr>
          <a:xfrm>
            <a:off x="975360" y="5418291"/>
            <a:ext cx="6094476" cy="923330"/>
          </a:xfrm>
          <a:prstGeom prst="rect">
            <a:avLst/>
          </a:prstGeom>
          <a:noFill/>
        </p:spPr>
        <p:txBody>
          <a:bodyPr wrap="square">
            <a:spAutoFit/>
          </a:bodyPr>
          <a:lstStyle/>
          <a:p>
            <a:r>
              <a:rPr lang="en-CA" b="0" i="0" u="sng" dirty="0">
                <a:solidFill>
                  <a:srgbClr val="0969DA"/>
                </a:solidFill>
                <a:effectLst/>
                <a:latin typeface="-apple-system"/>
                <a:hlinkClick r:id="rId7"/>
              </a:rPr>
              <a:t>http://www.perturbase.cn/</a:t>
            </a:r>
            <a:endParaRPr lang="en-CA" b="0" i="0" u="sng" dirty="0">
              <a:solidFill>
                <a:srgbClr val="0969DA"/>
              </a:solidFill>
              <a:effectLst/>
              <a:latin typeface="-apple-system"/>
            </a:endParaRPr>
          </a:p>
          <a:p>
            <a:endParaRPr lang="en-CA" u="sng" dirty="0">
              <a:solidFill>
                <a:srgbClr val="0969DA"/>
              </a:solidFill>
              <a:latin typeface="-apple-system"/>
            </a:endParaRPr>
          </a:p>
          <a:p>
            <a:r>
              <a:rPr lang="en-CA" dirty="0"/>
              <a:t>https://www.ncbi.nlm.nih.gov/bioproject/?term=cite</a:t>
            </a:r>
          </a:p>
        </p:txBody>
      </p:sp>
    </p:spTree>
    <p:extLst>
      <p:ext uri="{BB962C8B-B14F-4D97-AF65-F5344CB8AC3E}">
        <p14:creationId xmlns:p14="http://schemas.microsoft.com/office/powerpoint/2010/main" val="145104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41825-950B-4DF9-D496-BFE44B154E5A}"/>
              </a:ext>
            </a:extLst>
          </p:cNvPr>
          <p:cNvSpPr>
            <a:spLocks noGrp="1"/>
          </p:cNvSpPr>
          <p:nvPr>
            <p:ph type="title"/>
          </p:nvPr>
        </p:nvSpPr>
        <p:spPr>
          <a:xfrm>
            <a:off x="957072" y="365125"/>
            <a:ext cx="8854440" cy="567880"/>
          </a:xfrm>
        </p:spPr>
        <p:txBody>
          <a:bodyPr>
            <a:normAutofit/>
          </a:bodyPr>
          <a:lstStyle/>
          <a:p>
            <a:r>
              <a:rPr lang="en-US" sz="2400" dirty="0">
                <a:latin typeface="Times New Roman" panose="02020603050405020304" pitchFamily="18" charset="0"/>
                <a:cs typeface="Times New Roman" panose="02020603050405020304" pitchFamily="18" charset="0"/>
              </a:rPr>
              <a:t>Sample Data Example </a:t>
            </a:r>
            <a:endParaRPr lang="en-CA" sz="24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12BF0DCB-31DC-4691-C5AF-182AE0E3E25E}"/>
              </a:ext>
            </a:extLst>
          </p:cNvPr>
          <p:cNvSpPr/>
          <p:nvPr/>
        </p:nvSpPr>
        <p:spPr>
          <a:xfrm>
            <a:off x="4219956" y="1224344"/>
            <a:ext cx="2328672" cy="567880"/>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Rectangle 4">
            <a:extLst>
              <a:ext uri="{FF2B5EF4-FFF2-40B4-BE49-F238E27FC236}">
                <a16:creationId xmlns:a16="http://schemas.microsoft.com/office/drawing/2014/main" id="{4098330F-D621-8D07-B793-CD09837D3D87}"/>
              </a:ext>
            </a:extLst>
          </p:cNvPr>
          <p:cNvSpPr/>
          <p:nvPr/>
        </p:nvSpPr>
        <p:spPr>
          <a:xfrm>
            <a:off x="1339596" y="3128676"/>
            <a:ext cx="3639312" cy="1187291"/>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Rectangle 5">
            <a:extLst>
              <a:ext uri="{FF2B5EF4-FFF2-40B4-BE49-F238E27FC236}">
                <a16:creationId xmlns:a16="http://schemas.microsoft.com/office/drawing/2014/main" id="{04AE21EF-0D2C-A105-3DC4-2AE8EFD81FF1}"/>
              </a:ext>
            </a:extLst>
          </p:cNvPr>
          <p:cNvSpPr/>
          <p:nvPr/>
        </p:nvSpPr>
        <p:spPr>
          <a:xfrm>
            <a:off x="6548628" y="3128676"/>
            <a:ext cx="3389376" cy="1187291"/>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TextBox 7">
            <a:extLst>
              <a:ext uri="{FF2B5EF4-FFF2-40B4-BE49-F238E27FC236}">
                <a16:creationId xmlns:a16="http://schemas.microsoft.com/office/drawing/2014/main" id="{31C85E2A-3BE4-F0E0-9586-59B05C470399}"/>
              </a:ext>
            </a:extLst>
          </p:cNvPr>
          <p:cNvSpPr txBox="1"/>
          <p:nvPr/>
        </p:nvSpPr>
        <p:spPr>
          <a:xfrm>
            <a:off x="2094357" y="6308209"/>
            <a:ext cx="7477506" cy="369332"/>
          </a:xfrm>
          <a:prstGeom prst="rect">
            <a:avLst/>
          </a:prstGeom>
          <a:noFill/>
        </p:spPr>
        <p:txBody>
          <a:bodyPr wrap="square">
            <a:spAutoFit/>
          </a:bodyPr>
          <a:lstStyle/>
          <a:p>
            <a:r>
              <a:rPr lang="en-CA" dirty="0"/>
              <a:t>https://www.ncbi.nlm.nih.gov/geo/query/acc.cgi?acc=GSE134139</a:t>
            </a:r>
          </a:p>
        </p:txBody>
      </p:sp>
      <p:cxnSp>
        <p:nvCxnSpPr>
          <p:cNvPr id="10" name="Straight Arrow Connector 9">
            <a:extLst>
              <a:ext uri="{FF2B5EF4-FFF2-40B4-BE49-F238E27FC236}">
                <a16:creationId xmlns:a16="http://schemas.microsoft.com/office/drawing/2014/main" id="{6958431A-A2CE-BA66-CF54-CE30D7FFFF3E}"/>
              </a:ext>
            </a:extLst>
          </p:cNvPr>
          <p:cNvCxnSpPr>
            <a:cxnSpLocks/>
            <a:stCxn id="4" idx="2"/>
            <a:endCxn id="5" idx="0"/>
          </p:cNvCxnSpPr>
          <p:nvPr/>
        </p:nvCxnSpPr>
        <p:spPr>
          <a:xfrm flipH="1">
            <a:off x="3159252" y="1792224"/>
            <a:ext cx="2225040" cy="133645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E13FE5E-3197-F346-F644-8DD6F8D9580B}"/>
              </a:ext>
            </a:extLst>
          </p:cNvPr>
          <p:cNvCxnSpPr>
            <a:cxnSpLocks/>
            <a:stCxn id="4" idx="2"/>
            <a:endCxn id="6" idx="0"/>
          </p:cNvCxnSpPr>
          <p:nvPr/>
        </p:nvCxnSpPr>
        <p:spPr>
          <a:xfrm>
            <a:off x="5384292" y="1792224"/>
            <a:ext cx="2859024" cy="133645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1132621-C0E9-D945-9AC2-E637B85C32FF}"/>
              </a:ext>
            </a:extLst>
          </p:cNvPr>
          <p:cNvSpPr txBox="1"/>
          <p:nvPr/>
        </p:nvSpPr>
        <p:spPr>
          <a:xfrm>
            <a:off x="4715797" y="1323618"/>
            <a:ext cx="1250663" cy="369332"/>
          </a:xfrm>
          <a:prstGeom prst="rect">
            <a:avLst/>
          </a:prstGeom>
          <a:noFill/>
        </p:spPr>
        <p:txBody>
          <a:bodyPr wrap="none" rtlCol="0">
            <a:spAutoFit/>
          </a:bodyPr>
          <a:lstStyle/>
          <a:p>
            <a:r>
              <a:rPr lang="en-US" dirty="0"/>
              <a:t>GSE134139</a:t>
            </a:r>
            <a:endParaRPr lang="en-CA" dirty="0"/>
          </a:p>
        </p:txBody>
      </p:sp>
      <p:sp>
        <p:nvSpPr>
          <p:cNvPr id="17" name="TextBox 16">
            <a:extLst>
              <a:ext uri="{FF2B5EF4-FFF2-40B4-BE49-F238E27FC236}">
                <a16:creationId xmlns:a16="http://schemas.microsoft.com/office/drawing/2014/main" id="{0B290553-83E6-1403-C1B2-484CFA69451E}"/>
              </a:ext>
            </a:extLst>
          </p:cNvPr>
          <p:cNvSpPr txBox="1"/>
          <p:nvPr/>
        </p:nvSpPr>
        <p:spPr>
          <a:xfrm>
            <a:off x="1419716" y="3290675"/>
            <a:ext cx="3306097" cy="811761"/>
          </a:xfrm>
          <a:prstGeom prst="rect">
            <a:avLst/>
          </a:prstGeom>
          <a:noFill/>
        </p:spPr>
        <p:txBody>
          <a:bodyPr wrap="square">
            <a:spAutoFit/>
          </a:bodyPr>
          <a:lstStyle/>
          <a:p>
            <a:pPr>
              <a:lnSpc>
                <a:spcPts val="1425"/>
              </a:lnSpc>
              <a:buNone/>
            </a:pPr>
            <a:r>
              <a:rPr lang="en-CA" sz="1200" b="0" dirty="0">
                <a:solidFill>
                  <a:srgbClr val="000000"/>
                </a:solidFill>
                <a:effectLst/>
                <a:latin typeface="Courier New" panose="02070309020205020404" pitchFamily="49" charset="0"/>
              </a:rPr>
              <a:t>CTRL_MATRIX = </a:t>
            </a:r>
            <a:r>
              <a:rPr lang="en-CA" sz="1200" b="0" dirty="0">
                <a:solidFill>
                  <a:srgbClr val="A31515"/>
                </a:solidFill>
                <a:effectLst/>
                <a:latin typeface="Courier New" panose="02070309020205020404" pitchFamily="49" charset="0"/>
              </a:rPr>
              <a:t>"GSM3937878_ctrl_matrix.mtx"</a:t>
            </a:r>
            <a:endParaRPr lang="en-CA" sz="1200" b="0" dirty="0">
              <a:solidFill>
                <a:srgbClr val="000000"/>
              </a:solidFill>
              <a:effectLst/>
              <a:latin typeface="Courier New" panose="02070309020205020404" pitchFamily="49" charset="0"/>
            </a:endParaRPr>
          </a:p>
          <a:p>
            <a:pPr>
              <a:lnSpc>
                <a:spcPts val="1425"/>
              </a:lnSpc>
              <a:buNone/>
            </a:pPr>
            <a:r>
              <a:rPr lang="en-CA" sz="1200" b="0" dirty="0">
                <a:solidFill>
                  <a:srgbClr val="000000"/>
                </a:solidFill>
                <a:effectLst/>
                <a:latin typeface="Courier New" panose="02070309020205020404" pitchFamily="49" charset="0"/>
              </a:rPr>
              <a:t>CTRL_FEAT   = </a:t>
            </a:r>
            <a:r>
              <a:rPr lang="en-CA" sz="1200" b="0" dirty="0">
                <a:solidFill>
                  <a:srgbClr val="A31515"/>
                </a:solidFill>
                <a:effectLst/>
                <a:latin typeface="Courier New" panose="02070309020205020404" pitchFamily="49" charset="0"/>
              </a:rPr>
              <a:t>"GSM3937878_ctrl_features.tsv"</a:t>
            </a:r>
            <a:endParaRPr lang="en-CA" sz="1200" b="0" dirty="0">
              <a:solidFill>
                <a:srgbClr val="000000"/>
              </a:solidFill>
              <a:effectLst/>
              <a:latin typeface="Courier New" panose="02070309020205020404" pitchFamily="49" charset="0"/>
            </a:endParaRPr>
          </a:p>
        </p:txBody>
      </p:sp>
      <p:sp>
        <p:nvSpPr>
          <p:cNvPr id="26" name="TextBox 25">
            <a:extLst>
              <a:ext uri="{FF2B5EF4-FFF2-40B4-BE49-F238E27FC236}">
                <a16:creationId xmlns:a16="http://schemas.microsoft.com/office/drawing/2014/main" id="{13E1C20D-9488-BC28-02EE-7427FD63BA08}"/>
              </a:ext>
            </a:extLst>
          </p:cNvPr>
          <p:cNvSpPr txBox="1"/>
          <p:nvPr/>
        </p:nvSpPr>
        <p:spPr>
          <a:xfrm>
            <a:off x="6635115" y="3290675"/>
            <a:ext cx="3389376" cy="811761"/>
          </a:xfrm>
          <a:prstGeom prst="rect">
            <a:avLst/>
          </a:prstGeom>
          <a:noFill/>
        </p:spPr>
        <p:txBody>
          <a:bodyPr wrap="square">
            <a:spAutoFit/>
          </a:bodyPr>
          <a:lstStyle/>
          <a:p>
            <a:pPr>
              <a:lnSpc>
                <a:spcPts val="1425"/>
              </a:lnSpc>
              <a:buNone/>
            </a:pPr>
            <a:r>
              <a:rPr lang="en-CA" sz="1200" b="0" dirty="0">
                <a:solidFill>
                  <a:srgbClr val="000000"/>
                </a:solidFill>
                <a:effectLst/>
                <a:latin typeface="Courier New" panose="02070309020205020404" pitchFamily="49" charset="0"/>
              </a:rPr>
              <a:t>PTPN2_MATRIX = </a:t>
            </a:r>
            <a:r>
              <a:rPr lang="en-CA" sz="1200" b="0" dirty="0">
                <a:solidFill>
                  <a:srgbClr val="A31515"/>
                </a:solidFill>
                <a:effectLst/>
                <a:latin typeface="Courier New" panose="02070309020205020404" pitchFamily="49" charset="0"/>
              </a:rPr>
              <a:t>"GSM3937879_Ptpn2_matrix.mtx"</a:t>
            </a:r>
            <a:endParaRPr lang="en-CA" sz="1200" b="0" dirty="0">
              <a:solidFill>
                <a:srgbClr val="000000"/>
              </a:solidFill>
              <a:effectLst/>
              <a:latin typeface="Courier New" panose="02070309020205020404" pitchFamily="49" charset="0"/>
            </a:endParaRPr>
          </a:p>
          <a:p>
            <a:pPr>
              <a:lnSpc>
                <a:spcPts val="1425"/>
              </a:lnSpc>
              <a:buNone/>
            </a:pPr>
            <a:r>
              <a:rPr lang="en-CA" sz="1200" b="0" dirty="0">
                <a:solidFill>
                  <a:srgbClr val="000000"/>
                </a:solidFill>
                <a:effectLst/>
                <a:latin typeface="Courier New" panose="02070309020205020404" pitchFamily="49" charset="0"/>
              </a:rPr>
              <a:t>PTPN2_FEAT   = </a:t>
            </a:r>
            <a:r>
              <a:rPr lang="en-CA" sz="1200" b="0" dirty="0">
                <a:solidFill>
                  <a:srgbClr val="A31515"/>
                </a:solidFill>
                <a:effectLst/>
                <a:latin typeface="Courier New" panose="02070309020205020404" pitchFamily="49" charset="0"/>
              </a:rPr>
              <a:t>"GSM3937879_Ptpn2_features.tsv"</a:t>
            </a:r>
            <a:endParaRPr lang="en-CA" sz="1200" b="0" dirty="0">
              <a:solidFill>
                <a:srgbClr val="000000"/>
              </a:solidFill>
              <a:effectLst/>
              <a:latin typeface="Courier New" panose="02070309020205020404" pitchFamily="49" charset="0"/>
            </a:endParaRPr>
          </a:p>
        </p:txBody>
      </p:sp>
      <p:sp>
        <p:nvSpPr>
          <p:cNvPr id="27" name="TextBox 26">
            <a:extLst>
              <a:ext uri="{FF2B5EF4-FFF2-40B4-BE49-F238E27FC236}">
                <a16:creationId xmlns:a16="http://schemas.microsoft.com/office/drawing/2014/main" id="{610377D2-2FB5-2A56-A1EC-1D4CD85F2FFB}"/>
              </a:ext>
            </a:extLst>
          </p:cNvPr>
          <p:cNvSpPr txBox="1"/>
          <p:nvPr/>
        </p:nvSpPr>
        <p:spPr>
          <a:xfrm>
            <a:off x="2261997" y="4315967"/>
            <a:ext cx="1621534" cy="369332"/>
          </a:xfrm>
          <a:prstGeom prst="rect">
            <a:avLst/>
          </a:prstGeom>
          <a:noFill/>
        </p:spPr>
        <p:txBody>
          <a:bodyPr wrap="none" rtlCol="0">
            <a:spAutoFit/>
          </a:bodyPr>
          <a:lstStyle/>
          <a:p>
            <a:r>
              <a:rPr lang="en-US" dirty="0"/>
              <a:t>Control Sample</a:t>
            </a:r>
            <a:endParaRPr lang="en-CA" dirty="0"/>
          </a:p>
        </p:txBody>
      </p:sp>
      <p:sp>
        <p:nvSpPr>
          <p:cNvPr id="28" name="TextBox 27">
            <a:extLst>
              <a:ext uri="{FF2B5EF4-FFF2-40B4-BE49-F238E27FC236}">
                <a16:creationId xmlns:a16="http://schemas.microsoft.com/office/drawing/2014/main" id="{92ABE879-518D-9B41-10C7-F77948CE6867}"/>
              </a:ext>
            </a:extLst>
          </p:cNvPr>
          <p:cNvSpPr txBox="1"/>
          <p:nvPr/>
        </p:nvSpPr>
        <p:spPr>
          <a:xfrm>
            <a:off x="7391790" y="4315967"/>
            <a:ext cx="1876026" cy="369332"/>
          </a:xfrm>
          <a:prstGeom prst="rect">
            <a:avLst/>
          </a:prstGeom>
          <a:noFill/>
        </p:spPr>
        <p:txBody>
          <a:bodyPr wrap="none" rtlCol="0">
            <a:spAutoFit/>
          </a:bodyPr>
          <a:lstStyle/>
          <a:p>
            <a:r>
              <a:rPr lang="en-US" dirty="0"/>
              <a:t>Perturbed Sample</a:t>
            </a:r>
            <a:endParaRPr lang="en-CA" dirty="0"/>
          </a:p>
        </p:txBody>
      </p:sp>
      <p:sp>
        <p:nvSpPr>
          <p:cNvPr id="30" name="TextBox 29">
            <a:extLst>
              <a:ext uri="{FF2B5EF4-FFF2-40B4-BE49-F238E27FC236}">
                <a16:creationId xmlns:a16="http://schemas.microsoft.com/office/drawing/2014/main" id="{0E38BE27-ECFF-781F-7BF9-F08CF0DD32EE}"/>
              </a:ext>
            </a:extLst>
          </p:cNvPr>
          <p:cNvSpPr txBox="1"/>
          <p:nvPr/>
        </p:nvSpPr>
        <p:spPr>
          <a:xfrm>
            <a:off x="635508" y="5725346"/>
            <a:ext cx="10395204" cy="369332"/>
          </a:xfrm>
          <a:prstGeom prst="rect">
            <a:avLst/>
          </a:prstGeom>
          <a:noFill/>
        </p:spPr>
        <p:txBody>
          <a:bodyPr wrap="square">
            <a:spAutoFit/>
          </a:bodyPr>
          <a:lstStyle/>
          <a:p>
            <a:r>
              <a:rPr lang="en-CA" b="0" i="0" u="sng" dirty="0">
                <a:solidFill>
                  <a:srgbClr val="0969DA"/>
                </a:solidFill>
                <a:effectLst/>
                <a:latin typeface="-apple-system"/>
                <a:hlinkClick r:id="rId2"/>
              </a:rPr>
              <a:t>https://drive.google.com/drive/folders/1AAI4KU9G-UHoKo72Ne6iGAaCgFPADIW3?usp=drive_link</a:t>
            </a:r>
            <a:endParaRPr lang="en-CA" dirty="0"/>
          </a:p>
        </p:txBody>
      </p:sp>
    </p:spTree>
    <p:extLst>
      <p:ext uri="{BB962C8B-B14F-4D97-AF65-F5344CB8AC3E}">
        <p14:creationId xmlns:p14="http://schemas.microsoft.com/office/powerpoint/2010/main" val="2284238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06594-9025-383C-D90A-339D8756DCA4}"/>
              </a:ext>
            </a:extLst>
          </p:cNvPr>
          <p:cNvSpPr>
            <a:spLocks noGrp="1"/>
          </p:cNvSpPr>
          <p:nvPr>
            <p:ph type="title"/>
          </p:nvPr>
        </p:nvSpPr>
        <p:spPr>
          <a:xfrm>
            <a:off x="838200" y="95370"/>
            <a:ext cx="10515600" cy="639088"/>
          </a:xfrm>
        </p:spPr>
        <p:txBody>
          <a:bodyPr>
            <a:normAutofit/>
          </a:bodyPr>
          <a:lstStyle/>
          <a:p>
            <a:r>
              <a:rPr lang="en-US" sz="2400" b="1" dirty="0"/>
              <a:t>Model Design</a:t>
            </a:r>
            <a:endParaRPr lang="en-CA" sz="2400" b="1" dirty="0"/>
          </a:p>
        </p:txBody>
      </p:sp>
      <p:pic>
        <p:nvPicPr>
          <p:cNvPr id="1028" name="Picture 4" descr="Graph Attention Networks. Graph Machine Learning | by Ashish Kumar | Medium">
            <a:extLst>
              <a:ext uri="{FF2B5EF4-FFF2-40B4-BE49-F238E27FC236}">
                <a16:creationId xmlns:a16="http://schemas.microsoft.com/office/drawing/2014/main" id="{3CDB7DCA-A6FC-2517-E2D1-1EE1521EB3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7952" y="1012351"/>
            <a:ext cx="4261104" cy="222462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4E62448-B44F-7F3B-E9A4-B5A86AD8E1E8}"/>
              </a:ext>
            </a:extLst>
          </p:cNvPr>
          <p:cNvSpPr txBox="1"/>
          <p:nvPr/>
        </p:nvSpPr>
        <p:spPr>
          <a:xfrm>
            <a:off x="3953432" y="729619"/>
            <a:ext cx="4876912" cy="369332"/>
          </a:xfrm>
          <a:prstGeom prst="rect">
            <a:avLst/>
          </a:prstGeom>
          <a:noFill/>
        </p:spPr>
        <p:txBody>
          <a:bodyPr wrap="none" rtlCol="0">
            <a:spAutoFit/>
          </a:bodyPr>
          <a:lstStyle/>
          <a:p>
            <a:r>
              <a:rPr lang="en-US" dirty="0"/>
              <a:t>Graph Attention Network for the Gene Embedding</a:t>
            </a:r>
            <a:endParaRPr lang="en-CA" dirty="0"/>
          </a:p>
        </p:txBody>
      </p:sp>
      <p:cxnSp>
        <p:nvCxnSpPr>
          <p:cNvPr id="7" name="Straight Arrow Connector 6">
            <a:extLst>
              <a:ext uri="{FF2B5EF4-FFF2-40B4-BE49-F238E27FC236}">
                <a16:creationId xmlns:a16="http://schemas.microsoft.com/office/drawing/2014/main" id="{2F5E5B73-B317-1D5E-2ABD-72968283A9D5}"/>
              </a:ext>
            </a:extLst>
          </p:cNvPr>
          <p:cNvCxnSpPr>
            <a:cxnSpLocks/>
          </p:cNvCxnSpPr>
          <p:nvPr/>
        </p:nvCxnSpPr>
        <p:spPr>
          <a:xfrm>
            <a:off x="6214872" y="3236977"/>
            <a:ext cx="0" cy="63512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1030" name="Picture 6" descr="What is Reinforcement Learning: Overview, Comparisons and Ap">
            <a:extLst>
              <a:ext uri="{FF2B5EF4-FFF2-40B4-BE49-F238E27FC236}">
                <a16:creationId xmlns:a16="http://schemas.microsoft.com/office/drawing/2014/main" id="{C3814DDE-55E8-175C-6E5F-9123161C51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7265" y="3872103"/>
            <a:ext cx="5342477" cy="207161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FA68FAC6-3366-71CA-7992-A97E43F193A9}"/>
              </a:ext>
            </a:extLst>
          </p:cNvPr>
          <p:cNvSpPr txBox="1"/>
          <p:nvPr/>
        </p:nvSpPr>
        <p:spPr>
          <a:xfrm>
            <a:off x="3953432" y="5913849"/>
            <a:ext cx="4730141" cy="369332"/>
          </a:xfrm>
          <a:prstGeom prst="rect">
            <a:avLst/>
          </a:prstGeom>
          <a:noFill/>
        </p:spPr>
        <p:txBody>
          <a:bodyPr wrap="none" rtlCol="0">
            <a:spAutoFit/>
          </a:bodyPr>
          <a:lstStyle/>
          <a:p>
            <a:r>
              <a:rPr lang="en-US" dirty="0"/>
              <a:t>Reinforcement Learning for Trajectory Prediction</a:t>
            </a:r>
            <a:endParaRPr lang="en-CA" dirty="0"/>
          </a:p>
        </p:txBody>
      </p:sp>
    </p:spTree>
    <p:extLst>
      <p:ext uri="{BB962C8B-B14F-4D97-AF65-F5344CB8AC3E}">
        <p14:creationId xmlns:p14="http://schemas.microsoft.com/office/powerpoint/2010/main" val="405825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BD0FC-6B46-23D1-7796-5F2C4025231B}"/>
              </a:ext>
            </a:extLst>
          </p:cNvPr>
          <p:cNvSpPr>
            <a:spLocks noGrp="1"/>
          </p:cNvSpPr>
          <p:nvPr>
            <p:ph type="title"/>
          </p:nvPr>
        </p:nvSpPr>
        <p:spPr>
          <a:xfrm>
            <a:off x="1279018" y="-45609"/>
            <a:ext cx="10402824" cy="825478"/>
          </a:xfrm>
        </p:spPr>
        <p:txBody>
          <a:bodyPr>
            <a:normAutofit/>
          </a:bodyPr>
          <a:lstStyle/>
          <a:p>
            <a:r>
              <a:rPr lang="en-US" sz="2400" b="1" dirty="0"/>
              <a:t>Simulated Hardware and Software for Gene Perturbation Analysis</a:t>
            </a:r>
            <a:endParaRPr lang="en-CA" sz="2400" b="1" dirty="0"/>
          </a:p>
        </p:txBody>
      </p:sp>
      <p:sp>
        <p:nvSpPr>
          <p:cNvPr id="4" name="Rectangle 3">
            <a:extLst>
              <a:ext uri="{FF2B5EF4-FFF2-40B4-BE49-F238E27FC236}">
                <a16:creationId xmlns:a16="http://schemas.microsoft.com/office/drawing/2014/main" id="{C82D2189-7EA5-7C37-6E9C-7BC930AAE325}"/>
              </a:ext>
            </a:extLst>
          </p:cNvPr>
          <p:cNvSpPr/>
          <p:nvPr/>
        </p:nvSpPr>
        <p:spPr>
          <a:xfrm>
            <a:off x="3301161" y="1919815"/>
            <a:ext cx="3971925" cy="852497"/>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A"/>
          </a:p>
        </p:txBody>
      </p:sp>
      <p:sp>
        <p:nvSpPr>
          <p:cNvPr id="5" name="Rectangle 4">
            <a:extLst>
              <a:ext uri="{FF2B5EF4-FFF2-40B4-BE49-F238E27FC236}">
                <a16:creationId xmlns:a16="http://schemas.microsoft.com/office/drawing/2014/main" id="{6DBF1004-C1A6-5974-38B0-CF32ACCF9402}"/>
              </a:ext>
            </a:extLst>
          </p:cNvPr>
          <p:cNvSpPr/>
          <p:nvPr/>
        </p:nvSpPr>
        <p:spPr>
          <a:xfrm>
            <a:off x="3266840" y="4434618"/>
            <a:ext cx="3971925" cy="936885"/>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A"/>
          </a:p>
        </p:txBody>
      </p:sp>
      <p:sp>
        <p:nvSpPr>
          <p:cNvPr id="6" name="TextBox 5">
            <a:extLst>
              <a:ext uri="{FF2B5EF4-FFF2-40B4-BE49-F238E27FC236}">
                <a16:creationId xmlns:a16="http://schemas.microsoft.com/office/drawing/2014/main" id="{054ACAFB-1941-0BF3-1B5D-40F8F99B4AE0}"/>
              </a:ext>
            </a:extLst>
          </p:cNvPr>
          <p:cNvSpPr txBox="1"/>
          <p:nvPr/>
        </p:nvSpPr>
        <p:spPr>
          <a:xfrm>
            <a:off x="3432263" y="1989219"/>
            <a:ext cx="3393621" cy="646331"/>
          </a:xfrm>
          <a:prstGeom prst="rect">
            <a:avLst/>
          </a:prstGeom>
          <a:noFill/>
        </p:spPr>
        <p:txBody>
          <a:bodyPr wrap="none" rtlCol="0">
            <a:spAutoFit/>
          </a:bodyPr>
          <a:lstStyle/>
          <a:p>
            <a:r>
              <a:rPr lang="en-US" dirty="0"/>
              <a:t>Simulated Trajectories with Model</a:t>
            </a:r>
          </a:p>
          <a:p>
            <a:r>
              <a:rPr lang="en-US" dirty="0"/>
              <a:t>Free Reinforcement Learning</a:t>
            </a:r>
            <a:endParaRPr lang="en-CA" dirty="0"/>
          </a:p>
        </p:txBody>
      </p:sp>
      <p:sp>
        <p:nvSpPr>
          <p:cNvPr id="7" name="TextBox 6">
            <a:extLst>
              <a:ext uri="{FF2B5EF4-FFF2-40B4-BE49-F238E27FC236}">
                <a16:creationId xmlns:a16="http://schemas.microsoft.com/office/drawing/2014/main" id="{0457194C-FB31-1E1C-BAAC-B2F96D3BCF5D}"/>
              </a:ext>
            </a:extLst>
          </p:cNvPr>
          <p:cNvSpPr txBox="1"/>
          <p:nvPr/>
        </p:nvSpPr>
        <p:spPr>
          <a:xfrm>
            <a:off x="3405469" y="4512358"/>
            <a:ext cx="3694666" cy="646331"/>
          </a:xfrm>
          <a:prstGeom prst="rect">
            <a:avLst/>
          </a:prstGeom>
          <a:noFill/>
        </p:spPr>
        <p:txBody>
          <a:bodyPr wrap="none" rtlCol="0">
            <a:spAutoFit/>
          </a:bodyPr>
          <a:lstStyle/>
          <a:p>
            <a:r>
              <a:rPr lang="en-US" dirty="0"/>
              <a:t>Experimental Trajectories with Model</a:t>
            </a:r>
          </a:p>
          <a:p>
            <a:r>
              <a:rPr lang="en-US" dirty="0"/>
              <a:t>Based  Reinforcement Learning</a:t>
            </a:r>
            <a:endParaRPr lang="en-CA" dirty="0"/>
          </a:p>
        </p:txBody>
      </p:sp>
      <p:cxnSp>
        <p:nvCxnSpPr>
          <p:cNvPr id="9" name="Straight Arrow Connector 8">
            <a:extLst>
              <a:ext uri="{FF2B5EF4-FFF2-40B4-BE49-F238E27FC236}">
                <a16:creationId xmlns:a16="http://schemas.microsoft.com/office/drawing/2014/main" id="{19AF38C3-8696-FD31-527E-DC41FD4959B7}"/>
              </a:ext>
            </a:extLst>
          </p:cNvPr>
          <p:cNvCxnSpPr/>
          <p:nvPr/>
        </p:nvCxnSpPr>
        <p:spPr>
          <a:xfrm>
            <a:off x="2050719" y="2422528"/>
            <a:ext cx="125044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E098B30-E28B-3F9A-C33A-34984234C365}"/>
              </a:ext>
            </a:extLst>
          </p:cNvPr>
          <p:cNvCxnSpPr/>
          <p:nvPr/>
        </p:nvCxnSpPr>
        <p:spPr>
          <a:xfrm>
            <a:off x="2030553" y="4854543"/>
            <a:ext cx="125044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109A4B3-276A-13F2-C203-25595A5F34FC}"/>
              </a:ext>
            </a:extLst>
          </p:cNvPr>
          <p:cNvCxnSpPr/>
          <p:nvPr/>
        </p:nvCxnSpPr>
        <p:spPr>
          <a:xfrm>
            <a:off x="7252920" y="2403174"/>
            <a:ext cx="125044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DC80677-9F01-BF36-85CA-C26E5F2695B1}"/>
              </a:ext>
            </a:extLst>
          </p:cNvPr>
          <p:cNvCxnSpPr/>
          <p:nvPr/>
        </p:nvCxnSpPr>
        <p:spPr>
          <a:xfrm>
            <a:off x="7252920" y="4854543"/>
            <a:ext cx="125044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20E23A8-ED60-4D3F-7C50-B1EEE38D5F4D}"/>
              </a:ext>
            </a:extLst>
          </p:cNvPr>
          <p:cNvSpPr txBox="1"/>
          <p:nvPr/>
        </p:nvSpPr>
        <p:spPr>
          <a:xfrm>
            <a:off x="382682" y="1964760"/>
            <a:ext cx="1762598" cy="923330"/>
          </a:xfrm>
          <a:prstGeom prst="rect">
            <a:avLst/>
          </a:prstGeom>
          <a:noFill/>
        </p:spPr>
        <p:txBody>
          <a:bodyPr wrap="none" rtlCol="0">
            <a:spAutoFit/>
          </a:bodyPr>
          <a:lstStyle/>
          <a:p>
            <a:r>
              <a:rPr lang="en-US" dirty="0"/>
              <a:t>UnPerturb RNA</a:t>
            </a:r>
          </a:p>
          <a:p>
            <a:r>
              <a:rPr lang="en-US" dirty="0"/>
              <a:t> Sequence</a:t>
            </a:r>
          </a:p>
          <a:p>
            <a:r>
              <a:rPr lang="en-US" dirty="0"/>
              <a:t>(Control Sample)</a:t>
            </a:r>
            <a:endParaRPr lang="en-CA" dirty="0"/>
          </a:p>
        </p:txBody>
      </p:sp>
      <p:sp>
        <p:nvSpPr>
          <p:cNvPr id="14" name="TextBox 13">
            <a:extLst>
              <a:ext uri="{FF2B5EF4-FFF2-40B4-BE49-F238E27FC236}">
                <a16:creationId xmlns:a16="http://schemas.microsoft.com/office/drawing/2014/main" id="{8E467C4C-5451-56B7-16FA-57D59B3C60B1}"/>
              </a:ext>
            </a:extLst>
          </p:cNvPr>
          <p:cNvSpPr txBox="1"/>
          <p:nvPr/>
        </p:nvSpPr>
        <p:spPr>
          <a:xfrm>
            <a:off x="530925" y="4531377"/>
            <a:ext cx="1355051" cy="646331"/>
          </a:xfrm>
          <a:prstGeom prst="rect">
            <a:avLst/>
          </a:prstGeom>
          <a:noFill/>
        </p:spPr>
        <p:txBody>
          <a:bodyPr wrap="none" rtlCol="0">
            <a:spAutoFit/>
          </a:bodyPr>
          <a:lstStyle/>
          <a:p>
            <a:r>
              <a:rPr lang="en-US" dirty="0"/>
              <a:t>Perturb RNA</a:t>
            </a:r>
          </a:p>
          <a:p>
            <a:r>
              <a:rPr lang="en-US" dirty="0"/>
              <a:t> Sequence</a:t>
            </a:r>
            <a:endParaRPr lang="en-CA" dirty="0"/>
          </a:p>
        </p:txBody>
      </p:sp>
      <p:sp>
        <p:nvSpPr>
          <p:cNvPr id="15" name="TextBox 14">
            <a:extLst>
              <a:ext uri="{FF2B5EF4-FFF2-40B4-BE49-F238E27FC236}">
                <a16:creationId xmlns:a16="http://schemas.microsoft.com/office/drawing/2014/main" id="{EA97A9C0-79C3-58D6-8659-1651C70C1B2C}"/>
              </a:ext>
            </a:extLst>
          </p:cNvPr>
          <p:cNvSpPr txBox="1"/>
          <p:nvPr/>
        </p:nvSpPr>
        <p:spPr>
          <a:xfrm>
            <a:off x="8503362" y="2161306"/>
            <a:ext cx="1917384" cy="646331"/>
          </a:xfrm>
          <a:prstGeom prst="rect">
            <a:avLst/>
          </a:prstGeom>
          <a:noFill/>
        </p:spPr>
        <p:txBody>
          <a:bodyPr wrap="none" rtlCol="0">
            <a:spAutoFit/>
          </a:bodyPr>
          <a:lstStyle/>
          <a:p>
            <a:r>
              <a:rPr lang="en-US" dirty="0"/>
              <a:t>Saved Simulated</a:t>
            </a:r>
          </a:p>
          <a:p>
            <a:r>
              <a:rPr lang="en-US" dirty="0"/>
              <a:t> Evolved Dynamics</a:t>
            </a:r>
            <a:endParaRPr lang="en-CA" dirty="0"/>
          </a:p>
        </p:txBody>
      </p:sp>
      <p:sp>
        <p:nvSpPr>
          <p:cNvPr id="16" name="TextBox 15">
            <a:extLst>
              <a:ext uri="{FF2B5EF4-FFF2-40B4-BE49-F238E27FC236}">
                <a16:creationId xmlns:a16="http://schemas.microsoft.com/office/drawing/2014/main" id="{D8334FD4-FC8B-0AA9-F328-D7F47E79203E}"/>
              </a:ext>
            </a:extLst>
          </p:cNvPr>
          <p:cNvSpPr txBox="1"/>
          <p:nvPr/>
        </p:nvSpPr>
        <p:spPr>
          <a:xfrm>
            <a:off x="8647939" y="4591298"/>
            <a:ext cx="2380652" cy="646331"/>
          </a:xfrm>
          <a:prstGeom prst="rect">
            <a:avLst/>
          </a:prstGeom>
          <a:noFill/>
        </p:spPr>
        <p:txBody>
          <a:bodyPr wrap="none" rtlCol="0">
            <a:spAutoFit/>
          </a:bodyPr>
          <a:lstStyle/>
          <a:p>
            <a:r>
              <a:rPr lang="en-US" dirty="0"/>
              <a:t>Saved Evolved </a:t>
            </a:r>
          </a:p>
          <a:p>
            <a:r>
              <a:rPr lang="en-US" dirty="0"/>
              <a:t>Experimental Dynamics</a:t>
            </a:r>
            <a:endParaRPr lang="en-CA" dirty="0"/>
          </a:p>
        </p:txBody>
      </p:sp>
      <p:sp>
        <p:nvSpPr>
          <p:cNvPr id="17" name="Rectangle: Rounded Corners 16">
            <a:extLst>
              <a:ext uri="{FF2B5EF4-FFF2-40B4-BE49-F238E27FC236}">
                <a16:creationId xmlns:a16="http://schemas.microsoft.com/office/drawing/2014/main" id="{60A491DA-B0A6-9C58-6C85-F531945E7899}"/>
              </a:ext>
            </a:extLst>
          </p:cNvPr>
          <p:cNvSpPr/>
          <p:nvPr/>
        </p:nvSpPr>
        <p:spPr>
          <a:xfrm>
            <a:off x="8023514" y="3125415"/>
            <a:ext cx="3653959" cy="919112"/>
          </a:xfrm>
          <a:prstGeom prst="roundRect">
            <a:avLst/>
          </a:prstGeom>
          <a:ln/>
        </p:spPr>
        <p:style>
          <a:lnRef idx="3">
            <a:schemeClr val="lt1"/>
          </a:lnRef>
          <a:fillRef idx="1">
            <a:schemeClr val="accent4"/>
          </a:fillRef>
          <a:effectRef idx="1">
            <a:schemeClr val="accent4"/>
          </a:effectRef>
          <a:fontRef idx="minor">
            <a:schemeClr val="lt1"/>
          </a:fontRef>
        </p:style>
        <p:txBody>
          <a:bodyPr rtlCol="0" anchor="ctr"/>
          <a:lstStyle/>
          <a:p>
            <a:pPr algn="ctr"/>
            <a:endParaRPr lang="en-CA"/>
          </a:p>
        </p:txBody>
      </p:sp>
      <p:sp>
        <p:nvSpPr>
          <p:cNvPr id="18" name="Rectangle 17">
            <a:extLst>
              <a:ext uri="{FF2B5EF4-FFF2-40B4-BE49-F238E27FC236}">
                <a16:creationId xmlns:a16="http://schemas.microsoft.com/office/drawing/2014/main" id="{8E94E4B7-A2C8-5DB9-7ADB-19939E86217D}"/>
              </a:ext>
            </a:extLst>
          </p:cNvPr>
          <p:cNvSpPr/>
          <p:nvPr/>
        </p:nvSpPr>
        <p:spPr>
          <a:xfrm>
            <a:off x="8503362" y="2031050"/>
            <a:ext cx="2525229" cy="852497"/>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A"/>
          </a:p>
        </p:txBody>
      </p:sp>
      <p:sp>
        <p:nvSpPr>
          <p:cNvPr id="19" name="Rectangle 18">
            <a:extLst>
              <a:ext uri="{FF2B5EF4-FFF2-40B4-BE49-F238E27FC236}">
                <a16:creationId xmlns:a16="http://schemas.microsoft.com/office/drawing/2014/main" id="{05E3E047-D111-3323-629F-64D072F3CA4A}"/>
              </a:ext>
            </a:extLst>
          </p:cNvPr>
          <p:cNvSpPr/>
          <p:nvPr/>
        </p:nvSpPr>
        <p:spPr>
          <a:xfrm>
            <a:off x="8503362" y="4428293"/>
            <a:ext cx="2525229" cy="852497"/>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A"/>
          </a:p>
        </p:txBody>
      </p:sp>
      <p:cxnSp>
        <p:nvCxnSpPr>
          <p:cNvPr id="20" name="Straight Arrow Connector 19">
            <a:extLst>
              <a:ext uri="{FF2B5EF4-FFF2-40B4-BE49-F238E27FC236}">
                <a16:creationId xmlns:a16="http://schemas.microsoft.com/office/drawing/2014/main" id="{DF2E8F25-CE5B-9D90-3A74-4B5CFB29BEF1}"/>
              </a:ext>
            </a:extLst>
          </p:cNvPr>
          <p:cNvCxnSpPr>
            <a:cxnSpLocks/>
          </p:cNvCxnSpPr>
          <p:nvPr/>
        </p:nvCxnSpPr>
        <p:spPr>
          <a:xfrm>
            <a:off x="9656249" y="2883547"/>
            <a:ext cx="0" cy="22725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8F22ED7-CA66-60D1-B560-17F696237F94}"/>
              </a:ext>
            </a:extLst>
          </p:cNvPr>
          <p:cNvCxnSpPr>
            <a:cxnSpLocks/>
          </p:cNvCxnSpPr>
          <p:nvPr/>
        </p:nvCxnSpPr>
        <p:spPr>
          <a:xfrm flipV="1">
            <a:off x="9656249" y="4087688"/>
            <a:ext cx="0" cy="33263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4D8AF69-61AA-094B-D867-B54B822402F5}"/>
              </a:ext>
            </a:extLst>
          </p:cNvPr>
          <p:cNvSpPr txBox="1"/>
          <p:nvPr/>
        </p:nvSpPr>
        <p:spPr>
          <a:xfrm>
            <a:off x="8075509" y="3233887"/>
            <a:ext cx="4511549" cy="1200329"/>
          </a:xfrm>
          <a:prstGeom prst="rect">
            <a:avLst/>
          </a:prstGeom>
          <a:noFill/>
        </p:spPr>
        <p:txBody>
          <a:bodyPr wrap="square" rtlCol="0">
            <a:spAutoFit/>
          </a:bodyPr>
          <a:lstStyle/>
          <a:p>
            <a:r>
              <a:rPr lang="en-US" dirty="0"/>
              <a:t>Align the Trajectories and Compare</a:t>
            </a:r>
          </a:p>
          <a:p>
            <a:r>
              <a:rPr lang="en-US" dirty="0"/>
              <a:t> </a:t>
            </a:r>
            <a:r>
              <a:rPr lang="en-CA" dirty="0"/>
              <a:t>Similarity </a:t>
            </a:r>
            <a:r>
              <a:rPr lang="en-US" dirty="0"/>
              <a:t>via DTW and </a:t>
            </a:r>
            <a:r>
              <a:rPr lang="en-CA" dirty="0"/>
              <a:t>Wasserstein</a:t>
            </a:r>
          </a:p>
          <a:p>
            <a:r>
              <a:rPr lang="en-CA" dirty="0"/>
              <a:t> Distance</a:t>
            </a:r>
          </a:p>
          <a:p>
            <a:endParaRPr lang="en-CA" dirty="0"/>
          </a:p>
        </p:txBody>
      </p:sp>
      <p:sp>
        <p:nvSpPr>
          <p:cNvPr id="32" name="Rectangle 31">
            <a:extLst>
              <a:ext uri="{FF2B5EF4-FFF2-40B4-BE49-F238E27FC236}">
                <a16:creationId xmlns:a16="http://schemas.microsoft.com/office/drawing/2014/main" id="{D345548A-CF2B-6E4B-9029-7C1F0E7FDCC7}"/>
              </a:ext>
            </a:extLst>
          </p:cNvPr>
          <p:cNvSpPr/>
          <p:nvPr/>
        </p:nvSpPr>
        <p:spPr>
          <a:xfrm>
            <a:off x="426364" y="2021623"/>
            <a:ext cx="1624355" cy="80181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Rectangle 32">
            <a:extLst>
              <a:ext uri="{FF2B5EF4-FFF2-40B4-BE49-F238E27FC236}">
                <a16:creationId xmlns:a16="http://schemas.microsoft.com/office/drawing/2014/main" id="{C6DD0DCA-2D7B-270A-BB92-EDA2766A32EB}"/>
              </a:ext>
            </a:extLst>
          </p:cNvPr>
          <p:cNvSpPr/>
          <p:nvPr/>
        </p:nvSpPr>
        <p:spPr>
          <a:xfrm>
            <a:off x="382682" y="4434619"/>
            <a:ext cx="1624355" cy="80181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4" name="TextBox 33">
            <a:extLst>
              <a:ext uri="{FF2B5EF4-FFF2-40B4-BE49-F238E27FC236}">
                <a16:creationId xmlns:a16="http://schemas.microsoft.com/office/drawing/2014/main" id="{FABA5E9A-B6F0-4631-5303-F6C95FE8DF5B}"/>
              </a:ext>
            </a:extLst>
          </p:cNvPr>
          <p:cNvSpPr txBox="1"/>
          <p:nvPr/>
        </p:nvSpPr>
        <p:spPr>
          <a:xfrm>
            <a:off x="3958876" y="4122948"/>
            <a:ext cx="2137124" cy="369332"/>
          </a:xfrm>
          <a:prstGeom prst="rect">
            <a:avLst/>
          </a:prstGeom>
          <a:noFill/>
        </p:spPr>
        <p:txBody>
          <a:bodyPr wrap="none" rtlCol="0">
            <a:spAutoFit/>
          </a:bodyPr>
          <a:lstStyle/>
          <a:p>
            <a:r>
              <a:rPr lang="en-US" b="1" dirty="0"/>
              <a:t>Simulated Hardware</a:t>
            </a:r>
            <a:endParaRPr lang="en-CA" b="1" dirty="0"/>
          </a:p>
        </p:txBody>
      </p:sp>
      <p:sp>
        <p:nvSpPr>
          <p:cNvPr id="35" name="TextBox 34">
            <a:extLst>
              <a:ext uri="{FF2B5EF4-FFF2-40B4-BE49-F238E27FC236}">
                <a16:creationId xmlns:a16="http://schemas.microsoft.com/office/drawing/2014/main" id="{FE18A0EC-8E9F-3EAF-B9B4-4D979E625C51}"/>
              </a:ext>
            </a:extLst>
          </p:cNvPr>
          <p:cNvSpPr txBox="1"/>
          <p:nvPr/>
        </p:nvSpPr>
        <p:spPr>
          <a:xfrm>
            <a:off x="3958876" y="1544669"/>
            <a:ext cx="2061398" cy="369332"/>
          </a:xfrm>
          <a:prstGeom prst="rect">
            <a:avLst/>
          </a:prstGeom>
          <a:noFill/>
        </p:spPr>
        <p:txBody>
          <a:bodyPr wrap="none" rtlCol="0">
            <a:spAutoFit/>
          </a:bodyPr>
          <a:lstStyle/>
          <a:p>
            <a:r>
              <a:rPr lang="en-US" b="1" dirty="0"/>
              <a:t>Simulated Software</a:t>
            </a:r>
            <a:endParaRPr lang="en-CA" b="1" dirty="0"/>
          </a:p>
        </p:txBody>
      </p:sp>
      <p:sp>
        <p:nvSpPr>
          <p:cNvPr id="38" name="Rectangle: Rounded Corners 37">
            <a:extLst>
              <a:ext uri="{FF2B5EF4-FFF2-40B4-BE49-F238E27FC236}">
                <a16:creationId xmlns:a16="http://schemas.microsoft.com/office/drawing/2014/main" id="{6B042967-54A7-99A8-DF6F-9ACE852C6A80}"/>
              </a:ext>
            </a:extLst>
          </p:cNvPr>
          <p:cNvSpPr/>
          <p:nvPr/>
        </p:nvSpPr>
        <p:spPr>
          <a:xfrm>
            <a:off x="174321" y="1556215"/>
            <a:ext cx="11088620" cy="1557654"/>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9" name="Rectangle: Rounded Corners 38">
            <a:extLst>
              <a:ext uri="{FF2B5EF4-FFF2-40B4-BE49-F238E27FC236}">
                <a16:creationId xmlns:a16="http://schemas.microsoft.com/office/drawing/2014/main" id="{98D2F60B-3919-F5B0-48DC-7ED88BB20676}"/>
              </a:ext>
            </a:extLst>
          </p:cNvPr>
          <p:cNvSpPr/>
          <p:nvPr/>
        </p:nvSpPr>
        <p:spPr>
          <a:xfrm>
            <a:off x="174321" y="4087688"/>
            <a:ext cx="11087930" cy="1523004"/>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TextBox 20">
            <a:extLst>
              <a:ext uri="{FF2B5EF4-FFF2-40B4-BE49-F238E27FC236}">
                <a16:creationId xmlns:a16="http://schemas.microsoft.com/office/drawing/2014/main" id="{854652FB-106A-7A6C-3AE1-2C55FC9AE507}"/>
              </a:ext>
            </a:extLst>
          </p:cNvPr>
          <p:cNvSpPr txBox="1"/>
          <p:nvPr/>
        </p:nvSpPr>
        <p:spPr>
          <a:xfrm>
            <a:off x="293897" y="4090751"/>
            <a:ext cx="2676695" cy="369332"/>
          </a:xfrm>
          <a:prstGeom prst="rect">
            <a:avLst/>
          </a:prstGeom>
          <a:noFill/>
        </p:spPr>
        <p:txBody>
          <a:bodyPr wrap="none" rtlCol="0">
            <a:spAutoFit/>
          </a:bodyPr>
          <a:lstStyle/>
          <a:p>
            <a:r>
              <a:rPr lang="en-US" dirty="0"/>
              <a:t>Experimental perturbation</a:t>
            </a:r>
            <a:endParaRPr lang="en-CA" dirty="0"/>
          </a:p>
        </p:txBody>
      </p:sp>
      <p:sp>
        <p:nvSpPr>
          <p:cNvPr id="22" name="TextBox 21">
            <a:extLst>
              <a:ext uri="{FF2B5EF4-FFF2-40B4-BE49-F238E27FC236}">
                <a16:creationId xmlns:a16="http://schemas.microsoft.com/office/drawing/2014/main" id="{2C40566B-3098-01FB-BF83-FD44658FD47F}"/>
              </a:ext>
            </a:extLst>
          </p:cNvPr>
          <p:cNvSpPr txBox="1"/>
          <p:nvPr/>
        </p:nvSpPr>
        <p:spPr>
          <a:xfrm>
            <a:off x="3872237" y="2741472"/>
            <a:ext cx="2153923" cy="369332"/>
          </a:xfrm>
          <a:prstGeom prst="rect">
            <a:avLst/>
          </a:prstGeom>
          <a:noFill/>
        </p:spPr>
        <p:txBody>
          <a:bodyPr wrap="none" rtlCol="0">
            <a:spAutoFit/>
          </a:bodyPr>
          <a:lstStyle/>
          <a:p>
            <a:r>
              <a:rPr lang="en-US" dirty="0"/>
              <a:t>In-silico perturbation</a:t>
            </a:r>
            <a:endParaRPr lang="en-CA" dirty="0"/>
          </a:p>
        </p:txBody>
      </p:sp>
      <p:sp>
        <p:nvSpPr>
          <p:cNvPr id="8" name="TextBox 7">
            <a:extLst>
              <a:ext uri="{FF2B5EF4-FFF2-40B4-BE49-F238E27FC236}">
                <a16:creationId xmlns:a16="http://schemas.microsoft.com/office/drawing/2014/main" id="{6FFF82C9-0AE6-A5DE-57BD-7DF4C6326D9E}"/>
              </a:ext>
            </a:extLst>
          </p:cNvPr>
          <p:cNvSpPr txBox="1"/>
          <p:nvPr/>
        </p:nvSpPr>
        <p:spPr>
          <a:xfrm>
            <a:off x="415261" y="1652291"/>
            <a:ext cx="1655623" cy="369332"/>
          </a:xfrm>
          <a:prstGeom prst="rect">
            <a:avLst/>
          </a:prstGeom>
          <a:noFill/>
        </p:spPr>
        <p:txBody>
          <a:bodyPr wrap="square">
            <a:spAutoFit/>
          </a:bodyPr>
          <a:lstStyle/>
          <a:p>
            <a:pPr>
              <a:buNone/>
            </a:pPr>
            <a:r>
              <a:rPr lang="en-CA" dirty="0"/>
              <a:t>Control system</a:t>
            </a:r>
          </a:p>
        </p:txBody>
      </p:sp>
      <p:sp>
        <p:nvSpPr>
          <p:cNvPr id="23" name="TextBox 22">
            <a:extLst>
              <a:ext uri="{FF2B5EF4-FFF2-40B4-BE49-F238E27FC236}">
                <a16:creationId xmlns:a16="http://schemas.microsoft.com/office/drawing/2014/main" id="{BD206A9D-9343-3A2A-EBB7-6CA65D1B1F01}"/>
              </a:ext>
            </a:extLst>
          </p:cNvPr>
          <p:cNvSpPr txBox="1"/>
          <p:nvPr/>
        </p:nvSpPr>
        <p:spPr>
          <a:xfrm>
            <a:off x="293896" y="3719888"/>
            <a:ext cx="1851383" cy="369332"/>
          </a:xfrm>
          <a:prstGeom prst="rect">
            <a:avLst/>
          </a:prstGeom>
          <a:noFill/>
        </p:spPr>
        <p:txBody>
          <a:bodyPr wrap="square">
            <a:spAutoFit/>
          </a:bodyPr>
          <a:lstStyle/>
          <a:p>
            <a:pPr>
              <a:buNone/>
            </a:pPr>
            <a:r>
              <a:rPr lang="en-CA" dirty="0"/>
              <a:t>Perturbed system</a:t>
            </a:r>
          </a:p>
        </p:txBody>
      </p:sp>
    </p:spTree>
    <p:extLst>
      <p:ext uri="{BB962C8B-B14F-4D97-AF65-F5344CB8AC3E}">
        <p14:creationId xmlns:p14="http://schemas.microsoft.com/office/powerpoint/2010/main" val="1159057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064F3-7FBD-DCBF-15DA-324B411D31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832E5C-71B0-B39C-6C33-2F532D2C28E4}"/>
              </a:ext>
            </a:extLst>
          </p:cNvPr>
          <p:cNvSpPr>
            <a:spLocks noGrp="1"/>
          </p:cNvSpPr>
          <p:nvPr>
            <p:ph type="title"/>
          </p:nvPr>
        </p:nvSpPr>
        <p:spPr>
          <a:xfrm>
            <a:off x="1472184" y="2103437"/>
            <a:ext cx="9390888" cy="1325563"/>
          </a:xfrm>
        </p:spPr>
        <p:txBody>
          <a:bodyPr>
            <a:normAutofit/>
          </a:bodyPr>
          <a:lstStyle/>
          <a:p>
            <a:r>
              <a:rPr lang="en-US" dirty="0"/>
              <a:t>             </a:t>
            </a:r>
            <a:r>
              <a:rPr lang="en-US" b="1" dirty="0"/>
              <a:t>Crisper Knockout</a:t>
            </a:r>
            <a:endParaRPr lang="en-CA" b="1" dirty="0"/>
          </a:p>
        </p:txBody>
      </p:sp>
    </p:spTree>
    <p:extLst>
      <p:ext uri="{BB962C8B-B14F-4D97-AF65-F5344CB8AC3E}">
        <p14:creationId xmlns:p14="http://schemas.microsoft.com/office/powerpoint/2010/main" val="20991271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318FC-B8B4-6DC6-27B2-A905C899CE22}"/>
              </a:ext>
            </a:extLst>
          </p:cNvPr>
          <p:cNvSpPr>
            <a:spLocks noGrp="1"/>
          </p:cNvSpPr>
          <p:nvPr>
            <p:ph type="title"/>
          </p:nvPr>
        </p:nvSpPr>
        <p:spPr/>
        <p:txBody>
          <a:bodyPr>
            <a:normAutofit/>
          </a:bodyPr>
          <a:lstStyle/>
          <a:p>
            <a:r>
              <a:rPr lang="en-US" sz="2000" b="1" dirty="0">
                <a:latin typeface="Times New Roman" panose="02020603050405020304" pitchFamily="18" charset="0"/>
                <a:cs typeface="Times New Roman" panose="02020603050405020304" pitchFamily="18" charset="0"/>
              </a:rPr>
              <a:t>Crispr Knockout (Single Perturbation)</a:t>
            </a:r>
            <a:endParaRPr lang="en-CA" sz="2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5BCD918-5356-F693-7CC9-A8665A375746}"/>
              </a:ext>
            </a:extLst>
          </p:cNvPr>
          <p:cNvSpPr>
            <a:spLocks noGrp="1"/>
          </p:cNvSpPr>
          <p:nvPr>
            <p:ph idx="1"/>
          </p:nvPr>
        </p:nvSpPr>
        <p:spPr>
          <a:xfrm>
            <a:off x="765048" y="1533017"/>
            <a:ext cx="10515600" cy="4351338"/>
          </a:xfrm>
        </p:spPr>
        <p:txBody>
          <a:bodyPr>
            <a:normAutofit/>
          </a:bodyPr>
          <a:lstStyle/>
          <a:p>
            <a:pPr marL="0" indent="0">
              <a:buNone/>
            </a:pPr>
            <a:r>
              <a:rPr lang="en-CA" sz="1800" b="1" dirty="0" err="1">
                <a:latin typeface="Times New Roman" panose="02020603050405020304" pitchFamily="18" charset="0"/>
                <a:cs typeface="Times New Roman" panose="02020603050405020304" pitchFamily="18" charset="0"/>
              </a:rPr>
              <a:t>Unperturb</a:t>
            </a:r>
            <a:r>
              <a:rPr lang="en-CA" sz="1800" b="1" dirty="0">
                <a:latin typeface="Times New Roman" panose="02020603050405020304" pitchFamily="18" charset="0"/>
                <a:cs typeface="Times New Roman" panose="02020603050405020304" pitchFamily="18" charset="0"/>
              </a:rPr>
              <a:t> data (Control Sample) and Perturb data with CRISPRKO</a:t>
            </a:r>
          </a:p>
          <a:p>
            <a:pPr marL="0" indent="0">
              <a:buNone/>
            </a:pPr>
            <a:endParaRPr lang="en-CA" sz="1800" dirty="0">
              <a:latin typeface="Times New Roman" panose="02020603050405020304" pitchFamily="18" charset="0"/>
              <a:cs typeface="Times New Roman" panose="02020603050405020304" pitchFamily="18" charset="0"/>
            </a:endParaRPr>
          </a:p>
          <a:p>
            <a:pPr marL="0" indent="0">
              <a:buNone/>
            </a:pPr>
            <a:r>
              <a:rPr lang="en-CA" sz="1800" dirty="0">
                <a:latin typeface="Times New Roman" panose="02020603050405020304" pitchFamily="18" charset="0"/>
                <a:cs typeface="Times New Roman" panose="02020603050405020304" pitchFamily="18" charset="0"/>
              </a:rPr>
              <a:t>https://www.ncbi.nlm.nih.gov/geo/query/acc.cgi?acc=GSE134139</a:t>
            </a:r>
          </a:p>
          <a:p>
            <a:pPr marL="0" indent="0">
              <a:buNone/>
            </a:pPr>
            <a:endParaRPr lang="en-CA" sz="1800" dirty="0">
              <a:latin typeface="Times New Roman" panose="02020603050405020304" pitchFamily="18" charset="0"/>
              <a:cs typeface="Times New Roman" panose="02020603050405020304" pitchFamily="18" charset="0"/>
            </a:endParaRPr>
          </a:p>
          <a:p>
            <a:pPr marL="0" indent="0">
              <a:buNone/>
            </a:pPr>
            <a:r>
              <a:rPr lang="en-CA" sz="1800" dirty="0">
                <a:latin typeface="Times New Roman" panose="02020603050405020304" pitchFamily="18" charset="0"/>
                <a:cs typeface="Times New Roman" panose="02020603050405020304" pitchFamily="18" charset="0"/>
              </a:rPr>
              <a:t>https://www.ncbi.nlm.nih.gov/geo/query/acc.cgi?acc=GSE156478</a:t>
            </a:r>
          </a:p>
          <a:p>
            <a:pPr marL="0" indent="0">
              <a:buNone/>
            </a:pPr>
            <a:endParaRPr lang="en-CA" sz="1800" dirty="0">
              <a:latin typeface="Times New Roman" panose="02020603050405020304" pitchFamily="18" charset="0"/>
              <a:cs typeface="Times New Roman" panose="02020603050405020304" pitchFamily="18" charset="0"/>
            </a:endParaRPr>
          </a:p>
          <a:p>
            <a:pPr marL="0" indent="0">
              <a:buNone/>
            </a:pPr>
            <a:r>
              <a:rPr lang="en-CA" sz="1800" dirty="0">
                <a:latin typeface="Times New Roman" panose="02020603050405020304" pitchFamily="18" charset="0"/>
                <a:cs typeface="Times New Roman" panose="02020603050405020304" pitchFamily="18" charset="0"/>
              </a:rPr>
              <a:t>https://www.ncbi.nlm.nih.gov/geo/query/acc.cgi?acc=GSE126310</a:t>
            </a:r>
          </a:p>
        </p:txBody>
      </p:sp>
    </p:spTree>
    <p:extLst>
      <p:ext uri="{BB962C8B-B14F-4D97-AF65-F5344CB8AC3E}">
        <p14:creationId xmlns:p14="http://schemas.microsoft.com/office/powerpoint/2010/main" val="2998759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CB6EF-D17E-D3AB-1F70-4A6C250E10A4}"/>
              </a:ext>
            </a:extLst>
          </p:cNvPr>
          <p:cNvSpPr>
            <a:spLocks noGrp="1"/>
          </p:cNvSpPr>
          <p:nvPr>
            <p:ph type="title"/>
          </p:nvPr>
        </p:nvSpPr>
        <p:spPr>
          <a:xfrm>
            <a:off x="613351" y="396005"/>
            <a:ext cx="3748338" cy="678224"/>
          </a:xfrm>
        </p:spPr>
        <p:txBody>
          <a:bodyPr>
            <a:normAutofit/>
          </a:bodyPr>
          <a:lstStyle/>
          <a:p>
            <a:r>
              <a:rPr lang="en-US" sz="2400" b="1" dirty="0"/>
              <a:t>RNA Dataset Description</a:t>
            </a:r>
            <a:endParaRPr lang="en-CA" sz="2400" b="1" dirty="0"/>
          </a:p>
        </p:txBody>
      </p:sp>
      <p:sp>
        <p:nvSpPr>
          <p:cNvPr id="3" name="Content Placeholder 2">
            <a:extLst>
              <a:ext uri="{FF2B5EF4-FFF2-40B4-BE49-F238E27FC236}">
                <a16:creationId xmlns:a16="http://schemas.microsoft.com/office/drawing/2014/main" id="{07A2110F-0A5E-FFE7-6B44-F77B743F1AEF}"/>
              </a:ext>
            </a:extLst>
          </p:cNvPr>
          <p:cNvSpPr>
            <a:spLocks noGrp="1"/>
          </p:cNvSpPr>
          <p:nvPr>
            <p:ph idx="1"/>
          </p:nvPr>
        </p:nvSpPr>
        <p:spPr>
          <a:xfrm>
            <a:off x="719328" y="1350137"/>
            <a:ext cx="10515600" cy="4351338"/>
          </a:xfrm>
        </p:spPr>
        <p:txBody>
          <a:bodyPr>
            <a:normAutofit fontScale="92500" lnSpcReduction="10000"/>
          </a:bodyPr>
          <a:lstStyle/>
          <a:p>
            <a:pPr marL="0" indent="0">
              <a:buNone/>
            </a:pPr>
            <a:r>
              <a:rPr lang="en-US" sz="1600" dirty="0">
                <a:latin typeface="Times New Roman" panose="02020603050405020304" pitchFamily="18" charset="0"/>
                <a:cs typeface="Times New Roman" panose="02020603050405020304" pitchFamily="18" charset="0"/>
              </a:rPr>
              <a:t>Organism: Mus musculus</a:t>
            </a:r>
          </a:p>
          <a:p>
            <a:pPr marL="0" indent="0">
              <a:buNone/>
            </a:pPr>
            <a:r>
              <a:rPr lang="en-US" sz="1600" dirty="0">
                <a:latin typeface="Times New Roman" panose="02020603050405020304" pitchFamily="18" charset="0"/>
                <a:cs typeface="Times New Roman" panose="02020603050405020304" pitchFamily="18" charset="0"/>
              </a:rPr>
              <a:t>RNA sequence</a:t>
            </a:r>
          </a:p>
          <a:p>
            <a:pPr marL="0" indent="0">
              <a:buNone/>
            </a:pPr>
            <a:r>
              <a:rPr lang="en-US" sz="1600" dirty="0">
                <a:latin typeface="Times New Roman" panose="02020603050405020304" pitchFamily="18" charset="0"/>
                <a:cs typeface="Times New Roman" panose="02020603050405020304" pitchFamily="18" charset="0"/>
              </a:rPr>
              <a:t>Perturbation: Crisper Knockout: </a:t>
            </a:r>
            <a:r>
              <a:rPr lang="en-US" sz="1600" dirty="0" err="1">
                <a:latin typeface="Times New Roman" panose="02020603050405020304" pitchFamily="18" charset="0"/>
                <a:cs typeface="Times New Roman" panose="02020603050405020304" pitchFamily="18" charset="0"/>
              </a:rPr>
              <a:t>Crisprko</a:t>
            </a: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CA" sz="1600" dirty="0" err="1">
                <a:latin typeface="Times New Roman" panose="02020603050405020304" pitchFamily="18" charset="0"/>
                <a:cs typeface="Times New Roman" panose="02020603050405020304" pitchFamily="18" charset="0"/>
              </a:rPr>
              <a:t>Unperturb</a:t>
            </a:r>
            <a:r>
              <a:rPr lang="en-CA" sz="1600" dirty="0">
                <a:latin typeface="Times New Roman" panose="02020603050405020304" pitchFamily="18" charset="0"/>
                <a:cs typeface="Times New Roman" panose="02020603050405020304" pitchFamily="18" charset="0"/>
              </a:rPr>
              <a:t> data (Control Sample) –</a:t>
            </a:r>
            <a:r>
              <a:rPr lang="en-CA" sz="1600" dirty="0" err="1">
                <a:latin typeface="Times New Roman" panose="02020603050405020304" pitchFamily="18" charset="0"/>
                <a:cs typeface="Times New Roman" panose="02020603050405020304" pitchFamily="18" charset="0"/>
              </a:rPr>
              <a:t>CTRL_data</a:t>
            </a:r>
            <a:endParaRPr lang="en-CA" sz="1600" dirty="0">
              <a:latin typeface="Times New Roman" panose="02020603050405020304" pitchFamily="18" charset="0"/>
              <a:cs typeface="Times New Roman" panose="02020603050405020304" pitchFamily="18" charset="0"/>
            </a:endParaRPr>
          </a:p>
          <a:p>
            <a:pPr marL="0" indent="0">
              <a:buNone/>
            </a:pPr>
            <a:endParaRPr lang="en-CA" sz="1600" dirty="0">
              <a:latin typeface="Times New Roman" panose="02020603050405020304" pitchFamily="18" charset="0"/>
              <a:cs typeface="Times New Roman" panose="02020603050405020304" pitchFamily="18" charset="0"/>
            </a:endParaRPr>
          </a:p>
          <a:p>
            <a:pPr marL="0" indent="0">
              <a:buNone/>
            </a:pPr>
            <a:r>
              <a:rPr lang="en-CA" sz="1600" dirty="0">
                <a:latin typeface="Times New Roman" panose="02020603050405020304" pitchFamily="18" charset="0"/>
                <a:cs typeface="Times New Roman" panose="02020603050405020304" pitchFamily="18" charset="0"/>
              </a:rPr>
              <a:t>Perturb data with CRISPRKO-PTPN2 data</a:t>
            </a:r>
            <a:endParaRPr lang="en-US" sz="1600" dirty="0">
              <a:latin typeface="Times New Roman" panose="02020603050405020304" pitchFamily="18" charset="0"/>
              <a:cs typeface="Times New Roman" panose="02020603050405020304" pitchFamily="18" charset="0"/>
            </a:endParaRPr>
          </a:p>
          <a:p>
            <a:pPr marL="0" indent="0">
              <a:buNone/>
            </a:pPr>
            <a:endParaRPr lang="en-US" dirty="0"/>
          </a:p>
          <a:p>
            <a:pPr marL="0" indent="0">
              <a:buNone/>
            </a:pPr>
            <a:r>
              <a:rPr lang="en-US" sz="1400" dirty="0">
                <a:hlinkClick r:id="rId2"/>
              </a:rPr>
              <a:t>https://www.ncbi.nlm.nih.gov/geo/query/acc.cgi?acc=GSE134139</a:t>
            </a:r>
            <a:endParaRPr lang="en-US" sz="1400" dirty="0"/>
          </a:p>
          <a:p>
            <a:pPr marL="0" indent="0">
              <a:buNone/>
            </a:pPr>
            <a:endParaRPr lang="en-US" sz="1400" dirty="0"/>
          </a:p>
          <a:p>
            <a:pPr marL="0" indent="0">
              <a:buNone/>
            </a:pPr>
            <a:r>
              <a:rPr lang="en-CA" sz="1500" u="sng" dirty="0">
                <a:hlinkClick r:id="rId3"/>
              </a:rPr>
              <a:t>https://drive.google.com/drive/folders/1AAI4KU9G-UHoKo72Ne6iGAaCgFPADIW3?usp=drive_link</a:t>
            </a:r>
            <a:endParaRPr lang="en-US" sz="1500" dirty="0"/>
          </a:p>
          <a:p>
            <a:pPr marL="0" indent="0">
              <a:buNone/>
            </a:pPr>
            <a:endParaRPr lang="en-CA" sz="1500" dirty="0">
              <a:latin typeface="Times New Roman" panose="02020603050405020304" pitchFamily="18" charset="0"/>
              <a:cs typeface="Times New Roman" panose="02020603050405020304" pitchFamily="18" charset="0"/>
            </a:endParaRPr>
          </a:p>
          <a:p>
            <a:pPr marL="0" indent="0">
              <a:buNone/>
            </a:pPr>
            <a:r>
              <a:rPr lang="en-CA" sz="1500" dirty="0">
                <a:latin typeface="Times New Roman" panose="02020603050405020304" pitchFamily="18" charset="0"/>
                <a:cs typeface="Times New Roman" panose="02020603050405020304" pitchFamily="18" charset="0"/>
              </a:rPr>
              <a:t>LaFleur MW, Nguyen TH, Coxe MA, Miller BC et al. PTPN2 regulates the generation of exhausted CD8(+) T cell subpopulations and restrains tumor immunity. </a:t>
            </a:r>
            <a:r>
              <a:rPr lang="en-CA" sz="1500" i="1" dirty="0">
                <a:latin typeface="Times New Roman" panose="02020603050405020304" pitchFamily="18" charset="0"/>
                <a:cs typeface="Times New Roman" panose="02020603050405020304" pitchFamily="18" charset="0"/>
              </a:rPr>
              <a:t>Nat Immunol</a:t>
            </a:r>
            <a:r>
              <a:rPr lang="en-CA" sz="1500" dirty="0">
                <a:latin typeface="Times New Roman" panose="02020603050405020304" pitchFamily="18" charset="0"/>
                <a:cs typeface="Times New Roman" panose="02020603050405020304" pitchFamily="18" charset="0"/>
              </a:rPr>
              <a:t> 2019 Oct;20(10):1335-1347.</a:t>
            </a:r>
          </a:p>
        </p:txBody>
      </p:sp>
    </p:spTree>
    <p:extLst>
      <p:ext uri="{BB962C8B-B14F-4D97-AF65-F5344CB8AC3E}">
        <p14:creationId xmlns:p14="http://schemas.microsoft.com/office/powerpoint/2010/main" val="30809826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22321-2A5B-B755-0C3A-78C2C1EC7A2A}"/>
              </a:ext>
            </a:extLst>
          </p:cNvPr>
          <p:cNvSpPr>
            <a:spLocks noGrp="1"/>
          </p:cNvSpPr>
          <p:nvPr>
            <p:ph type="title"/>
          </p:nvPr>
        </p:nvSpPr>
        <p:spPr>
          <a:xfrm>
            <a:off x="838200" y="402576"/>
            <a:ext cx="3536852" cy="556921"/>
          </a:xfrm>
        </p:spPr>
        <p:txBody>
          <a:bodyPr>
            <a:normAutofit/>
          </a:bodyPr>
          <a:lstStyle/>
          <a:p>
            <a:r>
              <a:rPr lang="en-US" sz="2400" b="1" dirty="0"/>
              <a:t>Code Link</a:t>
            </a:r>
            <a:endParaRPr lang="en-CA" sz="2400" b="1" dirty="0"/>
          </a:p>
        </p:txBody>
      </p:sp>
      <p:sp>
        <p:nvSpPr>
          <p:cNvPr id="5" name="Content Placeholder 4">
            <a:extLst>
              <a:ext uri="{FF2B5EF4-FFF2-40B4-BE49-F238E27FC236}">
                <a16:creationId xmlns:a16="http://schemas.microsoft.com/office/drawing/2014/main" id="{CFB92AA3-E3F6-A422-2035-B116844849DF}"/>
              </a:ext>
            </a:extLst>
          </p:cNvPr>
          <p:cNvSpPr>
            <a:spLocks noGrp="1"/>
          </p:cNvSpPr>
          <p:nvPr>
            <p:ph idx="1"/>
          </p:nvPr>
        </p:nvSpPr>
        <p:spPr/>
        <p:txBody>
          <a:bodyPr/>
          <a:lstStyle/>
          <a:p>
            <a:r>
              <a:rPr lang="en-US" dirty="0"/>
              <a:t>Colab:</a:t>
            </a:r>
          </a:p>
          <a:p>
            <a:pPr marL="0" indent="0">
              <a:buNone/>
            </a:pPr>
            <a:r>
              <a:rPr lang="en-CA" dirty="0">
                <a:hlinkClick r:id="rId2"/>
              </a:rPr>
              <a:t>https://colab.research.google.com/drive/1pJJpmq2cz5iY0ctqEYmCx7U8p4kUNRa-?usp=sharing</a:t>
            </a:r>
            <a:endParaRPr lang="en-CA" dirty="0"/>
          </a:p>
          <a:p>
            <a:pPr marL="0" indent="0">
              <a:buNone/>
            </a:pPr>
            <a:endParaRPr lang="en-CA" dirty="0"/>
          </a:p>
          <a:p>
            <a:pPr marL="0" indent="0">
              <a:buNone/>
            </a:pPr>
            <a:r>
              <a:rPr lang="en-CA" dirty="0" err="1"/>
              <a:t>Github</a:t>
            </a:r>
            <a:r>
              <a:rPr lang="en-CA" dirty="0"/>
              <a:t>: https://github.com/boabangf/GNN_RL_gene_trajectory_perturbation/tree/main/RNA_seq_CTRL_Perturb</a:t>
            </a:r>
          </a:p>
        </p:txBody>
      </p:sp>
    </p:spTree>
    <p:extLst>
      <p:ext uri="{BB962C8B-B14F-4D97-AF65-F5344CB8AC3E}">
        <p14:creationId xmlns:p14="http://schemas.microsoft.com/office/powerpoint/2010/main" val="16972903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Slide Background">
            <a:extLst>
              <a:ext uri="{FF2B5EF4-FFF2-40B4-BE49-F238E27FC236}">
                <a16:creationId xmlns:a16="http://schemas.microsoft.com/office/drawing/2014/main" id="{5F637E18-EF26-4327-9077-7FFC67B98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3EED6667-6BE8-A2AB-422A-5A1D89727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1" cy="1696413"/>
          </a:xfrm>
          <a:prstGeom prst="rect">
            <a:avLst/>
          </a:prstGeom>
          <a:ln>
            <a:noFill/>
          </a:ln>
          <a:effectLst>
            <a:outerShdw blurRad="304800" dist="114300" dir="5460000" sx="92000" sy="92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E4654A-7F08-4922-BD32-84DE8A0467DB}"/>
              </a:ext>
            </a:extLst>
          </p:cNvPr>
          <p:cNvSpPr>
            <a:spLocks noGrp="1"/>
          </p:cNvSpPr>
          <p:nvPr>
            <p:ph type="title"/>
          </p:nvPr>
        </p:nvSpPr>
        <p:spPr>
          <a:xfrm>
            <a:off x="570508" y="173145"/>
            <a:ext cx="9258530" cy="842063"/>
          </a:xfrm>
        </p:spPr>
        <p:txBody>
          <a:bodyPr vert="horz" lIns="91440" tIns="45720" rIns="91440" bIns="45720" rtlCol="0" anchor="ctr">
            <a:normAutofit/>
          </a:bodyPr>
          <a:lstStyle/>
          <a:p>
            <a:r>
              <a:rPr lang="en-US" sz="2400" b="1" kern="1200" dirty="0">
                <a:solidFill>
                  <a:schemeClr val="tx1"/>
                </a:solidFill>
                <a:latin typeface="+mj-lt"/>
                <a:ea typeface="+mj-ea"/>
                <a:cs typeface="+mj-cs"/>
              </a:rPr>
              <a:t>Results(Control sample/Perturbed sample)</a:t>
            </a:r>
          </a:p>
        </p:txBody>
      </p:sp>
      <p:sp>
        <p:nvSpPr>
          <p:cNvPr id="4" name="TextBox 3">
            <a:extLst>
              <a:ext uri="{FF2B5EF4-FFF2-40B4-BE49-F238E27FC236}">
                <a16:creationId xmlns:a16="http://schemas.microsoft.com/office/drawing/2014/main" id="{F1BB7669-37AA-B4A5-7FA5-BA63F2687B15}"/>
              </a:ext>
            </a:extLst>
          </p:cNvPr>
          <p:cNvSpPr txBox="1"/>
          <p:nvPr/>
        </p:nvSpPr>
        <p:spPr>
          <a:xfrm>
            <a:off x="218113" y="5614068"/>
            <a:ext cx="5848318" cy="1169551"/>
          </a:xfrm>
          <a:prstGeom prst="rect">
            <a:avLst/>
          </a:prstGeom>
          <a:noFill/>
        </p:spPr>
        <p:txBody>
          <a:bodyPr wrap="square" rtlCol="0">
            <a:spAutoFit/>
          </a:bodyPr>
          <a:lstStyle/>
          <a:p>
            <a:r>
              <a:rPr lang="en-US" sz="1400" dirty="0"/>
              <a:t>CTRL: Control Sample</a:t>
            </a:r>
          </a:p>
          <a:p>
            <a:r>
              <a:rPr lang="en-US" sz="1400" dirty="0"/>
              <a:t>PTPN2: Perturb Sample</a:t>
            </a:r>
          </a:p>
          <a:p>
            <a:r>
              <a:rPr lang="en-US" sz="1400" dirty="0"/>
              <a:t>Trust region policy optimization</a:t>
            </a:r>
          </a:p>
          <a:p>
            <a:r>
              <a:rPr lang="en-US" sz="1400" dirty="0"/>
              <a:t>PPO: Proximal policy  optimization</a:t>
            </a:r>
          </a:p>
          <a:p>
            <a:r>
              <a:rPr lang="en-CA" sz="1400" dirty="0"/>
              <a:t>Prediction HORIZON    = 1  </a:t>
            </a:r>
          </a:p>
        </p:txBody>
      </p:sp>
      <p:graphicFrame>
        <p:nvGraphicFramePr>
          <p:cNvPr id="5" name="Table 4">
            <a:extLst>
              <a:ext uri="{FF2B5EF4-FFF2-40B4-BE49-F238E27FC236}">
                <a16:creationId xmlns:a16="http://schemas.microsoft.com/office/drawing/2014/main" id="{6244324C-C7D1-8E75-7007-FBA45CAAC7FB}"/>
              </a:ext>
            </a:extLst>
          </p:cNvPr>
          <p:cNvGraphicFramePr>
            <a:graphicFrameLocks noGrp="1"/>
          </p:cNvGraphicFramePr>
          <p:nvPr>
            <p:extLst>
              <p:ext uri="{D42A27DB-BD31-4B8C-83A1-F6EECF244321}">
                <p14:modId xmlns:p14="http://schemas.microsoft.com/office/powerpoint/2010/main" val="612837851"/>
              </p:ext>
            </p:extLst>
          </p:nvPr>
        </p:nvGraphicFramePr>
        <p:xfrm>
          <a:off x="883456" y="1188352"/>
          <a:ext cx="10425086" cy="4351335"/>
        </p:xfrm>
        <a:graphic>
          <a:graphicData uri="http://schemas.openxmlformats.org/drawingml/2006/table">
            <a:tbl>
              <a:tblPr/>
              <a:tblGrid>
                <a:gridCol w="1489298">
                  <a:extLst>
                    <a:ext uri="{9D8B030D-6E8A-4147-A177-3AD203B41FA5}">
                      <a16:colId xmlns:a16="http://schemas.microsoft.com/office/drawing/2014/main" val="257090424"/>
                    </a:ext>
                  </a:extLst>
                </a:gridCol>
                <a:gridCol w="1489298">
                  <a:extLst>
                    <a:ext uri="{9D8B030D-6E8A-4147-A177-3AD203B41FA5}">
                      <a16:colId xmlns:a16="http://schemas.microsoft.com/office/drawing/2014/main" val="3346602704"/>
                    </a:ext>
                  </a:extLst>
                </a:gridCol>
                <a:gridCol w="1489298">
                  <a:extLst>
                    <a:ext uri="{9D8B030D-6E8A-4147-A177-3AD203B41FA5}">
                      <a16:colId xmlns:a16="http://schemas.microsoft.com/office/drawing/2014/main" val="801850568"/>
                    </a:ext>
                  </a:extLst>
                </a:gridCol>
                <a:gridCol w="1489298">
                  <a:extLst>
                    <a:ext uri="{9D8B030D-6E8A-4147-A177-3AD203B41FA5}">
                      <a16:colId xmlns:a16="http://schemas.microsoft.com/office/drawing/2014/main" val="2831654327"/>
                    </a:ext>
                  </a:extLst>
                </a:gridCol>
                <a:gridCol w="1489298">
                  <a:extLst>
                    <a:ext uri="{9D8B030D-6E8A-4147-A177-3AD203B41FA5}">
                      <a16:colId xmlns:a16="http://schemas.microsoft.com/office/drawing/2014/main" val="2731428822"/>
                    </a:ext>
                  </a:extLst>
                </a:gridCol>
                <a:gridCol w="1489298">
                  <a:extLst>
                    <a:ext uri="{9D8B030D-6E8A-4147-A177-3AD203B41FA5}">
                      <a16:colId xmlns:a16="http://schemas.microsoft.com/office/drawing/2014/main" val="4085199551"/>
                    </a:ext>
                  </a:extLst>
                </a:gridCol>
                <a:gridCol w="1489298">
                  <a:extLst>
                    <a:ext uri="{9D8B030D-6E8A-4147-A177-3AD203B41FA5}">
                      <a16:colId xmlns:a16="http://schemas.microsoft.com/office/drawing/2014/main" val="4067453655"/>
                    </a:ext>
                  </a:extLst>
                </a:gridCol>
              </a:tblGrid>
              <a:tr h="362611">
                <a:tc>
                  <a:txBody>
                    <a:bodyPr/>
                    <a:lstStyle/>
                    <a:p>
                      <a:pPr>
                        <a:buNone/>
                      </a:pPr>
                      <a:r>
                        <a:rPr lang="en-CA" sz="1200" dirty="0"/>
                        <a:t>System</a:t>
                      </a:r>
                    </a:p>
                  </a:txBody>
                  <a:tcPr marL="90653" marR="90653" marT="45326" marB="45326" anchor="ctr">
                    <a:lnL>
                      <a:noFill/>
                    </a:lnL>
                    <a:lnR>
                      <a:noFill/>
                    </a:lnR>
                    <a:lnT>
                      <a:noFill/>
                    </a:lnT>
                    <a:lnB>
                      <a:noFill/>
                    </a:lnB>
                    <a:noFill/>
                  </a:tcPr>
                </a:tc>
                <a:tc>
                  <a:txBody>
                    <a:bodyPr/>
                    <a:lstStyle/>
                    <a:p>
                      <a:pPr>
                        <a:buNone/>
                      </a:pPr>
                      <a:r>
                        <a:rPr lang="en-CA" sz="1200"/>
                        <a:t>Algorithm</a:t>
                      </a:r>
                    </a:p>
                  </a:txBody>
                  <a:tcPr marL="90653" marR="90653" marT="45326" marB="45326" anchor="ctr">
                    <a:lnL>
                      <a:noFill/>
                    </a:lnL>
                    <a:lnR>
                      <a:noFill/>
                    </a:lnR>
                    <a:lnT>
                      <a:noFill/>
                    </a:lnT>
                    <a:lnB>
                      <a:noFill/>
                    </a:lnB>
                    <a:noFill/>
                  </a:tcPr>
                </a:tc>
                <a:tc>
                  <a:txBody>
                    <a:bodyPr/>
                    <a:lstStyle/>
                    <a:p>
                      <a:pPr>
                        <a:buNone/>
                      </a:pPr>
                      <a:r>
                        <a:rPr lang="en-CA" sz="1200"/>
                        <a:t>MSE</a:t>
                      </a:r>
                    </a:p>
                  </a:txBody>
                  <a:tcPr marL="90653" marR="90653" marT="45326" marB="45326" anchor="ctr">
                    <a:lnL>
                      <a:noFill/>
                    </a:lnL>
                    <a:lnR>
                      <a:noFill/>
                    </a:lnR>
                    <a:lnT>
                      <a:noFill/>
                    </a:lnT>
                    <a:lnB>
                      <a:noFill/>
                    </a:lnB>
                    <a:noFill/>
                  </a:tcPr>
                </a:tc>
                <a:tc>
                  <a:txBody>
                    <a:bodyPr/>
                    <a:lstStyle/>
                    <a:p>
                      <a:pPr>
                        <a:buNone/>
                      </a:pPr>
                      <a:r>
                        <a:rPr lang="en-CA" sz="1200"/>
                        <a:t>RMSE</a:t>
                      </a:r>
                    </a:p>
                  </a:txBody>
                  <a:tcPr marL="90653" marR="90653" marT="45326" marB="45326" anchor="ctr">
                    <a:lnL>
                      <a:noFill/>
                    </a:lnL>
                    <a:lnR>
                      <a:noFill/>
                    </a:lnR>
                    <a:lnT>
                      <a:noFill/>
                    </a:lnT>
                    <a:lnB>
                      <a:noFill/>
                    </a:lnB>
                    <a:noFill/>
                  </a:tcPr>
                </a:tc>
                <a:tc>
                  <a:txBody>
                    <a:bodyPr/>
                    <a:lstStyle/>
                    <a:p>
                      <a:pPr>
                        <a:buNone/>
                      </a:pPr>
                      <a:r>
                        <a:rPr lang="en-CA" sz="1200"/>
                        <a:t>MAE</a:t>
                      </a:r>
                    </a:p>
                  </a:txBody>
                  <a:tcPr marL="90653" marR="90653" marT="45326" marB="45326" anchor="ctr">
                    <a:lnL>
                      <a:noFill/>
                    </a:lnL>
                    <a:lnR>
                      <a:noFill/>
                    </a:lnR>
                    <a:lnT>
                      <a:noFill/>
                    </a:lnT>
                    <a:lnB>
                      <a:noFill/>
                    </a:lnB>
                    <a:noFill/>
                  </a:tcPr>
                </a:tc>
                <a:tc>
                  <a:txBody>
                    <a:bodyPr/>
                    <a:lstStyle/>
                    <a:p>
                      <a:pPr>
                        <a:buNone/>
                      </a:pPr>
                      <a:r>
                        <a:rPr lang="en-CA" sz="1200"/>
                        <a:t>R²</a:t>
                      </a:r>
                    </a:p>
                  </a:txBody>
                  <a:tcPr marL="90653" marR="90653" marT="45326" marB="45326" anchor="ctr">
                    <a:lnL>
                      <a:noFill/>
                    </a:lnL>
                    <a:lnR>
                      <a:noFill/>
                    </a:lnR>
                    <a:lnT>
                      <a:noFill/>
                    </a:lnT>
                    <a:lnB>
                      <a:noFill/>
                    </a:lnB>
                    <a:noFill/>
                  </a:tcPr>
                </a:tc>
                <a:tc>
                  <a:txBody>
                    <a:bodyPr/>
                    <a:lstStyle/>
                    <a:p>
                      <a:pPr>
                        <a:buNone/>
                      </a:pPr>
                      <a:r>
                        <a:rPr lang="en-CA" sz="1200"/>
                        <a:t>Pearson</a:t>
                      </a:r>
                    </a:p>
                  </a:txBody>
                  <a:tcPr marL="90653" marR="90653" marT="45326" marB="45326" anchor="ctr">
                    <a:lnL>
                      <a:noFill/>
                    </a:lnL>
                    <a:lnR>
                      <a:noFill/>
                    </a:lnR>
                    <a:lnT>
                      <a:noFill/>
                    </a:lnT>
                    <a:lnB>
                      <a:noFill/>
                    </a:lnB>
                    <a:noFill/>
                  </a:tcPr>
                </a:tc>
                <a:extLst>
                  <a:ext uri="{0D108BD9-81ED-4DB2-BD59-A6C34878D82A}">
                    <a16:rowId xmlns:a16="http://schemas.microsoft.com/office/drawing/2014/main" val="2439124447"/>
                  </a:ext>
                </a:extLst>
              </a:tr>
              <a:tr h="362611">
                <a:tc>
                  <a:txBody>
                    <a:bodyPr/>
                    <a:lstStyle/>
                    <a:p>
                      <a:pPr>
                        <a:buNone/>
                      </a:pPr>
                      <a:r>
                        <a:rPr lang="en-CA" sz="1200"/>
                        <a:t>CTRL</a:t>
                      </a:r>
                    </a:p>
                  </a:txBody>
                  <a:tcPr marL="90653" marR="90653" marT="45326" marB="45326" anchor="ctr">
                    <a:lnL>
                      <a:noFill/>
                    </a:lnL>
                    <a:lnR>
                      <a:noFill/>
                    </a:lnR>
                    <a:lnT>
                      <a:noFill/>
                    </a:lnT>
                    <a:lnB>
                      <a:noFill/>
                    </a:lnB>
                    <a:noFill/>
                  </a:tcPr>
                </a:tc>
                <a:tc>
                  <a:txBody>
                    <a:bodyPr/>
                    <a:lstStyle/>
                    <a:p>
                      <a:pPr>
                        <a:buNone/>
                      </a:pPr>
                      <a:r>
                        <a:rPr lang="en-CA" sz="1200"/>
                        <a:t>PPO (Test)</a:t>
                      </a:r>
                    </a:p>
                  </a:txBody>
                  <a:tcPr marL="90653" marR="90653" marT="45326" marB="45326" anchor="ctr">
                    <a:lnL>
                      <a:noFill/>
                    </a:lnL>
                    <a:lnR>
                      <a:noFill/>
                    </a:lnR>
                    <a:lnT>
                      <a:noFill/>
                    </a:lnT>
                    <a:lnB>
                      <a:noFill/>
                    </a:lnB>
                    <a:noFill/>
                  </a:tcPr>
                </a:tc>
                <a:tc>
                  <a:txBody>
                    <a:bodyPr/>
                    <a:lstStyle/>
                    <a:p>
                      <a:pPr>
                        <a:buNone/>
                      </a:pPr>
                      <a:r>
                        <a:rPr lang="en-CA" sz="1200"/>
                        <a:t>0.138</a:t>
                      </a:r>
                    </a:p>
                  </a:txBody>
                  <a:tcPr marL="90653" marR="90653" marT="45326" marB="45326" anchor="ctr">
                    <a:lnL>
                      <a:noFill/>
                    </a:lnL>
                    <a:lnR>
                      <a:noFill/>
                    </a:lnR>
                    <a:lnT>
                      <a:noFill/>
                    </a:lnT>
                    <a:lnB>
                      <a:noFill/>
                    </a:lnB>
                    <a:noFill/>
                  </a:tcPr>
                </a:tc>
                <a:tc>
                  <a:txBody>
                    <a:bodyPr/>
                    <a:lstStyle/>
                    <a:p>
                      <a:pPr>
                        <a:buNone/>
                      </a:pPr>
                      <a:r>
                        <a:rPr lang="en-CA" sz="1200"/>
                        <a:t>0.371</a:t>
                      </a:r>
                    </a:p>
                  </a:txBody>
                  <a:tcPr marL="90653" marR="90653" marT="45326" marB="45326" anchor="ctr">
                    <a:lnL>
                      <a:noFill/>
                    </a:lnL>
                    <a:lnR>
                      <a:noFill/>
                    </a:lnR>
                    <a:lnT>
                      <a:noFill/>
                    </a:lnT>
                    <a:lnB>
                      <a:noFill/>
                    </a:lnB>
                    <a:noFill/>
                  </a:tcPr>
                </a:tc>
                <a:tc>
                  <a:txBody>
                    <a:bodyPr/>
                    <a:lstStyle/>
                    <a:p>
                      <a:pPr>
                        <a:buNone/>
                      </a:pPr>
                      <a:r>
                        <a:rPr lang="en-CA" sz="1200"/>
                        <a:t>0.360</a:t>
                      </a:r>
                    </a:p>
                  </a:txBody>
                  <a:tcPr marL="90653" marR="90653" marT="45326" marB="45326" anchor="ctr">
                    <a:lnL>
                      <a:noFill/>
                    </a:lnL>
                    <a:lnR>
                      <a:noFill/>
                    </a:lnR>
                    <a:lnT>
                      <a:noFill/>
                    </a:lnT>
                    <a:lnB>
                      <a:noFill/>
                    </a:lnB>
                    <a:noFill/>
                  </a:tcPr>
                </a:tc>
                <a:tc>
                  <a:txBody>
                    <a:bodyPr/>
                    <a:lstStyle/>
                    <a:p>
                      <a:pPr>
                        <a:buNone/>
                      </a:pPr>
                      <a:r>
                        <a:rPr lang="en-CA" sz="1200"/>
                        <a:t>0.865</a:t>
                      </a:r>
                    </a:p>
                  </a:txBody>
                  <a:tcPr marL="90653" marR="90653" marT="45326" marB="45326" anchor="ctr">
                    <a:lnL>
                      <a:noFill/>
                    </a:lnL>
                    <a:lnR>
                      <a:noFill/>
                    </a:lnR>
                    <a:lnT>
                      <a:noFill/>
                    </a:lnT>
                    <a:lnB>
                      <a:noFill/>
                    </a:lnB>
                    <a:noFill/>
                  </a:tcPr>
                </a:tc>
                <a:tc>
                  <a:txBody>
                    <a:bodyPr/>
                    <a:lstStyle/>
                    <a:p>
                      <a:pPr>
                        <a:buNone/>
                      </a:pPr>
                      <a:r>
                        <a:rPr lang="en-CA" sz="1200"/>
                        <a:t>0.993</a:t>
                      </a:r>
                    </a:p>
                  </a:txBody>
                  <a:tcPr marL="90653" marR="90653" marT="45326" marB="45326" anchor="ctr">
                    <a:lnL>
                      <a:noFill/>
                    </a:lnL>
                    <a:lnR>
                      <a:noFill/>
                    </a:lnR>
                    <a:lnT>
                      <a:noFill/>
                    </a:lnT>
                    <a:lnB>
                      <a:noFill/>
                    </a:lnB>
                    <a:noFill/>
                  </a:tcPr>
                </a:tc>
                <a:extLst>
                  <a:ext uri="{0D108BD9-81ED-4DB2-BD59-A6C34878D82A}">
                    <a16:rowId xmlns:a16="http://schemas.microsoft.com/office/drawing/2014/main" val="2569451864"/>
                  </a:ext>
                </a:extLst>
              </a:tr>
              <a:tr h="362611">
                <a:tc>
                  <a:txBody>
                    <a:bodyPr/>
                    <a:lstStyle/>
                    <a:p>
                      <a:pPr>
                        <a:buNone/>
                      </a:pPr>
                      <a:r>
                        <a:rPr lang="en-CA" sz="1200"/>
                        <a:t>CTRL</a:t>
                      </a:r>
                    </a:p>
                  </a:txBody>
                  <a:tcPr marL="90653" marR="90653" marT="45326" marB="45326" anchor="ctr">
                    <a:lnL>
                      <a:noFill/>
                    </a:lnL>
                    <a:lnR>
                      <a:noFill/>
                    </a:lnR>
                    <a:lnT>
                      <a:noFill/>
                    </a:lnT>
                    <a:lnB>
                      <a:noFill/>
                    </a:lnB>
                    <a:noFill/>
                  </a:tcPr>
                </a:tc>
                <a:tc>
                  <a:txBody>
                    <a:bodyPr/>
                    <a:lstStyle/>
                    <a:p>
                      <a:pPr>
                        <a:buNone/>
                      </a:pPr>
                      <a:r>
                        <a:rPr lang="en-CA" sz="1200"/>
                        <a:t>PPO (Train)</a:t>
                      </a:r>
                    </a:p>
                  </a:txBody>
                  <a:tcPr marL="90653" marR="90653" marT="45326" marB="45326" anchor="ctr">
                    <a:lnL>
                      <a:noFill/>
                    </a:lnL>
                    <a:lnR>
                      <a:noFill/>
                    </a:lnR>
                    <a:lnT>
                      <a:noFill/>
                    </a:lnT>
                    <a:lnB>
                      <a:noFill/>
                    </a:lnB>
                    <a:noFill/>
                  </a:tcPr>
                </a:tc>
                <a:tc>
                  <a:txBody>
                    <a:bodyPr/>
                    <a:lstStyle/>
                    <a:p>
                      <a:pPr>
                        <a:buNone/>
                      </a:pPr>
                      <a:r>
                        <a:rPr lang="en-CA" sz="1200"/>
                        <a:t>0.139</a:t>
                      </a:r>
                    </a:p>
                  </a:txBody>
                  <a:tcPr marL="90653" marR="90653" marT="45326" marB="45326" anchor="ctr">
                    <a:lnL>
                      <a:noFill/>
                    </a:lnL>
                    <a:lnR>
                      <a:noFill/>
                    </a:lnR>
                    <a:lnT>
                      <a:noFill/>
                    </a:lnT>
                    <a:lnB>
                      <a:noFill/>
                    </a:lnB>
                    <a:noFill/>
                  </a:tcPr>
                </a:tc>
                <a:tc>
                  <a:txBody>
                    <a:bodyPr/>
                    <a:lstStyle/>
                    <a:p>
                      <a:pPr>
                        <a:buNone/>
                      </a:pPr>
                      <a:r>
                        <a:rPr lang="en-CA" sz="1200"/>
                        <a:t>0.372</a:t>
                      </a:r>
                    </a:p>
                  </a:txBody>
                  <a:tcPr marL="90653" marR="90653" marT="45326" marB="45326" anchor="ctr">
                    <a:lnL>
                      <a:noFill/>
                    </a:lnL>
                    <a:lnR>
                      <a:noFill/>
                    </a:lnR>
                    <a:lnT>
                      <a:noFill/>
                    </a:lnT>
                    <a:lnB>
                      <a:noFill/>
                    </a:lnB>
                    <a:noFill/>
                  </a:tcPr>
                </a:tc>
                <a:tc>
                  <a:txBody>
                    <a:bodyPr/>
                    <a:lstStyle/>
                    <a:p>
                      <a:pPr>
                        <a:buNone/>
                      </a:pPr>
                      <a:r>
                        <a:rPr lang="en-CA" sz="1200"/>
                        <a:t>0.361</a:t>
                      </a:r>
                    </a:p>
                  </a:txBody>
                  <a:tcPr marL="90653" marR="90653" marT="45326" marB="45326" anchor="ctr">
                    <a:lnL>
                      <a:noFill/>
                    </a:lnL>
                    <a:lnR>
                      <a:noFill/>
                    </a:lnR>
                    <a:lnT>
                      <a:noFill/>
                    </a:lnT>
                    <a:lnB>
                      <a:noFill/>
                    </a:lnB>
                    <a:noFill/>
                  </a:tcPr>
                </a:tc>
                <a:tc>
                  <a:txBody>
                    <a:bodyPr/>
                    <a:lstStyle/>
                    <a:p>
                      <a:pPr>
                        <a:buNone/>
                      </a:pPr>
                      <a:r>
                        <a:rPr lang="en-CA" sz="1200"/>
                        <a:t>0.860</a:t>
                      </a:r>
                    </a:p>
                  </a:txBody>
                  <a:tcPr marL="90653" marR="90653" marT="45326" marB="45326" anchor="ctr">
                    <a:lnL>
                      <a:noFill/>
                    </a:lnL>
                    <a:lnR>
                      <a:noFill/>
                    </a:lnR>
                    <a:lnT>
                      <a:noFill/>
                    </a:lnT>
                    <a:lnB>
                      <a:noFill/>
                    </a:lnB>
                    <a:noFill/>
                  </a:tcPr>
                </a:tc>
                <a:tc>
                  <a:txBody>
                    <a:bodyPr/>
                    <a:lstStyle/>
                    <a:p>
                      <a:pPr>
                        <a:buNone/>
                      </a:pPr>
                      <a:r>
                        <a:rPr lang="en-CA" sz="1200"/>
                        <a:t>0.993</a:t>
                      </a:r>
                    </a:p>
                  </a:txBody>
                  <a:tcPr marL="90653" marR="90653" marT="45326" marB="45326" anchor="ctr">
                    <a:lnL>
                      <a:noFill/>
                    </a:lnL>
                    <a:lnR>
                      <a:noFill/>
                    </a:lnR>
                    <a:lnT>
                      <a:noFill/>
                    </a:lnT>
                    <a:lnB>
                      <a:noFill/>
                    </a:lnB>
                    <a:noFill/>
                  </a:tcPr>
                </a:tc>
                <a:extLst>
                  <a:ext uri="{0D108BD9-81ED-4DB2-BD59-A6C34878D82A}">
                    <a16:rowId xmlns:a16="http://schemas.microsoft.com/office/drawing/2014/main" val="2590472158"/>
                  </a:ext>
                </a:extLst>
              </a:tr>
              <a:tr h="634570">
                <a:tc>
                  <a:txBody>
                    <a:bodyPr/>
                    <a:lstStyle/>
                    <a:p>
                      <a:pPr>
                        <a:buNone/>
                      </a:pPr>
                      <a:r>
                        <a:rPr lang="en-CA" sz="1200"/>
                        <a:t>CTRL</a:t>
                      </a:r>
                    </a:p>
                  </a:txBody>
                  <a:tcPr marL="90653" marR="90653" marT="45326" marB="45326" anchor="ctr">
                    <a:lnL>
                      <a:noFill/>
                    </a:lnL>
                    <a:lnR>
                      <a:noFill/>
                    </a:lnR>
                    <a:lnT>
                      <a:noFill/>
                    </a:lnT>
                    <a:lnB>
                      <a:noFill/>
                    </a:lnB>
                    <a:noFill/>
                  </a:tcPr>
                </a:tc>
                <a:tc>
                  <a:txBody>
                    <a:bodyPr/>
                    <a:lstStyle/>
                    <a:p>
                      <a:pPr>
                        <a:buNone/>
                      </a:pPr>
                      <a:r>
                        <a:rPr lang="en-CA" sz="1200"/>
                        <a:t>TRPO→PPO (Test)</a:t>
                      </a:r>
                    </a:p>
                  </a:txBody>
                  <a:tcPr marL="90653" marR="90653" marT="45326" marB="45326" anchor="ctr">
                    <a:lnL>
                      <a:noFill/>
                    </a:lnL>
                    <a:lnR>
                      <a:noFill/>
                    </a:lnR>
                    <a:lnT>
                      <a:noFill/>
                    </a:lnT>
                    <a:lnB>
                      <a:noFill/>
                    </a:lnB>
                    <a:noFill/>
                  </a:tcPr>
                </a:tc>
                <a:tc>
                  <a:txBody>
                    <a:bodyPr/>
                    <a:lstStyle/>
                    <a:p>
                      <a:pPr>
                        <a:buNone/>
                      </a:pPr>
                      <a:r>
                        <a:rPr lang="en-CA" sz="1200"/>
                        <a:t>0.002</a:t>
                      </a:r>
                    </a:p>
                  </a:txBody>
                  <a:tcPr marL="90653" marR="90653" marT="45326" marB="45326" anchor="ctr">
                    <a:lnL>
                      <a:noFill/>
                    </a:lnL>
                    <a:lnR>
                      <a:noFill/>
                    </a:lnR>
                    <a:lnT>
                      <a:noFill/>
                    </a:lnT>
                    <a:lnB>
                      <a:noFill/>
                    </a:lnB>
                    <a:noFill/>
                  </a:tcPr>
                </a:tc>
                <a:tc>
                  <a:txBody>
                    <a:bodyPr/>
                    <a:lstStyle/>
                    <a:p>
                      <a:pPr>
                        <a:buNone/>
                      </a:pPr>
                      <a:r>
                        <a:rPr lang="en-CA" sz="1200"/>
                        <a:t>0.042</a:t>
                      </a:r>
                    </a:p>
                  </a:txBody>
                  <a:tcPr marL="90653" marR="90653" marT="45326" marB="45326" anchor="ctr">
                    <a:lnL>
                      <a:noFill/>
                    </a:lnL>
                    <a:lnR>
                      <a:noFill/>
                    </a:lnR>
                    <a:lnT>
                      <a:noFill/>
                    </a:lnT>
                    <a:lnB>
                      <a:noFill/>
                    </a:lnB>
                    <a:noFill/>
                  </a:tcPr>
                </a:tc>
                <a:tc>
                  <a:txBody>
                    <a:bodyPr/>
                    <a:lstStyle/>
                    <a:p>
                      <a:pPr>
                        <a:buNone/>
                      </a:pPr>
                      <a:r>
                        <a:rPr lang="en-CA" sz="1200"/>
                        <a:t>0.034</a:t>
                      </a:r>
                    </a:p>
                  </a:txBody>
                  <a:tcPr marL="90653" marR="90653" marT="45326" marB="45326" anchor="ctr">
                    <a:lnL>
                      <a:noFill/>
                    </a:lnL>
                    <a:lnR>
                      <a:noFill/>
                    </a:lnR>
                    <a:lnT>
                      <a:noFill/>
                    </a:lnT>
                    <a:lnB>
                      <a:noFill/>
                    </a:lnB>
                    <a:noFill/>
                  </a:tcPr>
                </a:tc>
                <a:tc>
                  <a:txBody>
                    <a:bodyPr/>
                    <a:lstStyle/>
                    <a:p>
                      <a:pPr>
                        <a:buNone/>
                      </a:pPr>
                      <a:r>
                        <a:rPr lang="en-CA" sz="1200"/>
                        <a:t>0.998</a:t>
                      </a:r>
                    </a:p>
                  </a:txBody>
                  <a:tcPr marL="90653" marR="90653" marT="45326" marB="45326" anchor="ctr">
                    <a:lnL>
                      <a:noFill/>
                    </a:lnL>
                    <a:lnR>
                      <a:noFill/>
                    </a:lnR>
                    <a:lnT>
                      <a:noFill/>
                    </a:lnT>
                    <a:lnB>
                      <a:noFill/>
                    </a:lnB>
                    <a:noFill/>
                  </a:tcPr>
                </a:tc>
                <a:tc>
                  <a:txBody>
                    <a:bodyPr/>
                    <a:lstStyle/>
                    <a:p>
                      <a:pPr>
                        <a:buNone/>
                      </a:pPr>
                      <a:r>
                        <a:rPr lang="en-CA" sz="1200"/>
                        <a:t>0.999</a:t>
                      </a:r>
                    </a:p>
                  </a:txBody>
                  <a:tcPr marL="90653" marR="90653" marT="45326" marB="45326" anchor="ctr">
                    <a:lnL>
                      <a:noFill/>
                    </a:lnL>
                    <a:lnR>
                      <a:noFill/>
                    </a:lnR>
                    <a:lnT>
                      <a:noFill/>
                    </a:lnT>
                    <a:lnB>
                      <a:noFill/>
                    </a:lnB>
                    <a:noFill/>
                  </a:tcPr>
                </a:tc>
                <a:extLst>
                  <a:ext uri="{0D108BD9-81ED-4DB2-BD59-A6C34878D82A}">
                    <a16:rowId xmlns:a16="http://schemas.microsoft.com/office/drawing/2014/main" val="2158012375"/>
                  </a:ext>
                </a:extLst>
              </a:tr>
              <a:tr h="634570">
                <a:tc>
                  <a:txBody>
                    <a:bodyPr/>
                    <a:lstStyle/>
                    <a:p>
                      <a:pPr>
                        <a:buNone/>
                      </a:pPr>
                      <a:r>
                        <a:rPr lang="en-CA" sz="1200"/>
                        <a:t>CTRL</a:t>
                      </a:r>
                    </a:p>
                  </a:txBody>
                  <a:tcPr marL="90653" marR="90653" marT="45326" marB="45326" anchor="ctr">
                    <a:lnL>
                      <a:noFill/>
                    </a:lnL>
                    <a:lnR>
                      <a:noFill/>
                    </a:lnR>
                    <a:lnT>
                      <a:noFill/>
                    </a:lnT>
                    <a:lnB>
                      <a:noFill/>
                    </a:lnB>
                    <a:noFill/>
                  </a:tcPr>
                </a:tc>
                <a:tc>
                  <a:txBody>
                    <a:bodyPr/>
                    <a:lstStyle/>
                    <a:p>
                      <a:pPr>
                        <a:buNone/>
                      </a:pPr>
                      <a:r>
                        <a:rPr lang="en-CA" sz="1200"/>
                        <a:t>TRPO→PPO (Train)</a:t>
                      </a:r>
                    </a:p>
                  </a:txBody>
                  <a:tcPr marL="90653" marR="90653" marT="45326" marB="45326" anchor="ctr">
                    <a:lnL>
                      <a:noFill/>
                    </a:lnL>
                    <a:lnR>
                      <a:noFill/>
                    </a:lnR>
                    <a:lnT>
                      <a:noFill/>
                    </a:lnT>
                    <a:lnB>
                      <a:noFill/>
                    </a:lnB>
                    <a:noFill/>
                  </a:tcPr>
                </a:tc>
                <a:tc>
                  <a:txBody>
                    <a:bodyPr/>
                    <a:lstStyle/>
                    <a:p>
                      <a:pPr>
                        <a:buNone/>
                      </a:pPr>
                      <a:r>
                        <a:rPr lang="en-CA" sz="1200"/>
                        <a:t>0.002</a:t>
                      </a:r>
                    </a:p>
                  </a:txBody>
                  <a:tcPr marL="90653" marR="90653" marT="45326" marB="45326" anchor="ctr">
                    <a:lnL>
                      <a:noFill/>
                    </a:lnL>
                    <a:lnR>
                      <a:noFill/>
                    </a:lnR>
                    <a:lnT>
                      <a:noFill/>
                    </a:lnT>
                    <a:lnB>
                      <a:noFill/>
                    </a:lnB>
                    <a:noFill/>
                  </a:tcPr>
                </a:tc>
                <a:tc>
                  <a:txBody>
                    <a:bodyPr/>
                    <a:lstStyle/>
                    <a:p>
                      <a:pPr>
                        <a:buNone/>
                      </a:pPr>
                      <a:r>
                        <a:rPr lang="en-CA" sz="1200"/>
                        <a:t>0.042</a:t>
                      </a:r>
                    </a:p>
                  </a:txBody>
                  <a:tcPr marL="90653" marR="90653" marT="45326" marB="45326" anchor="ctr">
                    <a:lnL>
                      <a:noFill/>
                    </a:lnL>
                    <a:lnR>
                      <a:noFill/>
                    </a:lnR>
                    <a:lnT>
                      <a:noFill/>
                    </a:lnT>
                    <a:lnB>
                      <a:noFill/>
                    </a:lnB>
                    <a:noFill/>
                  </a:tcPr>
                </a:tc>
                <a:tc>
                  <a:txBody>
                    <a:bodyPr/>
                    <a:lstStyle/>
                    <a:p>
                      <a:pPr>
                        <a:buNone/>
                      </a:pPr>
                      <a:r>
                        <a:rPr lang="en-CA" sz="1200"/>
                        <a:t>0.034</a:t>
                      </a:r>
                    </a:p>
                  </a:txBody>
                  <a:tcPr marL="90653" marR="90653" marT="45326" marB="45326" anchor="ctr">
                    <a:lnL>
                      <a:noFill/>
                    </a:lnL>
                    <a:lnR>
                      <a:noFill/>
                    </a:lnR>
                    <a:lnT>
                      <a:noFill/>
                    </a:lnT>
                    <a:lnB>
                      <a:noFill/>
                    </a:lnB>
                    <a:noFill/>
                  </a:tcPr>
                </a:tc>
                <a:tc>
                  <a:txBody>
                    <a:bodyPr/>
                    <a:lstStyle/>
                    <a:p>
                      <a:pPr>
                        <a:buNone/>
                      </a:pPr>
                      <a:r>
                        <a:rPr lang="en-CA" sz="1200"/>
                        <a:t>0.998</a:t>
                      </a:r>
                    </a:p>
                  </a:txBody>
                  <a:tcPr marL="90653" marR="90653" marT="45326" marB="45326" anchor="ctr">
                    <a:lnL>
                      <a:noFill/>
                    </a:lnL>
                    <a:lnR>
                      <a:noFill/>
                    </a:lnR>
                    <a:lnT>
                      <a:noFill/>
                    </a:lnT>
                    <a:lnB>
                      <a:noFill/>
                    </a:lnB>
                    <a:noFill/>
                  </a:tcPr>
                </a:tc>
                <a:tc>
                  <a:txBody>
                    <a:bodyPr/>
                    <a:lstStyle/>
                    <a:p>
                      <a:pPr>
                        <a:buNone/>
                      </a:pPr>
                      <a:r>
                        <a:rPr lang="en-CA" sz="1200"/>
                        <a:t>0.999</a:t>
                      </a:r>
                    </a:p>
                  </a:txBody>
                  <a:tcPr marL="90653" marR="90653" marT="45326" marB="45326" anchor="ctr">
                    <a:lnL>
                      <a:noFill/>
                    </a:lnL>
                    <a:lnR>
                      <a:noFill/>
                    </a:lnR>
                    <a:lnT>
                      <a:noFill/>
                    </a:lnT>
                    <a:lnB>
                      <a:noFill/>
                    </a:lnB>
                    <a:noFill/>
                  </a:tcPr>
                </a:tc>
                <a:extLst>
                  <a:ext uri="{0D108BD9-81ED-4DB2-BD59-A6C34878D82A}">
                    <a16:rowId xmlns:a16="http://schemas.microsoft.com/office/drawing/2014/main" val="445757522"/>
                  </a:ext>
                </a:extLst>
              </a:tr>
              <a:tr h="362611">
                <a:tc>
                  <a:txBody>
                    <a:bodyPr/>
                    <a:lstStyle/>
                    <a:p>
                      <a:pPr>
                        <a:buNone/>
                      </a:pPr>
                      <a:r>
                        <a:rPr lang="en-CA" sz="1200" dirty="0"/>
                        <a:t>PTPN2</a:t>
                      </a:r>
                    </a:p>
                  </a:txBody>
                  <a:tcPr marL="90653" marR="90653" marT="45326" marB="45326" anchor="ctr">
                    <a:lnL>
                      <a:noFill/>
                    </a:lnL>
                    <a:lnR>
                      <a:noFill/>
                    </a:lnR>
                    <a:lnT>
                      <a:noFill/>
                    </a:lnT>
                    <a:lnB>
                      <a:noFill/>
                    </a:lnB>
                    <a:noFill/>
                  </a:tcPr>
                </a:tc>
                <a:tc>
                  <a:txBody>
                    <a:bodyPr/>
                    <a:lstStyle/>
                    <a:p>
                      <a:pPr>
                        <a:buNone/>
                      </a:pPr>
                      <a:r>
                        <a:rPr lang="en-CA" sz="1200"/>
                        <a:t>PPO (Test)</a:t>
                      </a:r>
                    </a:p>
                  </a:txBody>
                  <a:tcPr marL="90653" marR="90653" marT="45326" marB="45326" anchor="ctr">
                    <a:lnL>
                      <a:noFill/>
                    </a:lnL>
                    <a:lnR>
                      <a:noFill/>
                    </a:lnR>
                    <a:lnT>
                      <a:noFill/>
                    </a:lnT>
                    <a:lnB>
                      <a:noFill/>
                    </a:lnB>
                    <a:noFill/>
                  </a:tcPr>
                </a:tc>
                <a:tc>
                  <a:txBody>
                    <a:bodyPr/>
                    <a:lstStyle/>
                    <a:p>
                      <a:pPr>
                        <a:buNone/>
                      </a:pPr>
                      <a:r>
                        <a:rPr lang="en-CA" sz="1200"/>
                        <a:t>0.000</a:t>
                      </a:r>
                    </a:p>
                  </a:txBody>
                  <a:tcPr marL="90653" marR="90653" marT="45326" marB="45326" anchor="ctr">
                    <a:lnL>
                      <a:noFill/>
                    </a:lnL>
                    <a:lnR>
                      <a:noFill/>
                    </a:lnR>
                    <a:lnT>
                      <a:noFill/>
                    </a:lnT>
                    <a:lnB>
                      <a:noFill/>
                    </a:lnB>
                    <a:noFill/>
                  </a:tcPr>
                </a:tc>
                <a:tc>
                  <a:txBody>
                    <a:bodyPr/>
                    <a:lstStyle/>
                    <a:p>
                      <a:pPr>
                        <a:buNone/>
                      </a:pPr>
                      <a:r>
                        <a:rPr lang="en-CA" sz="1200"/>
                        <a:t>0.000</a:t>
                      </a:r>
                    </a:p>
                  </a:txBody>
                  <a:tcPr marL="90653" marR="90653" marT="45326" marB="45326" anchor="ctr">
                    <a:lnL>
                      <a:noFill/>
                    </a:lnL>
                    <a:lnR>
                      <a:noFill/>
                    </a:lnR>
                    <a:lnT>
                      <a:noFill/>
                    </a:lnT>
                    <a:lnB>
                      <a:noFill/>
                    </a:lnB>
                    <a:noFill/>
                  </a:tcPr>
                </a:tc>
                <a:tc>
                  <a:txBody>
                    <a:bodyPr/>
                    <a:lstStyle/>
                    <a:p>
                      <a:pPr>
                        <a:buNone/>
                      </a:pPr>
                      <a:r>
                        <a:rPr lang="en-CA" sz="1200"/>
                        <a:t>0.000</a:t>
                      </a:r>
                    </a:p>
                  </a:txBody>
                  <a:tcPr marL="90653" marR="90653" marT="45326" marB="45326" anchor="ctr">
                    <a:lnL>
                      <a:noFill/>
                    </a:lnL>
                    <a:lnR>
                      <a:noFill/>
                    </a:lnR>
                    <a:lnT>
                      <a:noFill/>
                    </a:lnT>
                    <a:lnB>
                      <a:noFill/>
                    </a:lnB>
                    <a:noFill/>
                  </a:tcPr>
                </a:tc>
                <a:tc>
                  <a:txBody>
                    <a:bodyPr/>
                    <a:lstStyle/>
                    <a:p>
                      <a:pPr>
                        <a:buNone/>
                      </a:pPr>
                      <a:r>
                        <a:rPr lang="en-CA" sz="1200"/>
                        <a:t>1.000</a:t>
                      </a:r>
                    </a:p>
                  </a:txBody>
                  <a:tcPr marL="90653" marR="90653" marT="45326" marB="45326" anchor="ctr">
                    <a:lnL>
                      <a:noFill/>
                    </a:lnL>
                    <a:lnR>
                      <a:noFill/>
                    </a:lnR>
                    <a:lnT>
                      <a:noFill/>
                    </a:lnT>
                    <a:lnB>
                      <a:noFill/>
                    </a:lnB>
                    <a:noFill/>
                  </a:tcPr>
                </a:tc>
                <a:tc>
                  <a:txBody>
                    <a:bodyPr/>
                    <a:lstStyle/>
                    <a:p>
                      <a:pPr>
                        <a:buNone/>
                      </a:pPr>
                      <a:r>
                        <a:rPr lang="en-CA" sz="1200"/>
                        <a:t>1.000</a:t>
                      </a:r>
                    </a:p>
                  </a:txBody>
                  <a:tcPr marL="90653" marR="90653" marT="45326" marB="45326" anchor="ctr">
                    <a:lnL>
                      <a:noFill/>
                    </a:lnL>
                    <a:lnR>
                      <a:noFill/>
                    </a:lnR>
                    <a:lnT>
                      <a:noFill/>
                    </a:lnT>
                    <a:lnB>
                      <a:noFill/>
                    </a:lnB>
                    <a:noFill/>
                  </a:tcPr>
                </a:tc>
                <a:extLst>
                  <a:ext uri="{0D108BD9-81ED-4DB2-BD59-A6C34878D82A}">
                    <a16:rowId xmlns:a16="http://schemas.microsoft.com/office/drawing/2014/main" val="1993833400"/>
                  </a:ext>
                </a:extLst>
              </a:tr>
              <a:tr h="362611">
                <a:tc>
                  <a:txBody>
                    <a:bodyPr/>
                    <a:lstStyle/>
                    <a:p>
                      <a:pPr>
                        <a:buNone/>
                      </a:pPr>
                      <a:r>
                        <a:rPr lang="en-CA" sz="1200"/>
                        <a:t>PTPN2</a:t>
                      </a:r>
                    </a:p>
                  </a:txBody>
                  <a:tcPr marL="90653" marR="90653" marT="45326" marB="45326" anchor="ctr">
                    <a:lnL>
                      <a:noFill/>
                    </a:lnL>
                    <a:lnR>
                      <a:noFill/>
                    </a:lnR>
                    <a:lnT>
                      <a:noFill/>
                    </a:lnT>
                    <a:lnB>
                      <a:noFill/>
                    </a:lnB>
                    <a:noFill/>
                  </a:tcPr>
                </a:tc>
                <a:tc>
                  <a:txBody>
                    <a:bodyPr/>
                    <a:lstStyle/>
                    <a:p>
                      <a:pPr>
                        <a:buNone/>
                      </a:pPr>
                      <a:r>
                        <a:rPr lang="en-CA" sz="1200"/>
                        <a:t>PPO (Train)</a:t>
                      </a:r>
                    </a:p>
                  </a:txBody>
                  <a:tcPr marL="90653" marR="90653" marT="45326" marB="45326" anchor="ctr">
                    <a:lnL>
                      <a:noFill/>
                    </a:lnL>
                    <a:lnR>
                      <a:noFill/>
                    </a:lnR>
                    <a:lnT>
                      <a:noFill/>
                    </a:lnT>
                    <a:lnB>
                      <a:noFill/>
                    </a:lnB>
                    <a:noFill/>
                  </a:tcPr>
                </a:tc>
                <a:tc>
                  <a:txBody>
                    <a:bodyPr/>
                    <a:lstStyle/>
                    <a:p>
                      <a:pPr>
                        <a:buNone/>
                      </a:pPr>
                      <a:r>
                        <a:rPr lang="en-CA" sz="1200"/>
                        <a:t>0.000</a:t>
                      </a:r>
                    </a:p>
                  </a:txBody>
                  <a:tcPr marL="90653" marR="90653" marT="45326" marB="45326" anchor="ctr">
                    <a:lnL>
                      <a:noFill/>
                    </a:lnL>
                    <a:lnR>
                      <a:noFill/>
                    </a:lnR>
                    <a:lnT>
                      <a:noFill/>
                    </a:lnT>
                    <a:lnB>
                      <a:noFill/>
                    </a:lnB>
                    <a:noFill/>
                  </a:tcPr>
                </a:tc>
                <a:tc>
                  <a:txBody>
                    <a:bodyPr/>
                    <a:lstStyle/>
                    <a:p>
                      <a:pPr>
                        <a:buNone/>
                      </a:pPr>
                      <a:r>
                        <a:rPr lang="en-CA" sz="1200"/>
                        <a:t>0.000</a:t>
                      </a:r>
                    </a:p>
                  </a:txBody>
                  <a:tcPr marL="90653" marR="90653" marT="45326" marB="45326" anchor="ctr">
                    <a:lnL>
                      <a:noFill/>
                    </a:lnL>
                    <a:lnR>
                      <a:noFill/>
                    </a:lnR>
                    <a:lnT>
                      <a:noFill/>
                    </a:lnT>
                    <a:lnB>
                      <a:noFill/>
                    </a:lnB>
                    <a:noFill/>
                  </a:tcPr>
                </a:tc>
                <a:tc>
                  <a:txBody>
                    <a:bodyPr/>
                    <a:lstStyle/>
                    <a:p>
                      <a:pPr>
                        <a:buNone/>
                      </a:pPr>
                      <a:r>
                        <a:rPr lang="en-CA" sz="1200"/>
                        <a:t>0.000</a:t>
                      </a:r>
                    </a:p>
                  </a:txBody>
                  <a:tcPr marL="90653" marR="90653" marT="45326" marB="45326" anchor="ctr">
                    <a:lnL>
                      <a:noFill/>
                    </a:lnL>
                    <a:lnR>
                      <a:noFill/>
                    </a:lnR>
                    <a:lnT>
                      <a:noFill/>
                    </a:lnT>
                    <a:lnB>
                      <a:noFill/>
                    </a:lnB>
                    <a:noFill/>
                  </a:tcPr>
                </a:tc>
                <a:tc>
                  <a:txBody>
                    <a:bodyPr/>
                    <a:lstStyle/>
                    <a:p>
                      <a:pPr>
                        <a:buNone/>
                      </a:pPr>
                      <a:r>
                        <a:rPr lang="en-CA" sz="1200"/>
                        <a:t>1.000</a:t>
                      </a:r>
                    </a:p>
                  </a:txBody>
                  <a:tcPr marL="90653" marR="90653" marT="45326" marB="45326" anchor="ctr">
                    <a:lnL>
                      <a:noFill/>
                    </a:lnL>
                    <a:lnR>
                      <a:noFill/>
                    </a:lnR>
                    <a:lnT>
                      <a:noFill/>
                    </a:lnT>
                    <a:lnB>
                      <a:noFill/>
                    </a:lnB>
                    <a:noFill/>
                  </a:tcPr>
                </a:tc>
                <a:tc>
                  <a:txBody>
                    <a:bodyPr/>
                    <a:lstStyle/>
                    <a:p>
                      <a:pPr>
                        <a:buNone/>
                      </a:pPr>
                      <a:r>
                        <a:rPr lang="en-CA" sz="1200"/>
                        <a:t>1.000</a:t>
                      </a:r>
                    </a:p>
                  </a:txBody>
                  <a:tcPr marL="90653" marR="90653" marT="45326" marB="45326" anchor="ctr">
                    <a:lnL>
                      <a:noFill/>
                    </a:lnL>
                    <a:lnR>
                      <a:noFill/>
                    </a:lnR>
                    <a:lnT>
                      <a:noFill/>
                    </a:lnT>
                    <a:lnB>
                      <a:noFill/>
                    </a:lnB>
                    <a:noFill/>
                  </a:tcPr>
                </a:tc>
                <a:extLst>
                  <a:ext uri="{0D108BD9-81ED-4DB2-BD59-A6C34878D82A}">
                    <a16:rowId xmlns:a16="http://schemas.microsoft.com/office/drawing/2014/main" val="4118092011"/>
                  </a:ext>
                </a:extLst>
              </a:tr>
              <a:tr h="634570">
                <a:tc>
                  <a:txBody>
                    <a:bodyPr/>
                    <a:lstStyle/>
                    <a:p>
                      <a:pPr>
                        <a:buNone/>
                      </a:pPr>
                      <a:r>
                        <a:rPr lang="en-CA" sz="1200"/>
                        <a:t>PTPN2</a:t>
                      </a:r>
                    </a:p>
                  </a:txBody>
                  <a:tcPr marL="90653" marR="90653" marT="45326" marB="45326" anchor="ctr">
                    <a:lnL>
                      <a:noFill/>
                    </a:lnL>
                    <a:lnR>
                      <a:noFill/>
                    </a:lnR>
                    <a:lnT>
                      <a:noFill/>
                    </a:lnT>
                    <a:lnB>
                      <a:noFill/>
                    </a:lnB>
                    <a:noFill/>
                  </a:tcPr>
                </a:tc>
                <a:tc>
                  <a:txBody>
                    <a:bodyPr/>
                    <a:lstStyle/>
                    <a:p>
                      <a:pPr>
                        <a:buNone/>
                      </a:pPr>
                      <a:r>
                        <a:rPr lang="en-CA" sz="1200"/>
                        <a:t>TRPO→PPO (Test)</a:t>
                      </a:r>
                    </a:p>
                  </a:txBody>
                  <a:tcPr marL="90653" marR="90653" marT="45326" marB="45326" anchor="ctr">
                    <a:lnL>
                      <a:noFill/>
                    </a:lnL>
                    <a:lnR>
                      <a:noFill/>
                    </a:lnR>
                    <a:lnT>
                      <a:noFill/>
                    </a:lnT>
                    <a:lnB>
                      <a:noFill/>
                    </a:lnB>
                    <a:noFill/>
                  </a:tcPr>
                </a:tc>
                <a:tc>
                  <a:txBody>
                    <a:bodyPr/>
                    <a:lstStyle/>
                    <a:p>
                      <a:pPr>
                        <a:buNone/>
                      </a:pPr>
                      <a:r>
                        <a:rPr lang="en-CA" sz="1200"/>
                        <a:t>0.000</a:t>
                      </a:r>
                    </a:p>
                  </a:txBody>
                  <a:tcPr marL="90653" marR="90653" marT="45326" marB="45326" anchor="ctr">
                    <a:lnL>
                      <a:noFill/>
                    </a:lnL>
                    <a:lnR>
                      <a:noFill/>
                    </a:lnR>
                    <a:lnT>
                      <a:noFill/>
                    </a:lnT>
                    <a:lnB>
                      <a:noFill/>
                    </a:lnB>
                    <a:noFill/>
                  </a:tcPr>
                </a:tc>
                <a:tc>
                  <a:txBody>
                    <a:bodyPr/>
                    <a:lstStyle/>
                    <a:p>
                      <a:pPr>
                        <a:buNone/>
                      </a:pPr>
                      <a:r>
                        <a:rPr lang="en-CA" sz="1200"/>
                        <a:t>0.000</a:t>
                      </a:r>
                    </a:p>
                  </a:txBody>
                  <a:tcPr marL="90653" marR="90653" marT="45326" marB="45326" anchor="ctr">
                    <a:lnL>
                      <a:noFill/>
                    </a:lnL>
                    <a:lnR>
                      <a:noFill/>
                    </a:lnR>
                    <a:lnT>
                      <a:noFill/>
                    </a:lnT>
                    <a:lnB>
                      <a:noFill/>
                    </a:lnB>
                    <a:noFill/>
                  </a:tcPr>
                </a:tc>
                <a:tc>
                  <a:txBody>
                    <a:bodyPr/>
                    <a:lstStyle/>
                    <a:p>
                      <a:pPr>
                        <a:buNone/>
                      </a:pPr>
                      <a:r>
                        <a:rPr lang="en-CA" sz="1200"/>
                        <a:t>0.000</a:t>
                      </a:r>
                    </a:p>
                  </a:txBody>
                  <a:tcPr marL="90653" marR="90653" marT="45326" marB="45326" anchor="ctr">
                    <a:lnL>
                      <a:noFill/>
                    </a:lnL>
                    <a:lnR>
                      <a:noFill/>
                    </a:lnR>
                    <a:lnT>
                      <a:noFill/>
                    </a:lnT>
                    <a:lnB>
                      <a:noFill/>
                    </a:lnB>
                    <a:noFill/>
                  </a:tcPr>
                </a:tc>
                <a:tc>
                  <a:txBody>
                    <a:bodyPr/>
                    <a:lstStyle/>
                    <a:p>
                      <a:pPr>
                        <a:buNone/>
                      </a:pPr>
                      <a:r>
                        <a:rPr lang="en-CA" sz="1200"/>
                        <a:t>1.000</a:t>
                      </a:r>
                    </a:p>
                  </a:txBody>
                  <a:tcPr marL="90653" marR="90653" marT="45326" marB="45326" anchor="ctr">
                    <a:lnL>
                      <a:noFill/>
                    </a:lnL>
                    <a:lnR>
                      <a:noFill/>
                    </a:lnR>
                    <a:lnT>
                      <a:noFill/>
                    </a:lnT>
                    <a:lnB>
                      <a:noFill/>
                    </a:lnB>
                    <a:noFill/>
                  </a:tcPr>
                </a:tc>
                <a:tc>
                  <a:txBody>
                    <a:bodyPr/>
                    <a:lstStyle/>
                    <a:p>
                      <a:pPr>
                        <a:buNone/>
                      </a:pPr>
                      <a:r>
                        <a:rPr lang="en-CA" sz="1200"/>
                        <a:t>1.000</a:t>
                      </a:r>
                    </a:p>
                  </a:txBody>
                  <a:tcPr marL="90653" marR="90653" marT="45326" marB="45326" anchor="ctr">
                    <a:lnL>
                      <a:noFill/>
                    </a:lnL>
                    <a:lnR>
                      <a:noFill/>
                    </a:lnR>
                    <a:lnT>
                      <a:noFill/>
                    </a:lnT>
                    <a:lnB>
                      <a:noFill/>
                    </a:lnB>
                    <a:noFill/>
                  </a:tcPr>
                </a:tc>
                <a:extLst>
                  <a:ext uri="{0D108BD9-81ED-4DB2-BD59-A6C34878D82A}">
                    <a16:rowId xmlns:a16="http://schemas.microsoft.com/office/drawing/2014/main" val="2631687750"/>
                  </a:ext>
                </a:extLst>
              </a:tr>
              <a:tr h="634570">
                <a:tc>
                  <a:txBody>
                    <a:bodyPr/>
                    <a:lstStyle/>
                    <a:p>
                      <a:pPr>
                        <a:buNone/>
                      </a:pPr>
                      <a:r>
                        <a:rPr lang="en-CA" sz="1200"/>
                        <a:t>PTPN2</a:t>
                      </a:r>
                    </a:p>
                  </a:txBody>
                  <a:tcPr marL="90653" marR="90653" marT="45326" marB="45326" anchor="ctr">
                    <a:lnL>
                      <a:noFill/>
                    </a:lnL>
                    <a:lnR>
                      <a:noFill/>
                    </a:lnR>
                    <a:lnT>
                      <a:noFill/>
                    </a:lnT>
                    <a:lnB>
                      <a:noFill/>
                    </a:lnB>
                    <a:noFill/>
                  </a:tcPr>
                </a:tc>
                <a:tc>
                  <a:txBody>
                    <a:bodyPr/>
                    <a:lstStyle/>
                    <a:p>
                      <a:pPr>
                        <a:buNone/>
                      </a:pPr>
                      <a:r>
                        <a:rPr lang="en-CA" sz="1200" dirty="0"/>
                        <a:t>TRPO→PPO (Train)</a:t>
                      </a:r>
                    </a:p>
                  </a:txBody>
                  <a:tcPr marL="90653" marR="90653" marT="45326" marB="45326" anchor="ctr">
                    <a:lnL>
                      <a:noFill/>
                    </a:lnL>
                    <a:lnR>
                      <a:noFill/>
                    </a:lnR>
                    <a:lnT>
                      <a:noFill/>
                    </a:lnT>
                    <a:lnB>
                      <a:noFill/>
                    </a:lnB>
                    <a:noFill/>
                  </a:tcPr>
                </a:tc>
                <a:tc>
                  <a:txBody>
                    <a:bodyPr/>
                    <a:lstStyle/>
                    <a:p>
                      <a:pPr>
                        <a:buNone/>
                      </a:pPr>
                      <a:r>
                        <a:rPr lang="en-CA" sz="1200"/>
                        <a:t>0.000</a:t>
                      </a:r>
                    </a:p>
                  </a:txBody>
                  <a:tcPr marL="90653" marR="90653" marT="45326" marB="45326" anchor="ctr">
                    <a:lnL>
                      <a:noFill/>
                    </a:lnL>
                    <a:lnR>
                      <a:noFill/>
                    </a:lnR>
                    <a:lnT>
                      <a:noFill/>
                    </a:lnT>
                    <a:lnB>
                      <a:noFill/>
                    </a:lnB>
                    <a:noFill/>
                  </a:tcPr>
                </a:tc>
                <a:tc>
                  <a:txBody>
                    <a:bodyPr/>
                    <a:lstStyle/>
                    <a:p>
                      <a:pPr>
                        <a:buNone/>
                      </a:pPr>
                      <a:r>
                        <a:rPr lang="en-CA" sz="1200"/>
                        <a:t>0.000</a:t>
                      </a:r>
                    </a:p>
                  </a:txBody>
                  <a:tcPr marL="90653" marR="90653" marT="45326" marB="45326" anchor="ctr">
                    <a:lnL>
                      <a:noFill/>
                    </a:lnL>
                    <a:lnR>
                      <a:noFill/>
                    </a:lnR>
                    <a:lnT>
                      <a:noFill/>
                    </a:lnT>
                    <a:lnB>
                      <a:noFill/>
                    </a:lnB>
                    <a:noFill/>
                  </a:tcPr>
                </a:tc>
                <a:tc>
                  <a:txBody>
                    <a:bodyPr/>
                    <a:lstStyle/>
                    <a:p>
                      <a:pPr>
                        <a:buNone/>
                      </a:pPr>
                      <a:r>
                        <a:rPr lang="en-CA" sz="1200"/>
                        <a:t>0.000</a:t>
                      </a:r>
                    </a:p>
                  </a:txBody>
                  <a:tcPr marL="90653" marR="90653" marT="45326" marB="45326" anchor="ctr">
                    <a:lnL>
                      <a:noFill/>
                    </a:lnL>
                    <a:lnR>
                      <a:noFill/>
                    </a:lnR>
                    <a:lnT>
                      <a:noFill/>
                    </a:lnT>
                    <a:lnB>
                      <a:noFill/>
                    </a:lnB>
                    <a:noFill/>
                  </a:tcPr>
                </a:tc>
                <a:tc>
                  <a:txBody>
                    <a:bodyPr/>
                    <a:lstStyle/>
                    <a:p>
                      <a:pPr>
                        <a:buNone/>
                      </a:pPr>
                      <a:r>
                        <a:rPr lang="en-CA" sz="1200"/>
                        <a:t>1.000</a:t>
                      </a:r>
                    </a:p>
                  </a:txBody>
                  <a:tcPr marL="90653" marR="90653" marT="45326" marB="45326" anchor="ctr">
                    <a:lnL>
                      <a:noFill/>
                    </a:lnL>
                    <a:lnR>
                      <a:noFill/>
                    </a:lnR>
                    <a:lnT>
                      <a:noFill/>
                    </a:lnT>
                    <a:lnB>
                      <a:noFill/>
                    </a:lnB>
                    <a:noFill/>
                  </a:tcPr>
                </a:tc>
                <a:tc>
                  <a:txBody>
                    <a:bodyPr/>
                    <a:lstStyle/>
                    <a:p>
                      <a:pPr>
                        <a:buNone/>
                      </a:pPr>
                      <a:r>
                        <a:rPr lang="en-CA" sz="1200" dirty="0"/>
                        <a:t>1.000</a:t>
                      </a:r>
                    </a:p>
                  </a:txBody>
                  <a:tcPr marL="90653" marR="90653" marT="45326" marB="45326" anchor="ctr">
                    <a:lnL>
                      <a:noFill/>
                    </a:lnL>
                    <a:lnR>
                      <a:noFill/>
                    </a:lnR>
                    <a:lnT>
                      <a:noFill/>
                    </a:lnT>
                    <a:lnB>
                      <a:noFill/>
                    </a:lnB>
                    <a:noFill/>
                  </a:tcPr>
                </a:tc>
                <a:extLst>
                  <a:ext uri="{0D108BD9-81ED-4DB2-BD59-A6C34878D82A}">
                    <a16:rowId xmlns:a16="http://schemas.microsoft.com/office/drawing/2014/main" val="1581330692"/>
                  </a:ext>
                </a:extLst>
              </a:tr>
            </a:tbl>
          </a:graphicData>
        </a:graphic>
      </p:graphicFrame>
    </p:spTree>
    <p:extLst>
      <p:ext uri="{BB962C8B-B14F-4D97-AF65-F5344CB8AC3E}">
        <p14:creationId xmlns:p14="http://schemas.microsoft.com/office/powerpoint/2010/main" val="16738869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51EBE-4AB3-53B5-4CDA-2B97DA007578}"/>
              </a:ext>
            </a:extLst>
          </p:cNvPr>
          <p:cNvSpPr>
            <a:spLocks noGrp="1"/>
          </p:cNvSpPr>
          <p:nvPr>
            <p:ph type="title"/>
          </p:nvPr>
        </p:nvSpPr>
        <p:spPr>
          <a:xfrm>
            <a:off x="838200" y="81661"/>
            <a:ext cx="10515600" cy="1325563"/>
          </a:xfrm>
        </p:spPr>
        <p:txBody>
          <a:bodyPr>
            <a:normAutofit/>
          </a:bodyPr>
          <a:lstStyle/>
          <a:p>
            <a:r>
              <a:rPr lang="en-US" sz="2400" dirty="0"/>
              <a:t>Results(Insights)</a:t>
            </a:r>
            <a:endParaRPr lang="en-CA" sz="2400" dirty="0"/>
          </a:p>
        </p:txBody>
      </p:sp>
      <p:sp>
        <p:nvSpPr>
          <p:cNvPr id="5" name="TextBox 4">
            <a:extLst>
              <a:ext uri="{FF2B5EF4-FFF2-40B4-BE49-F238E27FC236}">
                <a16:creationId xmlns:a16="http://schemas.microsoft.com/office/drawing/2014/main" id="{C430CE22-B8B8-E58E-E1E2-DE3DA11CEFED}"/>
              </a:ext>
            </a:extLst>
          </p:cNvPr>
          <p:cNvSpPr txBox="1"/>
          <p:nvPr/>
        </p:nvSpPr>
        <p:spPr>
          <a:xfrm>
            <a:off x="518160" y="1407224"/>
            <a:ext cx="11155680" cy="3539430"/>
          </a:xfrm>
          <a:prstGeom prst="rect">
            <a:avLst/>
          </a:prstGeom>
          <a:noFill/>
        </p:spPr>
        <p:txBody>
          <a:bodyPr wrap="square">
            <a:spAutoFit/>
          </a:bodyPr>
          <a:lstStyle/>
          <a:p>
            <a:pPr>
              <a:buNone/>
            </a:pPr>
            <a:r>
              <a:rPr lang="en-CA" sz="1600" dirty="0"/>
              <a:t>The control sample (CTRL) results show a clear improvement and substantial benefit from the TRPO→PPO multistage optimization schedule. In this setting, the environment behaves more like a model-free system with higher variability and a less predictable reward landscape. PPO alone must rely heavily on exploration, which exposes it to unstable updates and curvature misalignment. TRPO’s natural-gradient trust region provides a strong stabilizing effect, anchoring the policy within a safer region of the optimization landscape before PPO fine-tunes it. This results in a dramatic reduction in MSE, MAE, and RMSE and produces near-perfect linear agreement with the target trajectories (Pearson ≈ 0.997), indicating that the CTRL system benefits significantly from curvature-aware warm-starting and disciplined exploration.</a:t>
            </a:r>
          </a:p>
          <a:p>
            <a:pPr>
              <a:buNone/>
            </a:pPr>
            <a:r>
              <a:rPr lang="en-CA" sz="1600" dirty="0"/>
              <a:t>In contrast, the PTPN2 system shows comparable differences between PPO and TRPO→PPO. This is because PTPN2 is driven by a model-based reinforcement learning formulation, where the dynamics are already constrained by real perturbation embeddings and a biologically grounded transition model. The agent does not require extensive exploration to discover useful directions, and therefore PPO alone can already fit the structured environment effectively. As a result, TRPO contributes only incremental improvements rather than the dramatic gains observed in CTRL. The PTPN2 landscape is sharper, less stochastic, and more directed, meaning the optimization problem is closer to supervised refinement than exploratory RL. Consequently, the difference between PPO and TRPO→PPO narrows, reflecting the reduced role of exploration in a model-based setting</a:t>
            </a:r>
          </a:p>
        </p:txBody>
      </p:sp>
    </p:spTree>
    <p:extLst>
      <p:ext uri="{BB962C8B-B14F-4D97-AF65-F5344CB8AC3E}">
        <p14:creationId xmlns:p14="http://schemas.microsoft.com/office/powerpoint/2010/main" val="667457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2601B-1061-45C2-B855-532452E2233A}"/>
              </a:ext>
            </a:extLst>
          </p:cNvPr>
          <p:cNvSpPr>
            <a:spLocks noGrp="1"/>
          </p:cNvSpPr>
          <p:nvPr>
            <p:ph type="title"/>
          </p:nvPr>
        </p:nvSpPr>
        <p:spPr/>
        <p:txBody>
          <a:bodyPr>
            <a:normAutofit/>
          </a:bodyPr>
          <a:lstStyle/>
          <a:p>
            <a:r>
              <a:rPr lang="en-US" sz="2400" dirty="0"/>
              <a:t>Results(Trajectories Comparision hardware and Software)</a:t>
            </a:r>
            <a:endParaRPr lang="en-CA" sz="2400" dirty="0"/>
          </a:p>
        </p:txBody>
      </p:sp>
      <p:pic>
        <p:nvPicPr>
          <p:cNvPr id="5122" name="Picture 2">
            <a:extLst>
              <a:ext uri="{FF2B5EF4-FFF2-40B4-BE49-F238E27FC236}">
                <a16:creationId xmlns:a16="http://schemas.microsoft.com/office/drawing/2014/main" id="{08B76761-AE24-3939-18CF-2CA349BDA7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5938" y="1571625"/>
            <a:ext cx="8620125" cy="3714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28020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32995-46E5-EBD4-72B2-2A171C6A2283}"/>
              </a:ext>
            </a:extLst>
          </p:cNvPr>
          <p:cNvSpPr>
            <a:spLocks noGrp="1"/>
          </p:cNvSpPr>
          <p:nvPr>
            <p:ph type="title"/>
          </p:nvPr>
        </p:nvSpPr>
        <p:spPr>
          <a:xfrm>
            <a:off x="920496" y="203880"/>
            <a:ext cx="10515600" cy="1325563"/>
          </a:xfrm>
        </p:spPr>
        <p:txBody>
          <a:bodyPr>
            <a:normAutofit/>
          </a:bodyPr>
          <a:lstStyle/>
          <a:p>
            <a:r>
              <a:rPr lang="en-US" sz="2400" b="1" dirty="0"/>
              <a:t>Insights</a:t>
            </a:r>
            <a:endParaRPr lang="en-CA" sz="2400" b="1" dirty="0"/>
          </a:p>
        </p:txBody>
      </p:sp>
      <p:sp>
        <p:nvSpPr>
          <p:cNvPr id="5" name="TextBox 4">
            <a:extLst>
              <a:ext uri="{FF2B5EF4-FFF2-40B4-BE49-F238E27FC236}">
                <a16:creationId xmlns:a16="http://schemas.microsoft.com/office/drawing/2014/main" id="{C0C8FCEA-8C61-D44B-2925-0DA88AB013A2}"/>
              </a:ext>
            </a:extLst>
          </p:cNvPr>
          <p:cNvSpPr txBox="1"/>
          <p:nvPr/>
        </p:nvSpPr>
        <p:spPr>
          <a:xfrm>
            <a:off x="920496" y="1529443"/>
            <a:ext cx="9345168" cy="3539430"/>
          </a:xfrm>
          <a:prstGeom prst="rect">
            <a:avLst/>
          </a:prstGeom>
          <a:noFill/>
        </p:spPr>
        <p:txBody>
          <a:bodyPr wrap="square">
            <a:spAutoFit/>
          </a:bodyPr>
          <a:lstStyle/>
          <a:p>
            <a:pPr>
              <a:buNone/>
            </a:pPr>
            <a:r>
              <a:rPr lang="en-CA" sz="1600" dirty="0"/>
              <a:t>The DTW trajectory heatmap shows that PTPN2 perturbation produces structured, axis-specific shifts, with several latent dimensions (particularly around 30–45 and 70–90) exhibiting consistently high DTW distances. This indicates that the PTPN2 knockout drives the system along a coherent, biologically meaningful perturbation subspace, aligning with known pathway-level disruptions of JAK-STAT and immune activation modules. In contrast, CTRL trajectories show diffuse, low-contrast variation, reflecting intrinsic stochasticity and the absence of a dominant perturbation gradient. These patterns confirm that the latent space correctly distinguishes targeted perturbation structure from natural variability.</a:t>
            </a:r>
          </a:p>
          <a:p>
            <a:pPr>
              <a:buNone/>
            </a:pPr>
            <a:r>
              <a:rPr lang="en-CA" sz="1600" dirty="0"/>
              <a:t>Together, these observations support the interpretation that PTPN2 behaves like a lower-entropy, model-based landscape, where the perturbation imposes strong directional constraints on the trajectory. Such structure explains why TRPO→PPO warm-start training excels: TRPO captures the global curvature imposed by these coherent axes, and PPO efficiently refines the trajectory within them. Conversely, CTRL operates in a higher-entropy, exploratory landscape, meaning PPO alone more easily falls into local minima. Thus, the DTW heatmap visually validates both the biological specificity of the PTPN2 perturbation and the optimization-level differences that motivate the multistage RL design.</a:t>
            </a:r>
          </a:p>
        </p:txBody>
      </p:sp>
    </p:spTree>
    <p:extLst>
      <p:ext uri="{BB962C8B-B14F-4D97-AF65-F5344CB8AC3E}">
        <p14:creationId xmlns:p14="http://schemas.microsoft.com/office/powerpoint/2010/main" val="13828042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9FBB0-498C-B80D-9C69-D7EDCC2FDB47}"/>
              </a:ext>
            </a:extLst>
          </p:cNvPr>
          <p:cNvSpPr>
            <a:spLocks noGrp="1"/>
          </p:cNvSpPr>
          <p:nvPr>
            <p:ph type="title"/>
          </p:nvPr>
        </p:nvSpPr>
        <p:spPr>
          <a:xfrm>
            <a:off x="765048" y="193143"/>
            <a:ext cx="10515600" cy="530757"/>
          </a:xfrm>
        </p:spPr>
        <p:txBody>
          <a:bodyPr>
            <a:normAutofit/>
          </a:bodyPr>
          <a:lstStyle/>
          <a:p>
            <a:r>
              <a:rPr lang="en-US" sz="2400" dirty="0"/>
              <a:t>Results(Trajectories Comparision hardware and Software)</a:t>
            </a:r>
            <a:endParaRPr lang="en-CA" sz="2400" dirty="0"/>
          </a:p>
        </p:txBody>
      </p:sp>
      <p:sp>
        <p:nvSpPr>
          <p:cNvPr id="5" name="TextBox 4">
            <a:extLst>
              <a:ext uri="{FF2B5EF4-FFF2-40B4-BE49-F238E27FC236}">
                <a16:creationId xmlns:a16="http://schemas.microsoft.com/office/drawing/2014/main" id="{9D7320E7-E3BD-731F-EA3A-474A1FA65BA5}"/>
              </a:ext>
            </a:extLst>
          </p:cNvPr>
          <p:cNvSpPr txBox="1"/>
          <p:nvPr/>
        </p:nvSpPr>
        <p:spPr>
          <a:xfrm>
            <a:off x="643128" y="3429000"/>
            <a:ext cx="11548872" cy="3046988"/>
          </a:xfrm>
          <a:prstGeom prst="rect">
            <a:avLst/>
          </a:prstGeom>
          <a:noFill/>
        </p:spPr>
        <p:txBody>
          <a:bodyPr wrap="square">
            <a:spAutoFit/>
          </a:bodyPr>
          <a:lstStyle/>
          <a:p>
            <a:pPr>
              <a:buNone/>
            </a:pPr>
            <a:r>
              <a:rPr lang="en-CA" sz="1600" dirty="0"/>
              <a:t>This plot visualizes bidirectional Wasserstein distances between the CTRL and PTPN2 trajectory distributions across latent space, essentially measuring how far one system’s trajectory distribution must be “transported” to match the other. The symmetry in the graph where the CTRL to PTPN2 and PTPN2 to CTRL distances mirror each other confirms that the latent dynamics between the two systems differ in magnitude and curvature, but not in an asymmetric or one-sided way. In other words, each system occupies its own distinct region of the latent landscape, and transitioning from one to the other requires non-trivial mass transport, reflecting meaningful biological and dynamical differences.</a:t>
            </a:r>
          </a:p>
          <a:p>
            <a:pPr>
              <a:buNone/>
            </a:pPr>
            <a:r>
              <a:rPr lang="en-CA" sz="1600" dirty="0"/>
              <a:t>The overall magnitude of the Wasserstein distances shows that PTPN2 trajectories are more compact and structured, while CTRL trajectories are more dispersed. This aligns with your model-based interpretation: PTPN2 imposes strong directional constraints—lower entropy, reduced exploration whereas CTRL reflects a more open, high-entropy landscape. The bidirectional plot reinforces that these differences are robust and not artifacts of the RL path direction. In practical terms, this suggests that PTPN2 perturbation drives cells into a distinct using the model based approach, tightly organized manifold, while CTRL cells explore a broader, less restricted region of state space using model free approach.</a:t>
            </a:r>
          </a:p>
        </p:txBody>
      </p:sp>
      <p:graphicFrame>
        <p:nvGraphicFramePr>
          <p:cNvPr id="6" name="Table 5">
            <a:extLst>
              <a:ext uri="{FF2B5EF4-FFF2-40B4-BE49-F238E27FC236}">
                <a16:creationId xmlns:a16="http://schemas.microsoft.com/office/drawing/2014/main" id="{35A9D0B9-1A51-6321-AC0D-E90EB1C7577F}"/>
              </a:ext>
            </a:extLst>
          </p:cNvPr>
          <p:cNvGraphicFramePr>
            <a:graphicFrameLocks noGrp="1"/>
          </p:cNvGraphicFramePr>
          <p:nvPr>
            <p:extLst>
              <p:ext uri="{D42A27DB-BD31-4B8C-83A1-F6EECF244321}">
                <p14:modId xmlns:p14="http://schemas.microsoft.com/office/powerpoint/2010/main" val="2464292590"/>
              </p:ext>
            </p:extLst>
          </p:nvPr>
        </p:nvGraphicFramePr>
        <p:xfrm>
          <a:off x="1003173" y="1162050"/>
          <a:ext cx="10515600" cy="1828800"/>
        </p:xfrm>
        <a:graphic>
          <a:graphicData uri="http://schemas.openxmlformats.org/drawingml/2006/table">
            <a:tbl>
              <a:tblPr/>
              <a:tblGrid>
                <a:gridCol w="2628900">
                  <a:extLst>
                    <a:ext uri="{9D8B030D-6E8A-4147-A177-3AD203B41FA5}">
                      <a16:colId xmlns:a16="http://schemas.microsoft.com/office/drawing/2014/main" val="2201055357"/>
                    </a:ext>
                  </a:extLst>
                </a:gridCol>
                <a:gridCol w="2628900">
                  <a:extLst>
                    <a:ext uri="{9D8B030D-6E8A-4147-A177-3AD203B41FA5}">
                      <a16:colId xmlns:a16="http://schemas.microsoft.com/office/drawing/2014/main" val="1576787890"/>
                    </a:ext>
                  </a:extLst>
                </a:gridCol>
                <a:gridCol w="2628900">
                  <a:extLst>
                    <a:ext uri="{9D8B030D-6E8A-4147-A177-3AD203B41FA5}">
                      <a16:colId xmlns:a16="http://schemas.microsoft.com/office/drawing/2014/main" val="2002103820"/>
                    </a:ext>
                  </a:extLst>
                </a:gridCol>
                <a:gridCol w="2628900">
                  <a:extLst>
                    <a:ext uri="{9D8B030D-6E8A-4147-A177-3AD203B41FA5}">
                      <a16:colId xmlns:a16="http://schemas.microsoft.com/office/drawing/2014/main" val="843929939"/>
                    </a:ext>
                  </a:extLst>
                </a:gridCol>
              </a:tblGrid>
              <a:tr h="0">
                <a:tc>
                  <a:txBody>
                    <a:bodyPr/>
                    <a:lstStyle/>
                    <a:p>
                      <a:pPr>
                        <a:buNone/>
                      </a:pPr>
                      <a:r>
                        <a:rPr lang="en-CA"/>
                        <a:t>System</a:t>
                      </a:r>
                    </a:p>
                  </a:txBody>
                  <a:tcPr anchor="ctr">
                    <a:lnL>
                      <a:noFill/>
                    </a:lnL>
                    <a:lnR>
                      <a:noFill/>
                    </a:lnR>
                    <a:lnT>
                      <a:noFill/>
                    </a:lnT>
                    <a:lnB>
                      <a:noFill/>
                    </a:lnB>
                    <a:noFill/>
                  </a:tcPr>
                </a:tc>
                <a:tc>
                  <a:txBody>
                    <a:bodyPr/>
                    <a:lstStyle/>
                    <a:p>
                      <a:pPr>
                        <a:buNone/>
                      </a:pPr>
                      <a:r>
                        <a:rPr lang="en-CA" dirty="0"/>
                        <a:t>Algorithm</a:t>
                      </a:r>
                    </a:p>
                  </a:txBody>
                  <a:tcPr anchor="ctr">
                    <a:lnL>
                      <a:noFill/>
                    </a:lnL>
                    <a:lnR>
                      <a:noFill/>
                    </a:lnR>
                    <a:lnT>
                      <a:noFill/>
                    </a:lnT>
                    <a:lnB>
                      <a:noFill/>
                    </a:lnB>
                    <a:noFill/>
                  </a:tcPr>
                </a:tc>
                <a:tc>
                  <a:txBody>
                    <a:bodyPr/>
                    <a:lstStyle/>
                    <a:p>
                      <a:pPr>
                        <a:buNone/>
                      </a:pPr>
                      <a:r>
                        <a:rPr lang="en-CA"/>
                        <a:t>DTW</a:t>
                      </a:r>
                    </a:p>
                  </a:txBody>
                  <a:tcPr anchor="ctr">
                    <a:lnL>
                      <a:noFill/>
                    </a:lnL>
                    <a:lnR>
                      <a:noFill/>
                    </a:lnR>
                    <a:lnT>
                      <a:noFill/>
                    </a:lnT>
                    <a:lnB>
                      <a:noFill/>
                    </a:lnB>
                    <a:noFill/>
                  </a:tcPr>
                </a:tc>
                <a:tc>
                  <a:txBody>
                    <a:bodyPr/>
                    <a:lstStyle/>
                    <a:p>
                      <a:pPr>
                        <a:buNone/>
                      </a:pPr>
                      <a:r>
                        <a:rPr lang="en-CA"/>
                        <a:t>Wasserstein</a:t>
                      </a:r>
                    </a:p>
                  </a:txBody>
                  <a:tcPr anchor="ctr">
                    <a:lnL>
                      <a:noFill/>
                    </a:lnL>
                    <a:lnR>
                      <a:noFill/>
                    </a:lnR>
                    <a:lnT>
                      <a:noFill/>
                    </a:lnT>
                    <a:lnB>
                      <a:noFill/>
                    </a:lnB>
                    <a:noFill/>
                  </a:tcPr>
                </a:tc>
                <a:extLst>
                  <a:ext uri="{0D108BD9-81ED-4DB2-BD59-A6C34878D82A}">
                    <a16:rowId xmlns:a16="http://schemas.microsoft.com/office/drawing/2014/main" val="1377964396"/>
                  </a:ext>
                </a:extLst>
              </a:tr>
              <a:tr h="0">
                <a:tc>
                  <a:txBody>
                    <a:bodyPr/>
                    <a:lstStyle/>
                    <a:p>
                      <a:pPr>
                        <a:buNone/>
                      </a:pPr>
                      <a:r>
                        <a:rPr lang="en-CA"/>
                        <a:t>CTRL</a:t>
                      </a:r>
                    </a:p>
                  </a:txBody>
                  <a:tcPr anchor="ctr">
                    <a:lnL>
                      <a:noFill/>
                    </a:lnL>
                    <a:lnR>
                      <a:noFill/>
                    </a:lnR>
                    <a:lnT>
                      <a:noFill/>
                    </a:lnT>
                    <a:lnB>
                      <a:noFill/>
                    </a:lnB>
                    <a:noFill/>
                  </a:tcPr>
                </a:tc>
                <a:tc>
                  <a:txBody>
                    <a:bodyPr/>
                    <a:lstStyle/>
                    <a:p>
                      <a:pPr>
                        <a:buNone/>
                      </a:pPr>
                      <a:r>
                        <a:rPr lang="en-CA"/>
                        <a:t>PPO</a:t>
                      </a:r>
                    </a:p>
                  </a:txBody>
                  <a:tcPr anchor="ctr">
                    <a:lnL>
                      <a:noFill/>
                    </a:lnL>
                    <a:lnR>
                      <a:noFill/>
                    </a:lnR>
                    <a:lnT>
                      <a:noFill/>
                    </a:lnT>
                    <a:lnB>
                      <a:noFill/>
                    </a:lnB>
                    <a:noFill/>
                  </a:tcPr>
                </a:tc>
                <a:tc>
                  <a:txBody>
                    <a:bodyPr/>
                    <a:lstStyle/>
                    <a:p>
                      <a:pPr>
                        <a:buNone/>
                      </a:pPr>
                      <a:r>
                        <a:rPr lang="en-CA"/>
                        <a:t>0.935</a:t>
                      </a:r>
                    </a:p>
                  </a:txBody>
                  <a:tcPr anchor="ctr">
                    <a:lnL>
                      <a:noFill/>
                    </a:lnL>
                    <a:lnR>
                      <a:noFill/>
                    </a:lnR>
                    <a:lnT>
                      <a:noFill/>
                    </a:lnT>
                    <a:lnB>
                      <a:noFill/>
                    </a:lnB>
                    <a:noFill/>
                  </a:tcPr>
                </a:tc>
                <a:tc>
                  <a:txBody>
                    <a:bodyPr/>
                    <a:lstStyle/>
                    <a:p>
                      <a:pPr>
                        <a:buNone/>
                      </a:pPr>
                      <a:r>
                        <a:rPr lang="en-CA"/>
                        <a:t>0.362</a:t>
                      </a:r>
                    </a:p>
                  </a:txBody>
                  <a:tcPr anchor="ctr">
                    <a:lnL>
                      <a:noFill/>
                    </a:lnL>
                    <a:lnR>
                      <a:noFill/>
                    </a:lnR>
                    <a:lnT>
                      <a:noFill/>
                    </a:lnT>
                    <a:lnB>
                      <a:noFill/>
                    </a:lnB>
                    <a:noFill/>
                  </a:tcPr>
                </a:tc>
                <a:extLst>
                  <a:ext uri="{0D108BD9-81ED-4DB2-BD59-A6C34878D82A}">
                    <a16:rowId xmlns:a16="http://schemas.microsoft.com/office/drawing/2014/main" val="1471995102"/>
                  </a:ext>
                </a:extLst>
              </a:tr>
              <a:tr h="0">
                <a:tc>
                  <a:txBody>
                    <a:bodyPr/>
                    <a:lstStyle/>
                    <a:p>
                      <a:pPr>
                        <a:buNone/>
                      </a:pPr>
                      <a:r>
                        <a:rPr lang="en-CA" dirty="0"/>
                        <a:t>CTRL</a:t>
                      </a:r>
                    </a:p>
                  </a:txBody>
                  <a:tcPr anchor="ctr">
                    <a:lnL>
                      <a:noFill/>
                    </a:lnL>
                    <a:lnR>
                      <a:noFill/>
                    </a:lnR>
                    <a:lnT>
                      <a:noFill/>
                    </a:lnT>
                    <a:lnB>
                      <a:noFill/>
                    </a:lnB>
                    <a:noFill/>
                  </a:tcPr>
                </a:tc>
                <a:tc>
                  <a:txBody>
                    <a:bodyPr/>
                    <a:lstStyle/>
                    <a:p>
                      <a:pPr>
                        <a:buNone/>
                      </a:pPr>
                      <a:r>
                        <a:rPr lang="en-CA"/>
                        <a:t>TRPO→PPO</a:t>
                      </a:r>
                    </a:p>
                  </a:txBody>
                  <a:tcPr anchor="ctr">
                    <a:lnL>
                      <a:noFill/>
                    </a:lnL>
                    <a:lnR>
                      <a:noFill/>
                    </a:lnR>
                    <a:lnT>
                      <a:noFill/>
                    </a:lnT>
                    <a:lnB>
                      <a:noFill/>
                    </a:lnB>
                    <a:noFill/>
                  </a:tcPr>
                </a:tc>
                <a:tc>
                  <a:txBody>
                    <a:bodyPr/>
                    <a:lstStyle/>
                    <a:p>
                      <a:pPr>
                        <a:buNone/>
                      </a:pPr>
                      <a:r>
                        <a:rPr lang="en-CA"/>
                        <a:t>0.872</a:t>
                      </a:r>
                    </a:p>
                  </a:txBody>
                  <a:tcPr anchor="ctr">
                    <a:lnL>
                      <a:noFill/>
                    </a:lnL>
                    <a:lnR>
                      <a:noFill/>
                    </a:lnR>
                    <a:lnT>
                      <a:noFill/>
                    </a:lnT>
                    <a:lnB>
                      <a:noFill/>
                    </a:lnB>
                    <a:noFill/>
                  </a:tcPr>
                </a:tc>
                <a:tc>
                  <a:txBody>
                    <a:bodyPr/>
                    <a:lstStyle/>
                    <a:p>
                      <a:pPr>
                        <a:buNone/>
                      </a:pPr>
                      <a:r>
                        <a:rPr lang="en-CA"/>
                        <a:t>0.432</a:t>
                      </a:r>
                    </a:p>
                  </a:txBody>
                  <a:tcPr anchor="ctr">
                    <a:lnL>
                      <a:noFill/>
                    </a:lnL>
                    <a:lnR>
                      <a:noFill/>
                    </a:lnR>
                    <a:lnT>
                      <a:noFill/>
                    </a:lnT>
                    <a:lnB>
                      <a:noFill/>
                    </a:lnB>
                    <a:noFill/>
                  </a:tcPr>
                </a:tc>
                <a:extLst>
                  <a:ext uri="{0D108BD9-81ED-4DB2-BD59-A6C34878D82A}">
                    <a16:rowId xmlns:a16="http://schemas.microsoft.com/office/drawing/2014/main" val="2052915524"/>
                  </a:ext>
                </a:extLst>
              </a:tr>
              <a:tr h="0">
                <a:tc>
                  <a:txBody>
                    <a:bodyPr/>
                    <a:lstStyle/>
                    <a:p>
                      <a:pPr>
                        <a:buNone/>
                      </a:pPr>
                      <a:r>
                        <a:rPr lang="en-CA"/>
                        <a:t>PTPN2</a:t>
                      </a:r>
                    </a:p>
                  </a:txBody>
                  <a:tcPr anchor="ctr">
                    <a:lnL>
                      <a:noFill/>
                    </a:lnL>
                    <a:lnR>
                      <a:noFill/>
                    </a:lnR>
                    <a:lnT>
                      <a:noFill/>
                    </a:lnT>
                    <a:lnB>
                      <a:noFill/>
                    </a:lnB>
                    <a:noFill/>
                  </a:tcPr>
                </a:tc>
                <a:tc>
                  <a:txBody>
                    <a:bodyPr/>
                    <a:lstStyle/>
                    <a:p>
                      <a:pPr>
                        <a:buNone/>
                      </a:pPr>
                      <a:r>
                        <a:rPr lang="en-CA"/>
                        <a:t>PPO</a:t>
                      </a:r>
                    </a:p>
                  </a:txBody>
                  <a:tcPr anchor="ctr">
                    <a:lnL>
                      <a:noFill/>
                    </a:lnL>
                    <a:lnR>
                      <a:noFill/>
                    </a:lnR>
                    <a:lnT>
                      <a:noFill/>
                    </a:lnT>
                    <a:lnB>
                      <a:noFill/>
                    </a:lnB>
                    <a:noFill/>
                  </a:tcPr>
                </a:tc>
                <a:tc>
                  <a:txBody>
                    <a:bodyPr/>
                    <a:lstStyle/>
                    <a:p>
                      <a:pPr>
                        <a:buNone/>
                      </a:pPr>
                      <a:r>
                        <a:rPr lang="en-CA"/>
                        <a:t>0.961</a:t>
                      </a:r>
                    </a:p>
                  </a:txBody>
                  <a:tcPr anchor="ctr">
                    <a:lnL>
                      <a:noFill/>
                    </a:lnL>
                    <a:lnR>
                      <a:noFill/>
                    </a:lnR>
                    <a:lnT>
                      <a:noFill/>
                    </a:lnT>
                    <a:lnB>
                      <a:noFill/>
                    </a:lnB>
                    <a:noFill/>
                  </a:tcPr>
                </a:tc>
                <a:tc>
                  <a:txBody>
                    <a:bodyPr/>
                    <a:lstStyle/>
                    <a:p>
                      <a:pPr>
                        <a:buNone/>
                      </a:pPr>
                      <a:r>
                        <a:rPr lang="en-CA"/>
                        <a:t>0.480</a:t>
                      </a:r>
                    </a:p>
                  </a:txBody>
                  <a:tcPr anchor="ctr">
                    <a:lnL>
                      <a:noFill/>
                    </a:lnL>
                    <a:lnR>
                      <a:noFill/>
                    </a:lnR>
                    <a:lnT>
                      <a:noFill/>
                    </a:lnT>
                    <a:lnB>
                      <a:noFill/>
                    </a:lnB>
                    <a:noFill/>
                  </a:tcPr>
                </a:tc>
                <a:extLst>
                  <a:ext uri="{0D108BD9-81ED-4DB2-BD59-A6C34878D82A}">
                    <a16:rowId xmlns:a16="http://schemas.microsoft.com/office/drawing/2014/main" val="2179572682"/>
                  </a:ext>
                </a:extLst>
              </a:tr>
              <a:tr h="0">
                <a:tc>
                  <a:txBody>
                    <a:bodyPr/>
                    <a:lstStyle/>
                    <a:p>
                      <a:pPr>
                        <a:buNone/>
                      </a:pPr>
                      <a:r>
                        <a:rPr lang="en-CA"/>
                        <a:t>PTPN2</a:t>
                      </a:r>
                    </a:p>
                  </a:txBody>
                  <a:tcPr anchor="ctr">
                    <a:lnL>
                      <a:noFill/>
                    </a:lnL>
                    <a:lnR>
                      <a:noFill/>
                    </a:lnR>
                    <a:lnT>
                      <a:noFill/>
                    </a:lnT>
                    <a:lnB>
                      <a:noFill/>
                    </a:lnB>
                    <a:noFill/>
                  </a:tcPr>
                </a:tc>
                <a:tc>
                  <a:txBody>
                    <a:bodyPr/>
                    <a:lstStyle/>
                    <a:p>
                      <a:pPr>
                        <a:buNone/>
                      </a:pPr>
                      <a:r>
                        <a:rPr lang="en-CA"/>
                        <a:t>TRPO→PPO</a:t>
                      </a:r>
                    </a:p>
                  </a:txBody>
                  <a:tcPr anchor="ctr">
                    <a:lnL>
                      <a:noFill/>
                    </a:lnL>
                    <a:lnR>
                      <a:noFill/>
                    </a:lnR>
                    <a:lnT>
                      <a:noFill/>
                    </a:lnT>
                    <a:lnB>
                      <a:noFill/>
                    </a:lnB>
                    <a:noFill/>
                  </a:tcPr>
                </a:tc>
                <a:tc>
                  <a:txBody>
                    <a:bodyPr/>
                    <a:lstStyle/>
                    <a:p>
                      <a:pPr>
                        <a:buNone/>
                      </a:pPr>
                      <a:r>
                        <a:rPr lang="en-CA"/>
                        <a:t>1.180</a:t>
                      </a:r>
                    </a:p>
                  </a:txBody>
                  <a:tcPr anchor="ctr">
                    <a:lnL>
                      <a:noFill/>
                    </a:lnL>
                    <a:lnR>
                      <a:noFill/>
                    </a:lnR>
                    <a:lnT>
                      <a:noFill/>
                    </a:lnT>
                    <a:lnB>
                      <a:noFill/>
                    </a:lnB>
                    <a:noFill/>
                  </a:tcPr>
                </a:tc>
                <a:tc>
                  <a:txBody>
                    <a:bodyPr/>
                    <a:lstStyle/>
                    <a:p>
                      <a:pPr>
                        <a:buNone/>
                      </a:pPr>
                      <a:r>
                        <a:rPr lang="en-CA" dirty="0"/>
                        <a:t>0.590</a:t>
                      </a:r>
                    </a:p>
                  </a:txBody>
                  <a:tcPr anchor="ctr">
                    <a:lnL>
                      <a:noFill/>
                    </a:lnL>
                    <a:lnR>
                      <a:noFill/>
                    </a:lnR>
                    <a:lnT>
                      <a:noFill/>
                    </a:lnT>
                    <a:lnB>
                      <a:noFill/>
                    </a:lnB>
                    <a:noFill/>
                  </a:tcPr>
                </a:tc>
                <a:extLst>
                  <a:ext uri="{0D108BD9-81ED-4DB2-BD59-A6C34878D82A}">
                    <a16:rowId xmlns:a16="http://schemas.microsoft.com/office/drawing/2014/main" val="579702080"/>
                  </a:ext>
                </a:extLst>
              </a:tr>
            </a:tbl>
          </a:graphicData>
        </a:graphic>
      </p:graphicFrame>
    </p:spTree>
    <p:extLst>
      <p:ext uri="{BB962C8B-B14F-4D97-AF65-F5344CB8AC3E}">
        <p14:creationId xmlns:p14="http://schemas.microsoft.com/office/powerpoint/2010/main" val="36440130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3A127-1CD4-63DA-FB9A-9AA3FF65CD6F}"/>
              </a:ext>
            </a:extLst>
          </p:cNvPr>
          <p:cNvSpPr>
            <a:spLocks noGrp="1"/>
          </p:cNvSpPr>
          <p:nvPr>
            <p:ph type="title"/>
          </p:nvPr>
        </p:nvSpPr>
        <p:spPr/>
        <p:txBody>
          <a:bodyPr>
            <a:normAutofit/>
          </a:bodyPr>
          <a:lstStyle/>
          <a:p>
            <a:r>
              <a:rPr lang="en-US" sz="2400" b="1" dirty="0"/>
              <a:t>Results</a:t>
            </a:r>
            <a:endParaRPr lang="en-CA" sz="2400" b="1" dirty="0"/>
          </a:p>
        </p:txBody>
      </p:sp>
      <p:pic>
        <p:nvPicPr>
          <p:cNvPr id="6146" name="Picture 2">
            <a:extLst>
              <a:ext uri="{FF2B5EF4-FFF2-40B4-BE49-F238E27FC236}">
                <a16:creationId xmlns:a16="http://schemas.microsoft.com/office/drawing/2014/main" id="{B43FEB0E-E105-2866-3B9E-46F4185567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7581" y="1504950"/>
            <a:ext cx="7716837" cy="489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40233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A55C8-E5AD-078E-65D0-19D0ABF5C6DB}"/>
              </a:ext>
            </a:extLst>
          </p:cNvPr>
          <p:cNvSpPr>
            <a:spLocks noGrp="1"/>
          </p:cNvSpPr>
          <p:nvPr>
            <p:ph type="title"/>
          </p:nvPr>
        </p:nvSpPr>
        <p:spPr>
          <a:xfrm>
            <a:off x="646176" y="414193"/>
            <a:ext cx="10515600" cy="829392"/>
          </a:xfrm>
        </p:spPr>
        <p:txBody>
          <a:bodyPr>
            <a:normAutofit/>
          </a:bodyPr>
          <a:lstStyle/>
          <a:p>
            <a:r>
              <a:rPr lang="en-US" sz="2400" b="1" dirty="0"/>
              <a:t>Insights</a:t>
            </a:r>
            <a:endParaRPr lang="en-CA" sz="2400" b="1" dirty="0"/>
          </a:p>
        </p:txBody>
      </p:sp>
      <p:sp>
        <p:nvSpPr>
          <p:cNvPr id="5" name="TextBox 4">
            <a:extLst>
              <a:ext uri="{FF2B5EF4-FFF2-40B4-BE49-F238E27FC236}">
                <a16:creationId xmlns:a16="http://schemas.microsoft.com/office/drawing/2014/main" id="{5F3A8EF0-388A-E9FC-8D68-4FC45B862C32}"/>
              </a:ext>
            </a:extLst>
          </p:cNvPr>
          <p:cNvSpPr txBox="1"/>
          <p:nvPr/>
        </p:nvSpPr>
        <p:spPr>
          <a:xfrm>
            <a:off x="646176" y="1884968"/>
            <a:ext cx="9921240" cy="3539430"/>
          </a:xfrm>
          <a:prstGeom prst="rect">
            <a:avLst/>
          </a:prstGeom>
          <a:noFill/>
        </p:spPr>
        <p:txBody>
          <a:bodyPr wrap="square">
            <a:spAutoFit/>
          </a:bodyPr>
          <a:lstStyle/>
          <a:p>
            <a:pPr>
              <a:buNone/>
            </a:pPr>
            <a:r>
              <a:rPr lang="en-CA" sz="1600" dirty="0">
                <a:cs typeface="Times New Roman" panose="02020603050405020304" pitchFamily="18" charset="0"/>
              </a:rPr>
              <a:t>The unified latent-space plot shows that real CTRL/PTPN2 cells and the RL-simulated trajectories occupy the same underlying manifold, indicating that the TRPO→PPO agent successfully learns biologically valid transition dynamics. Simulated CTRL trajectories remain tightly clustered within the natural CTRL basin, matching the compact, low-entropy structure of the real data. Simulated PTPN2 trajectories extend into the broader, more heterogeneous region characteristic of real PTPN2 cells, demonstrating that the RL model captures both the direction and variability of the perturbation-induced shift. The close overlap between real and simulated points confirms that the RL dynamics respect the geometry of the learned single-cell embedding.</a:t>
            </a:r>
          </a:p>
          <a:p>
            <a:pPr>
              <a:buNone/>
            </a:pPr>
            <a:r>
              <a:rPr lang="en-CA" sz="1600" dirty="0">
                <a:cs typeface="Times New Roman" panose="02020603050405020304" pitchFamily="18" charset="0"/>
              </a:rPr>
              <a:t>At the perturbation level, the visualization reveals that PTPN2 knockout expands the latent manifold, producing greater spread along both principal component (PC1) and PC2 consistent with increased transcriptional variability and activation-associated remodeling. CTRL cells, in contrast, remain confined to a stable, narrow attractor region. The fact that TRPO→PPO trajectories align cleanly with these biological patterns indicates that the multistage RL strategy not only models point-to-point transitions but faithfully reconstructs the global shape of the perturbation landscape. This validates your model-based interpretation: CTRL reflects a stable, low-variance landscape, while PTPN2 responds with structured but dispersed state transitions that the RL pipeline accurately recovers.</a:t>
            </a:r>
          </a:p>
        </p:txBody>
      </p:sp>
    </p:spTree>
    <p:extLst>
      <p:ext uri="{BB962C8B-B14F-4D97-AF65-F5344CB8AC3E}">
        <p14:creationId xmlns:p14="http://schemas.microsoft.com/office/powerpoint/2010/main" val="30521077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064F3-7FBD-DCBF-15DA-324B411D31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832E5C-71B0-B39C-6C33-2F532D2C28E4}"/>
              </a:ext>
            </a:extLst>
          </p:cNvPr>
          <p:cNvSpPr>
            <a:spLocks noGrp="1"/>
          </p:cNvSpPr>
          <p:nvPr>
            <p:ph type="title"/>
          </p:nvPr>
        </p:nvSpPr>
        <p:spPr>
          <a:xfrm>
            <a:off x="1472184" y="2103437"/>
            <a:ext cx="9390888" cy="1325563"/>
          </a:xfrm>
        </p:spPr>
        <p:txBody>
          <a:bodyPr>
            <a:normAutofit/>
          </a:bodyPr>
          <a:lstStyle/>
          <a:p>
            <a:r>
              <a:rPr lang="en-US" dirty="0"/>
              <a:t>          Drug Development</a:t>
            </a:r>
            <a:endParaRPr lang="en-CA" dirty="0"/>
          </a:p>
        </p:txBody>
      </p:sp>
    </p:spTree>
    <p:extLst>
      <p:ext uri="{BB962C8B-B14F-4D97-AF65-F5344CB8AC3E}">
        <p14:creationId xmlns:p14="http://schemas.microsoft.com/office/powerpoint/2010/main" val="34126545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E7864-FC9E-5CFD-BA24-56E200960EEE}"/>
              </a:ext>
            </a:extLst>
          </p:cNvPr>
          <p:cNvSpPr>
            <a:spLocks noGrp="1"/>
          </p:cNvSpPr>
          <p:nvPr>
            <p:ph type="title"/>
          </p:nvPr>
        </p:nvSpPr>
        <p:spPr>
          <a:xfrm>
            <a:off x="838200" y="529717"/>
            <a:ext cx="10046208" cy="649859"/>
          </a:xfrm>
        </p:spPr>
        <p:txBody>
          <a:bodyPr>
            <a:normAutofit/>
          </a:bodyPr>
          <a:lstStyle/>
          <a:p>
            <a:r>
              <a:rPr lang="en-US" sz="2400" b="1" dirty="0"/>
              <a:t>Dataset and Link to Evaluation Code</a:t>
            </a:r>
            <a:endParaRPr lang="en-CA" sz="2400" b="1" dirty="0"/>
          </a:p>
        </p:txBody>
      </p:sp>
      <p:sp>
        <p:nvSpPr>
          <p:cNvPr id="3" name="Content Placeholder 2">
            <a:extLst>
              <a:ext uri="{FF2B5EF4-FFF2-40B4-BE49-F238E27FC236}">
                <a16:creationId xmlns:a16="http://schemas.microsoft.com/office/drawing/2014/main" id="{AB8F849B-AD7A-66D7-5D1B-9202504483FC}"/>
              </a:ext>
            </a:extLst>
          </p:cNvPr>
          <p:cNvSpPr>
            <a:spLocks noGrp="1"/>
          </p:cNvSpPr>
          <p:nvPr>
            <p:ph idx="1"/>
          </p:nvPr>
        </p:nvSpPr>
        <p:spPr>
          <a:xfrm>
            <a:off x="902208" y="1505585"/>
            <a:ext cx="10515600" cy="4351338"/>
          </a:xfrm>
        </p:spPr>
        <p:txBody>
          <a:bodyPr>
            <a:normAutofit/>
          </a:bodyPr>
          <a:lstStyle/>
          <a:p>
            <a:r>
              <a:rPr lang="en-CA" sz="1600" b="1" dirty="0"/>
              <a:t>Drug treatment in Mouse (Double Perturbation)</a:t>
            </a:r>
          </a:p>
          <a:p>
            <a:endParaRPr lang="en-CA" sz="1600" dirty="0"/>
          </a:p>
          <a:p>
            <a:r>
              <a:rPr lang="en-CA" sz="1600" dirty="0"/>
              <a:t>Anti–PD-1 → blocks PD-1/PD-L1 suppressive axis</a:t>
            </a:r>
          </a:p>
          <a:p>
            <a:endParaRPr lang="en-CA" sz="1600" dirty="0"/>
          </a:p>
          <a:p>
            <a:r>
              <a:rPr lang="en-CA" sz="1600" dirty="0"/>
              <a:t>Anti–CTLA-4 → blocks regulatory checkpoints &amp; enhances T cell priming</a:t>
            </a:r>
          </a:p>
          <a:p>
            <a:endParaRPr lang="en-CA" sz="1600" dirty="0"/>
          </a:p>
          <a:p>
            <a:r>
              <a:rPr lang="en-CA" sz="1600" dirty="0"/>
              <a:t>Link to Code: </a:t>
            </a:r>
            <a:r>
              <a:rPr lang="en-CA" sz="1600" u="sng" dirty="0">
                <a:hlinkClick r:id="rId2"/>
              </a:rPr>
              <a:t>https://colab.research.google.com/drive/1UoPEKODPjZeQ2BuGoC5iFKkUqwlj3bkm?usp=sharing</a:t>
            </a:r>
            <a:endParaRPr lang="en-CA" sz="1600" u="sng" dirty="0"/>
          </a:p>
          <a:p>
            <a:r>
              <a:rPr lang="en-CA" sz="1600" b="1" dirty="0" err="1"/>
              <a:t>Github</a:t>
            </a:r>
            <a:r>
              <a:rPr lang="en-CA" sz="1600" b="1" dirty="0"/>
              <a:t>: </a:t>
            </a:r>
          </a:p>
          <a:p>
            <a:pPr marL="0" indent="0">
              <a:buNone/>
            </a:pPr>
            <a:r>
              <a:rPr lang="en-CA" sz="1600" dirty="0"/>
              <a:t>https://github.com/boabangf/GNN_RL_gene_trajectory_perturbation/blob/main/Drug%20Development/drug_development.ipynb</a:t>
            </a:r>
          </a:p>
          <a:p>
            <a:pPr marL="0" indent="0">
              <a:buNone/>
            </a:pPr>
            <a:r>
              <a:rPr lang="en-CA" sz="1600" b="1" dirty="0"/>
              <a:t>Dataset</a:t>
            </a:r>
          </a:p>
          <a:p>
            <a:r>
              <a:rPr lang="en-CA" sz="1600" b="1" u="sng" dirty="0">
                <a:hlinkClick r:id="rId3"/>
              </a:rPr>
              <a:t>https://www.ncbi.nlm.nih.gov/geo/query/acc.cgi?acc=GSE119352</a:t>
            </a:r>
            <a:endParaRPr lang="en-CA" sz="1600" dirty="0"/>
          </a:p>
          <a:p>
            <a:pPr marL="0" indent="0">
              <a:buNone/>
            </a:pPr>
            <a:endParaRPr lang="en-CA" sz="1600" dirty="0"/>
          </a:p>
          <a:p>
            <a:pPr marL="0" indent="0">
              <a:buNone/>
            </a:pPr>
            <a:endParaRPr lang="en-CA" sz="1600" dirty="0"/>
          </a:p>
        </p:txBody>
      </p:sp>
      <p:graphicFrame>
        <p:nvGraphicFramePr>
          <p:cNvPr id="4" name="Table 3">
            <a:extLst>
              <a:ext uri="{FF2B5EF4-FFF2-40B4-BE49-F238E27FC236}">
                <a16:creationId xmlns:a16="http://schemas.microsoft.com/office/drawing/2014/main" id="{95C04D88-FBCC-845D-F882-CD9B9C35CA70}"/>
              </a:ext>
            </a:extLst>
          </p:cNvPr>
          <p:cNvGraphicFramePr>
            <a:graphicFrameLocks noGrp="1"/>
          </p:cNvGraphicFramePr>
          <p:nvPr>
            <p:extLst>
              <p:ext uri="{D42A27DB-BD31-4B8C-83A1-F6EECF244321}">
                <p14:modId xmlns:p14="http://schemas.microsoft.com/office/powerpoint/2010/main" val="1685611038"/>
              </p:ext>
            </p:extLst>
          </p:nvPr>
        </p:nvGraphicFramePr>
        <p:xfrm>
          <a:off x="978408" y="6057773"/>
          <a:ext cx="9381744" cy="541020"/>
        </p:xfrm>
        <a:graphic>
          <a:graphicData uri="http://schemas.openxmlformats.org/drawingml/2006/table">
            <a:tbl>
              <a:tblPr/>
              <a:tblGrid>
                <a:gridCol w="9381744">
                  <a:extLst>
                    <a:ext uri="{9D8B030D-6E8A-4147-A177-3AD203B41FA5}">
                      <a16:colId xmlns:a16="http://schemas.microsoft.com/office/drawing/2014/main" val="3264525774"/>
                    </a:ext>
                  </a:extLst>
                </a:gridCol>
              </a:tblGrid>
              <a:tr h="270510">
                <a:tc>
                  <a:txBody>
                    <a:bodyPr/>
                    <a:lstStyle/>
                    <a:p>
                      <a:pPr>
                        <a:spcAft>
                          <a:spcPts val="300"/>
                        </a:spcAft>
                        <a:buFont typeface="Arial" panose="020B0604020202020204" pitchFamily="34" charset="0"/>
                        <a:buNone/>
                      </a:pPr>
                      <a:br>
                        <a:rPr lang="en-CA" sz="1100" dirty="0">
                          <a:effectLst/>
                          <a:latin typeface="Verdana" panose="020B0604030504040204" pitchFamily="34" charset="0"/>
                        </a:rPr>
                      </a:br>
                      <a:r>
                        <a:rPr lang="en-CA" sz="1100" dirty="0">
                          <a:effectLst/>
                          <a:latin typeface="Verdana" panose="020B0604030504040204" pitchFamily="34" charset="0"/>
                        </a:rPr>
                        <a:t>Gubin MM, </a:t>
                      </a:r>
                      <a:r>
                        <a:rPr lang="en-CA" sz="1100" dirty="0" err="1">
                          <a:effectLst/>
                          <a:latin typeface="Verdana" panose="020B0604030504040204" pitchFamily="34" charset="0"/>
                        </a:rPr>
                        <a:t>Esaulova</a:t>
                      </a:r>
                      <a:r>
                        <a:rPr lang="en-CA" sz="1100" dirty="0">
                          <a:effectLst/>
                          <a:latin typeface="Verdana" panose="020B0604030504040204" pitchFamily="34" charset="0"/>
                        </a:rPr>
                        <a:t> E, Ward JP, Malkova ON et al. High-Dimensional Analysis Delineates Myeloid and Lymphoid Compartment Remodeling during Successful Immune-Checkpoint Cancer Therapy. </a:t>
                      </a:r>
                      <a:r>
                        <a:rPr lang="en-CA" sz="1100" i="1" dirty="0">
                          <a:effectLst/>
                          <a:latin typeface="Verdana" panose="020B0604030504040204" pitchFamily="34" charset="0"/>
                        </a:rPr>
                        <a:t>Cell</a:t>
                      </a:r>
                      <a:r>
                        <a:rPr lang="en-CA" sz="1100" dirty="0">
                          <a:effectLst/>
                          <a:latin typeface="Verdana" panose="020B0604030504040204" pitchFamily="34" charset="0"/>
                        </a:rPr>
                        <a:t> 2018 Nov 1;175(4)</a:t>
                      </a:r>
                    </a:p>
                  </a:txBody>
                  <a:tcPr marL="19050" marR="19050" marT="19050" marB="19050">
                    <a:lnL>
                      <a:noFill/>
                    </a:lnL>
                    <a:lnR>
                      <a:noFill/>
                    </a:lnR>
                    <a:lnT>
                      <a:noFill/>
                    </a:lnT>
                    <a:lnB>
                      <a:noFill/>
                    </a:lnB>
                    <a:solidFill>
                      <a:srgbClr val="FFFFFF"/>
                    </a:solidFill>
                  </a:tcPr>
                </a:tc>
                <a:extLst>
                  <a:ext uri="{0D108BD9-81ED-4DB2-BD59-A6C34878D82A}">
                    <a16:rowId xmlns:a16="http://schemas.microsoft.com/office/drawing/2014/main" val="4123696934"/>
                  </a:ext>
                </a:extLst>
              </a:tr>
            </a:tbl>
          </a:graphicData>
        </a:graphic>
      </p:graphicFrame>
    </p:spTree>
    <p:extLst>
      <p:ext uri="{BB962C8B-B14F-4D97-AF65-F5344CB8AC3E}">
        <p14:creationId xmlns:p14="http://schemas.microsoft.com/office/powerpoint/2010/main" val="18557032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080CC-FA33-8E34-AEE0-0BCF28AD8183}"/>
              </a:ext>
            </a:extLst>
          </p:cNvPr>
          <p:cNvSpPr>
            <a:spLocks noGrp="1"/>
          </p:cNvSpPr>
          <p:nvPr>
            <p:ph type="title"/>
          </p:nvPr>
        </p:nvSpPr>
        <p:spPr>
          <a:xfrm>
            <a:off x="915902" y="210381"/>
            <a:ext cx="10515600" cy="1325563"/>
          </a:xfrm>
        </p:spPr>
        <p:txBody>
          <a:bodyPr>
            <a:normAutofit/>
          </a:bodyPr>
          <a:lstStyle/>
          <a:p>
            <a:r>
              <a:rPr lang="en-US" sz="2400" b="1" dirty="0"/>
              <a:t>Results</a:t>
            </a:r>
            <a:endParaRPr lang="en-CA" sz="2400" b="1" dirty="0"/>
          </a:p>
        </p:txBody>
      </p:sp>
      <p:pic>
        <p:nvPicPr>
          <p:cNvPr id="1026" name="Picture 2">
            <a:extLst>
              <a:ext uri="{FF2B5EF4-FFF2-40B4-BE49-F238E27FC236}">
                <a16:creationId xmlns:a16="http://schemas.microsoft.com/office/drawing/2014/main" id="{E34576B2-0A76-798B-527F-74160E3B59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3639" y="1849610"/>
            <a:ext cx="8464721" cy="45729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46472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ED77D-B13D-C708-4A40-03ED96CC862E}"/>
              </a:ext>
            </a:extLst>
          </p:cNvPr>
          <p:cNvSpPr>
            <a:spLocks noGrp="1"/>
          </p:cNvSpPr>
          <p:nvPr>
            <p:ph type="title"/>
          </p:nvPr>
        </p:nvSpPr>
        <p:spPr/>
        <p:txBody>
          <a:bodyPr>
            <a:normAutofit/>
          </a:bodyPr>
          <a:lstStyle/>
          <a:p>
            <a:r>
              <a:rPr lang="en-US" sz="2400" b="1" dirty="0"/>
              <a:t>Results</a:t>
            </a:r>
            <a:endParaRPr lang="en-CA" sz="2400" b="1" dirty="0"/>
          </a:p>
        </p:txBody>
      </p:sp>
      <p:graphicFrame>
        <p:nvGraphicFramePr>
          <p:cNvPr id="4" name="Table 3">
            <a:extLst>
              <a:ext uri="{FF2B5EF4-FFF2-40B4-BE49-F238E27FC236}">
                <a16:creationId xmlns:a16="http://schemas.microsoft.com/office/drawing/2014/main" id="{E9D5AA26-372F-D8BB-8B43-A049C84137F1}"/>
              </a:ext>
            </a:extLst>
          </p:cNvPr>
          <p:cNvGraphicFramePr>
            <a:graphicFrameLocks noGrp="1"/>
          </p:cNvGraphicFramePr>
          <p:nvPr>
            <p:extLst>
              <p:ext uri="{D42A27DB-BD31-4B8C-83A1-F6EECF244321}">
                <p14:modId xmlns:p14="http://schemas.microsoft.com/office/powerpoint/2010/main" val="417492942"/>
              </p:ext>
            </p:extLst>
          </p:nvPr>
        </p:nvGraphicFramePr>
        <p:xfrm>
          <a:off x="542778" y="2017749"/>
          <a:ext cx="10515600" cy="1828800"/>
        </p:xfrm>
        <a:graphic>
          <a:graphicData uri="http://schemas.openxmlformats.org/drawingml/2006/table">
            <a:tbl>
              <a:tblPr/>
              <a:tblGrid>
                <a:gridCol w="2628900">
                  <a:extLst>
                    <a:ext uri="{9D8B030D-6E8A-4147-A177-3AD203B41FA5}">
                      <a16:colId xmlns:a16="http://schemas.microsoft.com/office/drawing/2014/main" val="3048872658"/>
                    </a:ext>
                  </a:extLst>
                </a:gridCol>
                <a:gridCol w="2628900">
                  <a:extLst>
                    <a:ext uri="{9D8B030D-6E8A-4147-A177-3AD203B41FA5}">
                      <a16:colId xmlns:a16="http://schemas.microsoft.com/office/drawing/2014/main" val="933983716"/>
                    </a:ext>
                  </a:extLst>
                </a:gridCol>
                <a:gridCol w="2628900">
                  <a:extLst>
                    <a:ext uri="{9D8B030D-6E8A-4147-A177-3AD203B41FA5}">
                      <a16:colId xmlns:a16="http://schemas.microsoft.com/office/drawing/2014/main" val="1226521377"/>
                    </a:ext>
                  </a:extLst>
                </a:gridCol>
                <a:gridCol w="2628900">
                  <a:extLst>
                    <a:ext uri="{9D8B030D-6E8A-4147-A177-3AD203B41FA5}">
                      <a16:colId xmlns:a16="http://schemas.microsoft.com/office/drawing/2014/main" val="2028874475"/>
                    </a:ext>
                  </a:extLst>
                </a:gridCol>
              </a:tblGrid>
              <a:tr h="0">
                <a:tc>
                  <a:txBody>
                    <a:bodyPr/>
                    <a:lstStyle/>
                    <a:p>
                      <a:pPr>
                        <a:buNone/>
                      </a:pPr>
                      <a:r>
                        <a:rPr lang="en-CA"/>
                        <a:t>System</a:t>
                      </a:r>
                    </a:p>
                  </a:txBody>
                  <a:tcPr anchor="ctr">
                    <a:lnL>
                      <a:noFill/>
                    </a:lnL>
                    <a:lnR>
                      <a:noFill/>
                    </a:lnR>
                    <a:lnT>
                      <a:noFill/>
                    </a:lnT>
                    <a:lnB>
                      <a:noFill/>
                    </a:lnB>
                    <a:noFill/>
                  </a:tcPr>
                </a:tc>
                <a:tc>
                  <a:txBody>
                    <a:bodyPr/>
                    <a:lstStyle/>
                    <a:p>
                      <a:pPr>
                        <a:buNone/>
                      </a:pPr>
                      <a:r>
                        <a:rPr lang="en-CA"/>
                        <a:t>Algorithm</a:t>
                      </a:r>
                    </a:p>
                  </a:txBody>
                  <a:tcPr anchor="ctr">
                    <a:lnL>
                      <a:noFill/>
                    </a:lnL>
                    <a:lnR>
                      <a:noFill/>
                    </a:lnR>
                    <a:lnT>
                      <a:noFill/>
                    </a:lnT>
                    <a:lnB>
                      <a:noFill/>
                    </a:lnB>
                    <a:noFill/>
                  </a:tcPr>
                </a:tc>
                <a:tc>
                  <a:txBody>
                    <a:bodyPr/>
                    <a:lstStyle/>
                    <a:p>
                      <a:pPr>
                        <a:buNone/>
                      </a:pPr>
                      <a:r>
                        <a:rPr lang="en-CA"/>
                        <a:t>DTW</a:t>
                      </a:r>
                    </a:p>
                  </a:txBody>
                  <a:tcPr anchor="ctr">
                    <a:lnL>
                      <a:noFill/>
                    </a:lnL>
                    <a:lnR>
                      <a:noFill/>
                    </a:lnR>
                    <a:lnT>
                      <a:noFill/>
                    </a:lnT>
                    <a:lnB>
                      <a:noFill/>
                    </a:lnB>
                    <a:noFill/>
                  </a:tcPr>
                </a:tc>
                <a:tc>
                  <a:txBody>
                    <a:bodyPr/>
                    <a:lstStyle/>
                    <a:p>
                      <a:pPr>
                        <a:buNone/>
                      </a:pPr>
                      <a:r>
                        <a:rPr lang="en-CA"/>
                        <a:t>Wasserstein</a:t>
                      </a:r>
                    </a:p>
                  </a:txBody>
                  <a:tcPr anchor="ctr">
                    <a:lnL>
                      <a:noFill/>
                    </a:lnL>
                    <a:lnR>
                      <a:noFill/>
                    </a:lnR>
                    <a:lnT>
                      <a:noFill/>
                    </a:lnT>
                    <a:lnB>
                      <a:noFill/>
                    </a:lnB>
                    <a:noFill/>
                  </a:tcPr>
                </a:tc>
                <a:extLst>
                  <a:ext uri="{0D108BD9-81ED-4DB2-BD59-A6C34878D82A}">
                    <a16:rowId xmlns:a16="http://schemas.microsoft.com/office/drawing/2014/main" val="2542318273"/>
                  </a:ext>
                </a:extLst>
              </a:tr>
              <a:tr h="0">
                <a:tc>
                  <a:txBody>
                    <a:bodyPr/>
                    <a:lstStyle/>
                    <a:p>
                      <a:pPr>
                        <a:buNone/>
                      </a:pPr>
                      <a:r>
                        <a:rPr lang="en-CA"/>
                        <a:t>CTRL</a:t>
                      </a:r>
                    </a:p>
                  </a:txBody>
                  <a:tcPr anchor="ctr">
                    <a:lnL>
                      <a:noFill/>
                    </a:lnL>
                    <a:lnR>
                      <a:noFill/>
                    </a:lnR>
                    <a:lnT>
                      <a:noFill/>
                    </a:lnT>
                    <a:lnB>
                      <a:noFill/>
                    </a:lnB>
                    <a:noFill/>
                  </a:tcPr>
                </a:tc>
                <a:tc>
                  <a:txBody>
                    <a:bodyPr/>
                    <a:lstStyle/>
                    <a:p>
                      <a:pPr>
                        <a:buNone/>
                      </a:pPr>
                      <a:r>
                        <a:rPr lang="en-CA"/>
                        <a:t>PPO</a:t>
                      </a:r>
                    </a:p>
                  </a:txBody>
                  <a:tcPr anchor="ctr">
                    <a:lnL>
                      <a:noFill/>
                    </a:lnL>
                    <a:lnR>
                      <a:noFill/>
                    </a:lnR>
                    <a:lnT>
                      <a:noFill/>
                    </a:lnT>
                    <a:lnB>
                      <a:noFill/>
                    </a:lnB>
                    <a:noFill/>
                  </a:tcPr>
                </a:tc>
                <a:tc>
                  <a:txBody>
                    <a:bodyPr/>
                    <a:lstStyle/>
                    <a:p>
                      <a:pPr>
                        <a:buNone/>
                      </a:pPr>
                      <a:r>
                        <a:rPr lang="en-CA"/>
                        <a:t>2.997</a:t>
                      </a:r>
                    </a:p>
                  </a:txBody>
                  <a:tcPr anchor="ctr">
                    <a:lnL>
                      <a:noFill/>
                    </a:lnL>
                    <a:lnR>
                      <a:noFill/>
                    </a:lnR>
                    <a:lnT>
                      <a:noFill/>
                    </a:lnT>
                    <a:lnB>
                      <a:noFill/>
                    </a:lnB>
                    <a:noFill/>
                  </a:tcPr>
                </a:tc>
                <a:tc>
                  <a:txBody>
                    <a:bodyPr/>
                    <a:lstStyle/>
                    <a:p>
                      <a:pPr>
                        <a:buNone/>
                      </a:pPr>
                      <a:r>
                        <a:rPr lang="en-CA"/>
                        <a:t>1.183</a:t>
                      </a:r>
                    </a:p>
                  </a:txBody>
                  <a:tcPr anchor="ctr">
                    <a:lnL>
                      <a:noFill/>
                    </a:lnL>
                    <a:lnR>
                      <a:noFill/>
                    </a:lnR>
                    <a:lnT>
                      <a:noFill/>
                    </a:lnT>
                    <a:lnB>
                      <a:noFill/>
                    </a:lnB>
                    <a:noFill/>
                  </a:tcPr>
                </a:tc>
                <a:extLst>
                  <a:ext uri="{0D108BD9-81ED-4DB2-BD59-A6C34878D82A}">
                    <a16:rowId xmlns:a16="http://schemas.microsoft.com/office/drawing/2014/main" val="242166470"/>
                  </a:ext>
                </a:extLst>
              </a:tr>
              <a:tr h="0">
                <a:tc>
                  <a:txBody>
                    <a:bodyPr/>
                    <a:lstStyle/>
                    <a:p>
                      <a:pPr>
                        <a:buNone/>
                      </a:pPr>
                      <a:r>
                        <a:rPr lang="en-CA"/>
                        <a:t>CTRL</a:t>
                      </a:r>
                    </a:p>
                  </a:txBody>
                  <a:tcPr anchor="ctr">
                    <a:lnL>
                      <a:noFill/>
                    </a:lnL>
                    <a:lnR>
                      <a:noFill/>
                    </a:lnR>
                    <a:lnT>
                      <a:noFill/>
                    </a:lnT>
                    <a:lnB>
                      <a:noFill/>
                    </a:lnB>
                    <a:noFill/>
                  </a:tcPr>
                </a:tc>
                <a:tc>
                  <a:txBody>
                    <a:bodyPr/>
                    <a:lstStyle/>
                    <a:p>
                      <a:pPr>
                        <a:buNone/>
                      </a:pPr>
                      <a:r>
                        <a:rPr lang="en-CA"/>
                        <a:t>TRPO→PPO</a:t>
                      </a:r>
                    </a:p>
                  </a:txBody>
                  <a:tcPr anchor="ctr">
                    <a:lnL>
                      <a:noFill/>
                    </a:lnL>
                    <a:lnR>
                      <a:noFill/>
                    </a:lnR>
                    <a:lnT>
                      <a:noFill/>
                    </a:lnT>
                    <a:lnB>
                      <a:noFill/>
                    </a:lnB>
                    <a:noFill/>
                  </a:tcPr>
                </a:tc>
                <a:tc>
                  <a:txBody>
                    <a:bodyPr/>
                    <a:lstStyle/>
                    <a:p>
                      <a:pPr>
                        <a:buNone/>
                      </a:pPr>
                      <a:r>
                        <a:rPr lang="en-CA"/>
                        <a:t>2.721</a:t>
                      </a:r>
                    </a:p>
                  </a:txBody>
                  <a:tcPr anchor="ctr">
                    <a:lnL>
                      <a:noFill/>
                    </a:lnL>
                    <a:lnR>
                      <a:noFill/>
                    </a:lnR>
                    <a:lnT>
                      <a:noFill/>
                    </a:lnT>
                    <a:lnB>
                      <a:noFill/>
                    </a:lnB>
                    <a:noFill/>
                  </a:tcPr>
                </a:tc>
                <a:tc>
                  <a:txBody>
                    <a:bodyPr/>
                    <a:lstStyle/>
                    <a:p>
                      <a:pPr>
                        <a:buNone/>
                      </a:pPr>
                      <a:r>
                        <a:rPr lang="en-CA"/>
                        <a:t>1.277</a:t>
                      </a:r>
                    </a:p>
                  </a:txBody>
                  <a:tcPr anchor="ctr">
                    <a:lnL>
                      <a:noFill/>
                    </a:lnL>
                    <a:lnR>
                      <a:noFill/>
                    </a:lnR>
                    <a:lnT>
                      <a:noFill/>
                    </a:lnT>
                    <a:lnB>
                      <a:noFill/>
                    </a:lnB>
                    <a:noFill/>
                  </a:tcPr>
                </a:tc>
                <a:extLst>
                  <a:ext uri="{0D108BD9-81ED-4DB2-BD59-A6C34878D82A}">
                    <a16:rowId xmlns:a16="http://schemas.microsoft.com/office/drawing/2014/main" val="1024624646"/>
                  </a:ext>
                </a:extLst>
              </a:tr>
              <a:tr h="0">
                <a:tc>
                  <a:txBody>
                    <a:bodyPr/>
                    <a:lstStyle/>
                    <a:p>
                      <a:pPr>
                        <a:buNone/>
                      </a:pPr>
                      <a:r>
                        <a:rPr lang="en-CA"/>
                        <a:t>PTPN2</a:t>
                      </a:r>
                    </a:p>
                  </a:txBody>
                  <a:tcPr anchor="ctr">
                    <a:lnL>
                      <a:noFill/>
                    </a:lnL>
                    <a:lnR>
                      <a:noFill/>
                    </a:lnR>
                    <a:lnT>
                      <a:noFill/>
                    </a:lnT>
                    <a:lnB>
                      <a:noFill/>
                    </a:lnB>
                    <a:noFill/>
                  </a:tcPr>
                </a:tc>
                <a:tc>
                  <a:txBody>
                    <a:bodyPr/>
                    <a:lstStyle/>
                    <a:p>
                      <a:pPr>
                        <a:buNone/>
                      </a:pPr>
                      <a:r>
                        <a:rPr lang="en-CA"/>
                        <a:t>PPO</a:t>
                      </a:r>
                    </a:p>
                  </a:txBody>
                  <a:tcPr anchor="ctr">
                    <a:lnL>
                      <a:noFill/>
                    </a:lnL>
                    <a:lnR>
                      <a:noFill/>
                    </a:lnR>
                    <a:lnT>
                      <a:noFill/>
                    </a:lnT>
                    <a:lnB>
                      <a:noFill/>
                    </a:lnB>
                    <a:noFill/>
                  </a:tcPr>
                </a:tc>
                <a:tc>
                  <a:txBody>
                    <a:bodyPr/>
                    <a:lstStyle/>
                    <a:p>
                      <a:pPr>
                        <a:buNone/>
                      </a:pPr>
                      <a:r>
                        <a:rPr lang="en-CA"/>
                        <a:t>2.209</a:t>
                      </a:r>
                    </a:p>
                  </a:txBody>
                  <a:tcPr anchor="ctr">
                    <a:lnL>
                      <a:noFill/>
                    </a:lnL>
                    <a:lnR>
                      <a:noFill/>
                    </a:lnR>
                    <a:lnT>
                      <a:noFill/>
                    </a:lnT>
                    <a:lnB>
                      <a:noFill/>
                    </a:lnB>
                    <a:noFill/>
                  </a:tcPr>
                </a:tc>
                <a:tc>
                  <a:txBody>
                    <a:bodyPr/>
                    <a:lstStyle/>
                    <a:p>
                      <a:pPr>
                        <a:buNone/>
                      </a:pPr>
                      <a:r>
                        <a:rPr lang="en-CA"/>
                        <a:t>1.105</a:t>
                      </a:r>
                    </a:p>
                  </a:txBody>
                  <a:tcPr anchor="ctr">
                    <a:lnL>
                      <a:noFill/>
                    </a:lnL>
                    <a:lnR>
                      <a:noFill/>
                    </a:lnR>
                    <a:lnT>
                      <a:noFill/>
                    </a:lnT>
                    <a:lnB>
                      <a:noFill/>
                    </a:lnB>
                    <a:noFill/>
                  </a:tcPr>
                </a:tc>
                <a:extLst>
                  <a:ext uri="{0D108BD9-81ED-4DB2-BD59-A6C34878D82A}">
                    <a16:rowId xmlns:a16="http://schemas.microsoft.com/office/drawing/2014/main" val="2069544609"/>
                  </a:ext>
                </a:extLst>
              </a:tr>
              <a:tr h="0">
                <a:tc>
                  <a:txBody>
                    <a:bodyPr/>
                    <a:lstStyle/>
                    <a:p>
                      <a:pPr>
                        <a:buNone/>
                      </a:pPr>
                      <a:r>
                        <a:rPr lang="en-CA"/>
                        <a:t>PTPN2</a:t>
                      </a:r>
                    </a:p>
                  </a:txBody>
                  <a:tcPr anchor="ctr">
                    <a:lnL>
                      <a:noFill/>
                    </a:lnL>
                    <a:lnR>
                      <a:noFill/>
                    </a:lnR>
                    <a:lnT>
                      <a:noFill/>
                    </a:lnT>
                    <a:lnB>
                      <a:noFill/>
                    </a:lnB>
                    <a:noFill/>
                  </a:tcPr>
                </a:tc>
                <a:tc>
                  <a:txBody>
                    <a:bodyPr/>
                    <a:lstStyle/>
                    <a:p>
                      <a:pPr>
                        <a:buNone/>
                      </a:pPr>
                      <a:r>
                        <a:rPr lang="en-CA"/>
                        <a:t>TRPO→PPO</a:t>
                      </a:r>
                    </a:p>
                  </a:txBody>
                  <a:tcPr anchor="ctr">
                    <a:lnL>
                      <a:noFill/>
                    </a:lnL>
                    <a:lnR>
                      <a:noFill/>
                    </a:lnR>
                    <a:lnT>
                      <a:noFill/>
                    </a:lnT>
                    <a:lnB>
                      <a:noFill/>
                    </a:lnB>
                    <a:noFill/>
                  </a:tcPr>
                </a:tc>
                <a:tc>
                  <a:txBody>
                    <a:bodyPr/>
                    <a:lstStyle/>
                    <a:p>
                      <a:pPr>
                        <a:buNone/>
                      </a:pPr>
                      <a:r>
                        <a:rPr lang="en-CA"/>
                        <a:t>2.204</a:t>
                      </a:r>
                    </a:p>
                  </a:txBody>
                  <a:tcPr anchor="ctr">
                    <a:lnL>
                      <a:noFill/>
                    </a:lnL>
                    <a:lnR>
                      <a:noFill/>
                    </a:lnR>
                    <a:lnT>
                      <a:noFill/>
                    </a:lnT>
                    <a:lnB>
                      <a:noFill/>
                    </a:lnB>
                    <a:noFill/>
                  </a:tcPr>
                </a:tc>
                <a:tc>
                  <a:txBody>
                    <a:bodyPr/>
                    <a:lstStyle/>
                    <a:p>
                      <a:pPr>
                        <a:buNone/>
                      </a:pPr>
                      <a:r>
                        <a:rPr lang="en-CA" dirty="0"/>
                        <a:t>1.102</a:t>
                      </a:r>
                    </a:p>
                  </a:txBody>
                  <a:tcPr anchor="ctr">
                    <a:lnL>
                      <a:noFill/>
                    </a:lnL>
                    <a:lnR>
                      <a:noFill/>
                    </a:lnR>
                    <a:lnT>
                      <a:noFill/>
                    </a:lnT>
                    <a:lnB>
                      <a:noFill/>
                    </a:lnB>
                    <a:noFill/>
                  </a:tcPr>
                </a:tc>
                <a:extLst>
                  <a:ext uri="{0D108BD9-81ED-4DB2-BD59-A6C34878D82A}">
                    <a16:rowId xmlns:a16="http://schemas.microsoft.com/office/drawing/2014/main" val="1952402833"/>
                  </a:ext>
                </a:extLst>
              </a:tr>
            </a:tbl>
          </a:graphicData>
        </a:graphic>
      </p:graphicFrame>
    </p:spTree>
    <p:extLst>
      <p:ext uri="{BB962C8B-B14F-4D97-AF65-F5344CB8AC3E}">
        <p14:creationId xmlns:p14="http://schemas.microsoft.com/office/powerpoint/2010/main" val="10303764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61FC9-AEC9-6EB1-00B9-95B642884A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C3D5B3-FA8C-C8B4-ABD3-86F6606B12D2}"/>
              </a:ext>
            </a:extLst>
          </p:cNvPr>
          <p:cNvSpPr>
            <a:spLocks noGrp="1"/>
          </p:cNvSpPr>
          <p:nvPr>
            <p:ph type="title"/>
          </p:nvPr>
        </p:nvSpPr>
        <p:spPr/>
        <p:txBody>
          <a:bodyPr>
            <a:normAutofit/>
          </a:bodyPr>
          <a:lstStyle/>
          <a:p>
            <a:r>
              <a:rPr lang="en-US" sz="2400" b="1"/>
              <a:t>Results</a:t>
            </a:r>
            <a:endParaRPr lang="en-CA" sz="2400" b="1" dirty="0"/>
          </a:p>
        </p:txBody>
      </p:sp>
      <p:graphicFrame>
        <p:nvGraphicFramePr>
          <p:cNvPr id="4" name="Table 3">
            <a:extLst>
              <a:ext uri="{FF2B5EF4-FFF2-40B4-BE49-F238E27FC236}">
                <a16:creationId xmlns:a16="http://schemas.microsoft.com/office/drawing/2014/main" id="{115B2F35-D0EC-CC56-231E-CAC97A2CDC5A}"/>
              </a:ext>
            </a:extLst>
          </p:cNvPr>
          <p:cNvGraphicFramePr>
            <a:graphicFrameLocks noGrp="1"/>
          </p:cNvGraphicFramePr>
          <p:nvPr>
            <p:extLst>
              <p:ext uri="{D42A27DB-BD31-4B8C-83A1-F6EECF244321}">
                <p14:modId xmlns:p14="http://schemas.microsoft.com/office/powerpoint/2010/main" val="588015297"/>
              </p:ext>
            </p:extLst>
          </p:nvPr>
        </p:nvGraphicFramePr>
        <p:xfrm>
          <a:off x="883457" y="1810280"/>
          <a:ext cx="10425086" cy="4382028"/>
        </p:xfrm>
        <a:graphic>
          <a:graphicData uri="http://schemas.openxmlformats.org/drawingml/2006/table">
            <a:tbl>
              <a:tblPr/>
              <a:tblGrid>
                <a:gridCol w="1489298">
                  <a:extLst>
                    <a:ext uri="{9D8B030D-6E8A-4147-A177-3AD203B41FA5}">
                      <a16:colId xmlns:a16="http://schemas.microsoft.com/office/drawing/2014/main" val="691652012"/>
                    </a:ext>
                  </a:extLst>
                </a:gridCol>
                <a:gridCol w="1489298">
                  <a:extLst>
                    <a:ext uri="{9D8B030D-6E8A-4147-A177-3AD203B41FA5}">
                      <a16:colId xmlns:a16="http://schemas.microsoft.com/office/drawing/2014/main" val="3494577412"/>
                    </a:ext>
                  </a:extLst>
                </a:gridCol>
                <a:gridCol w="1489298">
                  <a:extLst>
                    <a:ext uri="{9D8B030D-6E8A-4147-A177-3AD203B41FA5}">
                      <a16:colId xmlns:a16="http://schemas.microsoft.com/office/drawing/2014/main" val="4180678195"/>
                    </a:ext>
                  </a:extLst>
                </a:gridCol>
                <a:gridCol w="1489298">
                  <a:extLst>
                    <a:ext uri="{9D8B030D-6E8A-4147-A177-3AD203B41FA5}">
                      <a16:colId xmlns:a16="http://schemas.microsoft.com/office/drawing/2014/main" val="2974442656"/>
                    </a:ext>
                  </a:extLst>
                </a:gridCol>
                <a:gridCol w="1489298">
                  <a:extLst>
                    <a:ext uri="{9D8B030D-6E8A-4147-A177-3AD203B41FA5}">
                      <a16:colId xmlns:a16="http://schemas.microsoft.com/office/drawing/2014/main" val="297378597"/>
                    </a:ext>
                  </a:extLst>
                </a:gridCol>
                <a:gridCol w="1489298">
                  <a:extLst>
                    <a:ext uri="{9D8B030D-6E8A-4147-A177-3AD203B41FA5}">
                      <a16:colId xmlns:a16="http://schemas.microsoft.com/office/drawing/2014/main" val="3569179526"/>
                    </a:ext>
                  </a:extLst>
                </a:gridCol>
                <a:gridCol w="1489298">
                  <a:extLst>
                    <a:ext uri="{9D8B030D-6E8A-4147-A177-3AD203B41FA5}">
                      <a16:colId xmlns:a16="http://schemas.microsoft.com/office/drawing/2014/main" val="1100507030"/>
                    </a:ext>
                  </a:extLst>
                </a:gridCol>
              </a:tblGrid>
              <a:tr h="362611">
                <a:tc>
                  <a:txBody>
                    <a:bodyPr/>
                    <a:lstStyle/>
                    <a:p>
                      <a:pPr>
                        <a:buNone/>
                      </a:pPr>
                      <a:r>
                        <a:rPr lang="en-CA" sz="1800"/>
                        <a:t>System</a:t>
                      </a:r>
                    </a:p>
                  </a:txBody>
                  <a:tcPr marL="90653" marR="90653" marT="45326" marB="45326" anchor="ctr">
                    <a:lnL>
                      <a:noFill/>
                    </a:lnL>
                    <a:lnR>
                      <a:noFill/>
                    </a:lnR>
                    <a:lnT>
                      <a:noFill/>
                    </a:lnT>
                    <a:lnB>
                      <a:noFill/>
                    </a:lnB>
                    <a:noFill/>
                  </a:tcPr>
                </a:tc>
                <a:tc>
                  <a:txBody>
                    <a:bodyPr/>
                    <a:lstStyle/>
                    <a:p>
                      <a:pPr>
                        <a:buNone/>
                      </a:pPr>
                      <a:r>
                        <a:rPr lang="en-CA" sz="1800"/>
                        <a:t>Algorithm</a:t>
                      </a:r>
                    </a:p>
                  </a:txBody>
                  <a:tcPr marL="90653" marR="90653" marT="45326" marB="45326" anchor="ctr">
                    <a:lnL>
                      <a:noFill/>
                    </a:lnL>
                    <a:lnR>
                      <a:noFill/>
                    </a:lnR>
                    <a:lnT>
                      <a:noFill/>
                    </a:lnT>
                    <a:lnB>
                      <a:noFill/>
                    </a:lnB>
                    <a:noFill/>
                  </a:tcPr>
                </a:tc>
                <a:tc>
                  <a:txBody>
                    <a:bodyPr/>
                    <a:lstStyle/>
                    <a:p>
                      <a:pPr>
                        <a:buNone/>
                      </a:pPr>
                      <a:r>
                        <a:rPr lang="en-CA" sz="1800"/>
                        <a:t>MSE</a:t>
                      </a:r>
                    </a:p>
                  </a:txBody>
                  <a:tcPr marL="90653" marR="90653" marT="45326" marB="45326" anchor="ctr">
                    <a:lnL>
                      <a:noFill/>
                    </a:lnL>
                    <a:lnR>
                      <a:noFill/>
                    </a:lnR>
                    <a:lnT>
                      <a:noFill/>
                    </a:lnT>
                    <a:lnB>
                      <a:noFill/>
                    </a:lnB>
                    <a:noFill/>
                  </a:tcPr>
                </a:tc>
                <a:tc>
                  <a:txBody>
                    <a:bodyPr/>
                    <a:lstStyle/>
                    <a:p>
                      <a:pPr>
                        <a:buNone/>
                      </a:pPr>
                      <a:r>
                        <a:rPr lang="en-CA" sz="1800"/>
                        <a:t>RMSE</a:t>
                      </a:r>
                    </a:p>
                  </a:txBody>
                  <a:tcPr marL="90653" marR="90653" marT="45326" marB="45326" anchor="ctr">
                    <a:lnL>
                      <a:noFill/>
                    </a:lnL>
                    <a:lnR>
                      <a:noFill/>
                    </a:lnR>
                    <a:lnT>
                      <a:noFill/>
                    </a:lnT>
                    <a:lnB>
                      <a:noFill/>
                    </a:lnB>
                    <a:noFill/>
                  </a:tcPr>
                </a:tc>
                <a:tc>
                  <a:txBody>
                    <a:bodyPr/>
                    <a:lstStyle/>
                    <a:p>
                      <a:pPr>
                        <a:buNone/>
                      </a:pPr>
                      <a:r>
                        <a:rPr lang="en-CA" sz="1800"/>
                        <a:t>MAE</a:t>
                      </a:r>
                    </a:p>
                  </a:txBody>
                  <a:tcPr marL="90653" marR="90653" marT="45326" marB="45326" anchor="ctr">
                    <a:lnL>
                      <a:noFill/>
                    </a:lnL>
                    <a:lnR>
                      <a:noFill/>
                    </a:lnR>
                    <a:lnT>
                      <a:noFill/>
                    </a:lnT>
                    <a:lnB>
                      <a:noFill/>
                    </a:lnB>
                    <a:noFill/>
                  </a:tcPr>
                </a:tc>
                <a:tc>
                  <a:txBody>
                    <a:bodyPr/>
                    <a:lstStyle/>
                    <a:p>
                      <a:pPr>
                        <a:buNone/>
                      </a:pPr>
                      <a:r>
                        <a:rPr lang="en-CA" sz="1800"/>
                        <a:t>R²</a:t>
                      </a:r>
                    </a:p>
                  </a:txBody>
                  <a:tcPr marL="90653" marR="90653" marT="45326" marB="45326" anchor="ctr">
                    <a:lnL>
                      <a:noFill/>
                    </a:lnL>
                    <a:lnR>
                      <a:noFill/>
                    </a:lnR>
                    <a:lnT>
                      <a:noFill/>
                    </a:lnT>
                    <a:lnB>
                      <a:noFill/>
                    </a:lnB>
                    <a:noFill/>
                  </a:tcPr>
                </a:tc>
                <a:tc>
                  <a:txBody>
                    <a:bodyPr/>
                    <a:lstStyle/>
                    <a:p>
                      <a:pPr>
                        <a:buNone/>
                      </a:pPr>
                      <a:r>
                        <a:rPr lang="en-CA" sz="1800"/>
                        <a:t>Pearson</a:t>
                      </a:r>
                    </a:p>
                  </a:txBody>
                  <a:tcPr marL="90653" marR="90653" marT="45326" marB="45326" anchor="ctr">
                    <a:lnL>
                      <a:noFill/>
                    </a:lnL>
                    <a:lnR>
                      <a:noFill/>
                    </a:lnR>
                    <a:lnT>
                      <a:noFill/>
                    </a:lnT>
                    <a:lnB>
                      <a:noFill/>
                    </a:lnB>
                    <a:noFill/>
                  </a:tcPr>
                </a:tc>
                <a:extLst>
                  <a:ext uri="{0D108BD9-81ED-4DB2-BD59-A6C34878D82A}">
                    <a16:rowId xmlns:a16="http://schemas.microsoft.com/office/drawing/2014/main" val="488586187"/>
                  </a:ext>
                </a:extLst>
              </a:tr>
              <a:tr h="362611">
                <a:tc>
                  <a:txBody>
                    <a:bodyPr/>
                    <a:lstStyle/>
                    <a:p>
                      <a:pPr>
                        <a:buNone/>
                      </a:pPr>
                      <a:r>
                        <a:rPr lang="en-CA" sz="1800"/>
                        <a:t>CTRL</a:t>
                      </a:r>
                    </a:p>
                  </a:txBody>
                  <a:tcPr marL="90653" marR="90653" marT="45326" marB="45326" anchor="ctr">
                    <a:lnL>
                      <a:noFill/>
                    </a:lnL>
                    <a:lnR>
                      <a:noFill/>
                    </a:lnR>
                    <a:lnT>
                      <a:noFill/>
                    </a:lnT>
                    <a:lnB>
                      <a:noFill/>
                    </a:lnB>
                    <a:noFill/>
                  </a:tcPr>
                </a:tc>
                <a:tc>
                  <a:txBody>
                    <a:bodyPr/>
                    <a:lstStyle/>
                    <a:p>
                      <a:pPr>
                        <a:buNone/>
                      </a:pPr>
                      <a:r>
                        <a:rPr lang="en-CA" sz="1800"/>
                        <a:t>PPO (Test)</a:t>
                      </a:r>
                    </a:p>
                  </a:txBody>
                  <a:tcPr marL="90653" marR="90653" marT="45326" marB="45326" anchor="ctr">
                    <a:lnL>
                      <a:noFill/>
                    </a:lnL>
                    <a:lnR>
                      <a:noFill/>
                    </a:lnR>
                    <a:lnT>
                      <a:noFill/>
                    </a:lnT>
                    <a:lnB>
                      <a:noFill/>
                    </a:lnB>
                    <a:noFill/>
                  </a:tcPr>
                </a:tc>
                <a:tc>
                  <a:txBody>
                    <a:bodyPr/>
                    <a:lstStyle/>
                    <a:p>
                      <a:pPr>
                        <a:buNone/>
                      </a:pPr>
                      <a:r>
                        <a:rPr lang="en-CA" sz="1800"/>
                        <a:t>1.524</a:t>
                      </a:r>
                    </a:p>
                  </a:txBody>
                  <a:tcPr marL="90653" marR="90653" marT="45326" marB="45326" anchor="ctr">
                    <a:lnL>
                      <a:noFill/>
                    </a:lnL>
                    <a:lnR>
                      <a:noFill/>
                    </a:lnR>
                    <a:lnT>
                      <a:noFill/>
                    </a:lnT>
                    <a:lnB>
                      <a:noFill/>
                    </a:lnB>
                    <a:noFill/>
                  </a:tcPr>
                </a:tc>
                <a:tc>
                  <a:txBody>
                    <a:bodyPr/>
                    <a:lstStyle/>
                    <a:p>
                      <a:pPr>
                        <a:buNone/>
                      </a:pPr>
                      <a:r>
                        <a:rPr lang="en-CA" sz="1800"/>
                        <a:t>1.205</a:t>
                      </a:r>
                    </a:p>
                  </a:txBody>
                  <a:tcPr marL="90653" marR="90653" marT="45326" marB="45326" anchor="ctr">
                    <a:lnL>
                      <a:noFill/>
                    </a:lnL>
                    <a:lnR>
                      <a:noFill/>
                    </a:lnR>
                    <a:lnT>
                      <a:noFill/>
                    </a:lnT>
                    <a:lnB>
                      <a:noFill/>
                    </a:lnB>
                    <a:noFill/>
                  </a:tcPr>
                </a:tc>
                <a:tc>
                  <a:txBody>
                    <a:bodyPr/>
                    <a:lstStyle/>
                    <a:p>
                      <a:pPr>
                        <a:buNone/>
                      </a:pPr>
                      <a:r>
                        <a:rPr lang="en-CA" sz="1800"/>
                        <a:t>1.118</a:t>
                      </a:r>
                    </a:p>
                  </a:txBody>
                  <a:tcPr marL="90653" marR="90653" marT="45326" marB="45326" anchor="ctr">
                    <a:lnL>
                      <a:noFill/>
                    </a:lnL>
                    <a:lnR>
                      <a:noFill/>
                    </a:lnR>
                    <a:lnT>
                      <a:noFill/>
                    </a:lnT>
                    <a:lnB>
                      <a:noFill/>
                    </a:lnB>
                    <a:noFill/>
                  </a:tcPr>
                </a:tc>
                <a:tc>
                  <a:txBody>
                    <a:bodyPr/>
                    <a:lstStyle/>
                    <a:p>
                      <a:pPr>
                        <a:buNone/>
                      </a:pPr>
                      <a:r>
                        <a:rPr lang="en-CA" sz="1800"/>
                        <a:t>0.351</a:t>
                      </a:r>
                    </a:p>
                  </a:txBody>
                  <a:tcPr marL="90653" marR="90653" marT="45326" marB="45326" anchor="ctr">
                    <a:lnL>
                      <a:noFill/>
                    </a:lnL>
                    <a:lnR>
                      <a:noFill/>
                    </a:lnR>
                    <a:lnT>
                      <a:noFill/>
                    </a:lnT>
                    <a:lnB>
                      <a:noFill/>
                    </a:lnB>
                    <a:noFill/>
                  </a:tcPr>
                </a:tc>
                <a:tc>
                  <a:txBody>
                    <a:bodyPr/>
                    <a:lstStyle/>
                    <a:p>
                      <a:pPr>
                        <a:buNone/>
                      </a:pPr>
                      <a:r>
                        <a:rPr lang="en-CA" sz="1800"/>
                        <a:t>0.950</a:t>
                      </a:r>
                    </a:p>
                  </a:txBody>
                  <a:tcPr marL="90653" marR="90653" marT="45326" marB="45326" anchor="ctr">
                    <a:lnL>
                      <a:noFill/>
                    </a:lnL>
                    <a:lnR>
                      <a:noFill/>
                    </a:lnR>
                    <a:lnT>
                      <a:noFill/>
                    </a:lnT>
                    <a:lnB>
                      <a:noFill/>
                    </a:lnB>
                    <a:noFill/>
                  </a:tcPr>
                </a:tc>
                <a:extLst>
                  <a:ext uri="{0D108BD9-81ED-4DB2-BD59-A6C34878D82A}">
                    <a16:rowId xmlns:a16="http://schemas.microsoft.com/office/drawing/2014/main" val="2309450861"/>
                  </a:ext>
                </a:extLst>
              </a:tr>
              <a:tr h="362611">
                <a:tc>
                  <a:txBody>
                    <a:bodyPr/>
                    <a:lstStyle/>
                    <a:p>
                      <a:pPr>
                        <a:buNone/>
                      </a:pPr>
                      <a:r>
                        <a:rPr lang="en-CA" sz="1800"/>
                        <a:t>CTRL</a:t>
                      </a:r>
                    </a:p>
                  </a:txBody>
                  <a:tcPr marL="90653" marR="90653" marT="45326" marB="45326" anchor="ctr">
                    <a:lnL>
                      <a:noFill/>
                    </a:lnL>
                    <a:lnR>
                      <a:noFill/>
                    </a:lnR>
                    <a:lnT>
                      <a:noFill/>
                    </a:lnT>
                    <a:lnB>
                      <a:noFill/>
                    </a:lnB>
                    <a:noFill/>
                  </a:tcPr>
                </a:tc>
                <a:tc>
                  <a:txBody>
                    <a:bodyPr/>
                    <a:lstStyle/>
                    <a:p>
                      <a:pPr>
                        <a:buNone/>
                      </a:pPr>
                      <a:r>
                        <a:rPr lang="en-CA" sz="1800"/>
                        <a:t>PPO (Train)</a:t>
                      </a:r>
                    </a:p>
                  </a:txBody>
                  <a:tcPr marL="90653" marR="90653" marT="45326" marB="45326" anchor="ctr">
                    <a:lnL>
                      <a:noFill/>
                    </a:lnL>
                    <a:lnR>
                      <a:noFill/>
                    </a:lnR>
                    <a:lnT>
                      <a:noFill/>
                    </a:lnT>
                    <a:lnB>
                      <a:noFill/>
                    </a:lnB>
                    <a:noFill/>
                  </a:tcPr>
                </a:tc>
                <a:tc>
                  <a:txBody>
                    <a:bodyPr/>
                    <a:lstStyle/>
                    <a:p>
                      <a:pPr>
                        <a:buNone/>
                      </a:pPr>
                      <a:r>
                        <a:rPr lang="en-CA" sz="1800"/>
                        <a:t>1.528</a:t>
                      </a:r>
                    </a:p>
                  </a:txBody>
                  <a:tcPr marL="90653" marR="90653" marT="45326" marB="45326" anchor="ctr">
                    <a:lnL>
                      <a:noFill/>
                    </a:lnL>
                    <a:lnR>
                      <a:noFill/>
                    </a:lnR>
                    <a:lnT>
                      <a:noFill/>
                    </a:lnT>
                    <a:lnB>
                      <a:noFill/>
                    </a:lnB>
                    <a:noFill/>
                  </a:tcPr>
                </a:tc>
                <a:tc>
                  <a:txBody>
                    <a:bodyPr/>
                    <a:lstStyle/>
                    <a:p>
                      <a:pPr>
                        <a:buNone/>
                      </a:pPr>
                      <a:r>
                        <a:rPr lang="en-CA" sz="1800"/>
                        <a:t>1.207</a:t>
                      </a:r>
                    </a:p>
                  </a:txBody>
                  <a:tcPr marL="90653" marR="90653" marT="45326" marB="45326" anchor="ctr">
                    <a:lnL>
                      <a:noFill/>
                    </a:lnL>
                    <a:lnR>
                      <a:noFill/>
                    </a:lnR>
                    <a:lnT>
                      <a:noFill/>
                    </a:lnT>
                    <a:lnB>
                      <a:noFill/>
                    </a:lnB>
                    <a:noFill/>
                  </a:tcPr>
                </a:tc>
                <a:tc>
                  <a:txBody>
                    <a:bodyPr/>
                    <a:lstStyle/>
                    <a:p>
                      <a:pPr>
                        <a:buNone/>
                      </a:pPr>
                      <a:r>
                        <a:rPr lang="en-CA" sz="1800"/>
                        <a:t>1.121</a:t>
                      </a:r>
                    </a:p>
                  </a:txBody>
                  <a:tcPr marL="90653" marR="90653" marT="45326" marB="45326" anchor="ctr">
                    <a:lnL>
                      <a:noFill/>
                    </a:lnL>
                    <a:lnR>
                      <a:noFill/>
                    </a:lnR>
                    <a:lnT>
                      <a:noFill/>
                    </a:lnT>
                    <a:lnB>
                      <a:noFill/>
                    </a:lnB>
                    <a:noFill/>
                  </a:tcPr>
                </a:tc>
                <a:tc>
                  <a:txBody>
                    <a:bodyPr/>
                    <a:lstStyle/>
                    <a:p>
                      <a:pPr>
                        <a:buNone/>
                      </a:pPr>
                      <a:r>
                        <a:rPr lang="en-CA" sz="1800"/>
                        <a:t>0.327</a:t>
                      </a:r>
                    </a:p>
                  </a:txBody>
                  <a:tcPr marL="90653" marR="90653" marT="45326" marB="45326" anchor="ctr">
                    <a:lnL>
                      <a:noFill/>
                    </a:lnL>
                    <a:lnR>
                      <a:noFill/>
                    </a:lnR>
                    <a:lnT>
                      <a:noFill/>
                    </a:lnT>
                    <a:lnB>
                      <a:noFill/>
                    </a:lnB>
                    <a:noFill/>
                  </a:tcPr>
                </a:tc>
                <a:tc>
                  <a:txBody>
                    <a:bodyPr/>
                    <a:lstStyle/>
                    <a:p>
                      <a:pPr>
                        <a:buNone/>
                      </a:pPr>
                      <a:r>
                        <a:rPr lang="en-CA" sz="1800"/>
                        <a:t>0.949</a:t>
                      </a:r>
                    </a:p>
                  </a:txBody>
                  <a:tcPr marL="90653" marR="90653" marT="45326" marB="45326" anchor="ctr">
                    <a:lnL>
                      <a:noFill/>
                    </a:lnL>
                    <a:lnR>
                      <a:noFill/>
                    </a:lnR>
                    <a:lnT>
                      <a:noFill/>
                    </a:lnT>
                    <a:lnB>
                      <a:noFill/>
                    </a:lnB>
                    <a:noFill/>
                  </a:tcPr>
                </a:tc>
                <a:extLst>
                  <a:ext uri="{0D108BD9-81ED-4DB2-BD59-A6C34878D82A}">
                    <a16:rowId xmlns:a16="http://schemas.microsoft.com/office/drawing/2014/main" val="3722683695"/>
                  </a:ext>
                </a:extLst>
              </a:tr>
              <a:tr h="634570">
                <a:tc>
                  <a:txBody>
                    <a:bodyPr/>
                    <a:lstStyle/>
                    <a:p>
                      <a:pPr>
                        <a:buNone/>
                      </a:pPr>
                      <a:r>
                        <a:rPr lang="en-CA" sz="1800"/>
                        <a:t>CTRL</a:t>
                      </a:r>
                    </a:p>
                  </a:txBody>
                  <a:tcPr marL="90653" marR="90653" marT="45326" marB="45326" anchor="ctr">
                    <a:lnL>
                      <a:noFill/>
                    </a:lnL>
                    <a:lnR>
                      <a:noFill/>
                    </a:lnR>
                    <a:lnT>
                      <a:noFill/>
                    </a:lnT>
                    <a:lnB>
                      <a:noFill/>
                    </a:lnB>
                    <a:noFill/>
                  </a:tcPr>
                </a:tc>
                <a:tc>
                  <a:txBody>
                    <a:bodyPr/>
                    <a:lstStyle/>
                    <a:p>
                      <a:pPr>
                        <a:buNone/>
                      </a:pPr>
                      <a:r>
                        <a:rPr lang="en-CA" sz="1800"/>
                        <a:t>TRPO→PPO (Test)</a:t>
                      </a:r>
                    </a:p>
                  </a:txBody>
                  <a:tcPr marL="90653" marR="90653" marT="45326" marB="45326" anchor="ctr">
                    <a:lnL>
                      <a:noFill/>
                    </a:lnL>
                    <a:lnR>
                      <a:noFill/>
                    </a:lnR>
                    <a:lnT>
                      <a:noFill/>
                    </a:lnT>
                    <a:lnB>
                      <a:noFill/>
                    </a:lnB>
                    <a:noFill/>
                  </a:tcPr>
                </a:tc>
                <a:tc>
                  <a:txBody>
                    <a:bodyPr/>
                    <a:lstStyle/>
                    <a:p>
                      <a:pPr>
                        <a:buNone/>
                      </a:pPr>
                      <a:r>
                        <a:rPr lang="en-CA" sz="1800"/>
                        <a:t>0.162</a:t>
                      </a:r>
                    </a:p>
                  </a:txBody>
                  <a:tcPr marL="90653" marR="90653" marT="45326" marB="45326" anchor="ctr">
                    <a:lnL>
                      <a:noFill/>
                    </a:lnL>
                    <a:lnR>
                      <a:noFill/>
                    </a:lnR>
                    <a:lnT>
                      <a:noFill/>
                    </a:lnT>
                    <a:lnB>
                      <a:noFill/>
                    </a:lnB>
                    <a:noFill/>
                  </a:tcPr>
                </a:tc>
                <a:tc>
                  <a:txBody>
                    <a:bodyPr/>
                    <a:lstStyle/>
                    <a:p>
                      <a:pPr>
                        <a:buNone/>
                      </a:pPr>
                      <a:r>
                        <a:rPr lang="en-CA" sz="1800"/>
                        <a:t>0.373</a:t>
                      </a:r>
                    </a:p>
                  </a:txBody>
                  <a:tcPr marL="90653" marR="90653" marT="45326" marB="45326" anchor="ctr">
                    <a:lnL>
                      <a:noFill/>
                    </a:lnL>
                    <a:lnR>
                      <a:noFill/>
                    </a:lnR>
                    <a:lnT>
                      <a:noFill/>
                    </a:lnT>
                    <a:lnB>
                      <a:noFill/>
                    </a:lnB>
                    <a:noFill/>
                  </a:tcPr>
                </a:tc>
                <a:tc>
                  <a:txBody>
                    <a:bodyPr/>
                    <a:lstStyle/>
                    <a:p>
                      <a:pPr>
                        <a:buNone/>
                      </a:pPr>
                      <a:r>
                        <a:rPr lang="en-CA" sz="1800"/>
                        <a:t>0.322</a:t>
                      </a:r>
                    </a:p>
                  </a:txBody>
                  <a:tcPr marL="90653" marR="90653" marT="45326" marB="45326" anchor="ctr">
                    <a:lnL>
                      <a:noFill/>
                    </a:lnL>
                    <a:lnR>
                      <a:noFill/>
                    </a:lnR>
                    <a:lnT>
                      <a:noFill/>
                    </a:lnT>
                    <a:lnB>
                      <a:noFill/>
                    </a:lnB>
                    <a:noFill/>
                  </a:tcPr>
                </a:tc>
                <a:tc>
                  <a:txBody>
                    <a:bodyPr/>
                    <a:lstStyle/>
                    <a:p>
                      <a:pPr>
                        <a:buNone/>
                      </a:pPr>
                      <a:r>
                        <a:rPr lang="en-CA" sz="1800"/>
                        <a:t>0.937</a:t>
                      </a:r>
                    </a:p>
                  </a:txBody>
                  <a:tcPr marL="90653" marR="90653" marT="45326" marB="45326" anchor="ctr">
                    <a:lnL>
                      <a:noFill/>
                    </a:lnL>
                    <a:lnR>
                      <a:noFill/>
                    </a:lnR>
                    <a:lnT>
                      <a:noFill/>
                    </a:lnT>
                    <a:lnB>
                      <a:noFill/>
                    </a:lnB>
                    <a:noFill/>
                  </a:tcPr>
                </a:tc>
                <a:tc>
                  <a:txBody>
                    <a:bodyPr/>
                    <a:lstStyle/>
                    <a:p>
                      <a:pPr>
                        <a:buNone/>
                      </a:pPr>
                      <a:r>
                        <a:rPr lang="en-CA" sz="1800"/>
                        <a:t>0.988</a:t>
                      </a:r>
                    </a:p>
                  </a:txBody>
                  <a:tcPr marL="90653" marR="90653" marT="45326" marB="45326" anchor="ctr">
                    <a:lnL>
                      <a:noFill/>
                    </a:lnL>
                    <a:lnR>
                      <a:noFill/>
                    </a:lnR>
                    <a:lnT>
                      <a:noFill/>
                    </a:lnT>
                    <a:lnB>
                      <a:noFill/>
                    </a:lnB>
                    <a:noFill/>
                  </a:tcPr>
                </a:tc>
                <a:extLst>
                  <a:ext uri="{0D108BD9-81ED-4DB2-BD59-A6C34878D82A}">
                    <a16:rowId xmlns:a16="http://schemas.microsoft.com/office/drawing/2014/main" val="1855217704"/>
                  </a:ext>
                </a:extLst>
              </a:tr>
              <a:tr h="634570">
                <a:tc>
                  <a:txBody>
                    <a:bodyPr/>
                    <a:lstStyle/>
                    <a:p>
                      <a:pPr>
                        <a:buNone/>
                      </a:pPr>
                      <a:r>
                        <a:rPr lang="en-CA" sz="1800"/>
                        <a:t>CTRL</a:t>
                      </a:r>
                    </a:p>
                  </a:txBody>
                  <a:tcPr marL="90653" marR="90653" marT="45326" marB="45326" anchor="ctr">
                    <a:lnL>
                      <a:noFill/>
                    </a:lnL>
                    <a:lnR>
                      <a:noFill/>
                    </a:lnR>
                    <a:lnT>
                      <a:noFill/>
                    </a:lnT>
                    <a:lnB>
                      <a:noFill/>
                    </a:lnB>
                    <a:noFill/>
                  </a:tcPr>
                </a:tc>
                <a:tc>
                  <a:txBody>
                    <a:bodyPr/>
                    <a:lstStyle/>
                    <a:p>
                      <a:pPr>
                        <a:buNone/>
                      </a:pPr>
                      <a:r>
                        <a:rPr lang="en-CA" sz="1800"/>
                        <a:t>TRPO→PPO (Train)</a:t>
                      </a:r>
                    </a:p>
                  </a:txBody>
                  <a:tcPr marL="90653" marR="90653" marT="45326" marB="45326" anchor="ctr">
                    <a:lnL>
                      <a:noFill/>
                    </a:lnL>
                    <a:lnR>
                      <a:noFill/>
                    </a:lnR>
                    <a:lnT>
                      <a:noFill/>
                    </a:lnT>
                    <a:lnB>
                      <a:noFill/>
                    </a:lnB>
                    <a:noFill/>
                  </a:tcPr>
                </a:tc>
                <a:tc>
                  <a:txBody>
                    <a:bodyPr/>
                    <a:lstStyle/>
                    <a:p>
                      <a:pPr>
                        <a:buNone/>
                      </a:pPr>
                      <a:r>
                        <a:rPr lang="en-CA" sz="1800"/>
                        <a:t>0.167</a:t>
                      </a:r>
                    </a:p>
                  </a:txBody>
                  <a:tcPr marL="90653" marR="90653" marT="45326" marB="45326" anchor="ctr">
                    <a:lnL>
                      <a:noFill/>
                    </a:lnL>
                    <a:lnR>
                      <a:noFill/>
                    </a:lnR>
                    <a:lnT>
                      <a:noFill/>
                    </a:lnT>
                    <a:lnB>
                      <a:noFill/>
                    </a:lnB>
                    <a:noFill/>
                  </a:tcPr>
                </a:tc>
                <a:tc>
                  <a:txBody>
                    <a:bodyPr/>
                    <a:lstStyle/>
                    <a:p>
                      <a:pPr>
                        <a:buNone/>
                      </a:pPr>
                      <a:r>
                        <a:rPr lang="en-CA" sz="1800"/>
                        <a:t>0.379</a:t>
                      </a:r>
                    </a:p>
                  </a:txBody>
                  <a:tcPr marL="90653" marR="90653" marT="45326" marB="45326" anchor="ctr">
                    <a:lnL>
                      <a:noFill/>
                    </a:lnL>
                    <a:lnR>
                      <a:noFill/>
                    </a:lnR>
                    <a:lnT>
                      <a:noFill/>
                    </a:lnT>
                    <a:lnB>
                      <a:noFill/>
                    </a:lnB>
                    <a:noFill/>
                  </a:tcPr>
                </a:tc>
                <a:tc>
                  <a:txBody>
                    <a:bodyPr/>
                    <a:lstStyle/>
                    <a:p>
                      <a:pPr>
                        <a:buNone/>
                      </a:pPr>
                      <a:r>
                        <a:rPr lang="en-CA" sz="1800"/>
                        <a:t>0.327</a:t>
                      </a:r>
                    </a:p>
                  </a:txBody>
                  <a:tcPr marL="90653" marR="90653" marT="45326" marB="45326" anchor="ctr">
                    <a:lnL>
                      <a:noFill/>
                    </a:lnL>
                    <a:lnR>
                      <a:noFill/>
                    </a:lnR>
                    <a:lnT>
                      <a:noFill/>
                    </a:lnT>
                    <a:lnB>
                      <a:noFill/>
                    </a:lnB>
                    <a:noFill/>
                  </a:tcPr>
                </a:tc>
                <a:tc>
                  <a:txBody>
                    <a:bodyPr/>
                    <a:lstStyle/>
                    <a:p>
                      <a:pPr>
                        <a:buNone/>
                      </a:pPr>
                      <a:r>
                        <a:rPr lang="en-CA" sz="1800"/>
                        <a:t>0.930</a:t>
                      </a:r>
                    </a:p>
                  </a:txBody>
                  <a:tcPr marL="90653" marR="90653" marT="45326" marB="45326" anchor="ctr">
                    <a:lnL>
                      <a:noFill/>
                    </a:lnL>
                    <a:lnR>
                      <a:noFill/>
                    </a:lnR>
                    <a:lnT>
                      <a:noFill/>
                    </a:lnT>
                    <a:lnB>
                      <a:noFill/>
                    </a:lnB>
                    <a:noFill/>
                  </a:tcPr>
                </a:tc>
                <a:tc>
                  <a:txBody>
                    <a:bodyPr/>
                    <a:lstStyle/>
                    <a:p>
                      <a:pPr>
                        <a:buNone/>
                      </a:pPr>
                      <a:r>
                        <a:rPr lang="en-CA" sz="1800"/>
                        <a:t>0.986</a:t>
                      </a:r>
                    </a:p>
                  </a:txBody>
                  <a:tcPr marL="90653" marR="90653" marT="45326" marB="45326" anchor="ctr">
                    <a:lnL>
                      <a:noFill/>
                    </a:lnL>
                    <a:lnR>
                      <a:noFill/>
                    </a:lnR>
                    <a:lnT>
                      <a:noFill/>
                    </a:lnT>
                    <a:lnB>
                      <a:noFill/>
                    </a:lnB>
                    <a:noFill/>
                  </a:tcPr>
                </a:tc>
                <a:extLst>
                  <a:ext uri="{0D108BD9-81ED-4DB2-BD59-A6C34878D82A}">
                    <a16:rowId xmlns:a16="http://schemas.microsoft.com/office/drawing/2014/main" val="1700657450"/>
                  </a:ext>
                </a:extLst>
              </a:tr>
              <a:tr h="362611">
                <a:tc>
                  <a:txBody>
                    <a:bodyPr/>
                    <a:lstStyle/>
                    <a:p>
                      <a:pPr>
                        <a:buNone/>
                      </a:pPr>
                      <a:r>
                        <a:rPr lang="en-CA" sz="1800"/>
                        <a:t>PTPN2</a:t>
                      </a:r>
                    </a:p>
                  </a:txBody>
                  <a:tcPr marL="90653" marR="90653" marT="45326" marB="45326" anchor="ctr">
                    <a:lnL>
                      <a:noFill/>
                    </a:lnL>
                    <a:lnR>
                      <a:noFill/>
                    </a:lnR>
                    <a:lnT>
                      <a:noFill/>
                    </a:lnT>
                    <a:lnB>
                      <a:noFill/>
                    </a:lnB>
                    <a:noFill/>
                  </a:tcPr>
                </a:tc>
                <a:tc>
                  <a:txBody>
                    <a:bodyPr/>
                    <a:lstStyle/>
                    <a:p>
                      <a:pPr>
                        <a:buNone/>
                      </a:pPr>
                      <a:r>
                        <a:rPr lang="en-CA" sz="1800"/>
                        <a:t>PPO (Test)</a:t>
                      </a:r>
                    </a:p>
                  </a:txBody>
                  <a:tcPr marL="90653" marR="90653" marT="45326" marB="45326" anchor="ctr">
                    <a:lnL>
                      <a:noFill/>
                    </a:lnL>
                    <a:lnR>
                      <a:noFill/>
                    </a:lnR>
                    <a:lnT>
                      <a:noFill/>
                    </a:lnT>
                    <a:lnB>
                      <a:noFill/>
                    </a:lnB>
                    <a:noFill/>
                  </a:tcPr>
                </a:tc>
                <a:tc>
                  <a:txBody>
                    <a:bodyPr/>
                    <a:lstStyle/>
                    <a:p>
                      <a:pPr>
                        <a:buNone/>
                      </a:pPr>
                      <a:r>
                        <a:rPr lang="en-CA" sz="1800"/>
                        <a:t>0.000</a:t>
                      </a:r>
                    </a:p>
                  </a:txBody>
                  <a:tcPr marL="90653" marR="90653" marT="45326" marB="45326" anchor="ctr">
                    <a:lnL>
                      <a:noFill/>
                    </a:lnL>
                    <a:lnR>
                      <a:noFill/>
                    </a:lnR>
                    <a:lnT>
                      <a:noFill/>
                    </a:lnT>
                    <a:lnB>
                      <a:noFill/>
                    </a:lnB>
                    <a:noFill/>
                  </a:tcPr>
                </a:tc>
                <a:tc>
                  <a:txBody>
                    <a:bodyPr/>
                    <a:lstStyle/>
                    <a:p>
                      <a:pPr>
                        <a:buNone/>
                      </a:pPr>
                      <a:r>
                        <a:rPr lang="en-CA" sz="1800"/>
                        <a:t>0.000</a:t>
                      </a:r>
                    </a:p>
                  </a:txBody>
                  <a:tcPr marL="90653" marR="90653" marT="45326" marB="45326" anchor="ctr">
                    <a:lnL>
                      <a:noFill/>
                    </a:lnL>
                    <a:lnR>
                      <a:noFill/>
                    </a:lnR>
                    <a:lnT>
                      <a:noFill/>
                    </a:lnT>
                    <a:lnB>
                      <a:noFill/>
                    </a:lnB>
                    <a:noFill/>
                  </a:tcPr>
                </a:tc>
                <a:tc>
                  <a:txBody>
                    <a:bodyPr/>
                    <a:lstStyle/>
                    <a:p>
                      <a:pPr>
                        <a:buNone/>
                      </a:pPr>
                      <a:r>
                        <a:rPr lang="en-CA" sz="1800"/>
                        <a:t>0.000</a:t>
                      </a:r>
                    </a:p>
                  </a:txBody>
                  <a:tcPr marL="90653" marR="90653" marT="45326" marB="45326" anchor="ctr">
                    <a:lnL>
                      <a:noFill/>
                    </a:lnL>
                    <a:lnR>
                      <a:noFill/>
                    </a:lnR>
                    <a:lnT>
                      <a:noFill/>
                    </a:lnT>
                    <a:lnB>
                      <a:noFill/>
                    </a:lnB>
                    <a:noFill/>
                  </a:tcPr>
                </a:tc>
                <a:tc>
                  <a:txBody>
                    <a:bodyPr/>
                    <a:lstStyle/>
                    <a:p>
                      <a:pPr>
                        <a:buNone/>
                      </a:pPr>
                      <a:r>
                        <a:rPr lang="en-CA" sz="1800"/>
                        <a:t>1.000</a:t>
                      </a:r>
                    </a:p>
                  </a:txBody>
                  <a:tcPr marL="90653" marR="90653" marT="45326" marB="45326" anchor="ctr">
                    <a:lnL>
                      <a:noFill/>
                    </a:lnL>
                    <a:lnR>
                      <a:noFill/>
                    </a:lnR>
                    <a:lnT>
                      <a:noFill/>
                    </a:lnT>
                    <a:lnB>
                      <a:noFill/>
                    </a:lnB>
                    <a:noFill/>
                  </a:tcPr>
                </a:tc>
                <a:tc>
                  <a:txBody>
                    <a:bodyPr/>
                    <a:lstStyle/>
                    <a:p>
                      <a:pPr>
                        <a:buNone/>
                      </a:pPr>
                      <a:r>
                        <a:rPr lang="en-CA" sz="1800"/>
                        <a:t>1.000</a:t>
                      </a:r>
                    </a:p>
                  </a:txBody>
                  <a:tcPr marL="90653" marR="90653" marT="45326" marB="45326" anchor="ctr">
                    <a:lnL>
                      <a:noFill/>
                    </a:lnL>
                    <a:lnR>
                      <a:noFill/>
                    </a:lnR>
                    <a:lnT>
                      <a:noFill/>
                    </a:lnT>
                    <a:lnB>
                      <a:noFill/>
                    </a:lnB>
                    <a:noFill/>
                  </a:tcPr>
                </a:tc>
                <a:extLst>
                  <a:ext uri="{0D108BD9-81ED-4DB2-BD59-A6C34878D82A}">
                    <a16:rowId xmlns:a16="http://schemas.microsoft.com/office/drawing/2014/main" val="4031135242"/>
                  </a:ext>
                </a:extLst>
              </a:tr>
              <a:tr h="362611">
                <a:tc>
                  <a:txBody>
                    <a:bodyPr/>
                    <a:lstStyle/>
                    <a:p>
                      <a:pPr>
                        <a:buNone/>
                      </a:pPr>
                      <a:r>
                        <a:rPr lang="en-CA" sz="1800"/>
                        <a:t>PTPN2</a:t>
                      </a:r>
                    </a:p>
                  </a:txBody>
                  <a:tcPr marL="90653" marR="90653" marT="45326" marB="45326" anchor="ctr">
                    <a:lnL>
                      <a:noFill/>
                    </a:lnL>
                    <a:lnR>
                      <a:noFill/>
                    </a:lnR>
                    <a:lnT>
                      <a:noFill/>
                    </a:lnT>
                    <a:lnB>
                      <a:noFill/>
                    </a:lnB>
                    <a:noFill/>
                  </a:tcPr>
                </a:tc>
                <a:tc>
                  <a:txBody>
                    <a:bodyPr/>
                    <a:lstStyle/>
                    <a:p>
                      <a:pPr>
                        <a:buNone/>
                      </a:pPr>
                      <a:r>
                        <a:rPr lang="en-CA" sz="1800"/>
                        <a:t>PPO (Train)</a:t>
                      </a:r>
                    </a:p>
                  </a:txBody>
                  <a:tcPr marL="90653" marR="90653" marT="45326" marB="45326" anchor="ctr">
                    <a:lnL>
                      <a:noFill/>
                    </a:lnL>
                    <a:lnR>
                      <a:noFill/>
                    </a:lnR>
                    <a:lnT>
                      <a:noFill/>
                    </a:lnT>
                    <a:lnB>
                      <a:noFill/>
                    </a:lnB>
                    <a:noFill/>
                  </a:tcPr>
                </a:tc>
                <a:tc>
                  <a:txBody>
                    <a:bodyPr/>
                    <a:lstStyle/>
                    <a:p>
                      <a:pPr>
                        <a:buNone/>
                      </a:pPr>
                      <a:r>
                        <a:rPr lang="en-CA" sz="1800"/>
                        <a:t>0.000</a:t>
                      </a:r>
                    </a:p>
                  </a:txBody>
                  <a:tcPr marL="90653" marR="90653" marT="45326" marB="45326" anchor="ctr">
                    <a:lnL>
                      <a:noFill/>
                    </a:lnL>
                    <a:lnR>
                      <a:noFill/>
                    </a:lnR>
                    <a:lnT>
                      <a:noFill/>
                    </a:lnT>
                    <a:lnB>
                      <a:noFill/>
                    </a:lnB>
                    <a:noFill/>
                  </a:tcPr>
                </a:tc>
                <a:tc>
                  <a:txBody>
                    <a:bodyPr/>
                    <a:lstStyle/>
                    <a:p>
                      <a:pPr>
                        <a:buNone/>
                      </a:pPr>
                      <a:r>
                        <a:rPr lang="en-CA" sz="1800"/>
                        <a:t>0.000</a:t>
                      </a:r>
                    </a:p>
                  </a:txBody>
                  <a:tcPr marL="90653" marR="90653" marT="45326" marB="45326" anchor="ctr">
                    <a:lnL>
                      <a:noFill/>
                    </a:lnL>
                    <a:lnR>
                      <a:noFill/>
                    </a:lnR>
                    <a:lnT>
                      <a:noFill/>
                    </a:lnT>
                    <a:lnB>
                      <a:noFill/>
                    </a:lnB>
                    <a:noFill/>
                  </a:tcPr>
                </a:tc>
                <a:tc>
                  <a:txBody>
                    <a:bodyPr/>
                    <a:lstStyle/>
                    <a:p>
                      <a:pPr>
                        <a:buNone/>
                      </a:pPr>
                      <a:r>
                        <a:rPr lang="en-CA" sz="1800"/>
                        <a:t>0.000</a:t>
                      </a:r>
                    </a:p>
                  </a:txBody>
                  <a:tcPr marL="90653" marR="90653" marT="45326" marB="45326" anchor="ctr">
                    <a:lnL>
                      <a:noFill/>
                    </a:lnL>
                    <a:lnR>
                      <a:noFill/>
                    </a:lnR>
                    <a:lnT>
                      <a:noFill/>
                    </a:lnT>
                    <a:lnB>
                      <a:noFill/>
                    </a:lnB>
                    <a:noFill/>
                  </a:tcPr>
                </a:tc>
                <a:tc>
                  <a:txBody>
                    <a:bodyPr/>
                    <a:lstStyle/>
                    <a:p>
                      <a:pPr>
                        <a:buNone/>
                      </a:pPr>
                      <a:r>
                        <a:rPr lang="en-CA" sz="1800"/>
                        <a:t>1.000</a:t>
                      </a:r>
                    </a:p>
                  </a:txBody>
                  <a:tcPr marL="90653" marR="90653" marT="45326" marB="45326" anchor="ctr">
                    <a:lnL>
                      <a:noFill/>
                    </a:lnL>
                    <a:lnR>
                      <a:noFill/>
                    </a:lnR>
                    <a:lnT>
                      <a:noFill/>
                    </a:lnT>
                    <a:lnB>
                      <a:noFill/>
                    </a:lnB>
                    <a:noFill/>
                  </a:tcPr>
                </a:tc>
                <a:tc>
                  <a:txBody>
                    <a:bodyPr/>
                    <a:lstStyle/>
                    <a:p>
                      <a:pPr>
                        <a:buNone/>
                      </a:pPr>
                      <a:r>
                        <a:rPr lang="en-CA" sz="1800"/>
                        <a:t>1.000</a:t>
                      </a:r>
                    </a:p>
                  </a:txBody>
                  <a:tcPr marL="90653" marR="90653" marT="45326" marB="45326" anchor="ctr">
                    <a:lnL>
                      <a:noFill/>
                    </a:lnL>
                    <a:lnR>
                      <a:noFill/>
                    </a:lnR>
                    <a:lnT>
                      <a:noFill/>
                    </a:lnT>
                    <a:lnB>
                      <a:noFill/>
                    </a:lnB>
                    <a:noFill/>
                  </a:tcPr>
                </a:tc>
                <a:extLst>
                  <a:ext uri="{0D108BD9-81ED-4DB2-BD59-A6C34878D82A}">
                    <a16:rowId xmlns:a16="http://schemas.microsoft.com/office/drawing/2014/main" val="1802902718"/>
                  </a:ext>
                </a:extLst>
              </a:tr>
              <a:tr h="634570">
                <a:tc>
                  <a:txBody>
                    <a:bodyPr/>
                    <a:lstStyle/>
                    <a:p>
                      <a:pPr>
                        <a:buNone/>
                      </a:pPr>
                      <a:r>
                        <a:rPr lang="en-CA" sz="1800"/>
                        <a:t>PTPN2</a:t>
                      </a:r>
                    </a:p>
                  </a:txBody>
                  <a:tcPr marL="90653" marR="90653" marT="45326" marB="45326" anchor="ctr">
                    <a:lnL>
                      <a:noFill/>
                    </a:lnL>
                    <a:lnR>
                      <a:noFill/>
                    </a:lnR>
                    <a:lnT>
                      <a:noFill/>
                    </a:lnT>
                    <a:lnB>
                      <a:noFill/>
                    </a:lnB>
                    <a:noFill/>
                  </a:tcPr>
                </a:tc>
                <a:tc>
                  <a:txBody>
                    <a:bodyPr/>
                    <a:lstStyle/>
                    <a:p>
                      <a:pPr>
                        <a:buNone/>
                      </a:pPr>
                      <a:r>
                        <a:rPr lang="en-CA" sz="1800"/>
                        <a:t>TRPO→PPO (Test)</a:t>
                      </a:r>
                    </a:p>
                  </a:txBody>
                  <a:tcPr marL="90653" marR="90653" marT="45326" marB="45326" anchor="ctr">
                    <a:lnL>
                      <a:noFill/>
                    </a:lnL>
                    <a:lnR>
                      <a:noFill/>
                    </a:lnR>
                    <a:lnT>
                      <a:noFill/>
                    </a:lnT>
                    <a:lnB>
                      <a:noFill/>
                    </a:lnB>
                    <a:noFill/>
                  </a:tcPr>
                </a:tc>
                <a:tc>
                  <a:txBody>
                    <a:bodyPr/>
                    <a:lstStyle/>
                    <a:p>
                      <a:pPr>
                        <a:buNone/>
                      </a:pPr>
                      <a:r>
                        <a:rPr lang="en-CA" sz="1800"/>
                        <a:t>0.000</a:t>
                      </a:r>
                    </a:p>
                  </a:txBody>
                  <a:tcPr marL="90653" marR="90653" marT="45326" marB="45326" anchor="ctr">
                    <a:lnL>
                      <a:noFill/>
                    </a:lnL>
                    <a:lnR>
                      <a:noFill/>
                    </a:lnR>
                    <a:lnT>
                      <a:noFill/>
                    </a:lnT>
                    <a:lnB>
                      <a:noFill/>
                    </a:lnB>
                    <a:noFill/>
                  </a:tcPr>
                </a:tc>
                <a:tc>
                  <a:txBody>
                    <a:bodyPr/>
                    <a:lstStyle/>
                    <a:p>
                      <a:pPr>
                        <a:buNone/>
                      </a:pPr>
                      <a:r>
                        <a:rPr lang="en-CA" sz="1800"/>
                        <a:t>0.000</a:t>
                      </a:r>
                    </a:p>
                  </a:txBody>
                  <a:tcPr marL="90653" marR="90653" marT="45326" marB="45326" anchor="ctr">
                    <a:lnL>
                      <a:noFill/>
                    </a:lnL>
                    <a:lnR>
                      <a:noFill/>
                    </a:lnR>
                    <a:lnT>
                      <a:noFill/>
                    </a:lnT>
                    <a:lnB>
                      <a:noFill/>
                    </a:lnB>
                    <a:noFill/>
                  </a:tcPr>
                </a:tc>
                <a:tc>
                  <a:txBody>
                    <a:bodyPr/>
                    <a:lstStyle/>
                    <a:p>
                      <a:pPr>
                        <a:buNone/>
                      </a:pPr>
                      <a:r>
                        <a:rPr lang="en-CA" sz="1800"/>
                        <a:t>0.000</a:t>
                      </a:r>
                    </a:p>
                  </a:txBody>
                  <a:tcPr marL="90653" marR="90653" marT="45326" marB="45326" anchor="ctr">
                    <a:lnL>
                      <a:noFill/>
                    </a:lnL>
                    <a:lnR>
                      <a:noFill/>
                    </a:lnR>
                    <a:lnT>
                      <a:noFill/>
                    </a:lnT>
                    <a:lnB>
                      <a:noFill/>
                    </a:lnB>
                    <a:noFill/>
                  </a:tcPr>
                </a:tc>
                <a:tc>
                  <a:txBody>
                    <a:bodyPr/>
                    <a:lstStyle/>
                    <a:p>
                      <a:pPr>
                        <a:buNone/>
                      </a:pPr>
                      <a:r>
                        <a:rPr lang="en-CA" sz="1800"/>
                        <a:t>1.000</a:t>
                      </a:r>
                    </a:p>
                  </a:txBody>
                  <a:tcPr marL="90653" marR="90653" marT="45326" marB="45326" anchor="ctr">
                    <a:lnL>
                      <a:noFill/>
                    </a:lnL>
                    <a:lnR>
                      <a:noFill/>
                    </a:lnR>
                    <a:lnT>
                      <a:noFill/>
                    </a:lnT>
                    <a:lnB>
                      <a:noFill/>
                    </a:lnB>
                    <a:noFill/>
                  </a:tcPr>
                </a:tc>
                <a:tc>
                  <a:txBody>
                    <a:bodyPr/>
                    <a:lstStyle/>
                    <a:p>
                      <a:pPr>
                        <a:buNone/>
                      </a:pPr>
                      <a:r>
                        <a:rPr lang="en-CA" sz="1800"/>
                        <a:t>1.000</a:t>
                      </a:r>
                    </a:p>
                  </a:txBody>
                  <a:tcPr marL="90653" marR="90653" marT="45326" marB="45326" anchor="ctr">
                    <a:lnL>
                      <a:noFill/>
                    </a:lnL>
                    <a:lnR>
                      <a:noFill/>
                    </a:lnR>
                    <a:lnT>
                      <a:noFill/>
                    </a:lnT>
                    <a:lnB>
                      <a:noFill/>
                    </a:lnB>
                    <a:noFill/>
                  </a:tcPr>
                </a:tc>
                <a:extLst>
                  <a:ext uri="{0D108BD9-81ED-4DB2-BD59-A6C34878D82A}">
                    <a16:rowId xmlns:a16="http://schemas.microsoft.com/office/drawing/2014/main" val="4161667456"/>
                  </a:ext>
                </a:extLst>
              </a:tr>
              <a:tr h="634570">
                <a:tc>
                  <a:txBody>
                    <a:bodyPr/>
                    <a:lstStyle/>
                    <a:p>
                      <a:pPr>
                        <a:buNone/>
                      </a:pPr>
                      <a:r>
                        <a:rPr lang="en-CA" sz="1800"/>
                        <a:t>PTPN2</a:t>
                      </a:r>
                    </a:p>
                  </a:txBody>
                  <a:tcPr marL="90653" marR="90653" marT="45326" marB="45326" anchor="ctr">
                    <a:lnL>
                      <a:noFill/>
                    </a:lnL>
                    <a:lnR>
                      <a:noFill/>
                    </a:lnR>
                    <a:lnT>
                      <a:noFill/>
                    </a:lnT>
                    <a:lnB>
                      <a:noFill/>
                    </a:lnB>
                    <a:noFill/>
                  </a:tcPr>
                </a:tc>
                <a:tc>
                  <a:txBody>
                    <a:bodyPr/>
                    <a:lstStyle/>
                    <a:p>
                      <a:pPr>
                        <a:buNone/>
                      </a:pPr>
                      <a:r>
                        <a:rPr lang="en-CA" sz="1800"/>
                        <a:t>TRPO→PPO (Train)</a:t>
                      </a:r>
                    </a:p>
                  </a:txBody>
                  <a:tcPr marL="90653" marR="90653" marT="45326" marB="45326" anchor="ctr">
                    <a:lnL>
                      <a:noFill/>
                    </a:lnL>
                    <a:lnR>
                      <a:noFill/>
                    </a:lnR>
                    <a:lnT>
                      <a:noFill/>
                    </a:lnT>
                    <a:lnB>
                      <a:noFill/>
                    </a:lnB>
                    <a:noFill/>
                  </a:tcPr>
                </a:tc>
                <a:tc>
                  <a:txBody>
                    <a:bodyPr/>
                    <a:lstStyle/>
                    <a:p>
                      <a:pPr>
                        <a:buNone/>
                      </a:pPr>
                      <a:r>
                        <a:rPr lang="en-CA" sz="1800"/>
                        <a:t>0.000</a:t>
                      </a:r>
                    </a:p>
                  </a:txBody>
                  <a:tcPr marL="90653" marR="90653" marT="45326" marB="45326" anchor="ctr">
                    <a:lnL>
                      <a:noFill/>
                    </a:lnL>
                    <a:lnR>
                      <a:noFill/>
                    </a:lnR>
                    <a:lnT>
                      <a:noFill/>
                    </a:lnT>
                    <a:lnB>
                      <a:noFill/>
                    </a:lnB>
                    <a:noFill/>
                  </a:tcPr>
                </a:tc>
                <a:tc>
                  <a:txBody>
                    <a:bodyPr/>
                    <a:lstStyle/>
                    <a:p>
                      <a:pPr>
                        <a:buNone/>
                      </a:pPr>
                      <a:r>
                        <a:rPr lang="en-CA" sz="1800"/>
                        <a:t>0.000</a:t>
                      </a:r>
                    </a:p>
                  </a:txBody>
                  <a:tcPr marL="90653" marR="90653" marT="45326" marB="45326" anchor="ctr">
                    <a:lnL>
                      <a:noFill/>
                    </a:lnL>
                    <a:lnR>
                      <a:noFill/>
                    </a:lnR>
                    <a:lnT>
                      <a:noFill/>
                    </a:lnT>
                    <a:lnB>
                      <a:noFill/>
                    </a:lnB>
                    <a:noFill/>
                  </a:tcPr>
                </a:tc>
                <a:tc>
                  <a:txBody>
                    <a:bodyPr/>
                    <a:lstStyle/>
                    <a:p>
                      <a:pPr>
                        <a:buNone/>
                      </a:pPr>
                      <a:r>
                        <a:rPr lang="en-CA" sz="1800"/>
                        <a:t>0.000</a:t>
                      </a:r>
                    </a:p>
                  </a:txBody>
                  <a:tcPr marL="90653" marR="90653" marT="45326" marB="45326" anchor="ctr">
                    <a:lnL>
                      <a:noFill/>
                    </a:lnL>
                    <a:lnR>
                      <a:noFill/>
                    </a:lnR>
                    <a:lnT>
                      <a:noFill/>
                    </a:lnT>
                    <a:lnB>
                      <a:noFill/>
                    </a:lnB>
                    <a:noFill/>
                  </a:tcPr>
                </a:tc>
                <a:tc>
                  <a:txBody>
                    <a:bodyPr/>
                    <a:lstStyle/>
                    <a:p>
                      <a:pPr>
                        <a:buNone/>
                      </a:pPr>
                      <a:r>
                        <a:rPr lang="en-CA" sz="1800"/>
                        <a:t>1.000</a:t>
                      </a:r>
                    </a:p>
                  </a:txBody>
                  <a:tcPr marL="90653" marR="90653" marT="45326" marB="45326" anchor="ctr">
                    <a:lnL>
                      <a:noFill/>
                    </a:lnL>
                    <a:lnR>
                      <a:noFill/>
                    </a:lnR>
                    <a:lnT>
                      <a:noFill/>
                    </a:lnT>
                    <a:lnB>
                      <a:noFill/>
                    </a:lnB>
                    <a:noFill/>
                  </a:tcPr>
                </a:tc>
                <a:tc>
                  <a:txBody>
                    <a:bodyPr/>
                    <a:lstStyle/>
                    <a:p>
                      <a:pPr>
                        <a:buNone/>
                      </a:pPr>
                      <a:r>
                        <a:rPr lang="en-CA" sz="1800" dirty="0"/>
                        <a:t>1.000</a:t>
                      </a:r>
                    </a:p>
                  </a:txBody>
                  <a:tcPr marL="90653" marR="90653" marT="45326" marB="45326" anchor="ctr">
                    <a:lnL>
                      <a:noFill/>
                    </a:lnL>
                    <a:lnR>
                      <a:noFill/>
                    </a:lnR>
                    <a:lnT>
                      <a:noFill/>
                    </a:lnT>
                    <a:lnB>
                      <a:noFill/>
                    </a:lnB>
                    <a:noFill/>
                  </a:tcPr>
                </a:tc>
                <a:extLst>
                  <a:ext uri="{0D108BD9-81ED-4DB2-BD59-A6C34878D82A}">
                    <a16:rowId xmlns:a16="http://schemas.microsoft.com/office/drawing/2014/main" val="3527228105"/>
                  </a:ext>
                </a:extLst>
              </a:tr>
            </a:tbl>
          </a:graphicData>
        </a:graphic>
      </p:graphicFrame>
    </p:spTree>
    <p:extLst>
      <p:ext uri="{BB962C8B-B14F-4D97-AF65-F5344CB8AC3E}">
        <p14:creationId xmlns:p14="http://schemas.microsoft.com/office/powerpoint/2010/main" val="18210267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379E1-E4B9-D067-BB57-5A8FAA198733}"/>
              </a:ext>
            </a:extLst>
          </p:cNvPr>
          <p:cNvSpPr>
            <a:spLocks noGrp="1"/>
          </p:cNvSpPr>
          <p:nvPr>
            <p:ph type="title"/>
          </p:nvPr>
        </p:nvSpPr>
        <p:spPr/>
        <p:txBody>
          <a:bodyPr>
            <a:normAutofit/>
          </a:bodyPr>
          <a:lstStyle/>
          <a:p>
            <a:r>
              <a:rPr lang="en-US" sz="2400" b="1" dirty="0"/>
              <a:t>Results</a:t>
            </a:r>
            <a:endParaRPr lang="en-CA" sz="2400" b="1" dirty="0"/>
          </a:p>
        </p:txBody>
      </p:sp>
      <p:pic>
        <p:nvPicPr>
          <p:cNvPr id="2050" name="Picture 2">
            <a:extLst>
              <a:ext uri="{FF2B5EF4-FFF2-40B4-BE49-F238E27FC236}">
                <a16:creationId xmlns:a16="http://schemas.microsoft.com/office/drawing/2014/main" id="{D823702F-4671-44B4-696B-17AD4C31B2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8448" y="1690688"/>
            <a:ext cx="8897112" cy="45315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70048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F1000D-1C8E-2F1B-B07B-51EF429F518A}"/>
              </a:ext>
            </a:extLst>
          </p:cNvPr>
          <p:cNvSpPr>
            <a:spLocks noGrp="1"/>
          </p:cNvSpPr>
          <p:nvPr>
            <p:ph type="title"/>
          </p:nvPr>
        </p:nvSpPr>
        <p:spPr>
          <a:xfrm>
            <a:off x="1043631" y="809898"/>
            <a:ext cx="10173010" cy="1554480"/>
          </a:xfrm>
        </p:spPr>
        <p:txBody>
          <a:bodyPr anchor="ctr">
            <a:normAutofit/>
          </a:bodyPr>
          <a:lstStyle/>
          <a:p>
            <a:r>
              <a:rPr lang="en-CA" sz="2400" b="1" dirty="0">
                <a:latin typeface="Times New Roman" panose="02020603050405020304" pitchFamily="18" charset="0"/>
                <a:cs typeface="Times New Roman" panose="02020603050405020304" pitchFamily="18" charset="0"/>
              </a:rPr>
              <a:t>Expected Impact</a:t>
            </a:r>
            <a:br>
              <a:rPr lang="en-CA" sz="4800" b="1" dirty="0">
                <a:latin typeface="Times New Roman" panose="02020603050405020304" pitchFamily="18" charset="0"/>
                <a:cs typeface="Times New Roman" panose="02020603050405020304" pitchFamily="18" charset="0"/>
              </a:rPr>
            </a:br>
            <a:endParaRPr lang="en-CA" sz="4800" dirty="0">
              <a:latin typeface="Times New Roman" panose="02020603050405020304" pitchFamily="18" charset="0"/>
              <a:cs typeface="Times New Roman" panose="02020603050405020304" pitchFamily="18" charset="0"/>
            </a:endParaRP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4B034FA6-CFEC-6BBB-BE60-D6D98D39226F}"/>
              </a:ext>
            </a:extLst>
          </p:cNvPr>
          <p:cNvGraphicFramePr>
            <a:graphicFrameLocks noGrp="1"/>
          </p:cNvGraphicFramePr>
          <p:nvPr>
            <p:ph idx="1"/>
            <p:extLst>
              <p:ext uri="{D42A27DB-BD31-4B8C-83A1-F6EECF244321}">
                <p14:modId xmlns:p14="http://schemas.microsoft.com/office/powerpoint/2010/main" val="2525633962"/>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024397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53A02-CB75-0712-CB58-E7E92E2DAFD8}"/>
              </a:ext>
            </a:extLst>
          </p:cNvPr>
          <p:cNvSpPr>
            <a:spLocks noGrp="1"/>
          </p:cNvSpPr>
          <p:nvPr>
            <p:ph type="title"/>
          </p:nvPr>
        </p:nvSpPr>
        <p:spPr>
          <a:xfrm>
            <a:off x="612648" y="336375"/>
            <a:ext cx="10338816" cy="796163"/>
          </a:xfrm>
        </p:spPr>
        <p:txBody>
          <a:bodyPr>
            <a:normAutofit/>
          </a:bodyPr>
          <a:lstStyle/>
          <a:p>
            <a:r>
              <a:rPr lang="en-US" sz="2400" b="1" dirty="0"/>
              <a:t>Unified Pipeline</a:t>
            </a:r>
            <a:endParaRPr lang="en-CA" sz="2400" b="1" dirty="0"/>
          </a:p>
        </p:txBody>
      </p:sp>
      <p:sp>
        <p:nvSpPr>
          <p:cNvPr id="5" name="TextBox 4">
            <a:extLst>
              <a:ext uri="{FF2B5EF4-FFF2-40B4-BE49-F238E27FC236}">
                <a16:creationId xmlns:a16="http://schemas.microsoft.com/office/drawing/2014/main" id="{6222B3F3-16D9-8A76-AC79-F70C9EE33F49}"/>
              </a:ext>
            </a:extLst>
          </p:cNvPr>
          <p:cNvSpPr txBox="1"/>
          <p:nvPr/>
        </p:nvSpPr>
        <p:spPr>
          <a:xfrm>
            <a:off x="1188720" y="2840659"/>
            <a:ext cx="9141714" cy="369332"/>
          </a:xfrm>
          <a:prstGeom prst="rect">
            <a:avLst/>
          </a:prstGeom>
          <a:noFill/>
        </p:spPr>
        <p:txBody>
          <a:bodyPr wrap="square">
            <a:spAutoFit/>
          </a:bodyPr>
          <a:lstStyle/>
          <a:p>
            <a:r>
              <a:rPr lang="en-CA" dirty="0"/>
              <a:t>https://colab.research.google.com/drive/1e0zO1X-GQaT0OJ5-DL-6MZQvFfINRBPB?usp=sharing</a:t>
            </a:r>
          </a:p>
        </p:txBody>
      </p:sp>
    </p:spTree>
    <p:extLst>
      <p:ext uri="{BB962C8B-B14F-4D97-AF65-F5344CB8AC3E}">
        <p14:creationId xmlns:p14="http://schemas.microsoft.com/office/powerpoint/2010/main" val="11854940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7E5A5-573C-90CA-E5BB-90053B8FC229}"/>
              </a:ext>
            </a:extLst>
          </p:cNvPr>
          <p:cNvSpPr>
            <a:spLocks noGrp="1"/>
          </p:cNvSpPr>
          <p:nvPr>
            <p:ph type="title"/>
          </p:nvPr>
        </p:nvSpPr>
        <p:spPr/>
        <p:txBody>
          <a:bodyPr>
            <a:normAutofit/>
          </a:bodyPr>
          <a:lstStyle/>
          <a:p>
            <a:r>
              <a:rPr lang="en-US" sz="2400" b="1" dirty="0"/>
              <a:t>Future Work</a:t>
            </a:r>
            <a:endParaRPr lang="en-CA" sz="2400" b="1" dirty="0"/>
          </a:p>
        </p:txBody>
      </p:sp>
      <p:sp>
        <p:nvSpPr>
          <p:cNvPr id="9" name="Rectangle 4">
            <a:extLst>
              <a:ext uri="{FF2B5EF4-FFF2-40B4-BE49-F238E27FC236}">
                <a16:creationId xmlns:a16="http://schemas.microsoft.com/office/drawing/2014/main" id="{5981393E-4D40-A183-4702-E36306975BAF}"/>
              </a:ext>
            </a:extLst>
          </p:cNvPr>
          <p:cNvSpPr>
            <a:spLocks noGrp="1" noChangeArrowheads="1"/>
          </p:cNvSpPr>
          <p:nvPr>
            <p:ph idx="1"/>
          </p:nvPr>
        </p:nvSpPr>
        <p:spPr bwMode="auto">
          <a:xfrm>
            <a:off x="527305" y="1379855"/>
            <a:ext cx="10207752"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u="none" strike="noStrike" cap="none" normalizeH="0" baseline="0" dirty="0">
                <a:ln>
                  <a:noFill/>
                </a:ln>
                <a:solidFill>
                  <a:schemeClr val="tx1"/>
                </a:solidFill>
                <a:effectLst/>
              </a:rPr>
              <a:t>Overfitting control</a:t>
            </a:r>
            <a:br>
              <a:rPr kumimoji="0" lang="en-US" altLang="en-US" sz="1600" u="none" strike="noStrike" cap="none" normalizeH="0" baseline="0" dirty="0">
                <a:ln>
                  <a:noFill/>
                </a:ln>
                <a:solidFill>
                  <a:schemeClr val="tx1"/>
                </a:solidFill>
                <a:effectLst/>
              </a:rPr>
            </a:br>
            <a:r>
              <a:rPr kumimoji="0" lang="en-US" altLang="en-US" sz="1600" u="none" strike="noStrike" cap="none" normalizeH="0" baseline="0" dirty="0">
                <a:ln>
                  <a:noFill/>
                </a:ln>
                <a:solidFill>
                  <a:schemeClr val="tx1"/>
                </a:solidFill>
                <a:effectLst/>
              </a:rPr>
              <a:t>Develop robust strategies to detect and mitigate overfitting between training and evaluation models.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u="none" strike="noStrike" cap="none" normalizeH="0" baseline="0" dirty="0">
                <a:ln>
                  <a:noFill/>
                </a:ln>
                <a:solidFill>
                  <a:schemeClr val="tx1"/>
                </a:solidFill>
                <a:effectLst/>
              </a:rPr>
              <a:t>Selection of top genes</a:t>
            </a:r>
            <a:br>
              <a:rPr kumimoji="0" lang="en-US" altLang="en-US" sz="1600" u="none" strike="noStrike" cap="none" normalizeH="0" baseline="0" dirty="0">
                <a:ln>
                  <a:noFill/>
                </a:ln>
                <a:solidFill>
                  <a:schemeClr val="tx1"/>
                </a:solidFill>
                <a:effectLst/>
              </a:rPr>
            </a:br>
            <a:r>
              <a:rPr kumimoji="0" lang="en-US" altLang="en-US" sz="1600" u="none" strike="noStrike" cap="none" normalizeH="0" baseline="0" dirty="0">
                <a:ln>
                  <a:noFill/>
                </a:ln>
                <a:solidFill>
                  <a:schemeClr val="tx1"/>
                </a:solidFill>
                <a:effectLst/>
              </a:rPr>
              <a:t>Systematically identify the optimal number of top genes(expressive genes) that maximizes predictive performance while preserving biological relevance.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u="none" strike="noStrike" cap="none" normalizeH="0" baseline="0" dirty="0">
                <a:ln>
                  <a:noFill/>
                </a:ln>
                <a:solidFill>
                  <a:schemeClr val="tx1"/>
                </a:solidFill>
                <a:effectLst/>
              </a:rPr>
              <a:t>In-silico and experimental evaluation datasets</a:t>
            </a:r>
            <a:br>
              <a:rPr kumimoji="0" lang="en-US" altLang="en-US" sz="1600" u="none" strike="noStrike" cap="none" normalizeH="0" baseline="0" dirty="0">
                <a:ln>
                  <a:noFill/>
                </a:ln>
                <a:solidFill>
                  <a:schemeClr val="tx1"/>
                </a:solidFill>
                <a:effectLst/>
              </a:rPr>
            </a:br>
            <a:r>
              <a:rPr kumimoji="0" lang="en-US" altLang="en-US" sz="1600" u="none" strike="noStrike" cap="none" normalizeH="0" baseline="0" dirty="0">
                <a:ln>
                  <a:noFill/>
                </a:ln>
                <a:solidFill>
                  <a:schemeClr val="tx1"/>
                </a:solidFill>
                <a:effectLst/>
              </a:rPr>
              <a:t>Select independent in-silico and experimental out-of-sample datasets for rigorous external validation of the proposed framework.</a:t>
            </a:r>
          </a:p>
        </p:txBody>
      </p:sp>
    </p:spTree>
    <p:extLst>
      <p:ext uri="{BB962C8B-B14F-4D97-AF65-F5344CB8AC3E}">
        <p14:creationId xmlns:p14="http://schemas.microsoft.com/office/powerpoint/2010/main" val="2792490115"/>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1290</TotalTime>
  <Words>2575</Words>
  <Application>Microsoft Office PowerPoint</Application>
  <PresentationFormat>Widescreen</PresentationFormat>
  <Paragraphs>331</Paragraphs>
  <Slides>29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-apple-system</vt:lpstr>
      <vt:lpstr>Aptos</vt:lpstr>
      <vt:lpstr>Arial</vt:lpstr>
      <vt:lpstr>Calibri</vt:lpstr>
      <vt:lpstr>Calibri Light</vt:lpstr>
      <vt:lpstr>Courier New</vt:lpstr>
      <vt:lpstr>Times New Roman</vt:lpstr>
      <vt:lpstr>Verdana</vt:lpstr>
      <vt:lpstr>Office 2013 - 2022 Theme</vt:lpstr>
      <vt:lpstr>Escaping Local Optima in the Waddington Landscape: A Multi-Stage TRPO-PPO Approach for Single-Cell Gene Perturbation Analysis  Boabang Francis</vt:lpstr>
      <vt:lpstr>Content</vt:lpstr>
      <vt:lpstr>Background</vt:lpstr>
      <vt:lpstr>Gaps in the Research</vt:lpstr>
      <vt:lpstr>Proposed Solution: Using Initialization Strategies to Address Nonlinearity in Developmental Biology </vt:lpstr>
      <vt:lpstr>Datasets</vt:lpstr>
      <vt:lpstr>Sample Data Example </vt:lpstr>
      <vt:lpstr>Model Design</vt:lpstr>
      <vt:lpstr>Simulated Hardware and Software for Gene Perturbation Analysis</vt:lpstr>
      <vt:lpstr>             Crisper Knockout</vt:lpstr>
      <vt:lpstr>Crispr Knockout (Single Perturbation)</vt:lpstr>
      <vt:lpstr>RNA Dataset Description</vt:lpstr>
      <vt:lpstr>Code Link</vt:lpstr>
      <vt:lpstr>Results(Control sample/Perturbed sample)</vt:lpstr>
      <vt:lpstr>Results(Insights)</vt:lpstr>
      <vt:lpstr>Results(Trajectories Comparision hardware and Software)</vt:lpstr>
      <vt:lpstr>Insights</vt:lpstr>
      <vt:lpstr>Results(Trajectories Comparision hardware and Software)</vt:lpstr>
      <vt:lpstr>Results</vt:lpstr>
      <vt:lpstr>Insights</vt:lpstr>
      <vt:lpstr>          Drug Development</vt:lpstr>
      <vt:lpstr>Dataset and Link to Evaluation Code</vt:lpstr>
      <vt:lpstr>Results</vt:lpstr>
      <vt:lpstr>Results</vt:lpstr>
      <vt:lpstr>Results</vt:lpstr>
      <vt:lpstr>Results</vt:lpstr>
      <vt:lpstr>Expected Impact </vt:lpstr>
      <vt:lpstr>Unified Pipeline</vt:lpstr>
      <vt:lpstr>Future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Francis Boabang</dc:creator>
  <cp:lastModifiedBy>Francis Boabang</cp:lastModifiedBy>
  <cp:revision>64</cp:revision>
  <dcterms:created xsi:type="dcterms:W3CDTF">2025-11-12T22:28:05Z</dcterms:created>
  <dcterms:modified xsi:type="dcterms:W3CDTF">2026-01-06T19:05:50Z</dcterms:modified>
</cp:coreProperties>
</file>