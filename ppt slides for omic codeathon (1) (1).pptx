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2"/>
  </p:notesMasterIdLst>
  <p:sldIdLst>
    <p:sldId id="256" r:id="rId2"/>
    <p:sldId id="284" r:id="rId3"/>
    <p:sldId id="261" r:id="rId4"/>
    <p:sldId id="258" r:id="rId5"/>
    <p:sldId id="263" r:id="rId6"/>
    <p:sldId id="257" r:id="rId7"/>
    <p:sldId id="287" r:id="rId8"/>
    <p:sldId id="289" r:id="rId9"/>
    <p:sldId id="268" r:id="rId10"/>
    <p:sldId id="279" r:id="rId11"/>
    <p:sldId id="267" r:id="rId12"/>
    <p:sldId id="269" r:id="rId13"/>
    <p:sldId id="270" r:id="rId14"/>
    <p:sldId id="271" r:id="rId15"/>
    <p:sldId id="274" r:id="rId16"/>
    <p:sldId id="273" r:id="rId17"/>
    <p:sldId id="276" r:id="rId18"/>
    <p:sldId id="278" r:id="rId19"/>
    <p:sldId id="275" r:id="rId20"/>
    <p:sldId id="277" r:id="rId21"/>
    <p:sldId id="280" r:id="rId22"/>
    <p:sldId id="285" r:id="rId23"/>
    <p:sldId id="281" r:id="rId24"/>
    <p:sldId id="283" r:id="rId25"/>
    <p:sldId id="288" r:id="rId26"/>
    <p:sldId id="282" r:id="rId27"/>
    <p:sldId id="290" r:id="rId28"/>
    <p:sldId id="291" r:id="rId29"/>
    <p:sldId id="259" r:id="rId30"/>
    <p:sldId id="286"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68" d="100"/>
          <a:sy n="68" d="100"/>
        </p:scale>
        <p:origin x="966"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diagrams/_rels/data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2025-11-28</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2025-11-28</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2025-11-28</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2025-11-28</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2025-11-28</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2025-11-28</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2025-11-28</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2" Type="http://schemas.openxmlformats.org/officeDocument/2006/relationships/hyperlink" Target="https://drive.google.com/drive/folders/1AAI4KU9G-UHoKo72Ne6iGAaCgFPADIW3?usp=drive_link"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www.ncbi.nlm.nih.gov/geo/query/acc.cgi?acc=GSE119352" TargetMode="External"/><Relationship Id="rId2" Type="http://schemas.openxmlformats.org/officeDocument/2006/relationships/hyperlink" Target="https://colab.research.google.com/drive/1UoPEKODPjZeQ2BuGoC5iFKkUqwlj3bkm?usp=sharing"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124712" y="1162822"/>
            <a:ext cx="9942576" cy="2387600"/>
          </a:xfrm>
        </p:spPr>
        <p:txBody>
          <a:bodyPr>
            <a:normAutofit fontScale="90000"/>
          </a:bodyPr>
          <a:lstStyle/>
          <a:p>
            <a:r>
              <a:rPr lang="en-CA" sz="4000" dirty="0">
                <a:latin typeface="Times New Roman" panose="02020603050405020304" pitchFamily="18" charset="0"/>
                <a:cs typeface="Times New Roman" panose="02020603050405020304" pitchFamily="18" charset="0"/>
              </a:rPr>
              <a:t>Escaping Local Optima in the Waddington Landscape: A Multi-Stage TRPO-PPO Approach for Single-Cell Gene Perturbation Analysis</a:t>
            </a:r>
            <a:br>
              <a:rPr lang="en-CA" sz="4000" dirty="0">
                <a:latin typeface="Times New Roman" panose="02020603050405020304" pitchFamily="18" charset="0"/>
                <a:cs typeface="Times New Roman" panose="02020603050405020304" pitchFamily="18" charset="0"/>
              </a:rPr>
            </a:br>
            <a:br>
              <a:rPr lang="en-CA" sz="4000" dirty="0">
                <a:latin typeface="Times New Roman" panose="02020603050405020304" pitchFamily="18" charset="0"/>
                <a:cs typeface="Times New Roman" panose="02020603050405020304" pitchFamily="18" charset="0"/>
              </a:rPr>
            </a:br>
            <a:r>
              <a:rPr lang="en-CA" sz="2000" dirty="0">
                <a:latin typeface="Times New Roman" panose="02020603050405020304" pitchFamily="18" charset="0"/>
                <a:cs typeface="Times New Roman" panose="02020603050405020304" pitchFamily="18" charset="0"/>
              </a:rPr>
              <a:t>Boabang Francis</a:t>
            </a:r>
            <a:endParaRPr lang="en-CA" sz="2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399" y="5007747"/>
            <a:ext cx="2042889" cy="16753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01083" y="5286375"/>
            <a:ext cx="1842293" cy="13967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25D40A-C4AE-4876-9C65-DC7AF22BAEA1}"/>
              </a:ext>
            </a:extLst>
          </p:cNvPr>
          <p:cNvSpPr>
            <a:spLocks noGrp="1"/>
          </p:cNvSpPr>
          <p:nvPr>
            <p:ph type="title"/>
          </p:nvPr>
        </p:nvSpPr>
        <p:spPr/>
        <p:txBody>
          <a:bodyPr>
            <a:normAutofit/>
          </a:bodyPr>
          <a:lstStyle/>
          <a:p>
            <a:r>
              <a:rPr lang="en-US" sz="2400" b="1" dirty="0"/>
              <a:t>Content</a:t>
            </a:r>
            <a:endParaRPr lang="en-CA" sz="2400" b="1" dirty="0"/>
          </a:p>
        </p:txBody>
      </p:sp>
      <p:sp>
        <p:nvSpPr>
          <p:cNvPr id="3" name="Content Placeholder 2">
            <a:extLst>
              <a:ext uri="{FF2B5EF4-FFF2-40B4-BE49-F238E27FC236}">
                <a16:creationId xmlns:a16="http://schemas.microsoft.com/office/drawing/2014/main" id="{9ADDA3F5-0489-F0B1-F817-F5B2DE9FC7F0}"/>
              </a:ext>
            </a:extLst>
          </p:cNvPr>
          <p:cNvSpPr>
            <a:spLocks noGrp="1"/>
          </p:cNvSpPr>
          <p:nvPr>
            <p:ph idx="1"/>
          </p:nvPr>
        </p:nvSpPr>
        <p:spPr>
          <a:xfrm>
            <a:off x="838200" y="1451537"/>
            <a:ext cx="10515600" cy="4351338"/>
          </a:xfrm>
        </p:spPr>
        <p:txBody>
          <a:bodyPr>
            <a:normAutofit/>
          </a:bodyPr>
          <a:lstStyle/>
          <a:p>
            <a:r>
              <a:rPr lang="en-US" sz="1600" dirty="0">
                <a:latin typeface="Times New Roman" panose="02020603050405020304" pitchFamily="18" charset="0"/>
                <a:cs typeface="Times New Roman" panose="02020603050405020304" pitchFamily="18" charset="0"/>
              </a:rPr>
              <a:t>Background</a:t>
            </a:r>
          </a:p>
          <a:p>
            <a:r>
              <a:rPr lang="en-US" sz="1600" dirty="0">
                <a:latin typeface="Times New Roman" panose="02020603050405020304" pitchFamily="18" charset="0"/>
                <a:cs typeface="Times New Roman" panose="02020603050405020304" pitchFamily="18" charset="0"/>
              </a:rPr>
              <a:t>Gaps in the Research</a:t>
            </a:r>
          </a:p>
          <a:p>
            <a:r>
              <a:rPr lang="en-US" sz="1600" dirty="0">
                <a:latin typeface="Times New Roman" panose="02020603050405020304" pitchFamily="18" charset="0"/>
                <a:cs typeface="Times New Roman" panose="02020603050405020304" pitchFamily="18" charset="0"/>
              </a:rPr>
              <a:t>Proposed Solution</a:t>
            </a:r>
          </a:p>
          <a:p>
            <a:r>
              <a:rPr lang="en-US" sz="1600" dirty="0">
                <a:latin typeface="Times New Roman" panose="02020603050405020304" pitchFamily="18" charset="0"/>
                <a:cs typeface="Times New Roman" panose="02020603050405020304" pitchFamily="18" charset="0"/>
              </a:rPr>
              <a:t>Datasets</a:t>
            </a:r>
          </a:p>
          <a:p>
            <a:r>
              <a:rPr lang="en-US" sz="1600" dirty="0">
                <a:latin typeface="Times New Roman" panose="02020603050405020304" pitchFamily="18" charset="0"/>
                <a:cs typeface="Times New Roman" panose="02020603050405020304" pitchFamily="18" charset="0"/>
              </a:rPr>
              <a:t>Model Design </a:t>
            </a:r>
          </a:p>
          <a:p>
            <a:r>
              <a:rPr lang="en-US" sz="1600" dirty="0">
                <a:latin typeface="Times New Roman" panose="02020603050405020304" pitchFamily="18" charset="0"/>
                <a:cs typeface="Times New Roman" panose="02020603050405020304" pitchFamily="18" charset="0"/>
              </a:rPr>
              <a:t>System Design (Hardware and Software)</a:t>
            </a:r>
          </a:p>
          <a:p>
            <a:r>
              <a:rPr lang="en-US" sz="1600" dirty="0">
                <a:latin typeface="Times New Roman" panose="02020603050405020304" pitchFamily="18" charset="0"/>
                <a:cs typeface="Times New Roman" panose="02020603050405020304" pitchFamily="18" charset="0"/>
              </a:rPr>
              <a:t>Crisper Knockout Evaluation Setting</a:t>
            </a:r>
          </a:p>
          <a:p>
            <a:r>
              <a:rPr lang="en-US" sz="1600" dirty="0">
                <a:latin typeface="Times New Roman" panose="02020603050405020304" pitchFamily="18" charset="0"/>
                <a:cs typeface="Times New Roman" panose="02020603050405020304" pitchFamily="18" charset="0"/>
              </a:rPr>
              <a:t>Drug Development Evaluation Setting</a:t>
            </a:r>
          </a:p>
          <a:p>
            <a:r>
              <a:rPr lang="en-US" sz="1600" dirty="0">
                <a:latin typeface="Times New Roman" panose="02020603050405020304" pitchFamily="18" charset="0"/>
                <a:cs typeface="Times New Roman" panose="02020603050405020304" pitchFamily="18" charset="0"/>
              </a:rPr>
              <a:t>Expected Outcome</a:t>
            </a:r>
          </a:p>
          <a:p>
            <a:r>
              <a:rPr lang="en-US" sz="1600" dirty="0">
                <a:latin typeface="Times New Roman" panose="02020603050405020304" pitchFamily="18" charset="0"/>
                <a:cs typeface="Times New Roman" panose="02020603050405020304" pitchFamily="18" charset="0"/>
              </a:rPr>
              <a:t>Future Work</a:t>
            </a:r>
          </a:p>
          <a:p>
            <a:endParaRPr lang="en-US" sz="2000" dirty="0">
              <a:latin typeface="Times New Roman" panose="02020603050405020304" pitchFamily="18" charset="0"/>
              <a:cs typeface="Times New Roman" panose="02020603050405020304" pitchFamily="18" charset="0"/>
            </a:endParaRPr>
          </a:p>
          <a:p>
            <a:endParaRPr lang="en-CA"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29428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2400" dirty="0">
                <a:latin typeface="Times New Roman" panose="02020603050405020304" pitchFamily="18" charset="0"/>
                <a:cs typeface="Times New Roman" panose="02020603050405020304" pitchFamily="18" charset="0"/>
              </a:rPr>
              <a:t>Background</a:t>
            </a:r>
            <a:endParaRPr lang="en-CA" sz="2400" dirty="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a:xfrm>
            <a:off x="838200" y="365125"/>
            <a:ext cx="10515600" cy="905891"/>
          </a:xfrm>
        </p:spPr>
        <p:txBody>
          <a:bodyPr>
            <a:normAutofit fontScale="90000"/>
          </a:bodyPr>
          <a:lstStyle/>
          <a:p>
            <a:r>
              <a:rPr lang="en-CA" sz="2200" dirty="0">
                <a:latin typeface="Times New Roman" panose="02020603050405020304" pitchFamily="18" charset="0"/>
                <a:cs typeface="Times New Roman" panose="02020603050405020304" pitchFamily="18" charset="0"/>
              </a:rPr>
              <a:t>Proposed Solution: 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cs typeface="Times New Roman" panose="02020603050405020304" pitchFamily="18" charset="0"/>
            </a:endParaRPr>
          </a:p>
          <a:p>
            <a:r>
              <a:rPr lang="en-CA" sz="1600" dirty="0">
                <a:cs typeface="Times New Roman" panose="02020603050405020304" pitchFamily="18" charset="0"/>
              </a:rPr>
              <a:t>Concept: Convex or structured initializations (e.g., trust-region) provide stable starting points for highly nonlinear optimization landscapes in biological systems </a:t>
            </a:r>
            <a:r>
              <a:rPr lang="en-CA" sz="1400" dirty="0">
                <a:cs typeface="Times New Roman" panose="02020603050405020304" pitchFamily="18" charset="0"/>
              </a:rPr>
              <a:t>[1] </a:t>
            </a:r>
            <a:r>
              <a:rPr lang="en-CA" sz="1600" dirty="0">
                <a:cs typeface="Times New Roman" panose="02020603050405020304" pitchFamily="18" charset="0"/>
              </a:rPr>
              <a:t>.</a:t>
            </a:r>
          </a:p>
          <a:p>
            <a:endParaRPr lang="en-CA" sz="1600" dirty="0">
              <a:cs typeface="Times New Roman" panose="02020603050405020304" pitchFamily="18" charset="0"/>
            </a:endParaRPr>
          </a:p>
          <a:p>
            <a:r>
              <a:rPr lang="en-CA" sz="1600" dirty="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cs typeface="Times New Roman" panose="02020603050405020304" pitchFamily="18" charset="0"/>
            </a:endParaRPr>
          </a:p>
          <a:p>
            <a:r>
              <a:rPr lang="en-CA" sz="1600" dirty="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cs typeface="Times New Roman" panose="02020603050405020304" pitchFamily="18" charset="0"/>
            </a:endParaRPr>
          </a:p>
          <a:p>
            <a:r>
              <a:rPr lang="en-CA" sz="1600" dirty="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[1] 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803503" y="1410790"/>
            <a:ext cx="5435634" cy="881742"/>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41825-950B-4DF9-D496-BFE44B154E5A}"/>
              </a:ext>
            </a:extLst>
          </p:cNvPr>
          <p:cNvSpPr>
            <a:spLocks noGrp="1"/>
          </p:cNvSpPr>
          <p:nvPr>
            <p:ph type="title"/>
          </p:nvPr>
        </p:nvSpPr>
        <p:spPr>
          <a:xfrm>
            <a:off x="957072" y="365125"/>
            <a:ext cx="8854440" cy="567880"/>
          </a:xfrm>
        </p:spPr>
        <p:txBody>
          <a:bodyPr>
            <a:normAutofit/>
          </a:bodyPr>
          <a:lstStyle/>
          <a:p>
            <a:r>
              <a:rPr lang="en-US" sz="2400" dirty="0">
                <a:latin typeface="Times New Roman" panose="02020603050405020304" pitchFamily="18" charset="0"/>
                <a:cs typeface="Times New Roman" panose="02020603050405020304" pitchFamily="18" charset="0"/>
              </a:rPr>
              <a:t>Sample Data Example </a:t>
            </a:r>
            <a:endParaRPr lang="en-CA" sz="2400"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12BF0DCB-31DC-4691-C5AF-182AE0E3E25E}"/>
              </a:ext>
            </a:extLst>
          </p:cNvPr>
          <p:cNvSpPr/>
          <p:nvPr/>
        </p:nvSpPr>
        <p:spPr>
          <a:xfrm>
            <a:off x="4219956" y="1224344"/>
            <a:ext cx="2328672" cy="567880"/>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4098330F-D621-8D07-B793-CD09837D3D87}"/>
              </a:ext>
            </a:extLst>
          </p:cNvPr>
          <p:cNvSpPr/>
          <p:nvPr/>
        </p:nvSpPr>
        <p:spPr>
          <a:xfrm>
            <a:off x="1339596" y="3128676"/>
            <a:ext cx="3639312"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04AE21EF-0D2C-A105-3DC4-2AE8EFD81FF1}"/>
              </a:ext>
            </a:extLst>
          </p:cNvPr>
          <p:cNvSpPr/>
          <p:nvPr/>
        </p:nvSpPr>
        <p:spPr>
          <a:xfrm>
            <a:off x="6548628" y="3128676"/>
            <a:ext cx="3389376" cy="1187291"/>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TextBox 7">
            <a:extLst>
              <a:ext uri="{FF2B5EF4-FFF2-40B4-BE49-F238E27FC236}">
                <a16:creationId xmlns:a16="http://schemas.microsoft.com/office/drawing/2014/main" id="{31C85E2A-3BE4-F0E0-9586-59B05C470399}"/>
              </a:ext>
            </a:extLst>
          </p:cNvPr>
          <p:cNvSpPr txBox="1"/>
          <p:nvPr/>
        </p:nvSpPr>
        <p:spPr>
          <a:xfrm>
            <a:off x="2094357" y="6308209"/>
            <a:ext cx="7477506" cy="369332"/>
          </a:xfrm>
          <a:prstGeom prst="rect">
            <a:avLst/>
          </a:prstGeom>
          <a:noFill/>
        </p:spPr>
        <p:txBody>
          <a:bodyPr wrap="square">
            <a:spAutoFit/>
          </a:bodyPr>
          <a:lstStyle/>
          <a:p>
            <a:r>
              <a:rPr lang="en-CA" dirty="0"/>
              <a:t>https://www.ncbi.nlm.nih.gov/geo/query/acc.cgi?acc=GSE134139</a:t>
            </a:r>
          </a:p>
        </p:txBody>
      </p:sp>
      <p:cxnSp>
        <p:nvCxnSpPr>
          <p:cNvPr id="10" name="Straight Arrow Connector 9">
            <a:extLst>
              <a:ext uri="{FF2B5EF4-FFF2-40B4-BE49-F238E27FC236}">
                <a16:creationId xmlns:a16="http://schemas.microsoft.com/office/drawing/2014/main" id="{6958431A-A2CE-BA66-CF54-CE30D7FFFF3E}"/>
              </a:ext>
            </a:extLst>
          </p:cNvPr>
          <p:cNvCxnSpPr>
            <a:cxnSpLocks/>
            <a:stCxn id="4" idx="2"/>
            <a:endCxn id="5" idx="0"/>
          </p:cNvCxnSpPr>
          <p:nvPr/>
        </p:nvCxnSpPr>
        <p:spPr>
          <a:xfrm flipH="1">
            <a:off x="3159252" y="1792224"/>
            <a:ext cx="2225040"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13FE5E-3197-F346-F644-8DD6F8D9580B}"/>
              </a:ext>
            </a:extLst>
          </p:cNvPr>
          <p:cNvCxnSpPr>
            <a:cxnSpLocks/>
            <a:stCxn id="4" idx="2"/>
            <a:endCxn id="6" idx="0"/>
          </p:cNvCxnSpPr>
          <p:nvPr/>
        </p:nvCxnSpPr>
        <p:spPr>
          <a:xfrm>
            <a:off x="5384292" y="1792224"/>
            <a:ext cx="2859024" cy="133645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D1132621-C0E9-D945-9AC2-E637B85C32FF}"/>
              </a:ext>
            </a:extLst>
          </p:cNvPr>
          <p:cNvSpPr txBox="1"/>
          <p:nvPr/>
        </p:nvSpPr>
        <p:spPr>
          <a:xfrm>
            <a:off x="4715797" y="1323618"/>
            <a:ext cx="1250663" cy="369332"/>
          </a:xfrm>
          <a:prstGeom prst="rect">
            <a:avLst/>
          </a:prstGeom>
          <a:noFill/>
        </p:spPr>
        <p:txBody>
          <a:bodyPr wrap="none" rtlCol="0">
            <a:spAutoFit/>
          </a:bodyPr>
          <a:lstStyle/>
          <a:p>
            <a:r>
              <a:rPr lang="en-US" dirty="0"/>
              <a:t>GSE134139</a:t>
            </a:r>
            <a:endParaRPr lang="en-CA" dirty="0"/>
          </a:p>
        </p:txBody>
      </p:sp>
      <p:sp>
        <p:nvSpPr>
          <p:cNvPr id="17" name="TextBox 16">
            <a:extLst>
              <a:ext uri="{FF2B5EF4-FFF2-40B4-BE49-F238E27FC236}">
                <a16:creationId xmlns:a16="http://schemas.microsoft.com/office/drawing/2014/main" id="{0B290553-83E6-1403-C1B2-484CFA69451E}"/>
              </a:ext>
            </a:extLst>
          </p:cNvPr>
          <p:cNvSpPr txBox="1"/>
          <p:nvPr/>
        </p:nvSpPr>
        <p:spPr>
          <a:xfrm>
            <a:off x="1419716" y="3290675"/>
            <a:ext cx="3306097"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CTRL_MATRIX = </a:t>
            </a:r>
            <a:r>
              <a:rPr lang="en-CA" sz="1200" b="0" dirty="0">
                <a:solidFill>
                  <a:srgbClr val="A31515"/>
                </a:solidFill>
                <a:effectLst/>
                <a:latin typeface="Courier New" panose="02070309020205020404" pitchFamily="49" charset="0"/>
              </a:rPr>
              <a:t>"GSM3937878_ctrl_matrix.mtx"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CTRL_FEAT   = </a:t>
            </a:r>
            <a:r>
              <a:rPr lang="en-CA" sz="1200" b="0" dirty="0">
                <a:solidFill>
                  <a:srgbClr val="A31515"/>
                </a:solidFill>
                <a:effectLst/>
                <a:latin typeface="Courier New" panose="02070309020205020404" pitchFamily="49" charset="0"/>
              </a:rPr>
              <a:t>"GSM3937878_ctrl_features.tsv"</a:t>
            </a:r>
            <a:endParaRPr lang="en-CA" sz="1200" b="0" dirty="0">
              <a:solidFill>
                <a:srgbClr val="000000"/>
              </a:solidFill>
              <a:effectLst/>
              <a:latin typeface="Courier New" panose="02070309020205020404" pitchFamily="49" charset="0"/>
            </a:endParaRPr>
          </a:p>
        </p:txBody>
      </p:sp>
      <p:sp>
        <p:nvSpPr>
          <p:cNvPr id="26" name="TextBox 25">
            <a:extLst>
              <a:ext uri="{FF2B5EF4-FFF2-40B4-BE49-F238E27FC236}">
                <a16:creationId xmlns:a16="http://schemas.microsoft.com/office/drawing/2014/main" id="{13E1C20D-9488-BC28-02EE-7427FD63BA08}"/>
              </a:ext>
            </a:extLst>
          </p:cNvPr>
          <p:cNvSpPr txBox="1"/>
          <p:nvPr/>
        </p:nvSpPr>
        <p:spPr>
          <a:xfrm>
            <a:off x="6635115" y="3290675"/>
            <a:ext cx="3389376" cy="811761"/>
          </a:xfrm>
          <a:prstGeom prst="rect">
            <a:avLst/>
          </a:prstGeom>
          <a:noFill/>
        </p:spPr>
        <p:txBody>
          <a:bodyPr wrap="square">
            <a:spAutoFit/>
          </a:bodyPr>
          <a:lstStyle/>
          <a:p>
            <a:pPr>
              <a:lnSpc>
                <a:spcPts val="1425"/>
              </a:lnSpc>
              <a:buNone/>
            </a:pPr>
            <a:r>
              <a:rPr lang="en-CA" sz="1200" b="0" dirty="0">
                <a:solidFill>
                  <a:srgbClr val="000000"/>
                </a:solidFill>
                <a:effectLst/>
                <a:latin typeface="Courier New" panose="02070309020205020404" pitchFamily="49" charset="0"/>
              </a:rPr>
              <a:t>PTPN2_MATRIX = </a:t>
            </a:r>
            <a:r>
              <a:rPr lang="en-CA" sz="1200" b="0" dirty="0">
                <a:solidFill>
                  <a:srgbClr val="A31515"/>
                </a:solidFill>
                <a:effectLst/>
                <a:latin typeface="Courier New" panose="02070309020205020404" pitchFamily="49" charset="0"/>
              </a:rPr>
              <a:t>"GSM3937879_Ptpn2_matrix.mtx"</a:t>
            </a:r>
            <a:endParaRPr lang="en-CA" sz="1200" b="0" dirty="0">
              <a:solidFill>
                <a:srgbClr val="000000"/>
              </a:solidFill>
              <a:effectLst/>
              <a:latin typeface="Courier New" panose="02070309020205020404" pitchFamily="49" charset="0"/>
            </a:endParaRPr>
          </a:p>
          <a:p>
            <a:pPr>
              <a:lnSpc>
                <a:spcPts val="1425"/>
              </a:lnSpc>
              <a:buNone/>
            </a:pPr>
            <a:r>
              <a:rPr lang="en-CA" sz="1200" b="0" dirty="0">
                <a:solidFill>
                  <a:srgbClr val="000000"/>
                </a:solidFill>
                <a:effectLst/>
                <a:latin typeface="Courier New" panose="02070309020205020404" pitchFamily="49" charset="0"/>
              </a:rPr>
              <a:t>PTPN2_FEAT   = </a:t>
            </a:r>
            <a:r>
              <a:rPr lang="en-CA" sz="1200" b="0" dirty="0">
                <a:solidFill>
                  <a:srgbClr val="A31515"/>
                </a:solidFill>
                <a:effectLst/>
                <a:latin typeface="Courier New" panose="02070309020205020404" pitchFamily="49" charset="0"/>
              </a:rPr>
              <a:t>"GSM3937879_Ptpn2_features.tsv"</a:t>
            </a:r>
            <a:endParaRPr lang="en-CA" sz="1200" b="0" dirty="0">
              <a:solidFill>
                <a:srgbClr val="000000"/>
              </a:solidFill>
              <a:effectLst/>
              <a:latin typeface="Courier New" panose="02070309020205020404" pitchFamily="49" charset="0"/>
            </a:endParaRPr>
          </a:p>
        </p:txBody>
      </p:sp>
      <p:sp>
        <p:nvSpPr>
          <p:cNvPr id="27" name="TextBox 26">
            <a:extLst>
              <a:ext uri="{FF2B5EF4-FFF2-40B4-BE49-F238E27FC236}">
                <a16:creationId xmlns:a16="http://schemas.microsoft.com/office/drawing/2014/main" id="{610377D2-2FB5-2A56-A1EC-1D4CD85F2FFB}"/>
              </a:ext>
            </a:extLst>
          </p:cNvPr>
          <p:cNvSpPr txBox="1"/>
          <p:nvPr/>
        </p:nvSpPr>
        <p:spPr>
          <a:xfrm>
            <a:off x="2261997" y="4315967"/>
            <a:ext cx="1621534" cy="369332"/>
          </a:xfrm>
          <a:prstGeom prst="rect">
            <a:avLst/>
          </a:prstGeom>
          <a:noFill/>
        </p:spPr>
        <p:txBody>
          <a:bodyPr wrap="none" rtlCol="0">
            <a:spAutoFit/>
          </a:bodyPr>
          <a:lstStyle/>
          <a:p>
            <a:r>
              <a:rPr lang="en-US" dirty="0"/>
              <a:t>Control Sample</a:t>
            </a:r>
            <a:endParaRPr lang="en-CA" dirty="0"/>
          </a:p>
        </p:txBody>
      </p:sp>
      <p:sp>
        <p:nvSpPr>
          <p:cNvPr id="28" name="TextBox 27">
            <a:extLst>
              <a:ext uri="{FF2B5EF4-FFF2-40B4-BE49-F238E27FC236}">
                <a16:creationId xmlns:a16="http://schemas.microsoft.com/office/drawing/2014/main" id="{92ABE879-518D-9B41-10C7-F77948CE6867}"/>
              </a:ext>
            </a:extLst>
          </p:cNvPr>
          <p:cNvSpPr txBox="1"/>
          <p:nvPr/>
        </p:nvSpPr>
        <p:spPr>
          <a:xfrm>
            <a:off x="7391790" y="4315967"/>
            <a:ext cx="1876026" cy="369332"/>
          </a:xfrm>
          <a:prstGeom prst="rect">
            <a:avLst/>
          </a:prstGeom>
          <a:noFill/>
        </p:spPr>
        <p:txBody>
          <a:bodyPr wrap="none" rtlCol="0">
            <a:spAutoFit/>
          </a:bodyPr>
          <a:lstStyle/>
          <a:p>
            <a:r>
              <a:rPr lang="en-US" dirty="0"/>
              <a:t>Perturbed Sample</a:t>
            </a:r>
            <a:endParaRPr lang="en-CA" dirty="0"/>
          </a:p>
        </p:txBody>
      </p:sp>
      <p:sp>
        <p:nvSpPr>
          <p:cNvPr id="30" name="TextBox 29">
            <a:extLst>
              <a:ext uri="{FF2B5EF4-FFF2-40B4-BE49-F238E27FC236}">
                <a16:creationId xmlns:a16="http://schemas.microsoft.com/office/drawing/2014/main" id="{0E38BE27-ECFF-781F-7BF9-F08CF0DD32EE}"/>
              </a:ext>
            </a:extLst>
          </p:cNvPr>
          <p:cNvSpPr txBox="1"/>
          <p:nvPr/>
        </p:nvSpPr>
        <p:spPr>
          <a:xfrm>
            <a:off x="635508" y="5725346"/>
            <a:ext cx="10395204" cy="369332"/>
          </a:xfrm>
          <a:prstGeom prst="rect">
            <a:avLst/>
          </a:prstGeom>
          <a:noFill/>
        </p:spPr>
        <p:txBody>
          <a:bodyPr wrap="square">
            <a:spAutoFit/>
          </a:bodyPr>
          <a:lstStyle/>
          <a:p>
            <a:r>
              <a:rPr lang="en-CA" b="0" i="0" u="sng" dirty="0">
                <a:solidFill>
                  <a:srgbClr val="0969DA"/>
                </a:solidFill>
                <a:effectLst/>
                <a:latin typeface="-apple-system"/>
                <a:hlinkClick r:id="rId2"/>
              </a:rPr>
              <a:t>https://drive.google.com/drive/folders/1AAI4KU9G-UHoKo72Ne6iGAaCgFPADIW3?usp=drive_link</a:t>
            </a:r>
            <a:endParaRPr lang="en-CA" dirty="0"/>
          </a:p>
        </p:txBody>
      </p:sp>
    </p:spTree>
    <p:extLst>
      <p:ext uri="{BB962C8B-B14F-4D97-AF65-F5344CB8AC3E}">
        <p14:creationId xmlns:p14="http://schemas.microsoft.com/office/powerpoint/2010/main" val="2284238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06594-9025-383C-D90A-339D8756DCA4}"/>
              </a:ext>
            </a:extLst>
          </p:cNvPr>
          <p:cNvSpPr>
            <a:spLocks noGrp="1"/>
          </p:cNvSpPr>
          <p:nvPr>
            <p:ph type="title"/>
          </p:nvPr>
        </p:nvSpPr>
        <p:spPr>
          <a:xfrm>
            <a:off x="838200" y="95370"/>
            <a:ext cx="10515600" cy="639088"/>
          </a:xfrm>
        </p:spPr>
        <p:txBody>
          <a:bodyPr>
            <a:normAutofit/>
          </a:bodyPr>
          <a:lstStyle/>
          <a:p>
            <a:r>
              <a:rPr lang="en-US" sz="2400" b="1" dirty="0"/>
              <a:t>Model Design</a:t>
            </a:r>
            <a:endParaRPr lang="en-CA" sz="2400" b="1" dirty="0"/>
          </a:p>
        </p:txBody>
      </p:sp>
      <p:pic>
        <p:nvPicPr>
          <p:cNvPr id="1028" name="Picture 4" descr="Graph Attention Networks. Graph Machine Learning | by Ashish Kumar | Medium">
            <a:extLst>
              <a:ext uri="{FF2B5EF4-FFF2-40B4-BE49-F238E27FC236}">
                <a16:creationId xmlns:a16="http://schemas.microsoft.com/office/drawing/2014/main" id="{3CDB7DCA-A6FC-2517-E2D1-1EE1521EB3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87952" y="1012351"/>
            <a:ext cx="4261104" cy="22246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4E62448-B44F-7F3B-E9A4-B5A86AD8E1E8}"/>
              </a:ext>
            </a:extLst>
          </p:cNvPr>
          <p:cNvSpPr txBox="1"/>
          <p:nvPr/>
        </p:nvSpPr>
        <p:spPr>
          <a:xfrm>
            <a:off x="3953432" y="729619"/>
            <a:ext cx="4876912" cy="369332"/>
          </a:xfrm>
          <a:prstGeom prst="rect">
            <a:avLst/>
          </a:prstGeom>
          <a:noFill/>
        </p:spPr>
        <p:txBody>
          <a:bodyPr wrap="none" rtlCol="0">
            <a:spAutoFit/>
          </a:bodyPr>
          <a:lstStyle/>
          <a:p>
            <a:r>
              <a:rPr lang="en-US" dirty="0"/>
              <a:t>Graph Attention Network for the Gene Embedding</a:t>
            </a:r>
            <a:endParaRPr lang="en-CA" dirty="0"/>
          </a:p>
        </p:txBody>
      </p:sp>
      <p:cxnSp>
        <p:nvCxnSpPr>
          <p:cNvPr id="7" name="Straight Arrow Connector 6">
            <a:extLst>
              <a:ext uri="{FF2B5EF4-FFF2-40B4-BE49-F238E27FC236}">
                <a16:creationId xmlns:a16="http://schemas.microsoft.com/office/drawing/2014/main" id="{2F5E5B73-B317-1D5E-2ABD-72968283A9D5}"/>
              </a:ext>
            </a:extLst>
          </p:cNvPr>
          <p:cNvCxnSpPr>
            <a:cxnSpLocks/>
          </p:cNvCxnSpPr>
          <p:nvPr/>
        </p:nvCxnSpPr>
        <p:spPr>
          <a:xfrm>
            <a:off x="6214872" y="3236977"/>
            <a:ext cx="0" cy="635127"/>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030" name="Picture 6" descr="What is Reinforcement Learning: Overview, Comparisons and Ap">
            <a:extLst>
              <a:ext uri="{FF2B5EF4-FFF2-40B4-BE49-F238E27FC236}">
                <a16:creationId xmlns:a16="http://schemas.microsoft.com/office/drawing/2014/main" id="{C3814DDE-55E8-175C-6E5F-9123161C51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47265" y="3872103"/>
            <a:ext cx="5342477" cy="2071611"/>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68FAC6-3366-71CA-7992-A97E43F193A9}"/>
              </a:ext>
            </a:extLst>
          </p:cNvPr>
          <p:cNvSpPr txBox="1"/>
          <p:nvPr/>
        </p:nvSpPr>
        <p:spPr>
          <a:xfrm>
            <a:off x="3953432" y="5913849"/>
            <a:ext cx="4730141" cy="369332"/>
          </a:xfrm>
          <a:prstGeom prst="rect">
            <a:avLst/>
          </a:prstGeom>
          <a:noFill/>
        </p:spPr>
        <p:txBody>
          <a:bodyPr wrap="none" rtlCol="0">
            <a:spAutoFit/>
          </a:bodyPr>
          <a:lstStyle/>
          <a:p>
            <a:r>
              <a:rPr lang="en-US" dirty="0"/>
              <a:t>Reinforcement Learning for Trajectory Prediction</a:t>
            </a:r>
            <a:endParaRPr lang="en-CA" dirty="0"/>
          </a:p>
        </p:txBody>
      </p:sp>
    </p:spTree>
    <p:extLst>
      <p:ext uri="{BB962C8B-B14F-4D97-AF65-F5344CB8AC3E}">
        <p14:creationId xmlns:p14="http://schemas.microsoft.com/office/powerpoint/2010/main" val="405825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a:xfrm>
            <a:off x="1590946" y="362936"/>
            <a:ext cx="10402824" cy="825478"/>
          </a:xfrm>
        </p:spPr>
        <p:txBody>
          <a:bodyPr>
            <a:normAutofit/>
          </a:bodyPr>
          <a:lstStyle/>
          <a:p>
            <a:r>
              <a:rPr lang="en-US" sz="2400" b="1" dirty="0"/>
              <a:t>Simulated Hardware and Software for Gene Perturbation Analysis</a:t>
            </a:r>
            <a:endParaRPr lang="en-CA" sz="2400" b="1" dirty="0"/>
          </a:p>
        </p:txBody>
      </p:sp>
      <p:sp>
        <p:nvSpPr>
          <p:cNvPr id="4" name="Rectangle 3">
            <a:extLst>
              <a:ext uri="{FF2B5EF4-FFF2-40B4-BE49-F238E27FC236}">
                <a16:creationId xmlns:a16="http://schemas.microsoft.com/office/drawing/2014/main" id="{C82D2189-7EA5-7C37-6E9C-7BC930AAE325}"/>
              </a:ext>
            </a:extLst>
          </p:cNvPr>
          <p:cNvSpPr/>
          <p:nvPr/>
        </p:nvSpPr>
        <p:spPr>
          <a:xfrm>
            <a:off x="3301161" y="1919815"/>
            <a:ext cx="3971925"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266840" y="4434618"/>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432263" y="1989219"/>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05469" y="4512358"/>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050719" y="2422528"/>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030553"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252920" y="2403174"/>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252920" y="4854543"/>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382682" y="1964760"/>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530925" y="4531377"/>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03362" y="2161306"/>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647939" y="4591298"/>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023514" y="3125415"/>
            <a:ext cx="3653959" cy="919112"/>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03362" y="2031050"/>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03362" y="4428293"/>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656249" y="2883547"/>
            <a:ext cx="0" cy="22725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656249" y="4087688"/>
            <a:ext cx="0" cy="33263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075509" y="3233887"/>
            <a:ext cx="4511549" cy="1200329"/>
          </a:xfrm>
          <a:prstGeom prst="rect">
            <a:avLst/>
          </a:prstGeom>
          <a:noFill/>
        </p:spPr>
        <p:txBody>
          <a:bodyPr wrap="square" rtlCol="0">
            <a:spAutoFit/>
          </a:bodyPr>
          <a:lstStyle/>
          <a:p>
            <a:r>
              <a:rPr lang="en-US" dirty="0"/>
              <a:t>Align the Trajectories and Compare</a:t>
            </a:r>
          </a:p>
          <a:p>
            <a:r>
              <a:rPr lang="en-US" dirty="0"/>
              <a:t> </a:t>
            </a:r>
            <a:r>
              <a:rPr lang="en-CA" dirty="0"/>
              <a:t>Similarity </a:t>
            </a:r>
            <a:r>
              <a:rPr lang="en-US" dirty="0"/>
              <a:t>via DTW and </a:t>
            </a:r>
            <a:r>
              <a:rPr lang="en-CA" dirty="0"/>
              <a:t>Wasserstein</a:t>
            </a:r>
          </a:p>
          <a:p>
            <a:r>
              <a:rPr lang="en-CA" dirty="0"/>
              <a:t>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426364" y="2021623"/>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382682" y="4434619"/>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3958876" y="4122948"/>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3958876" y="1544669"/>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174321" y="1556215"/>
            <a:ext cx="11088620" cy="155765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174321" y="4087688"/>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293897" y="4090751"/>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872237" y="2741472"/>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
        <p:nvSpPr>
          <p:cNvPr id="8" name="TextBox 7">
            <a:extLst>
              <a:ext uri="{FF2B5EF4-FFF2-40B4-BE49-F238E27FC236}">
                <a16:creationId xmlns:a16="http://schemas.microsoft.com/office/drawing/2014/main" id="{6FFF82C9-0AE6-A5DE-57BD-7DF4C6326D9E}"/>
              </a:ext>
            </a:extLst>
          </p:cNvPr>
          <p:cNvSpPr txBox="1"/>
          <p:nvPr/>
        </p:nvSpPr>
        <p:spPr>
          <a:xfrm>
            <a:off x="415262" y="1652291"/>
            <a:ext cx="1470714" cy="369332"/>
          </a:xfrm>
          <a:prstGeom prst="rect">
            <a:avLst/>
          </a:prstGeom>
          <a:noFill/>
        </p:spPr>
        <p:txBody>
          <a:bodyPr wrap="square">
            <a:spAutoFit/>
          </a:bodyPr>
          <a:lstStyle/>
          <a:p>
            <a:pPr>
              <a:buNone/>
            </a:pPr>
            <a:r>
              <a:rPr lang="en-CA" dirty="0"/>
              <a:t>CTRL system</a:t>
            </a:r>
          </a:p>
        </p:txBody>
      </p:sp>
      <p:sp>
        <p:nvSpPr>
          <p:cNvPr id="23" name="TextBox 22">
            <a:extLst>
              <a:ext uri="{FF2B5EF4-FFF2-40B4-BE49-F238E27FC236}">
                <a16:creationId xmlns:a16="http://schemas.microsoft.com/office/drawing/2014/main" id="{BD206A9D-9343-3A2A-EBB7-6CA65D1B1F01}"/>
              </a:ext>
            </a:extLst>
          </p:cNvPr>
          <p:cNvSpPr txBox="1"/>
          <p:nvPr/>
        </p:nvSpPr>
        <p:spPr>
          <a:xfrm>
            <a:off x="293896" y="3719888"/>
            <a:ext cx="1851383" cy="369332"/>
          </a:xfrm>
          <a:prstGeom prst="rect">
            <a:avLst/>
          </a:prstGeom>
          <a:noFill/>
        </p:spPr>
        <p:txBody>
          <a:bodyPr wrap="square">
            <a:spAutoFit/>
          </a:bodyPr>
          <a:lstStyle/>
          <a:p>
            <a:pPr>
              <a:buNone/>
            </a:pPr>
            <a:r>
              <a:rPr lang="en-CA" dirty="0"/>
              <a:t>PTPN2 system</a:t>
            </a:r>
          </a:p>
        </p:txBody>
      </p:sp>
    </p:spTree>
    <p:extLst>
      <p:ext uri="{BB962C8B-B14F-4D97-AF65-F5344CB8AC3E}">
        <p14:creationId xmlns:p14="http://schemas.microsoft.com/office/powerpoint/2010/main" val="11590572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a:t>
            </a:r>
            <a:r>
              <a:rPr lang="en-US" b="1" dirty="0"/>
              <a:t>Crisper Knockout</a:t>
            </a:r>
            <a:endParaRPr lang="en-CA" b="1" dirty="0"/>
          </a:p>
        </p:txBody>
      </p:sp>
    </p:spTree>
    <p:extLst>
      <p:ext uri="{BB962C8B-B14F-4D97-AF65-F5344CB8AC3E}">
        <p14:creationId xmlns:p14="http://schemas.microsoft.com/office/powerpoint/2010/main" val="20991271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 (Single Perturbation)</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613351" y="396005"/>
            <a:ext cx="3748338" cy="678224"/>
          </a:xfrm>
        </p:spPr>
        <p:txBody>
          <a:bodyPr>
            <a:normAutofit/>
          </a:bodyPr>
          <a:lstStyle/>
          <a:p>
            <a:r>
              <a:rPr lang="en-US" sz="2400" b="1" dirty="0"/>
              <a:t>RNA Dataset Description</a:t>
            </a:r>
            <a:endParaRPr lang="en-CA" sz="2400" b="1"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a:xfrm>
            <a:off x="838200" y="402576"/>
            <a:ext cx="3536852" cy="556921"/>
          </a:xfrm>
        </p:spPr>
        <p:txBody>
          <a:bodyPr>
            <a:normAutofit/>
          </a:bodyPr>
          <a:lstStyle/>
          <a:p>
            <a:r>
              <a:rPr lang="en-US" sz="2400" b="1" dirty="0"/>
              <a:t>Code Link</a:t>
            </a:r>
            <a:endParaRPr lang="en-CA" sz="2400" b="1"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Slide Background">
            <a:extLst>
              <a:ext uri="{FF2B5EF4-FFF2-40B4-BE49-F238E27FC236}">
                <a16:creationId xmlns:a16="http://schemas.microsoft.com/office/drawing/2014/main" id="{5F637E18-EF26-4327-9077-7FFC67B98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0" name="Rectangle 9">
            <a:extLst>
              <a:ext uri="{FF2B5EF4-FFF2-40B4-BE49-F238E27FC236}">
                <a16:creationId xmlns:a16="http://schemas.microsoft.com/office/drawing/2014/main" id="{3EED6667-6BE8-A2AB-422A-5A1D89727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1" cy="1696413"/>
          </a:xfrm>
          <a:prstGeom prst="rect">
            <a:avLst/>
          </a:prstGeom>
          <a:ln>
            <a:noFill/>
          </a:ln>
          <a:effectLst>
            <a:outerShdw blurRad="304800" dist="114300" dir="5460000" sx="92000" sy="92000" algn="t" rotWithShape="0">
              <a:srgbClr val="000000">
                <a:alpha val="14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a:xfrm>
            <a:off x="570508" y="173145"/>
            <a:ext cx="9258530" cy="842063"/>
          </a:xfrm>
        </p:spPr>
        <p:txBody>
          <a:bodyPr vert="horz" lIns="91440" tIns="45720" rIns="91440" bIns="45720" rtlCol="0" anchor="ctr">
            <a:normAutofit/>
          </a:bodyPr>
          <a:lstStyle/>
          <a:p>
            <a:r>
              <a:rPr lang="en-US" sz="2400" b="1" kern="1200" dirty="0">
                <a:solidFill>
                  <a:schemeClr val="tx1"/>
                </a:solidFill>
                <a:latin typeface="+mj-lt"/>
                <a:ea typeface="+mj-ea"/>
                <a:cs typeface="+mj-cs"/>
              </a:rPr>
              <a:t>Results(Control sample/Perturbed sample)</a:t>
            </a:r>
          </a:p>
        </p:txBody>
      </p:sp>
      <p:sp>
        <p:nvSpPr>
          <p:cNvPr id="4" name="TextBox 3">
            <a:extLst>
              <a:ext uri="{FF2B5EF4-FFF2-40B4-BE49-F238E27FC236}">
                <a16:creationId xmlns:a16="http://schemas.microsoft.com/office/drawing/2014/main" id="{F1BB7669-37AA-B4A5-7FA5-BA63F2687B15}"/>
              </a:ext>
            </a:extLst>
          </p:cNvPr>
          <p:cNvSpPr txBox="1"/>
          <p:nvPr/>
        </p:nvSpPr>
        <p:spPr>
          <a:xfrm>
            <a:off x="218113" y="5614068"/>
            <a:ext cx="5848318" cy="1169551"/>
          </a:xfrm>
          <a:prstGeom prst="rect">
            <a:avLst/>
          </a:prstGeom>
          <a:noFill/>
        </p:spPr>
        <p:txBody>
          <a:bodyPr wrap="square" rtlCol="0">
            <a:spAutoFit/>
          </a:bodyPr>
          <a:lstStyle/>
          <a:p>
            <a:r>
              <a:rPr lang="en-US" sz="1400" dirty="0"/>
              <a:t>CTRL: Control Sample</a:t>
            </a:r>
          </a:p>
          <a:p>
            <a:r>
              <a:rPr lang="en-US" sz="1400" dirty="0"/>
              <a:t>PTPN2: Perturb Sample</a:t>
            </a:r>
          </a:p>
          <a:p>
            <a:r>
              <a:rPr lang="en-US" sz="1400" dirty="0"/>
              <a:t>Trust region policy optimization</a:t>
            </a:r>
          </a:p>
          <a:p>
            <a:r>
              <a:rPr lang="en-US" sz="1400" dirty="0"/>
              <a:t>PPO: Proximal policy  optimization</a:t>
            </a:r>
          </a:p>
          <a:p>
            <a:r>
              <a:rPr lang="en-CA" sz="1400" dirty="0"/>
              <a:t>Prediction HORIZON    = 1  </a:t>
            </a:r>
          </a:p>
        </p:txBody>
      </p:sp>
      <p:graphicFrame>
        <p:nvGraphicFramePr>
          <p:cNvPr id="5" name="Table 4">
            <a:extLst>
              <a:ext uri="{FF2B5EF4-FFF2-40B4-BE49-F238E27FC236}">
                <a16:creationId xmlns:a16="http://schemas.microsoft.com/office/drawing/2014/main" id="{6244324C-C7D1-8E75-7007-FBA45CAAC7FB}"/>
              </a:ext>
            </a:extLst>
          </p:cNvPr>
          <p:cNvGraphicFramePr>
            <a:graphicFrameLocks noGrp="1"/>
          </p:cNvGraphicFramePr>
          <p:nvPr>
            <p:extLst>
              <p:ext uri="{D42A27DB-BD31-4B8C-83A1-F6EECF244321}">
                <p14:modId xmlns:p14="http://schemas.microsoft.com/office/powerpoint/2010/main" val="612837851"/>
              </p:ext>
            </p:extLst>
          </p:nvPr>
        </p:nvGraphicFramePr>
        <p:xfrm>
          <a:off x="883456" y="1188352"/>
          <a:ext cx="10425086" cy="4351335"/>
        </p:xfrm>
        <a:graphic>
          <a:graphicData uri="http://schemas.openxmlformats.org/drawingml/2006/table">
            <a:tbl>
              <a:tblPr/>
              <a:tblGrid>
                <a:gridCol w="1489298">
                  <a:extLst>
                    <a:ext uri="{9D8B030D-6E8A-4147-A177-3AD203B41FA5}">
                      <a16:colId xmlns:a16="http://schemas.microsoft.com/office/drawing/2014/main" val="257090424"/>
                    </a:ext>
                  </a:extLst>
                </a:gridCol>
                <a:gridCol w="1489298">
                  <a:extLst>
                    <a:ext uri="{9D8B030D-6E8A-4147-A177-3AD203B41FA5}">
                      <a16:colId xmlns:a16="http://schemas.microsoft.com/office/drawing/2014/main" val="3346602704"/>
                    </a:ext>
                  </a:extLst>
                </a:gridCol>
                <a:gridCol w="1489298">
                  <a:extLst>
                    <a:ext uri="{9D8B030D-6E8A-4147-A177-3AD203B41FA5}">
                      <a16:colId xmlns:a16="http://schemas.microsoft.com/office/drawing/2014/main" val="801850568"/>
                    </a:ext>
                  </a:extLst>
                </a:gridCol>
                <a:gridCol w="1489298">
                  <a:extLst>
                    <a:ext uri="{9D8B030D-6E8A-4147-A177-3AD203B41FA5}">
                      <a16:colId xmlns:a16="http://schemas.microsoft.com/office/drawing/2014/main" val="2831654327"/>
                    </a:ext>
                  </a:extLst>
                </a:gridCol>
                <a:gridCol w="1489298">
                  <a:extLst>
                    <a:ext uri="{9D8B030D-6E8A-4147-A177-3AD203B41FA5}">
                      <a16:colId xmlns:a16="http://schemas.microsoft.com/office/drawing/2014/main" val="2731428822"/>
                    </a:ext>
                  </a:extLst>
                </a:gridCol>
                <a:gridCol w="1489298">
                  <a:extLst>
                    <a:ext uri="{9D8B030D-6E8A-4147-A177-3AD203B41FA5}">
                      <a16:colId xmlns:a16="http://schemas.microsoft.com/office/drawing/2014/main" val="4085199551"/>
                    </a:ext>
                  </a:extLst>
                </a:gridCol>
                <a:gridCol w="1489298">
                  <a:extLst>
                    <a:ext uri="{9D8B030D-6E8A-4147-A177-3AD203B41FA5}">
                      <a16:colId xmlns:a16="http://schemas.microsoft.com/office/drawing/2014/main" val="4067453655"/>
                    </a:ext>
                  </a:extLst>
                </a:gridCol>
              </a:tblGrid>
              <a:tr h="362611">
                <a:tc>
                  <a:txBody>
                    <a:bodyPr/>
                    <a:lstStyle/>
                    <a:p>
                      <a:pPr>
                        <a:buNone/>
                      </a:pPr>
                      <a:r>
                        <a:rPr lang="en-CA" sz="1200" dirty="0"/>
                        <a:t>System</a:t>
                      </a:r>
                    </a:p>
                  </a:txBody>
                  <a:tcPr marL="90653" marR="90653" marT="45326" marB="45326" anchor="ctr">
                    <a:lnL>
                      <a:noFill/>
                    </a:lnL>
                    <a:lnR>
                      <a:noFill/>
                    </a:lnR>
                    <a:lnT>
                      <a:noFill/>
                    </a:lnT>
                    <a:lnB>
                      <a:noFill/>
                    </a:lnB>
                    <a:noFill/>
                  </a:tcPr>
                </a:tc>
                <a:tc>
                  <a:txBody>
                    <a:bodyPr/>
                    <a:lstStyle/>
                    <a:p>
                      <a:pPr>
                        <a:buNone/>
                      </a:pPr>
                      <a:r>
                        <a:rPr lang="en-CA" sz="1200"/>
                        <a:t>Algorithm</a:t>
                      </a:r>
                    </a:p>
                  </a:txBody>
                  <a:tcPr marL="90653" marR="90653" marT="45326" marB="45326" anchor="ctr">
                    <a:lnL>
                      <a:noFill/>
                    </a:lnL>
                    <a:lnR>
                      <a:noFill/>
                    </a:lnR>
                    <a:lnT>
                      <a:noFill/>
                    </a:lnT>
                    <a:lnB>
                      <a:noFill/>
                    </a:lnB>
                    <a:noFill/>
                  </a:tcPr>
                </a:tc>
                <a:tc>
                  <a:txBody>
                    <a:bodyPr/>
                    <a:lstStyle/>
                    <a:p>
                      <a:pPr>
                        <a:buNone/>
                      </a:pPr>
                      <a:r>
                        <a:rPr lang="en-CA" sz="1200"/>
                        <a:t>MSE</a:t>
                      </a:r>
                    </a:p>
                  </a:txBody>
                  <a:tcPr marL="90653" marR="90653" marT="45326" marB="45326" anchor="ctr">
                    <a:lnL>
                      <a:noFill/>
                    </a:lnL>
                    <a:lnR>
                      <a:noFill/>
                    </a:lnR>
                    <a:lnT>
                      <a:noFill/>
                    </a:lnT>
                    <a:lnB>
                      <a:noFill/>
                    </a:lnB>
                    <a:noFill/>
                  </a:tcPr>
                </a:tc>
                <a:tc>
                  <a:txBody>
                    <a:bodyPr/>
                    <a:lstStyle/>
                    <a:p>
                      <a:pPr>
                        <a:buNone/>
                      </a:pPr>
                      <a:r>
                        <a:rPr lang="en-CA" sz="1200"/>
                        <a:t>RMSE</a:t>
                      </a:r>
                    </a:p>
                  </a:txBody>
                  <a:tcPr marL="90653" marR="90653" marT="45326" marB="45326" anchor="ctr">
                    <a:lnL>
                      <a:noFill/>
                    </a:lnL>
                    <a:lnR>
                      <a:noFill/>
                    </a:lnR>
                    <a:lnT>
                      <a:noFill/>
                    </a:lnT>
                    <a:lnB>
                      <a:noFill/>
                    </a:lnB>
                    <a:noFill/>
                  </a:tcPr>
                </a:tc>
                <a:tc>
                  <a:txBody>
                    <a:bodyPr/>
                    <a:lstStyle/>
                    <a:p>
                      <a:pPr>
                        <a:buNone/>
                      </a:pPr>
                      <a:r>
                        <a:rPr lang="en-CA" sz="1200"/>
                        <a:t>MAE</a:t>
                      </a:r>
                    </a:p>
                  </a:txBody>
                  <a:tcPr marL="90653" marR="90653" marT="45326" marB="45326" anchor="ctr">
                    <a:lnL>
                      <a:noFill/>
                    </a:lnL>
                    <a:lnR>
                      <a:noFill/>
                    </a:lnR>
                    <a:lnT>
                      <a:noFill/>
                    </a:lnT>
                    <a:lnB>
                      <a:noFill/>
                    </a:lnB>
                    <a:noFill/>
                  </a:tcPr>
                </a:tc>
                <a:tc>
                  <a:txBody>
                    <a:bodyPr/>
                    <a:lstStyle/>
                    <a:p>
                      <a:pPr>
                        <a:buNone/>
                      </a:pPr>
                      <a:r>
                        <a:rPr lang="en-CA" sz="1200"/>
                        <a:t>R²</a:t>
                      </a:r>
                    </a:p>
                  </a:txBody>
                  <a:tcPr marL="90653" marR="90653" marT="45326" marB="45326" anchor="ctr">
                    <a:lnL>
                      <a:noFill/>
                    </a:lnL>
                    <a:lnR>
                      <a:noFill/>
                    </a:lnR>
                    <a:lnT>
                      <a:noFill/>
                    </a:lnT>
                    <a:lnB>
                      <a:noFill/>
                    </a:lnB>
                    <a:noFill/>
                  </a:tcPr>
                </a:tc>
                <a:tc>
                  <a:txBody>
                    <a:bodyPr/>
                    <a:lstStyle/>
                    <a:p>
                      <a:pPr>
                        <a:buNone/>
                      </a:pPr>
                      <a:r>
                        <a:rPr lang="en-CA" sz="12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2439124447"/>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0.138</a:t>
                      </a:r>
                    </a:p>
                  </a:txBody>
                  <a:tcPr marL="90653" marR="90653" marT="45326" marB="45326" anchor="ctr">
                    <a:lnL>
                      <a:noFill/>
                    </a:lnL>
                    <a:lnR>
                      <a:noFill/>
                    </a:lnR>
                    <a:lnT>
                      <a:noFill/>
                    </a:lnT>
                    <a:lnB>
                      <a:noFill/>
                    </a:lnB>
                    <a:noFill/>
                  </a:tcPr>
                </a:tc>
                <a:tc>
                  <a:txBody>
                    <a:bodyPr/>
                    <a:lstStyle/>
                    <a:p>
                      <a:pPr>
                        <a:buNone/>
                      </a:pPr>
                      <a:r>
                        <a:rPr lang="en-CA" sz="1200"/>
                        <a:t>0.371</a:t>
                      </a:r>
                    </a:p>
                  </a:txBody>
                  <a:tcPr marL="90653" marR="90653" marT="45326" marB="45326" anchor="ctr">
                    <a:lnL>
                      <a:noFill/>
                    </a:lnL>
                    <a:lnR>
                      <a:noFill/>
                    </a:lnR>
                    <a:lnT>
                      <a:noFill/>
                    </a:lnT>
                    <a:lnB>
                      <a:noFill/>
                    </a:lnB>
                    <a:noFill/>
                  </a:tcPr>
                </a:tc>
                <a:tc>
                  <a:txBody>
                    <a:bodyPr/>
                    <a:lstStyle/>
                    <a:p>
                      <a:pPr>
                        <a:buNone/>
                      </a:pPr>
                      <a:r>
                        <a:rPr lang="en-CA" sz="1200"/>
                        <a:t>0.360</a:t>
                      </a:r>
                    </a:p>
                  </a:txBody>
                  <a:tcPr marL="90653" marR="90653" marT="45326" marB="45326" anchor="ctr">
                    <a:lnL>
                      <a:noFill/>
                    </a:lnL>
                    <a:lnR>
                      <a:noFill/>
                    </a:lnR>
                    <a:lnT>
                      <a:noFill/>
                    </a:lnT>
                    <a:lnB>
                      <a:noFill/>
                    </a:lnB>
                    <a:noFill/>
                  </a:tcPr>
                </a:tc>
                <a:tc>
                  <a:txBody>
                    <a:bodyPr/>
                    <a:lstStyle/>
                    <a:p>
                      <a:pPr>
                        <a:buNone/>
                      </a:pPr>
                      <a:r>
                        <a:rPr lang="en-CA" sz="1200"/>
                        <a:t>0.865</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69451864"/>
                  </a:ext>
                </a:extLst>
              </a:tr>
              <a:tr h="362611">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0.139</a:t>
                      </a:r>
                    </a:p>
                  </a:txBody>
                  <a:tcPr marL="90653" marR="90653" marT="45326" marB="45326" anchor="ctr">
                    <a:lnL>
                      <a:noFill/>
                    </a:lnL>
                    <a:lnR>
                      <a:noFill/>
                    </a:lnR>
                    <a:lnT>
                      <a:noFill/>
                    </a:lnT>
                    <a:lnB>
                      <a:noFill/>
                    </a:lnB>
                    <a:noFill/>
                  </a:tcPr>
                </a:tc>
                <a:tc>
                  <a:txBody>
                    <a:bodyPr/>
                    <a:lstStyle/>
                    <a:p>
                      <a:pPr>
                        <a:buNone/>
                      </a:pPr>
                      <a:r>
                        <a:rPr lang="en-CA" sz="1200"/>
                        <a:t>0.372</a:t>
                      </a:r>
                    </a:p>
                  </a:txBody>
                  <a:tcPr marL="90653" marR="90653" marT="45326" marB="45326" anchor="ctr">
                    <a:lnL>
                      <a:noFill/>
                    </a:lnL>
                    <a:lnR>
                      <a:noFill/>
                    </a:lnR>
                    <a:lnT>
                      <a:noFill/>
                    </a:lnT>
                    <a:lnB>
                      <a:noFill/>
                    </a:lnB>
                    <a:noFill/>
                  </a:tcPr>
                </a:tc>
                <a:tc>
                  <a:txBody>
                    <a:bodyPr/>
                    <a:lstStyle/>
                    <a:p>
                      <a:pPr>
                        <a:buNone/>
                      </a:pPr>
                      <a:r>
                        <a:rPr lang="en-CA" sz="1200"/>
                        <a:t>0.361</a:t>
                      </a:r>
                    </a:p>
                  </a:txBody>
                  <a:tcPr marL="90653" marR="90653" marT="45326" marB="45326" anchor="ctr">
                    <a:lnL>
                      <a:noFill/>
                    </a:lnL>
                    <a:lnR>
                      <a:noFill/>
                    </a:lnR>
                    <a:lnT>
                      <a:noFill/>
                    </a:lnT>
                    <a:lnB>
                      <a:noFill/>
                    </a:lnB>
                    <a:noFill/>
                  </a:tcPr>
                </a:tc>
                <a:tc>
                  <a:txBody>
                    <a:bodyPr/>
                    <a:lstStyle/>
                    <a:p>
                      <a:pPr>
                        <a:buNone/>
                      </a:pPr>
                      <a:r>
                        <a:rPr lang="en-CA" sz="1200"/>
                        <a:t>0.860</a:t>
                      </a:r>
                    </a:p>
                  </a:txBody>
                  <a:tcPr marL="90653" marR="90653" marT="45326" marB="45326" anchor="ctr">
                    <a:lnL>
                      <a:noFill/>
                    </a:lnL>
                    <a:lnR>
                      <a:noFill/>
                    </a:lnR>
                    <a:lnT>
                      <a:noFill/>
                    </a:lnT>
                    <a:lnB>
                      <a:noFill/>
                    </a:lnB>
                    <a:noFill/>
                  </a:tcPr>
                </a:tc>
                <a:tc>
                  <a:txBody>
                    <a:bodyPr/>
                    <a:lstStyle/>
                    <a:p>
                      <a:pPr>
                        <a:buNone/>
                      </a:pPr>
                      <a:r>
                        <a:rPr lang="en-CA" sz="1200"/>
                        <a:t>0.993</a:t>
                      </a:r>
                    </a:p>
                  </a:txBody>
                  <a:tcPr marL="90653" marR="90653" marT="45326" marB="45326" anchor="ctr">
                    <a:lnL>
                      <a:noFill/>
                    </a:lnL>
                    <a:lnR>
                      <a:noFill/>
                    </a:lnR>
                    <a:lnT>
                      <a:noFill/>
                    </a:lnT>
                    <a:lnB>
                      <a:noFill/>
                    </a:lnB>
                    <a:noFill/>
                  </a:tcPr>
                </a:tc>
                <a:extLst>
                  <a:ext uri="{0D108BD9-81ED-4DB2-BD59-A6C34878D82A}">
                    <a16:rowId xmlns:a16="http://schemas.microsoft.com/office/drawing/2014/main" val="2590472158"/>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2158012375"/>
                  </a:ext>
                </a:extLst>
              </a:tr>
              <a:tr h="634570">
                <a:tc>
                  <a:txBody>
                    <a:bodyPr/>
                    <a:lstStyle/>
                    <a:p>
                      <a:pPr>
                        <a:buNone/>
                      </a:pPr>
                      <a:r>
                        <a:rPr lang="en-CA" sz="1200"/>
                        <a:t>CTRL</a:t>
                      </a:r>
                    </a:p>
                  </a:txBody>
                  <a:tcPr marL="90653" marR="90653" marT="45326" marB="45326" anchor="ctr">
                    <a:lnL>
                      <a:noFill/>
                    </a:lnL>
                    <a:lnR>
                      <a:noFill/>
                    </a:lnR>
                    <a:lnT>
                      <a:noFill/>
                    </a:lnT>
                    <a:lnB>
                      <a:noFill/>
                    </a:lnB>
                    <a:noFill/>
                  </a:tcPr>
                </a:tc>
                <a:tc>
                  <a:txBody>
                    <a:bodyPr/>
                    <a:lstStyle/>
                    <a:p>
                      <a:pPr>
                        <a:buNone/>
                      </a:pPr>
                      <a:r>
                        <a:rPr lang="en-CA" sz="1200"/>
                        <a:t>TRPO→PPO (Train)</a:t>
                      </a:r>
                    </a:p>
                  </a:txBody>
                  <a:tcPr marL="90653" marR="90653" marT="45326" marB="45326" anchor="ctr">
                    <a:lnL>
                      <a:noFill/>
                    </a:lnL>
                    <a:lnR>
                      <a:noFill/>
                    </a:lnR>
                    <a:lnT>
                      <a:noFill/>
                    </a:lnT>
                    <a:lnB>
                      <a:noFill/>
                    </a:lnB>
                    <a:noFill/>
                  </a:tcPr>
                </a:tc>
                <a:tc>
                  <a:txBody>
                    <a:bodyPr/>
                    <a:lstStyle/>
                    <a:p>
                      <a:pPr>
                        <a:buNone/>
                      </a:pPr>
                      <a:r>
                        <a:rPr lang="en-CA" sz="1200"/>
                        <a:t>0.002</a:t>
                      </a:r>
                    </a:p>
                  </a:txBody>
                  <a:tcPr marL="90653" marR="90653" marT="45326" marB="45326" anchor="ctr">
                    <a:lnL>
                      <a:noFill/>
                    </a:lnL>
                    <a:lnR>
                      <a:noFill/>
                    </a:lnR>
                    <a:lnT>
                      <a:noFill/>
                    </a:lnT>
                    <a:lnB>
                      <a:noFill/>
                    </a:lnB>
                    <a:noFill/>
                  </a:tcPr>
                </a:tc>
                <a:tc>
                  <a:txBody>
                    <a:bodyPr/>
                    <a:lstStyle/>
                    <a:p>
                      <a:pPr>
                        <a:buNone/>
                      </a:pPr>
                      <a:r>
                        <a:rPr lang="en-CA" sz="1200"/>
                        <a:t>0.042</a:t>
                      </a:r>
                    </a:p>
                  </a:txBody>
                  <a:tcPr marL="90653" marR="90653" marT="45326" marB="45326" anchor="ctr">
                    <a:lnL>
                      <a:noFill/>
                    </a:lnL>
                    <a:lnR>
                      <a:noFill/>
                    </a:lnR>
                    <a:lnT>
                      <a:noFill/>
                    </a:lnT>
                    <a:lnB>
                      <a:noFill/>
                    </a:lnB>
                    <a:noFill/>
                  </a:tcPr>
                </a:tc>
                <a:tc>
                  <a:txBody>
                    <a:bodyPr/>
                    <a:lstStyle/>
                    <a:p>
                      <a:pPr>
                        <a:buNone/>
                      </a:pPr>
                      <a:r>
                        <a:rPr lang="en-CA" sz="1200"/>
                        <a:t>0.034</a:t>
                      </a:r>
                    </a:p>
                  </a:txBody>
                  <a:tcPr marL="90653" marR="90653" marT="45326" marB="45326" anchor="ctr">
                    <a:lnL>
                      <a:noFill/>
                    </a:lnL>
                    <a:lnR>
                      <a:noFill/>
                    </a:lnR>
                    <a:lnT>
                      <a:noFill/>
                    </a:lnT>
                    <a:lnB>
                      <a:noFill/>
                    </a:lnB>
                    <a:noFill/>
                  </a:tcPr>
                </a:tc>
                <a:tc>
                  <a:txBody>
                    <a:bodyPr/>
                    <a:lstStyle/>
                    <a:p>
                      <a:pPr>
                        <a:buNone/>
                      </a:pPr>
                      <a:r>
                        <a:rPr lang="en-CA" sz="1200"/>
                        <a:t>0.998</a:t>
                      </a:r>
                    </a:p>
                  </a:txBody>
                  <a:tcPr marL="90653" marR="90653" marT="45326" marB="45326" anchor="ctr">
                    <a:lnL>
                      <a:noFill/>
                    </a:lnL>
                    <a:lnR>
                      <a:noFill/>
                    </a:lnR>
                    <a:lnT>
                      <a:noFill/>
                    </a:lnT>
                    <a:lnB>
                      <a:noFill/>
                    </a:lnB>
                    <a:noFill/>
                  </a:tcPr>
                </a:tc>
                <a:tc>
                  <a:txBody>
                    <a:bodyPr/>
                    <a:lstStyle/>
                    <a:p>
                      <a:pPr>
                        <a:buNone/>
                      </a:pPr>
                      <a:r>
                        <a:rPr lang="en-CA" sz="1200"/>
                        <a:t>0.999</a:t>
                      </a:r>
                    </a:p>
                  </a:txBody>
                  <a:tcPr marL="90653" marR="90653" marT="45326" marB="45326" anchor="ctr">
                    <a:lnL>
                      <a:noFill/>
                    </a:lnL>
                    <a:lnR>
                      <a:noFill/>
                    </a:lnR>
                    <a:lnT>
                      <a:noFill/>
                    </a:lnT>
                    <a:lnB>
                      <a:noFill/>
                    </a:lnB>
                    <a:noFill/>
                  </a:tcPr>
                </a:tc>
                <a:extLst>
                  <a:ext uri="{0D108BD9-81ED-4DB2-BD59-A6C34878D82A}">
                    <a16:rowId xmlns:a16="http://schemas.microsoft.com/office/drawing/2014/main" val="445757522"/>
                  </a:ext>
                </a:extLst>
              </a:tr>
              <a:tr h="362611">
                <a:tc>
                  <a:txBody>
                    <a:bodyPr/>
                    <a:lstStyle/>
                    <a:p>
                      <a:pPr>
                        <a:buNone/>
                      </a:pPr>
                      <a:r>
                        <a:rPr lang="en-CA" sz="1200" dirty="0"/>
                        <a:t>PTPN2</a:t>
                      </a:r>
                    </a:p>
                  </a:txBody>
                  <a:tcPr marL="90653" marR="90653" marT="45326" marB="45326" anchor="ctr">
                    <a:lnL>
                      <a:noFill/>
                    </a:lnL>
                    <a:lnR>
                      <a:noFill/>
                    </a:lnR>
                    <a:lnT>
                      <a:noFill/>
                    </a:lnT>
                    <a:lnB>
                      <a:noFill/>
                    </a:lnB>
                    <a:noFill/>
                  </a:tcPr>
                </a:tc>
                <a:tc>
                  <a:txBody>
                    <a:bodyPr/>
                    <a:lstStyle/>
                    <a:p>
                      <a:pPr>
                        <a:buNone/>
                      </a:pPr>
                      <a:r>
                        <a:rPr lang="en-CA" sz="1200"/>
                        <a:t>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993833400"/>
                  </a:ext>
                </a:extLst>
              </a:tr>
              <a:tr h="362611">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18092011"/>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a:t>TRPO→PPO (Test)</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2631687750"/>
                  </a:ext>
                </a:extLst>
              </a:tr>
              <a:tr h="634570">
                <a:tc>
                  <a:txBody>
                    <a:bodyPr/>
                    <a:lstStyle/>
                    <a:p>
                      <a:pPr>
                        <a:buNone/>
                      </a:pPr>
                      <a:r>
                        <a:rPr lang="en-CA" sz="1200"/>
                        <a:t>PTPN2</a:t>
                      </a:r>
                    </a:p>
                  </a:txBody>
                  <a:tcPr marL="90653" marR="90653" marT="45326" marB="45326" anchor="ctr">
                    <a:lnL>
                      <a:noFill/>
                    </a:lnL>
                    <a:lnR>
                      <a:noFill/>
                    </a:lnR>
                    <a:lnT>
                      <a:noFill/>
                    </a:lnT>
                    <a:lnB>
                      <a:noFill/>
                    </a:lnB>
                    <a:noFill/>
                  </a:tcPr>
                </a:tc>
                <a:tc>
                  <a:txBody>
                    <a:bodyPr/>
                    <a:lstStyle/>
                    <a:p>
                      <a:pPr>
                        <a:buNone/>
                      </a:pPr>
                      <a:r>
                        <a:rPr lang="en-CA" sz="1200" dirty="0"/>
                        <a:t>TRPO→PPO (Train)</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0.000</a:t>
                      </a:r>
                    </a:p>
                  </a:txBody>
                  <a:tcPr marL="90653" marR="90653" marT="45326" marB="45326" anchor="ctr">
                    <a:lnL>
                      <a:noFill/>
                    </a:lnL>
                    <a:lnR>
                      <a:noFill/>
                    </a:lnR>
                    <a:lnT>
                      <a:noFill/>
                    </a:lnT>
                    <a:lnB>
                      <a:noFill/>
                    </a:lnB>
                    <a:noFill/>
                  </a:tcPr>
                </a:tc>
                <a:tc>
                  <a:txBody>
                    <a:bodyPr/>
                    <a:lstStyle/>
                    <a:p>
                      <a:pPr>
                        <a:buNone/>
                      </a:pPr>
                      <a:r>
                        <a:rPr lang="en-CA" sz="1200"/>
                        <a:t>1.000</a:t>
                      </a:r>
                    </a:p>
                  </a:txBody>
                  <a:tcPr marL="90653" marR="90653" marT="45326" marB="45326" anchor="ctr">
                    <a:lnL>
                      <a:noFill/>
                    </a:lnL>
                    <a:lnR>
                      <a:noFill/>
                    </a:lnR>
                    <a:lnT>
                      <a:noFill/>
                    </a:lnT>
                    <a:lnB>
                      <a:noFill/>
                    </a:lnB>
                    <a:noFill/>
                  </a:tcPr>
                </a:tc>
                <a:tc>
                  <a:txBody>
                    <a:bodyPr/>
                    <a:lstStyle/>
                    <a:p>
                      <a:pPr>
                        <a:buNone/>
                      </a:pPr>
                      <a:r>
                        <a:rPr lang="en-CA" sz="12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581330692"/>
                  </a:ext>
                </a:extLst>
              </a:tr>
            </a:tbl>
          </a:graphicData>
        </a:graphic>
      </p:graphicFrame>
    </p:spTree>
    <p:extLst>
      <p:ext uri="{BB962C8B-B14F-4D97-AF65-F5344CB8AC3E}">
        <p14:creationId xmlns:p14="http://schemas.microsoft.com/office/powerpoint/2010/main" val="16738869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a:xfrm>
            <a:off x="838200" y="81661"/>
            <a:ext cx="10515600" cy="1325563"/>
          </a:xfrm>
        </p:spPr>
        <p:txBody>
          <a:bodyPr>
            <a:normAutofit/>
          </a:bodyPr>
          <a:lstStyle/>
          <a:p>
            <a:r>
              <a:rPr lang="en-US" sz="2400" dirty="0"/>
              <a:t>Results(Insights)</a:t>
            </a:r>
            <a:endParaRPr lang="en-CA" sz="2400" dirty="0"/>
          </a:p>
        </p:txBody>
      </p:sp>
      <p:sp>
        <p:nvSpPr>
          <p:cNvPr id="5" name="TextBox 4">
            <a:extLst>
              <a:ext uri="{FF2B5EF4-FFF2-40B4-BE49-F238E27FC236}">
                <a16:creationId xmlns:a16="http://schemas.microsoft.com/office/drawing/2014/main" id="{C430CE22-B8B8-E58E-E1E2-DE3DA11CEFED}"/>
              </a:ext>
            </a:extLst>
          </p:cNvPr>
          <p:cNvSpPr txBox="1"/>
          <p:nvPr/>
        </p:nvSpPr>
        <p:spPr>
          <a:xfrm>
            <a:off x="518160" y="1407224"/>
            <a:ext cx="11155680" cy="3539430"/>
          </a:xfrm>
          <a:prstGeom prst="rect">
            <a:avLst/>
          </a:prstGeom>
          <a:noFill/>
        </p:spPr>
        <p:txBody>
          <a:bodyPr wrap="square">
            <a:spAutoFit/>
          </a:bodyPr>
          <a:lstStyle/>
          <a:p>
            <a:pPr>
              <a:buNone/>
            </a:pPr>
            <a:r>
              <a:rPr lang="en-CA" sz="1600" dirty="0"/>
              <a:t>The control sample (CTRL) results show a clear improvement and substantial benefit from the TRPO→PPO multistage optimization schedule. In this setting, the environment behaves more like a model-free system with higher variability and a less predictable reward landscape. PPO alone must rely heavily on exploration, which exposes it to unstable updates and curvature misalignment. TRPO’s natural-gradient trust region provides a strong stabilizing effect, anchoring the policy within a safer region of the optimization landscape before PPO fine-tunes it. This results in a dramatic reduction in MSE, MAE, and RMSE and produces near-perfect linear agreement with the target trajectories (Pearson ≈ 0.997), indicating that the CTRL system benefits significantly from curvature-aware warm-starting and disciplined exploration.</a:t>
            </a:r>
          </a:p>
          <a:p>
            <a:pPr>
              <a:buNone/>
            </a:pPr>
            <a:r>
              <a:rPr lang="en-CA" sz="1600" dirty="0"/>
              <a:t>In contrast, the PTPN2 system shows comparable differences between PPO and TRPO→PPO. This is because PTPN2 is driven by a model-based reinforcement learning formulation, where the dynamics are already constrained by real perturbation embeddings and a biologically grounded transition model. The agent does not require extensive exploration to discover useful directions, and therefore PPO alone can already fit the structured environment effectively. As a result, TRPO contributes only incremental improvements rather than the dramatic gains observed in CTRL. The PTPN2 landscape is sharper, less stochastic, and more directed, meaning the optimization problem is closer to supervised refinement than exploratory RL. Consequently, the difference between PPO and TRPO→PPO narrows, reflecting the reduced role of exploration in a model-based setting</a:t>
            </a:r>
          </a:p>
        </p:txBody>
      </p:sp>
    </p:spTree>
    <p:extLst>
      <p:ext uri="{BB962C8B-B14F-4D97-AF65-F5344CB8AC3E}">
        <p14:creationId xmlns:p14="http://schemas.microsoft.com/office/powerpoint/2010/main" val="6674578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normAutofit/>
          </a:bodyPr>
          <a:lstStyle/>
          <a:p>
            <a:r>
              <a:rPr lang="en-US" sz="2400" dirty="0"/>
              <a:t>Results(Trajectories Comparision hardware and Software)</a:t>
            </a:r>
            <a:endParaRPr lang="en-CA" sz="2400" dirty="0"/>
          </a:p>
        </p:txBody>
      </p:sp>
      <p:pic>
        <p:nvPicPr>
          <p:cNvPr id="5122" name="Picture 2">
            <a:extLst>
              <a:ext uri="{FF2B5EF4-FFF2-40B4-BE49-F238E27FC236}">
                <a16:creationId xmlns:a16="http://schemas.microsoft.com/office/drawing/2014/main" id="{08B76761-AE24-3939-18CF-2CA349BDA7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938" y="1571625"/>
            <a:ext cx="8620125" cy="3714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28020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32995-46E5-EBD4-72B2-2A171C6A2283}"/>
              </a:ext>
            </a:extLst>
          </p:cNvPr>
          <p:cNvSpPr>
            <a:spLocks noGrp="1"/>
          </p:cNvSpPr>
          <p:nvPr>
            <p:ph type="title"/>
          </p:nvPr>
        </p:nvSpPr>
        <p:spPr>
          <a:xfrm>
            <a:off x="920496" y="203880"/>
            <a:ext cx="10515600" cy="1325563"/>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C0C8FCEA-8C61-D44B-2925-0DA88AB013A2}"/>
              </a:ext>
            </a:extLst>
          </p:cNvPr>
          <p:cNvSpPr txBox="1"/>
          <p:nvPr/>
        </p:nvSpPr>
        <p:spPr>
          <a:xfrm>
            <a:off x="920496" y="1529443"/>
            <a:ext cx="9345168" cy="3539430"/>
          </a:xfrm>
          <a:prstGeom prst="rect">
            <a:avLst/>
          </a:prstGeom>
          <a:noFill/>
        </p:spPr>
        <p:txBody>
          <a:bodyPr wrap="square">
            <a:spAutoFit/>
          </a:bodyPr>
          <a:lstStyle/>
          <a:p>
            <a:pPr>
              <a:buNone/>
            </a:pPr>
            <a:r>
              <a:rPr lang="en-CA" sz="1600" dirty="0"/>
              <a:t>The DTW trajectory heatmap shows that PTPN2 perturbation produces structured, axis-specific shifts, with several latent dimensions (particularly around 30–45 and 70–90) exhibiting consistently high DTW distances. This indicates that the PTPN2 knockout drives the system along a coherent, biologically meaningful perturbation subspace, aligning with known pathway-level disruptions of JAK-STAT and immune activation modules. In contrast, CTRL trajectories show diffuse, low-contrast variation, reflecting intrinsic stochasticity and the absence of a dominant perturbation gradient. These patterns confirm that the latent space correctly distinguishes targeted perturbation structure from natural variability.</a:t>
            </a:r>
          </a:p>
          <a:p>
            <a:pPr>
              <a:buNone/>
            </a:pPr>
            <a:r>
              <a:rPr lang="en-CA" sz="1600" dirty="0"/>
              <a:t>Together, these observations support the interpretation that PTPN2 behaves like a lower-entropy, model-based landscape, where the perturbation imposes strong directional constraints on the trajectory. Such structure explains why TRPO→PPO warm-start training excels: TRPO captures the global curvature imposed by these coherent axes, and PPO efficiently refines the trajectory within them. Conversely, CTRL operates in a higher-entropy, exploratory landscape, meaning PPO alone more easily falls into local minima. Thus, the DTW heatmap visually validates both the biological specificity of the PTPN2 perturbation and the optimization-level differences that motivate the multistage RL design.</a:t>
            </a:r>
          </a:p>
        </p:txBody>
      </p:sp>
    </p:spTree>
    <p:extLst>
      <p:ext uri="{BB962C8B-B14F-4D97-AF65-F5344CB8AC3E}">
        <p14:creationId xmlns:p14="http://schemas.microsoft.com/office/powerpoint/2010/main" val="13828042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FBB0-498C-B80D-9C69-D7EDCC2FDB47}"/>
              </a:ext>
            </a:extLst>
          </p:cNvPr>
          <p:cNvSpPr>
            <a:spLocks noGrp="1"/>
          </p:cNvSpPr>
          <p:nvPr>
            <p:ph type="title"/>
          </p:nvPr>
        </p:nvSpPr>
        <p:spPr>
          <a:xfrm>
            <a:off x="765048" y="193143"/>
            <a:ext cx="10515600" cy="530757"/>
          </a:xfrm>
        </p:spPr>
        <p:txBody>
          <a:bodyPr>
            <a:normAutofit/>
          </a:bodyPr>
          <a:lstStyle/>
          <a:p>
            <a:r>
              <a:rPr lang="en-US" sz="2400" dirty="0"/>
              <a:t>Results(Trajectories Comparision hardware and Software)</a:t>
            </a:r>
            <a:endParaRPr lang="en-CA" sz="2400" dirty="0"/>
          </a:p>
        </p:txBody>
      </p:sp>
      <p:sp>
        <p:nvSpPr>
          <p:cNvPr id="5" name="TextBox 4">
            <a:extLst>
              <a:ext uri="{FF2B5EF4-FFF2-40B4-BE49-F238E27FC236}">
                <a16:creationId xmlns:a16="http://schemas.microsoft.com/office/drawing/2014/main" id="{9D7320E7-E3BD-731F-EA3A-474A1FA65BA5}"/>
              </a:ext>
            </a:extLst>
          </p:cNvPr>
          <p:cNvSpPr txBox="1"/>
          <p:nvPr/>
        </p:nvSpPr>
        <p:spPr>
          <a:xfrm>
            <a:off x="643128" y="3429000"/>
            <a:ext cx="11548872" cy="3046988"/>
          </a:xfrm>
          <a:prstGeom prst="rect">
            <a:avLst/>
          </a:prstGeom>
          <a:noFill/>
        </p:spPr>
        <p:txBody>
          <a:bodyPr wrap="square">
            <a:spAutoFit/>
          </a:bodyPr>
          <a:lstStyle/>
          <a:p>
            <a:pPr>
              <a:buNone/>
            </a:pPr>
            <a:r>
              <a:rPr lang="en-CA" sz="1600" dirty="0"/>
              <a:t>This plot visualizes bidirectional Wasserstein distances between the CTRL and PTPN2 trajectory distributions across latent space, essentially measuring how far one system’s trajectory distribution must be “transported” to match the other. The symmetry in the graph where the CTRL to PTPN2 and PTPN2 to CTRL distances mirror each other confirms that the latent dynamics between the two systems differ in magnitude and curvature, but not in an asymmetric or one-sided way. In other words, each system occupies its own distinct region of the latent landscape, and transitioning from one to the other requires non-trivial mass transport, reflecting meaningful biological and dynamical differences.</a:t>
            </a:r>
          </a:p>
          <a:p>
            <a:pPr>
              <a:buNone/>
            </a:pPr>
            <a:r>
              <a:rPr lang="en-CA" sz="1600" dirty="0"/>
              <a:t>The overall magnitude of the Wasserstein distances shows that PTPN2 trajectories are more compact and structured, while CTRL trajectories are more dispersed. This aligns with your model-based interpretation: PTPN2 imposes strong directional constraints—lower entropy, reduced exploration whereas CTRL reflects a more open, high-entropy landscape. The bidirectional plot reinforces that these differences are robust and not artifacts of the RL path direction. In practical terms, this suggests that PTPN2 perturbation drives cells into a distinct using the model based approach, tightly organized manifold, while CTRL cells explore a broader, less restricted region of state space using model free approach.</a:t>
            </a:r>
          </a:p>
        </p:txBody>
      </p:sp>
      <p:graphicFrame>
        <p:nvGraphicFramePr>
          <p:cNvPr id="6" name="Table 5">
            <a:extLst>
              <a:ext uri="{FF2B5EF4-FFF2-40B4-BE49-F238E27FC236}">
                <a16:creationId xmlns:a16="http://schemas.microsoft.com/office/drawing/2014/main" id="{35A9D0B9-1A51-6321-AC0D-E90EB1C7577F}"/>
              </a:ext>
            </a:extLst>
          </p:cNvPr>
          <p:cNvGraphicFramePr>
            <a:graphicFrameLocks noGrp="1"/>
          </p:cNvGraphicFramePr>
          <p:nvPr>
            <p:extLst>
              <p:ext uri="{D42A27DB-BD31-4B8C-83A1-F6EECF244321}">
                <p14:modId xmlns:p14="http://schemas.microsoft.com/office/powerpoint/2010/main" val="2464292590"/>
              </p:ext>
            </p:extLst>
          </p:nvPr>
        </p:nvGraphicFramePr>
        <p:xfrm>
          <a:off x="1003173" y="1162050"/>
          <a:ext cx="10515600" cy="1828800"/>
        </p:xfrm>
        <a:graphic>
          <a:graphicData uri="http://schemas.openxmlformats.org/drawingml/2006/table">
            <a:tbl>
              <a:tblPr/>
              <a:tblGrid>
                <a:gridCol w="2628900">
                  <a:extLst>
                    <a:ext uri="{9D8B030D-6E8A-4147-A177-3AD203B41FA5}">
                      <a16:colId xmlns:a16="http://schemas.microsoft.com/office/drawing/2014/main" val="2201055357"/>
                    </a:ext>
                  </a:extLst>
                </a:gridCol>
                <a:gridCol w="2628900">
                  <a:extLst>
                    <a:ext uri="{9D8B030D-6E8A-4147-A177-3AD203B41FA5}">
                      <a16:colId xmlns:a16="http://schemas.microsoft.com/office/drawing/2014/main" val="1576787890"/>
                    </a:ext>
                  </a:extLst>
                </a:gridCol>
                <a:gridCol w="2628900">
                  <a:extLst>
                    <a:ext uri="{9D8B030D-6E8A-4147-A177-3AD203B41FA5}">
                      <a16:colId xmlns:a16="http://schemas.microsoft.com/office/drawing/2014/main" val="2002103820"/>
                    </a:ext>
                  </a:extLst>
                </a:gridCol>
                <a:gridCol w="2628900">
                  <a:extLst>
                    <a:ext uri="{9D8B030D-6E8A-4147-A177-3AD203B41FA5}">
                      <a16:colId xmlns:a16="http://schemas.microsoft.com/office/drawing/2014/main" val="843929939"/>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dirty="0"/>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1377964396"/>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0.935</a:t>
                      </a:r>
                    </a:p>
                  </a:txBody>
                  <a:tcPr anchor="ctr">
                    <a:lnL>
                      <a:noFill/>
                    </a:lnL>
                    <a:lnR>
                      <a:noFill/>
                    </a:lnR>
                    <a:lnT>
                      <a:noFill/>
                    </a:lnT>
                    <a:lnB>
                      <a:noFill/>
                    </a:lnB>
                    <a:noFill/>
                  </a:tcPr>
                </a:tc>
                <a:tc>
                  <a:txBody>
                    <a:bodyPr/>
                    <a:lstStyle/>
                    <a:p>
                      <a:pPr>
                        <a:buNone/>
                      </a:pPr>
                      <a:r>
                        <a:rPr lang="en-CA"/>
                        <a:t>0.362</a:t>
                      </a:r>
                    </a:p>
                  </a:txBody>
                  <a:tcPr anchor="ctr">
                    <a:lnL>
                      <a:noFill/>
                    </a:lnL>
                    <a:lnR>
                      <a:noFill/>
                    </a:lnR>
                    <a:lnT>
                      <a:noFill/>
                    </a:lnT>
                    <a:lnB>
                      <a:noFill/>
                    </a:lnB>
                    <a:noFill/>
                  </a:tcPr>
                </a:tc>
                <a:extLst>
                  <a:ext uri="{0D108BD9-81ED-4DB2-BD59-A6C34878D82A}">
                    <a16:rowId xmlns:a16="http://schemas.microsoft.com/office/drawing/2014/main" val="1471995102"/>
                  </a:ext>
                </a:extLst>
              </a:tr>
              <a:tr h="0">
                <a:tc>
                  <a:txBody>
                    <a:bodyPr/>
                    <a:lstStyle/>
                    <a:p>
                      <a:pPr>
                        <a:buNone/>
                      </a:pPr>
                      <a:r>
                        <a:rPr lang="en-CA" dirty="0"/>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0.872</a:t>
                      </a:r>
                    </a:p>
                  </a:txBody>
                  <a:tcPr anchor="ctr">
                    <a:lnL>
                      <a:noFill/>
                    </a:lnL>
                    <a:lnR>
                      <a:noFill/>
                    </a:lnR>
                    <a:lnT>
                      <a:noFill/>
                    </a:lnT>
                    <a:lnB>
                      <a:noFill/>
                    </a:lnB>
                    <a:noFill/>
                  </a:tcPr>
                </a:tc>
                <a:tc>
                  <a:txBody>
                    <a:bodyPr/>
                    <a:lstStyle/>
                    <a:p>
                      <a:pPr>
                        <a:buNone/>
                      </a:pPr>
                      <a:r>
                        <a:rPr lang="en-CA"/>
                        <a:t>0.432</a:t>
                      </a:r>
                    </a:p>
                  </a:txBody>
                  <a:tcPr anchor="ctr">
                    <a:lnL>
                      <a:noFill/>
                    </a:lnL>
                    <a:lnR>
                      <a:noFill/>
                    </a:lnR>
                    <a:lnT>
                      <a:noFill/>
                    </a:lnT>
                    <a:lnB>
                      <a:noFill/>
                    </a:lnB>
                    <a:noFill/>
                  </a:tcPr>
                </a:tc>
                <a:extLst>
                  <a:ext uri="{0D108BD9-81ED-4DB2-BD59-A6C34878D82A}">
                    <a16:rowId xmlns:a16="http://schemas.microsoft.com/office/drawing/2014/main" val="2052915524"/>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0.961</a:t>
                      </a:r>
                    </a:p>
                  </a:txBody>
                  <a:tcPr anchor="ctr">
                    <a:lnL>
                      <a:noFill/>
                    </a:lnL>
                    <a:lnR>
                      <a:noFill/>
                    </a:lnR>
                    <a:lnT>
                      <a:noFill/>
                    </a:lnT>
                    <a:lnB>
                      <a:noFill/>
                    </a:lnB>
                    <a:noFill/>
                  </a:tcPr>
                </a:tc>
                <a:tc>
                  <a:txBody>
                    <a:bodyPr/>
                    <a:lstStyle/>
                    <a:p>
                      <a:pPr>
                        <a:buNone/>
                      </a:pPr>
                      <a:r>
                        <a:rPr lang="en-CA"/>
                        <a:t>0.480</a:t>
                      </a:r>
                    </a:p>
                  </a:txBody>
                  <a:tcPr anchor="ctr">
                    <a:lnL>
                      <a:noFill/>
                    </a:lnL>
                    <a:lnR>
                      <a:noFill/>
                    </a:lnR>
                    <a:lnT>
                      <a:noFill/>
                    </a:lnT>
                    <a:lnB>
                      <a:noFill/>
                    </a:lnB>
                    <a:noFill/>
                  </a:tcPr>
                </a:tc>
                <a:extLst>
                  <a:ext uri="{0D108BD9-81ED-4DB2-BD59-A6C34878D82A}">
                    <a16:rowId xmlns:a16="http://schemas.microsoft.com/office/drawing/2014/main" val="2179572682"/>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1.180</a:t>
                      </a:r>
                    </a:p>
                  </a:txBody>
                  <a:tcPr anchor="ctr">
                    <a:lnL>
                      <a:noFill/>
                    </a:lnL>
                    <a:lnR>
                      <a:noFill/>
                    </a:lnR>
                    <a:lnT>
                      <a:noFill/>
                    </a:lnT>
                    <a:lnB>
                      <a:noFill/>
                    </a:lnB>
                    <a:noFill/>
                  </a:tcPr>
                </a:tc>
                <a:tc>
                  <a:txBody>
                    <a:bodyPr/>
                    <a:lstStyle/>
                    <a:p>
                      <a:pPr>
                        <a:buNone/>
                      </a:pPr>
                      <a:r>
                        <a:rPr lang="en-CA" dirty="0"/>
                        <a:t>0.590</a:t>
                      </a:r>
                    </a:p>
                  </a:txBody>
                  <a:tcPr anchor="ctr">
                    <a:lnL>
                      <a:noFill/>
                    </a:lnL>
                    <a:lnR>
                      <a:noFill/>
                    </a:lnR>
                    <a:lnT>
                      <a:noFill/>
                    </a:lnT>
                    <a:lnB>
                      <a:noFill/>
                    </a:lnB>
                    <a:noFill/>
                  </a:tcPr>
                </a:tc>
                <a:extLst>
                  <a:ext uri="{0D108BD9-81ED-4DB2-BD59-A6C34878D82A}">
                    <a16:rowId xmlns:a16="http://schemas.microsoft.com/office/drawing/2014/main" val="579702080"/>
                  </a:ext>
                </a:extLst>
              </a:tr>
            </a:tbl>
          </a:graphicData>
        </a:graphic>
      </p:graphicFrame>
    </p:spTree>
    <p:extLst>
      <p:ext uri="{BB962C8B-B14F-4D97-AF65-F5344CB8AC3E}">
        <p14:creationId xmlns:p14="http://schemas.microsoft.com/office/powerpoint/2010/main" val="36440130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3A127-1CD4-63DA-FB9A-9AA3FF65CD6F}"/>
              </a:ext>
            </a:extLst>
          </p:cNvPr>
          <p:cNvSpPr>
            <a:spLocks noGrp="1"/>
          </p:cNvSpPr>
          <p:nvPr>
            <p:ph type="title"/>
          </p:nvPr>
        </p:nvSpPr>
        <p:spPr/>
        <p:txBody>
          <a:bodyPr>
            <a:normAutofit/>
          </a:bodyPr>
          <a:lstStyle/>
          <a:p>
            <a:r>
              <a:rPr lang="en-US" sz="2400" b="1" dirty="0"/>
              <a:t>Results</a:t>
            </a:r>
            <a:endParaRPr lang="en-CA" sz="2400" b="1" dirty="0"/>
          </a:p>
        </p:txBody>
      </p:sp>
      <p:pic>
        <p:nvPicPr>
          <p:cNvPr id="6146" name="Picture 2">
            <a:extLst>
              <a:ext uri="{FF2B5EF4-FFF2-40B4-BE49-F238E27FC236}">
                <a16:creationId xmlns:a16="http://schemas.microsoft.com/office/drawing/2014/main" id="{B43FEB0E-E105-2866-3B9E-46F4185567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37581" y="1504950"/>
            <a:ext cx="7716837" cy="4895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4023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A55C8-E5AD-078E-65D0-19D0ABF5C6DB}"/>
              </a:ext>
            </a:extLst>
          </p:cNvPr>
          <p:cNvSpPr>
            <a:spLocks noGrp="1"/>
          </p:cNvSpPr>
          <p:nvPr>
            <p:ph type="title"/>
          </p:nvPr>
        </p:nvSpPr>
        <p:spPr>
          <a:xfrm>
            <a:off x="646176" y="414193"/>
            <a:ext cx="10515600" cy="829392"/>
          </a:xfrm>
        </p:spPr>
        <p:txBody>
          <a:bodyPr>
            <a:normAutofit/>
          </a:bodyPr>
          <a:lstStyle/>
          <a:p>
            <a:r>
              <a:rPr lang="en-US" sz="2400" b="1" dirty="0"/>
              <a:t>Insights</a:t>
            </a:r>
            <a:endParaRPr lang="en-CA" sz="2400" b="1" dirty="0"/>
          </a:p>
        </p:txBody>
      </p:sp>
      <p:sp>
        <p:nvSpPr>
          <p:cNvPr id="5" name="TextBox 4">
            <a:extLst>
              <a:ext uri="{FF2B5EF4-FFF2-40B4-BE49-F238E27FC236}">
                <a16:creationId xmlns:a16="http://schemas.microsoft.com/office/drawing/2014/main" id="{5F3A8EF0-388A-E9FC-8D68-4FC45B862C32}"/>
              </a:ext>
            </a:extLst>
          </p:cNvPr>
          <p:cNvSpPr txBox="1"/>
          <p:nvPr/>
        </p:nvSpPr>
        <p:spPr>
          <a:xfrm>
            <a:off x="646176" y="1884968"/>
            <a:ext cx="9921240" cy="3539430"/>
          </a:xfrm>
          <a:prstGeom prst="rect">
            <a:avLst/>
          </a:prstGeom>
          <a:noFill/>
        </p:spPr>
        <p:txBody>
          <a:bodyPr wrap="square">
            <a:spAutoFit/>
          </a:bodyPr>
          <a:lstStyle/>
          <a:p>
            <a:pPr>
              <a:buNone/>
            </a:pPr>
            <a:r>
              <a:rPr lang="en-CA" sz="1600" dirty="0">
                <a:cs typeface="Times New Roman" panose="02020603050405020304" pitchFamily="18" charset="0"/>
              </a:rPr>
              <a:t>The unified latent-space plot shows that real CTRL/PTPN2 cells and the RL-simulated trajectories occupy the same underlying manifold, indicating that the TRPO→PPO agent successfully learns biologically valid transition dynamics. Simulated CTRL trajectories remain tightly clustered within the natural CTRL basin, matching the compact, low-entropy structure of the real data. Simulated PTPN2 trajectories extend into the broader, more heterogeneous region characteristic of real PTPN2 cells, demonstrating that the RL model captures both the direction and variability of the perturbation-induced shift. The close overlap between real and simulated points confirms that the RL dynamics respect the geometry of the learned single-cell embedding.</a:t>
            </a:r>
          </a:p>
          <a:p>
            <a:pPr>
              <a:buNone/>
            </a:pPr>
            <a:r>
              <a:rPr lang="en-CA" sz="1600" dirty="0">
                <a:cs typeface="Times New Roman" panose="02020603050405020304" pitchFamily="18" charset="0"/>
              </a:rPr>
              <a:t>At the perturbation level, the visualization reveals that PTPN2 knockout expands the latent manifold, producing greater spread along both principal component (PC1) and PC2 consistent with increased transcriptional variability and activation-associated remodeling. CTRL cells, in contrast, remain confined to a stable, narrow attractor region. The fact that TRPO→PPO trajectories align cleanly with these biological patterns indicates that the multistage RL strategy not only models point-to-point transitions but faithfully reconstructs the global shape of the perturbation landscape. This validates your model-based interpretation: CTRL reflects a stable, low-variance landscape, while PTPN2 responds with structured but dispersed state transitions that the RL pipeline accurately recovers.</a:t>
            </a:r>
          </a:p>
        </p:txBody>
      </p:sp>
    </p:spTree>
    <p:extLst>
      <p:ext uri="{BB962C8B-B14F-4D97-AF65-F5344CB8AC3E}">
        <p14:creationId xmlns:p14="http://schemas.microsoft.com/office/powerpoint/2010/main" val="30521077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064F3-7FBD-DCBF-15DA-324B411D31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32E5C-71B0-B39C-6C33-2F532D2C28E4}"/>
              </a:ext>
            </a:extLst>
          </p:cNvPr>
          <p:cNvSpPr>
            <a:spLocks noGrp="1"/>
          </p:cNvSpPr>
          <p:nvPr>
            <p:ph type="title"/>
          </p:nvPr>
        </p:nvSpPr>
        <p:spPr>
          <a:xfrm>
            <a:off x="1472184" y="2103437"/>
            <a:ext cx="9390888" cy="1325563"/>
          </a:xfrm>
        </p:spPr>
        <p:txBody>
          <a:bodyPr>
            <a:normAutofit/>
          </a:bodyPr>
          <a:lstStyle/>
          <a:p>
            <a:r>
              <a:rPr lang="en-US" dirty="0"/>
              <a:t>          Drug Development</a:t>
            </a:r>
            <a:endParaRPr lang="en-CA" dirty="0"/>
          </a:p>
        </p:txBody>
      </p:sp>
    </p:spTree>
    <p:extLst>
      <p:ext uri="{BB962C8B-B14F-4D97-AF65-F5344CB8AC3E}">
        <p14:creationId xmlns:p14="http://schemas.microsoft.com/office/powerpoint/2010/main" val="34126545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E7864-FC9E-5CFD-BA24-56E200960EEE}"/>
              </a:ext>
            </a:extLst>
          </p:cNvPr>
          <p:cNvSpPr>
            <a:spLocks noGrp="1"/>
          </p:cNvSpPr>
          <p:nvPr>
            <p:ph type="title"/>
          </p:nvPr>
        </p:nvSpPr>
        <p:spPr>
          <a:xfrm>
            <a:off x="838200" y="529717"/>
            <a:ext cx="10046208" cy="649859"/>
          </a:xfrm>
        </p:spPr>
        <p:txBody>
          <a:bodyPr>
            <a:normAutofit/>
          </a:bodyPr>
          <a:lstStyle/>
          <a:p>
            <a:r>
              <a:rPr lang="en-US" sz="2400" b="1" dirty="0"/>
              <a:t>Dataset and Link to Evaluation Code</a:t>
            </a:r>
            <a:endParaRPr lang="en-CA" sz="2400" b="1" dirty="0"/>
          </a:p>
        </p:txBody>
      </p:sp>
      <p:sp>
        <p:nvSpPr>
          <p:cNvPr id="3" name="Content Placeholder 2">
            <a:extLst>
              <a:ext uri="{FF2B5EF4-FFF2-40B4-BE49-F238E27FC236}">
                <a16:creationId xmlns:a16="http://schemas.microsoft.com/office/drawing/2014/main" id="{AB8F849B-AD7A-66D7-5D1B-9202504483FC}"/>
              </a:ext>
            </a:extLst>
          </p:cNvPr>
          <p:cNvSpPr>
            <a:spLocks noGrp="1"/>
          </p:cNvSpPr>
          <p:nvPr>
            <p:ph idx="1"/>
          </p:nvPr>
        </p:nvSpPr>
        <p:spPr>
          <a:xfrm>
            <a:off x="902208" y="1505585"/>
            <a:ext cx="10515600" cy="4351338"/>
          </a:xfrm>
        </p:spPr>
        <p:txBody>
          <a:bodyPr>
            <a:normAutofit/>
          </a:bodyPr>
          <a:lstStyle/>
          <a:p>
            <a:r>
              <a:rPr lang="en-CA" sz="1600" b="1" dirty="0"/>
              <a:t>Drug treatment in Mouse (Double Perturbation)</a:t>
            </a:r>
          </a:p>
          <a:p>
            <a:endParaRPr lang="en-CA" sz="1600" dirty="0"/>
          </a:p>
          <a:p>
            <a:r>
              <a:rPr lang="en-CA" sz="1600" dirty="0"/>
              <a:t>Anti–PD-1 → blocks PD-1/PD-L1 suppressive axis</a:t>
            </a:r>
          </a:p>
          <a:p>
            <a:endParaRPr lang="en-CA" sz="1600" dirty="0"/>
          </a:p>
          <a:p>
            <a:r>
              <a:rPr lang="en-CA" sz="1600" dirty="0"/>
              <a:t>Anti–CTLA-4 → blocks regulatory checkpoints &amp; enhances T cell priming</a:t>
            </a:r>
          </a:p>
          <a:p>
            <a:endParaRPr lang="en-CA" sz="1600" dirty="0"/>
          </a:p>
          <a:p>
            <a:r>
              <a:rPr lang="en-CA" sz="1600" dirty="0"/>
              <a:t>Link to Code: </a:t>
            </a:r>
            <a:r>
              <a:rPr lang="en-CA" sz="1600" u="sng" dirty="0">
                <a:hlinkClick r:id="rId2"/>
              </a:rPr>
              <a:t>https://colab.research.google.com/drive/1UoPEKODPjZeQ2BuGoC5iFKkUqwlj3bkm?usp=sharing</a:t>
            </a:r>
            <a:endParaRPr lang="en-CA" sz="1600" u="sng" dirty="0"/>
          </a:p>
          <a:p>
            <a:r>
              <a:rPr lang="en-CA" sz="1600" b="1" dirty="0" err="1"/>
              <a:t>Github</a:t>
            </a:r>
            <a:r>
              <a:rPr lang="en-CA" sz="1600" b="1" dirty="0"/>
              <a:t>: </a:t>
            </a:r>
          </a:p>
          <a:p>
            <a:pPr marL="0" indent="0">
              <a:buNone/>
            </a:pPr>
            <a:r>
              <a:rPr lang="en-CA" sz="1600" dirty="0"/>
              <a:t>https://github.com/boabangf/GNN_RL_gene_trajectory_perturbation/blob/main/Drug%20Development/drug_development.ipynb</a:t>
            </a:r>
          </a:p>
          <a:p>
            <a:pPr marL="0" indent="0">
              <a:buNone/>
            </a:pPr>
            <a:r>
              <a:rPr lang="en-CA" sz="1600" b="1" dirty="0"/>
              <a:t>Dataset</a:t>
            </a:r>
          </a:p>
          <a:p>
            <a:r>
              <a:rPr lang="en-CA" sz="1600" b="1" u="sng" dirty="0">
                <a:hlinkClick r:id="rId3"/>
              </a:rPr>
              <a:t>https://www.ncbi.nlm.nih.gov/geo/query/acc.cgi?acc=GSE119352</a:t>
            </a:r>
            <a:endParaRPr lang="en-CA" sz="1600" dirty="0"/>
          </a:p>
          <a:p>
            <a:endParaRPr lang="en-CA" sz="1600" dirty="0"/>
          </a:p>
        </p:txBody>
      </p:sp>
    </p:spTree>
    <p:extLst>
      <p:ext uri="{BB962C8B-B14F-4D97-AF65-F5344CB8AC3E}">
        <p14:creationId xmlns:p14="http://schemas.microsoft.com/office/powerpoint/2010/main" val="18557032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80CC-FA33-8E34-AEE0-0BCF28AD8183}"/>
              </a:ext>
            </a:extLst>
          </p:cNvPr>
          <p:cNvSpPr>
            <a:spLocks noGrp="1"/>
          </p:cNvSpPr>
          <p:nvPr>
            <p:ph type="title"/>
          </p:nvPr>
        </p:nvSpPr>
        <p:spPr>
          <a:xfrm>
            <a:off x="915902" y="210381"/>
            <a:ext cx="10515600" cy="1325563"/>
          </a:xfrm>
        </p:spPr>
        <p:txBody>
          <a:bodyPr>
            <a:normAutofit/>
          </a:bodyPr>
          <a:lstStyle/>
          <a:p>
            <a:r>
              <a:rPr lang="en-US" sz="2400" b="1" dirty="0"/>
              <a:t>Results</a:t>
            </a:r>
            <a:endParaRPr lang="en-CA" sz="2400" b="1" dirty="0"/>
          </a:p>
        </p:txBody>
      </p:sp>
      <p:pic>
        <p:nvPicPr>
          <p:cNvPr id="1026" name="Picture 2">
            <a:extLst>
              <a:ext uri="{FF2B5EF4-FFF2-40B4-BE49-F238E27FC236}">
                <a16:creationId xmlns:a16="http://schemas.microsoft.com/office/drawing/2014/main" id="{E34576B2-0A76-798B-527F-74160E3B59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3639" y="1849610"/>
            <a:ext cx="8464721" cy="45729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46472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ED77D-B13D-C708-4A40-03ED96CC862E}"/>
              </a:ext>
            </a:extLst>
          </p:cNvPr>
          <p:cNvSpPr>
            <a:spLocks noGrp="1"/>
          </p:cNvSpPr>
          <p:nvPr>
            <p:ph type="title"/>
          </p:nvPr>
        </p:nvSpPr>
        <p:spPr/>
        <p:txBody>
          <a:bodyPr>
            <a:normAutofit/>
          </a:bodyPr>
          <a:lstStyle/>
          <a:p>
            <a:r>
              <a:rPr lang="en-US" sz="2400" b="1" dirty="0"/>
              <a:t>Results</a:t>
            </a:r>
            <a:endParaRPr lang="en-CA" sz="2400" b="1" dirty="0"/>
          </a:p>
        </p:txBody>
      </p:sp>
      <p:graphicFrame>
        <p:nvGraphicFramePr>
          <p:cNvPr id="4" name="Table 3">
            <a:extLst>
              <a:ext uri="{FF2B5EF4-FFF2-40B4-BE49-F238E27FC236}">
                <a16:creationId xmlns:a16="http://schemas.microsoft.com/office/drawing/2014/main" id="{E9D5AA26-372F-D8BB-8B43-A049C84137F1}"/>
              </a:ext>
            </a:extLst>
          </p:cNvPr>
          <p:cNvGraphicFramePr>
            <a:graphicFrameLocks noGrp="1"/>
          </p:cNvGraphicFramePr>
          <p:nvPr>
            <p:extLst>
              <p:ext uri="{D42A27DB-BD31-4B8C-83A1-F6EECF244321}">
                <p14:modId xmlns:p14="http://schemas.microsoft.com/office/powerpoint/2010/main" val="417492942"/>
              </p:ext>
            </p:extLst>
          </p:nvPr>
        </p:nvGraphicFramePr>
        <p:xfrm>
          <a:off x="542778" y="2017749"/>
          <a:ext cx="10515600" cy="1828800"/>
        </p:xfrm>
        <a:graphic>
          <a:graphicData uri="http://schemas.openxmlformats.org/drawingml/2006/table">
            <a:tbl>
              <a:tblPr/>
              <a:tblGrid>
                <a:gridCol w="2628900">
                  <a:extLst>
                    <a:ext uri="{9D8B030D-6E8A-4147-A177-3AD203B41FA5}">
                      <a16:colId xmlns:a16="http://schemas.microsoft.com/office/drawing/2014/main" val="3048872658"/>
                    </a:ext>
                  </a:extLst>
                </a:gridCol>
                <a:gridCol w="2628900">
                  <a:extLst>
                    <a:ext uri="{9D8B030D-6E8A-4147-A177-3AD203B41FA5}">
                      <a16:colId xmlns:a16="http://schemas.microsoft.com/office/drawing/2014/main" val="933983716"/>
                    </a:ext>
                  </a:extLst>
                </a:gridCol>
                <a:gridCol w="2628900">
                  <a:extLst>
                    <a:ext uri="{9D8B030D-6E8A-4147-A177-3AD203B41FA5}">
                      <a16:colId xmlns:a16="http://schemas.microsoft.com/office/drawing/2014/main" val="1226521377"/>
                    </a:ext>
                  </a:extLst>
                </a:gridCol>
                <a:gridCol w="2628900">
                  <a:extLst>
                    <a:ext uri="{9D8B030D-6E8A-4147-A177-3AD203B41FA5}">
                      <a16:colId xmlns:a16="http://schemas.microsoft.com/office/drawing/2014/main" val="2028874475"/>
                    </a:ext>
                  </a:extLst>
                </a:gridCol>
              </a:tblGrid>
              <a:tr h="0">
                <a:tc>
                  <a:txBody>
                    <a:bodyPr/>
                    <a:lstStyle/>
                    <a:p>
                      <a:pPr>
                        <a:buNone/>
                      </a:pPr>
                      <a:r>
                        <a:rPr lang="en-CA"/>
                        <a:t>System</a:t>
                      </a:r>
                    </a:p>
                  </a:txBody>
                  <a:tcPr anchor="ctr">
                    <a:lnL>
                      <a:noFill/>
                    </a:lnL>
                    <a:lnR>
                      <a:noFill/>
                    </a:lnR>
                    <a:lnT>
                      <a:noFill/>
                    </a:lnT>
                    <a:lnB>
                      <a:noFill/>
                    </a:lnB>
                    <a:noFill/>
                  </a:tcPr>
                </a:tc>
                <a:tc>
                  <a:txBody>
                    <a:bodyPr/>
                    <a:lstStyle/>
                    <a:p>
                      <a:pPr>
                        <a:buNone/>
                      </a:pPr>
                      <a:r>
                        <a:rPr lang="en-CA"/>
                        <a:t>Algorithm</a:t>
                      </a:r>
                    </a:p>
                  </a:txBody>
                  <a:tcPr anchor="ctr">
                    <a:lnL>
                      <a:noFill/>
                    </a:lnL>
                    <a:lnR>
                      <a:noFill/>
                    </a:lnR>
                    <a:lnT>
                      <a:noFill/>
                    </a:lnT>
                    <a:lnB>
                      <a:noFill/>
                    </a:lnB>
                    <a:noFill/>
                  </a:tcPr>
                </a:tc>
                <a:tc>
                  <a:txBody>
                    <a:bodyPr/>
                    <a:lstStyle/>
                    <a:p>
                      <a:pPr>
                        <a:buNone/>
                      </a:pPr>
                      <a:r>
                        <a:rPr lang="en-CA"/>
                        <a:t>DTW</a:t>
                      </a:r>
                    </a:p>
                  </a:txBody>
                  <a:tcPr anchor="ctr">
                    <a:lnL>
                      <a:noFill/>
                    </a:lnL>
                    <a:lnR>
                      <a:noFill/>
                    </a:lnR>
                    <a:lnT>
                      <a:noFill/>
                    </a:lnT>
                    <a:lnB>
                      <a:noFill/>
                    </a:lnB>
                    <a:noFill/>
                  </a:tcPr>
                </a:tc>
                <a:tc>
                  <a:txBody>
                    <a:bodyPr/>
                    <a:lstStyle/>
                    <a:p>
                      <a:pPr>
                        <a:buNone/>
                      </a:pPr>
                      <a:r>
                        <a:rPr lang="en-CA"/>
                        <a:t>Wasserstein</a:t>
                      </a:r>
                    </a:p>
                  </a:txBody>
                  <a:tcPr anchor="ctr">
                    <a:lnL>
                      <a:noFill/>
                    </a:lnL>
                    <a:lnR>
                      <a:noFill/>
                    </a:lnR>
                    <a:lnT>
                      <a:noFill/>
                    </a:lnT>
                    <a:lnB>
                      <a:noFill/>
                    </a:lnB>
                    <a:noFill/>
                  </a:tcPr>
                </a:tc>
                <a:extLst>
                  <a:ext uri="{0D108BD9-81ED-4DB2-BD59-A6C34878D82A}">
                    <a16:rowId xmlns:a16="http://schemas.microsoft.com/office/drawing/2014/main" val="2542318273"/>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2.997</a:t>
                      </a:r>
                    </a:p>
                  </a:txBody>
                  <a:tcPr anchor="ctr">
                    <a:lnL>
                      <a:noFill/>
                    </a:lnL>
                    <a:lnR>
                      <a:noFill/>
                    </a:lnR>
                    <a:lnT>
                      <a:noFill/>
                    </a:lnT>
                    <a:lnB>
                      <a:noFill/>
                    </a:lnB>
                    <a:noFill/>
                  </a:tcPr>
                </a:tc>
                <a:tc>
                  <a:txBody>
                    <a:bodyPr/>
                    <a:lstStyle/>
                    <a:p>
                      <a:pPr>
                        <a:buNone/>
                      </a:pPr>
                      <a:r>
                        <a:rPr lang="en-CA"/>
                        <a:t>1.183</a:t>
                      </a:r>
                    </a:p>
                  </a:txBody>
                  <a:tcPr anchor="ctr">
                    <a:lnL>
                      <a:noFill/>
                    </a:lnL>
                    <a:lnR>
                      <a:noFill/>
                    </a:lnR>
                    <a:lnT>
                      <a:noFill/>
                    </a:lnT>
                    <a:lnB>
                      <a:noFill/>
                    </a:lnB>
                    <a:noFill/>
                  </a:tcPr>
                </a:tc>
                <a:extLst>
                  <a:ext uri="{0D108BD9-81ED-4DB2-BD59-A6C34878D82A}">
                    <a16:rowId xmlns:a16="http://schemas.microsoft.com/office/drawing/2014/main" val="242166470"/>
                  </a:ext>
                </a:extLst>
              </a:tr>
              <a:tr h="0">
                <a:tc>
                  <a:txBody>
                    <a:bodyPr/>
                    <a:lstStyle/>
                    <a:p>
                      <a:pPr>
                        <a:buNone/>
                      </a:pPr>
                      <a:r>
                        <a:rPr lang="en-CA"/>
                        <a:t>CTRL</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2.721</a:t>
                      </a:r>
                    </a:p>
                  </a:txBody>
                  <a:tcPr anchor="ctr">
                    <a:lnL>
                      <a:noFill/>
                    </a:lnL>
                    <a:lnR>
                      <a:noFill/>
                    </a:lnR>
                    <a:lnT>
                      <a:noFill/>
                    </a:lnT>
                    <a:lnB>
                      <a:noFill/>
                    </a:lnB>
                    <a:noFill/>
                  </a:tcPr>
                </a:tc>
                <a:tc>
                  <a:txBody>
                    <a:bodyPr/>
                    <a:lstStyle/>
                    <a:p>
                      <a:pPr>
                        <a:buNone/>
                      </a:pPr>
                      <a:r>
                        <a:rPr lang="en-CA"/>
                        <a:t>1.277</a:t>
                      </a:r>
                    </a:p>
                  </a:txBody>
                  <a:tcPr anchor="ctr">
                    <a:lnL>
                      <a:noFill/>
                    </a:lnL>
                    <a:lnR>
                      <a:noFill/>
                    </a:lnR>
                    <a:lnT>
                      <a:noFill/>
                    </a:lnT>
                    <a:lnB>
                      <a:noFill/>
                    </a:lnB>
                    <a:noFill/>
                  </a:tcPr>
                </a:tc>
                <a:extLst>
                  <a:ext uri="{0D108BD9-81ED-4DB2-BD59-A6C34878D82A}">
                    <a16:rowId xmlns:a16="http://schemas.microsoft.com/office/drawing/2014/main" val="1024624646"/>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a:t>2.209</a:t>
                      </a:r>
                    </a:p>
                  </a:txBody>
                  <a:tcPr anchor="ctr">
                    <a:lnL>
                      <a:noFill/>
                    </a:lnL>
                    <a:lnR>
                      <a:noFill/>
                    </a:lnR>
                    <a:lnT>
                      <a:noFill/>
                    </a:lnT>
                    <a:lnB>
                      <a:noFill/>
                    </a:lnB>
                    <a:noFill/>
                  </a:tcPr>
                </a:tc>
                <a:tc>
                  <a:txBody>
                    <a:bodyPr/>
                    <a:lstStyle/>
                    <a:p>
                      <a:pPr>
                        <a:buNone/>
                      </a:pPr>
                      <a:r>
                        <a:rPr lang="en-CA"/>
                        <a:t>1.105</a:t>
                      </a:r>
                    </a:p>
                  </a:txBody>
                  <a:tcPr anchor="ctr">
                    <a:lnL>
                      <a:noFill/>
                    </a:lnL>
                    <a:lnR>
                      <a:noFill/>
                    </a:lnR>
                    <a:lnT>
                      <a:noFill/>
                    </a:lnT>
                    <a:lnB>
                      <a:noFill/>
                    </a:lnB>
                    <a:noFill/>
                  </a:tcPr>
                </a:tc>
                <a:extLst>
                  <a:ext uri="{0D108BD9-81ED-4DB2-BD59-A6C34878D82A}">
                    <a16:rowId xmlns:a16="http://schemas.microsoft.com/office/drawing/2014/main" val="2069544609"/>
                  </a:ext>
                </a:extLst>
              </a:tr>
              <a:tr h="0">
                <a:tc>
                  <a:txBody>
                    <a:bodyPr/>
                    <a:lstStyle/>
                    <a:p>
                      <a:pPr>
                        <a:buNone/>
                      </a:pPr>
                      <a:r>
                        <a:rPr lang="en-CA"/>
                        <a:t>PTPN2</a:t>
                      </a:r>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a:t>2.204</a:t>
                      </a:r>
                    </a:p>
                  </a:txBody>
                  <a:tcPr anchor="ctr">
                    <a:lnL>
                      <a:noFill/>
                    </a:lnL>
                    <a:lnR>
                      <a:noFill/>
                    </a:lnR>
                    <a:lnT>
                      <a:noFill/>
                    </a:lnT>
                    <a:lnB>
                      <a:noFill/>
                    </a:lnB>
                    <a:noFill/>
                  </a:tcPr>
                </a:tc>
                <a:tc>
                  <a:txBody>
                    <a:bodyPr/>
                    <a:lstStyle/>
                    <a:p>
                      <a:pPr>
                        <a:buNone/>
                      </a:pPr>
                      <a:r>
                        <a:rPr lang="en-CA" dirty="0"/>
                        <a:t>1.102</a:t>
                      </a:r>
                    </a:p>
                  </a:txBody>
                  <a:tcPr anchor="ctr">
                    <a:lnL>
                      <a:noFill/>
                    </a:lnL>
                    <a:lnR>
                      <a:noFill/>
                    </a:lnR>
                    <a:lnT>
                      <a:noFill/>
                    </a:lnT>
                    <a:lnB>
                      <a:noFill/>
                    </a:lnB>
                    <a:noFill/>
                  </a:tcPr>
                </a:tc>
                <a:extLst>
                  <a:ext uri="{0D108BD9-81ED-4DB2-BD59-A6C34878D82A}">
                    <a16:rowId xmlns:a16="http://schemas.microsoft.com/office/drawing/2014/main" val="1952402833"/>
                  </a:ext>
                </a:extLst>
              </a:tr>
            </a:tbl>
          </a:graphicData>
        </a:graphic>
      </p:graphicFrame>
    </p:spTree>
    <p:extLst>
      <p:ext uri="{BB962C8B-B14F-4D97-AF65-F5344CB8AC3E}">
        <p14:creationId xmlns:p14="http://schemas.microsoft.com/office/powerpoint/2010/main" val="10303764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61FC9-AEC9-6EB1-00B9-95B642884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C3D5B3-FA8C-C8B4-ABD3-86F6606B12D2}"/>
              </a:ext>
            </a:extLst>
          </p:cNvPr>
          <p:cNvSpPr>
            <a:spLocks noGrp="1"/>
          </p:cNvSpPr>
          <p:nvPr>
            <p:ph type="title"/>
          </p:nvPr>
        </p:nvSpPr>
        <p:spPr/>
        <p:txBody>
          <a:bodyPr>
            <a:normAutofit/>
          </a:bodyPr>
          <a:lstStyle/>
          <a:p>
            <a:r>
              <a:rPr lang="en-US" sz="2400" b="1"/>
              <a:t>Results</a:t>
            </a:r>
            <a:endParaRPr lang="en-CA" sz="2400" b="1" dirty="0"/>
          </a:p>
        </p:txBody>
      </p:sp>
      <p:graphicFrame>
        <p:nvGraphicFramePr>
          <p:cNvPr id="4" name="Table 3">
            <a:extLst>
              <a:ext uri="{FF2B5EF4-FFF2-40B4-BE49-F238E27FC236}">
                <a16:creationId xmlns:a16="http://schemas.microsoft.com/office/drawing/2014/main" id="{115B2F35-D0EC-CC56-231E-CAC97A2CDC5A}"/>
              </a:ext>
            </a:extLst>
          </p:cNvPr>
          <p:cNvGraphicFramePr>
            <a:graphicFrameLocks noGrp="1"/>
          </p:cNvGraphicFramePr>
          <p:nvPr>
            <p:extLst>
              <p:ext uri="{D42A27DB-BD31-4B8C-83A1-F6EECF244321}">
                <p14:modId xmlns:p14="http://schemas.microsoft.com/office/powerpoint/2010/main" val="588015297"/>
              </p:ext>
            </p:extLst>
          </p:nvPr>
        </p:nvGraphicFramePr>
        <p:xfrm>
          <a:off x="883457" y="1810280"/>
          <a:ext cx="10425086" cy="4382028"/>
        </p:xfrm>
        <a:graphic>
          <a:graphicData uri="http://schemas.openxmlformats.org/drawingml/2006/table">
            <a:tbl>
              <a:tblPr/>
              <a:tblGrid>
                <a:gridCol w="1489298">
                  <a:extLst>
                    <a:ext uri="{9D8B030D-6E8A-4147-A177-3AD203B41FA5}">
                      <a16:colId xmlns:a16="http://schemas.microsoft.com/office/drawing/2014/main" val="691652012"/>
                    </a:ext>
                  </a:extLst>
                </a:gridCol>
                <a:gridCol w="1489298">
                  <a:extLst>
                    <a:ext uri="{9D8B030D-6E8A-4147-A177-3AD203B41FA5}">
                      <a16:colId xmlns:a16="http://schemas.microsoft.com/office/drawing/2014/main" val="3494577412"/>
                    </a:ext>
                  </a:extLst>
                </a:gridCol>
                <a:gridCol w="1489298">
                  <a:extLst>
                    <a:ext uri="{9D8B030D-6E8A-4147-A177-3AD203B41FA5}">
                      <a16:colId xmlns:a16="http://schemas.microsoft.com/office/drawing/2014/main" val="4180678195"/>
                    </a:ext>
                  </a:extLst>
                </a:gridCol>
                <a:gridCol w="1489298">
                  <a:extLst>
                    <a:ext uri="{9D8B030D-6E8A-4147-A177-3AD203B41FA5}">
                      <a16:colId xmlns:a16="http://schemas.microsoft.com/office/drawing/2014/main" val="2974442656"/>
                    </a:ext>
                  </a:extLst>
                </a:gridCol>
                <a:gridCol w="1489298">
                  <a:extLst>
                    <a:ext uri="{9D8B030D-6E8A-4147-A177-3AD203B41FA5}">
                      <a16:colId xmlns:a16="http://schemas.microsoft.com/office/drawing/2014/main" val="297378597"/>
                    </a:ext>
                  </a:extLst>
                </a:gridCol>
                <a:gridCol w="1489298">
                  <a:extLst>
                    <a:ext uri="{9D8B030D-6E8A-4147-A177-3AD203B41FA5}">
                      <a16:colId xmlns:a16="http://schemas.microsoft.com/office/drawing/2014/main" val="3569179526"/>
                    </a:ext>
                  </a:extLst>
                </a:gridCol>
                <a:gridCol w="1489298">
                  <a:extLst>
                    <a:ext uri="{9D8B030D-6E8A-4147-A177-3AD203B41FA5}">
                      <a16:colId xmlns:a16="http://schemas.microsoft.com/office/drawing/2014/main" val="1100507030"/>
                    </a:ext>
                  </a:extLst>
                </a:gridCol>
              </a:tblGrid>
              <a:tr h="362611">
                <a:tc>
                  <a:txBody>
                    <a:bodyPr/>
                    <a:lstStyle/>
                    <a:p>
                      <a:pPr>
                        <a:buNone/>
                      </a:pPr>
                      <a:r>
                        <a:rPr lang="en-CA" sz="1800"/>
                        <a:t>System</a:t>
                      </a:r>
                    </a:p>
                  </a:txBody>
                  <a:tcPr marL="90653" marR="90653" marT="45326" marB="45326" anchor="ctr">
                    <a:lnL>
                      <a:noFill/>
                    </a:lnL>
                    <a:lnR>
                      <a:noFill/>
                    </a:lnR>
                    <a:lnT>
                      <a:noFill/>
                    </a:lnT>
                    <a:lnB>
                      <a:noFill/>
                    </a:lnB>
                    <a:noFill/>
                  </a:tcPr>
                </a:tc>
                <a:tc>
                  <a:txBody>
                    <a:bodyPr/>
                    <a:lstStyle/>
                    <a:p>
                      <a:pPr>
                        <a:buNone/>
                      </a:pPr>
                      <a:r>
                        <a:rPr lang="en-CA" sz="1800"/>
                        <a:t>Algorithm</a:t>
                      </a:r>
                    </a:p>
                  </a:txBody>
                  <a:tcPr marL="90653" marR="90653" marT="45326" marB="45326" anchor="ctr">
                    <a:lnL>
                      <a:noFill/>
                    </a:lnL>
                    <a:lnR>
                      <a:noFill/>
                    </a:lnR>
                    <a:lnT>
                      <a:noFill/>
                    </a:lnT>
                    <a:lnB>
                      <a:noFill/>
                    </a:lnB>
                    <a:noFill/>
                  </a:tcPr>
                </a:tc>
                <a:tc>
                  <a:txBody>
                    <a:bodyPr/>
                    <a:lstStyle/>
                    <a:p>
                      <a:pPr>
                        <a:buNone/>
                      </a:pPr>
                      <a:r>
                        <a:rPr lang="en-CA" sz="1800"/>
                        <a:t>MSE</a:t>
                      </a:r>
                    </a:p>
                  </a:txBody>
                  <a:tcPr marL="90653" marR="90653" marT="45326" marB="45326" anchor="ctr">
                    <a:lnL>
                      <a:noFill/>
                    </a:lnL>
                    <a:lnR>
                      <a:noFill/>
                    </a:lnR>
                    <a:lnT>
                      <a:noFill/>
                    </a:lnT>
                    <a:lnB>
                      <a:noFill/>
                    </a:lnB>
                    <a:noFill/>
                  </a:tcPr>
                </a:tc>
                <a:tc>
                  <a:txBody>
                    <a:bodyPr/>
                    <a:lstStyle/>
                    <a:p>
                      <a:pPr>
                        <a:buNone/>
                      </a:pPr>
                      <a:r>
                        <a:rPr lang="en-CA" sz="1800"/>
                        <a:t>RMSE</a:t>
                      </a:r>
                    </a:p>
                  </a:txBody>
                  <a:tcPr marL="90653" marR="90653" marT="45326" marB="45326" anchor="ctr">
                    <a:lnL>
                      <a:noFill/>
                    </a:lnL>
                    <a:lnR>
                      <a:noFill/>
                    </a:lnR>
                    <a:lnT>
                      <a:noFill/>
                    </a:lnT>
                    <a:lnB>
                      <a:noFill/>
                    </a:lnB>
                    <a:noFill/>
                  </a:tcPr>
                </a:tc>
                <a:tc>
                  <a:txBody>
                    <a:bodyPr/>
                    <a:lstStyle/>
                    <a:p>
                      <a:pPr>
                        <a:buNone/>
                      </a:pPr>
                      <a:r>
                        <a:rPr lang="en-CA" sz="1800"/>
                        <a:t>MAE</a:t>
                      </a:r>
                    </a:p>
                  </a:txBody>
                  <a:tcPr marL="90653" marR="90653" marT="45326" marB="45326" anchor="ctr">
                    <a:lnL>
                      <a:noFill/>
                    </a:lnL>
                    <a:lnR>
                      <a:noFill/>
                    </a:lnR>
                    <a:lnT>
                      <a:noFill/>
                    </a:lnT>
                    <a:lnB>
                      <a:noFill/>
                    </a:lnB>
                    <a:noFill/>
                  </a:tcPr>
                </a:tc>
                <a:tc>
                  <a:txBody>
                    <a:bodyPr/>
                    <a:lstStyle/>
                    <a:p>
                      <a:pPr>
                        <a:buNone/>
                      </a:pPr>
                      <a:r>
                        <a:rPr lang="en-CA" sz="1800"/>
                        <a:t>R²</a:t>
                      </a:r>
                    </a:p>
                  </a:txBody>
                  <a:tcPr marL="90653" marR="90653" marT="45326" marB="45326" anchor="ctr">
                    <a:lnL>
                      <a:noFill/>
                    </a:lnL>
                    <a:lnR>
                      <a:noFill/>
                    </a:lnR>
                    <a:lnT>
                      <a:noFill/>
                    </a:lnT>
                    <a:lnB>
                      <a:noFill/>
                    </a:lnB>
                    <a:noFill/>
                  </a:tcPr>
                </a:tc>
                <a:tc>
                  <a:txBody>
                    <a:bodyPr/>
                    <a:lstStyle/>
                    <a:p>
                      <a:pPr>
                        <a:buNone/>
                      </a:pPr>
                      <a:r>
                        <a:rPr lang="en-CA" sz="1800"/>
                        <a:t>Pearson</a:t>
                      </a:r>
                    </a:p>
                  </a:txBody>
                  <a:tcPr marL="90653" marR="90653" marT="45326" marB="45326" anchor="ctr">
                    <a:lnL>
                      <a:noFill/>
                    </a:lnL>
                    <a:lnR>
                      <a:noFill/>
                    </a:lnR>
                    <a:lnT>
                      <a:noFill/>
                    </a:lnT>
                    <a:lnB>
                      <a:noFill/>
                    </a:lnB>
                    <a:noFill/>
                  </a:tcPr>
                </a:tc>
                <a:extLst>
                  <a:ext uri="{0D108BD9-81ED-4DB2-BD59-A6C34878D82A}">
                    <a16:rowId xmlns:a16="http://schemas.microsoft.com/office/drawing/2014/main" val="488586187"/>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1.524</a:t>
                      </a:r>
                    </a:p>
                  </a:txBody>
                  <a:tcPr marL="90653" marR="90653" marT="45326" marB="45326" anchor="ctr">
                    <a:lnL>
                      <a:noFill/>
                    </a:lnL>
                    <a:lnR>
                      <a:noFill/>
                    </a:lnR>
                    <a:lnT>
                      <a:noFill/>
                    </a:lnT>
                    <a:lnB>
                      <a:noFill/>
                    </a:lnB>
                    <a:noFill/>
                  </a:tcPr>
                </a:tc>
                <a:tc>
                  <a:txBody>
                    <a:bodyPr/>
                    <a:lstStyle/>
                    <a:p>
                      <a:pPr>
                        <a:buNone/>
                      </a:pPr>
                      <a:r>
                        <a:rPr lang="en-CA" sz="1800"/>
                        <a:t>1.205</a:t>
                      </a:r>
                    </a:p>
                  </a:txBody>
                  <a:tcPr marL="90653" marR="90653" marT="45326" marB="45326" anchor="ctr">
                    <a:lnL>
                      <a:noFill/>
                    </a:lnL>
                    <a:lnR>
                      <a:noFill/>
                    </a:lnR>
                    <a:lnT>
                      <a:noFill/>
                    </a:lnT>
                    <a:lnB>
                      <a:noFill/>
                    </a:lnB>
                    <a:noFill/>
                  </a:tcPr>
                </a:tc>
                <a:tc>
                  <a:txBody>
                    <a:bodyPr/>
                    <a:lstStyle/>
                    <a:p>
                      <a:pPr>
                        <a:buNone/>
                      </a:pPr>
                      <a:r>
                        <a:rPr lang="en-CA" sz="1800"/>
                        <a:t>1.118</a:t>
                      </a:r>
                    </a:p>
                  </a:txBody>
                  <a:tcPr marL="90653" marR="90653" marT="45326" marB="45326" anchor="ctr">
                    <a:lnL>
                      <a:noFill/>
                    </a:lnL>
                    <a:lnR>
                      <a:noFill/>
                    </a:lnR>
                    <a:lnT>
                      <a:noFill/>
                    </a:lnT>
                    <a:lnB>
                      <a:noFill/>
                    </a:lnB>
                    <a:noFill/>
                  </a:tcPr>
                </a:tc>
                <a:tc>
                  <a:txBody>
                    <a:bodyPr/>
                    <a:lstStyle/>
                    <a:p>
                      <a:pPr>
                        <a:buNone/>
                      </a:pPr>
                      <a:r>
                        <a:rPr lang="en-CA" sz="1800"/>
                        <a:t>0.351</a:t>
                      </a:r>
                    </a:p>
                  </a:txBody>
                  <a:tcPr marL="90653" marR="90653" marT="45326" marB="45326" anchor="ctr">
                    <a:lnL>
                      <a:noFill/>
                    </a:lnL>
                    <a:lnR>
                      <a:noFill/>
                    </a:lnR>
                    <a:lnT>
                      <a:noFill/>
                    </a:lnT>
                    <a:lnB>
                      <a:noFill/>
                    </a:lnB>
                    <a:noFill/>
                  </a:tcPr>
                </a:tc>
                <a:tc>
                  <a:txBody>
                    <a:bodyPr/>
                    <a:lstStyle/>
                    <a:p>
                      <a:pPr>
                        <a:buNone/>
                      </a:pPr>
                      <a:r>
                        <a:rPr lang="en-CA" sz="1800"/>
                        <a:t>0.950</a:t>
                      </a:r>
                    </a:p>
                  </a:txBody>
                  <a:tcPr marL="90653" marR="90653" marT="45326" marB="45326" anchor="ctr">
                    <a:lnL>
                      <a:noFill/>
                    </a:lnL>
                    <a:lnR>
                      <a:noFill/>
                    </a:lnR>
                    <a:lnT>
                      <a:noFill/>
                    </a:lnT>
                    <a:lnB>
                      <a:noFill/>
                    </a:lnB>
                    <a:noFill/>
                  </a:tcPr>
                </a:tc>
                <a:extLst>
                  <a:ext uri="{0D108BD9-81ED-4DB2-BD59-A6C34878D82A}">
                    <a16:rowId xmlns:a16="http://schemas.microsoft.com/office/drawing/2014/main" val="2309450861"/>
                  </a:ext>
                </a:extLst>
              </a:tr>
              <a:tr h="362611">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1.528</a:t>
                      </a:r>
                    </a:p>
                  </a:txBody>
                  <a:tcPr marL="90653" marR="90653" marT="45326" marB="45326" anchor="ctr">
                    <a:lnL>
                      <a:noFill/>
                    </a:lnL>
                    <a:lnR>
                      <a:noFill/>
                    </a:lnR>
                    <a:lnT>
                      <a:noFill/>
                    </a:lnT>
                    <a:lnB>
                      <a:noFill/>
                    </a:lnB>
                    <a:noFill/>
                  </a:tcPr>
                </a:tc>
                <a:tc>
                  <a:txBody>
                    <a:bodyPr/>
                    <a:lstStyle/>
                    <a:p>
                      <a:pPr>
                        <a:buNone/>
                      </a:pPr>
                      <a:r>
                        <a:rPr lang="en-CA" sz="1800"/>
                        <a:t>1.207</a:t>
                      </a:r>
                    </a:p>
                  </a:txBody>
                  <a:tcPr marL="90653" marR="90653" marT="45326" marB="45326" anchor="ctr">
                    <a:lnL>
                      <a:noFill/>
                    </a:lnL>
                    <a:lnR>
                      <a:noFill/>
                    </a:lnR>
                    <a:lnT>
                      <a:noFill/>
                    </a:lnT>
                    <a:lnB>
                      <a:noFill/>
                    </a:lnB>
                    <a:noFill/>
                  </a:tcPr>
                </a:tc>
                <a:tc>
                  <a:txBody>
                    <a:bodyPr/>
                    <a:lstStyle/>
                    <a:p>
                      <a:pPr>
                        <a:buNone/>
                      </a:pPr>
                      <a:r>
                        <a:rPr lang="en-CA" sz="1800"/>
                        <a:t>1.121</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0.949</a:t>
                      </a:r>
                    </a:p>
                  </a:txBody>
                  <a:tcPr marL="90653" marR="90653" marT="45326" marB="45326" anchor="ctr">
                    <a:lnL>
                      <a:noFill/>
                    </a:lnL>
                    <a:lnR>
                      <a:noFill/>
                    </a:lnR>
                    <a:lnT>
                      <a:noFill/>
                    </a:lnT>
                    <a:lnB>
                      <a:noFill/>
                    </a:lnB>
                    <a:noFill/>
                  </a:tcPr>
                </a:tc>
                <a:extLst>
                  <a:ext uri="{0D108BD9-81ED-4DB2-BD59-A6C34878D82A}">
                    <a16:rowId xmlns:a16="http://schemas.microsoft.com/office/drawing/2014/main" val="3722683695"/>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0.162</a:t>
                      </a:r>
                    </a:p>
                  </a:txBody>
                  <a:tcPr marL="90653" marR="90653" marT="45326" marB="45326" anchor="ctr">
                    <a:lnL>
                      <a:noFill/>
                    </a:lnL>
                    <a:lnR>
                      <a:noFill/>
                    </a:lnR>
                    <a:lnT>
                      <a:noFill/>
                    </a:lnT>
                    <a:lnB>
                      <a:noFill/>
                    </a:lnB>
                    <a:noFill/>
                  </a:tcPr>
                </a:tc>
                <a:tc>
                  <a:txBody>
                    <a:bodyPr/>
                    <a:lstStyle/>
                    <a:p>
                      <a:pPr>
                        <a:buNone/>
                      </a:pPr>
                      <a:r>
                        <a:rPr lang="en-CA" sz="1800"/>
                        <a:t>0.373</a:t>
                      </a:r>
                    </a:p>
                  </a:txBody>
                  <a:tcPr marL="90653" marR="90653" marT="45326" marB="45326" anchor="ctr">
                    <a:lnL>
                      <a:noFill/>
                    </a:lnL>
                    <a:lnR>
                      <a:noFill/>
                    </a:lnR>
                    <a:lnT>
                      <a:noFill/>
                    </a:lnT>
                    <a:lnB>
                      <a:noFill/>
                    </a:lnB>
                    <a:noFill/>
                  </a:tcPr>
                </a:tc>
                <a:tc>
                  <a:txBody>
                    <a:bodyPr/>
                    <a:lstStyle/>
                    <a:p>
                      <a:pPr>
                        <a:buNone/>
                      </a:pPr>
                      <a:r>
                        <a:rPr lang="en-CA" sz="1800"/>
                        <a:t>0.322</a:t>
                      </a:r>
                    </a:p>
                  </a:txBody>
                  <a:tcPr marL="90653" marR="90653" marT="45326" marB="45326" anchor="ctr">
                    <a:lnL>
                      <a:noFill/>
                    </a:lnL>
                    <a:lnR>
                      <a:noFill/>
                    </a:lnR>
                    <a:lnT>
                      <a:noFill/>
                    </a:lnT>
                    <a:lnB>
                      <a:noFill/>
                    </a:lnB>
                    <a:noFill/>
                  </a:tcPr>
                </a:tc>
                <a:tc>
                  <a:txBody>
                    <a:bodyPr/>
                    <a:lstStyle/>
                    <a:p>
                      <a:pPr>
                        <a:buNone/>
                      </a:pPr>
                      <a:r>
                        <a:rPr lang="en-CA" sz="1800"/>
                        <a:t>0.937</a:t>
                      </a:r>
                    </a:p>
                  </a:txBody>
                  <a:tcPr marL="90653" marR="90653" marT="45326" marB="45326" anchor="ctr">
                    <a:lnL>
                      <a:noFill/>
                    </a:lnL>
                    <a:lnR>
                      <a:noFill/>
                    </a:lnR>
                    <a:lnT>
                      <a:noFill/>
                    </a:lnT>
                    <a:lnB>
                      <a:noFill/>
                    </a:lnB>
                    <a:noFill/>
                  </a:tcPr>
                </a:tc>
                <a:tc>
                  <a:txBody>
                    <a:bodyPr/>
                    <a:lstStyle/>
                    <a:p>
                      <a:pPr>
                        <a:buNone/>
                      </a:pPr>
                      <a:r>
                        <a:rPr lang="en-CA" sz="1800"/>
                        <a:t>0.988</a:t>
                      </a:r>
                    </a:p>
                  </a:txBody>
                  <a:tcPr marL="90653" marR="90653" marT="45326" marB="45326" anchor="ctr">
                    <a:lnL>
                      <a:noFill/>
                    </a:lnL>
                    <a:lnR>
                      <a:noFill/>
                    </a:lnR>
                    <a:lnT>
                      <a:noFill/>
                    </a:lnT>
                    <a:lnB>
                      <a:noFill/>
                    </a:lnB>
                    <a:noFill/>
                  </a:tcPr>
                </a:tc>
                <a:extLst>
                  <a:ext uri="{0D108BD9-81ED-4DB2-BD59-A6C34878D82A}">
                    <a16:rowId xmlns:a16="http://schemas.microsoft.com/office/drawing/2014/main" val="1855217704"/>
                  </a:ext>
                </a:extLst>
              </a:tr>
              <a:tr h="634570">
                <a:tc>
                  <a:txBody>
                    <a:bodyPr/>
                    <a:lstStyle/>
                    <a:p>
                      <a:pPr>
                        <a:buNone/>
                      </a:pPr>
                      <a:r>
                        <a:rPr lang="en-CA" sz="1800"/>
                        <a:t>CTRL</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0.167</a:t>
                      </a:r>
                    </a:p>
                  </a:txBody>
                  <a:tcPr marL="90653" marR="90653" marT="45326" marB="45326" anchor="ctr">
                    <a:lnL>
                      <a:noFill/>
                    </a:lnL>
                    <a:lnR>
                      <a:noFill/>
                    </a:lnR>
                    <a:lnT>
                      <a:noFill/>
                    </a:lnT>
                    <a:lnB>
                      <a:noFill/>
                    </a:lnB>
                    <a:noFill/>
                  </a:tcPr>
                </a:tc>
                <a:tc>
                  <a:txBody>
                    <a:bodyPr/>
                    <a:lstStyle/>
                    <a:p>
                      <a:pPr>
                        <a:buNone/>
                      </a:pPr>
                      <a:r>
                        <a:rPr lang="en-CA" sz="1800"/>
                        <a:t>0.379</a:t>
                      </a:r>
                    </a:p>
                  </a:txBody>
                  <a:tcPr marL="90653" marR="90653" marT="45326" marB="45326" anchor="ctr">
                    <a:lnL>
                      <a:noFill/>
                    </a:lnL>
                    <a:lnR>
                      <a:noFill/>
                    </a:lnR>
                    <a:lnT>
                      <a:noFill/>
                    </a:lnT>
                    <a:lnB>
                      <a:noFill/>
                    </a:lnB>
                    <a:noFill/>
                  </a:tcPr>
                </a:tc>
                <a:tc>
                  <a:txBody>
                    <a:bodyPr/>
                    <a:lstStyle/>
                    <a:p>
                      <a:pPr>
                        <a:buNone/>
                      </a:pPr>
                      <a:r>
                        <a:rPr lang="en-CA" sz="1800"/>
                        <a:t>0.327</a:t>
                      </a:r>
                    </a:p>
                  </a:txBody>
                  <a:tcPr marL="90653" marR="90653" marT="45326" marB="45326" anchor="ctr">
                    <a:lnL>
                      <a:noFill/>
                    </a:lnL>
                    <a:lnR>
                      <a:noFill/>
                    </a:lnR>
                    <a:lnT>
                      <a:noFill/>
                    </a:lnT>
                    <a:lnB>
                      <a:noFill/>
                    </a:lnB>
                    <a:noFill/>
                  </a:tcPr>
                </a:tc>
                <a:tc>
                  <a:txBody>
                    <a:bodyPr/>
                    <a:lstStyle/>
                    <a:p>
                      <a:pPr>
                        <a:buNone/>
                      </a:pPr>
                      <a:r>
                        <a:rPr lang="en-CA" sz="1800"/>
                        <a:t>0.930</a:t>
                      </a:r>
                    </a:p>
                  </a:txBody>
                  <a:tcPr marL="90653" marR="90653" marT="45326" marB="45326" anchor="ctr">
                    <a:lnL>
                      <a:noFill/>
                    </a:lnL>
                    <a:lnR>
                      <a:noFill/>
                    </a:lnR>
                    <a:lnT>
                      <a:noFill/>
                    </a:lnT>
                    <a:lnB>
                      <a:noFill/>
                    </a:lnB>
                    <a:noFill/>
                  </a:tcPr>
                </a:tc>
                <a:tc>
                  <a:txBody>
                    <a:bodyPr/>
                    <a:lstStyle/>
                    <a:p>
                      <a:pPr>
                        <a:buNone/>
                      </a:pPr>
                      <a:r>
                        <a:rPr lang="en-CA" sz="1800"/>
                        <a:t>0.986</a:t>
                      </a:r>
                    </a:p>
                  </a:txBody>
                  <a:tcPr marL="90653" marR="90653" marT="45326" marB="45326" anchor="ctr">
                    <a:lnL>
                      <a:noFill/>
                    </a:lnL>
                    <a:lnR>
                      <a:noFill/>
                    </a:lnR>
                    <a:lnT>
                      <a:noFill/>
                    </a:lnT>
                    <a:lnB>
                      <a:noFill/>
                    </a:lnB>
                    <a:noFill/>
                  </a:tcPr>
                </a:tc>
                <a:extLst>
                  <a:ext uri="{0D108BD9-81ED-4DB2-BD59-A6C34878D82A}">
                    <a16:rowId xmlns:a16="http://schemas.microsoft.com/office/drawing/2014/main" val="1700657450"/>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031135242"/>
                  </a:ext>
                </a:extLst>
              </a:tr>
              <a:tr h="362611">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1802902718"/>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(Test)</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4161667456"/>
                  </a:ext>
                </a:extLst>
              </a:tr>
              <a:tr h="634570">
                <a:tc>
                  <a:txBody>
                    <a:bodyPr/>
                    <a:lstStyle/>
                    <a:p>
                      <a:pPr>
                        <a:buNone/>
                      </a:pPr>
                      <a:r>
                        <a:rPr lang="en-CA" sz="1800"/>
                        <a:t>PTPN2</a:t>
                      </a:r>
                    </a:p>
                  </a:txBody>
                  <a:tcPr marL="90653" marR="90653" marT="45326" marB="45326" anchor="ctr">
                    <a:lnL>
                      <a:noFill/>
                    </a:lnL>
                    <a:lnR>
                      <a:noFill/>
                    </a:lnR>
                    <a:lnT>
                      <a:noFill/>
                    </a:lnT>
                    <a:lnB>
                      <a:noFill/>
                    </a:lnB>
                    <a:noFill/>
                  </a:tcPr>
                </a:tc>
                <a:tc>
                  <a:txBody>
                    <a:bodyPr/>
                    <a:lstStyle/>
                    <a:p>
                      <a:pPr>
                        <a:buNone/>
                      </a:pPr>
                      <a:r>
                        <a:rPr lang="en-CA" sz="1800"/>
                        <a:t>TRPO→PPO (Train)</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0.000</a:t>
                      </a:r>
                    </a:p>
                  </a:txBody>
                  <a:tcPr marL="90653" marR="90653" marT="45326" marB="45326" anchor="ctr">
                    <a:lnL>
                      <a:noFill/>
                    </a:lnL>
                    <a:lnR>
                      <a:noFill/>
                    </a:lnR>
                    <a:lnT>
                      <a:noFill/>
                    </a:lnT>
                    <a:lnB>
                      <a:noFill/>
                    </a:lnB>
                    <a:noFill/>
                  </a:tcPr>
                </a:tc>
                <a:tc>
                  <a:txBody>
                    <a:bodyPr/>
                    <a:lstStyle/>
                    <a:p>
                      <a:pPr>
                        <a:buNone/>
                      </a:pPr>
                      <a:r>
                        <a:rPr lang="en-CA" sz="1800"/>
                        <a:t>1.000</a:t>
                      </a:r>
                    </a:p>
                  </a:txBody>
                  <a:tcPr marL="90653" marR="90653" marT="45326" marB="45326" anchor="ctr">
                    <a:lnL>
                      <a:noFill/>
                    </a:lnL>
                    <a:lnR>
                      <a:noFill/>
                    </a:lnR>
                    <a:lnT>
                      <a:noFill/>
                    </a:lnT>
                    <a:lnB>
                      <a:noFill/>
                    </a:lnB>
                    <a:noFill/>
                  </a:tcPr>
                </a:tc>
                <a:tc>
                  <a:txBody>
                    <a:bodyPr/>
                    <a:lstStyle/>
                    <a:p>
                      <a:pPr>
                        <a:buNone/>
                      </a:pPr>
                      <a:r>
                        <a:rPr lang="en-CA" sz="1800" dirty="0"/>
                        <a:t>1.000</a:t>
                      </a:r>
                    </a:p>
                  </a:txBody>
                  <a:tcPr marL="90653" marR="90653" marT="45326" marB="45326" anchor="ctr">
                    <a:lnL>
                      <a:noFill/>
                    </a:lnL>
                    <a:lnR>
                      <a:noFill/>
                    </a:lnR>
                    <a:lnT>
                      <a:noFill/>
                    </a:lnT>
                    <a:lnB>
                      <a:noFill/>
                    </a:lnB>
                    <a:noFill/>
                  </a:tcPr>
                </a:tc>
                <a:extLst>
                  <a:ext uri="{0D108BD9-81ED-4DB2-BD59-A6C34878D82A}">
                    <a16:rowId xmlns:a16="http://schemas.microsoft.com/office/drawing/2014/main" val="3527228105"/>
                  </a:ext>
                </a:extLst>
              </a:tr>
            </a:tbl>
          </a:graphicData>
        </a:graphic>
      </p:graphicFrame>
    </p:spTree>
    <p:extLst>
      <p:ext uri="{BB962C8B-B14F-4D97-AF65-F5344CB8AC3E}">
        <p14:creationId xmlns:p14="http://schemas.microsoft.com/office/powerpoint/2010/main" val="18210267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9379E1-E4B9-D067-BB57-5A8FAA198733}"/>
              </a:ext>
            </a:extLst>
          </p:cNvPr>
          <p:cNvSpPr>
            <a:spLocks noGrp="1"/>
          </p:cNvSpPr>
          <p:nvPr>
            <p:ph type="title"/>
          </p:nvPr>
        </p:nvSpPr>
        <p:spPr/>
        <p:txBody>
          <a:bodyPr>
            <a:normAutofit/>
          </a:bodyPr>
          <a:lstStyle/>
          <a:p>
            <a:r>
              <a:rPr lang="en-US" sz="2400" b="1" dirty="0"/>
              <a:t>Results</a:t>
            </a:r>
            <a:endParaRPr lang="en-CA" sz="2400" b="1" dirty="0"/>
          </a:p>
        </p:txBody>
      </p:sp>
      <p:pic>
        <p:nvPicPr>
          <p:cNvPr id="2050" name="Picture 2">
            <a:extLst>
              <a:ext uri="{FF2B5EF4-FFF2-40B4-BE49-F238E27FC236}">
                <a16:creationId xmlns:a16="http://schemas.microsoft.com/office/drawing/2014/main" id="{D823702F-4671-44B4-696B-17AD4C31B2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8448" y="1690688"/>
            <a:ext cx="8897112" cy="45315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70048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3E42C-A63B-15D1-5F39-9D9B47D91F60}"/>
              </a:ext>
            </a:extLst>
          </p:cNvPr>
          <p:cNvSpPr>
            <a:spLocks noGrp="1"/>
          </p:cNvSpPr>
          <p:nvPr>
            <p:ph type="title"/>
          </p:nvPr>
        </p:nvSpPr>
        <p:spPr>
          <a:xfrm>
            <a:off x="1260231" y="2461212"/>
            <a:ext cx="10515600" cy="1325563"/>
          </a:xfrm>
        </p:spPr>
        <p:txBody>
          <a:bodyPr>
            <a:normAutofit/>
          </a:bodyPr>
          <a:lstStyle/>
          <a:p>
            <a:r>
              <a:rPr lang="it-IT" sz="2400" b="1" dirty="0"/>
              <a:t>CRISPR interference (CRISPRi)/CRISPR nuclease  (CRISPRn)</a:t>
            </a:r>
            <a:endParaRPr lang="en-CA" sz="2400" b="1" dirty="0"/>
          </a:p>
        </p:txBody>
      </p:sp>
    </p:spTree>
    <p:extLst>
      <p:ext uri="{BB962C8B-B14F-4D97-AF65-F5344CB8AC3E}">
        <p14:creationId xmlns:p14="http://schemas.microsoft.com/office/powerpoint/2010/main" val="19704903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D6463-910A-77A2-9694-90A9424DDE7F}"/>
              </a:ext>
            </a:extLst>
          </p:cNvPr>
          <p:cNvSpPr>
            <a:spLocks noGrp="1"/>
          </p:cNvSpPr>
          <p:nvPr>
            <p:ph type="title"/>
          </p:nvPr>
        </p:nvSpPr>
        <p:spPr>
          <a:xfrm>
            <a:off x="838200" y="365125"/>
            <a:ext cx="10515600" cy="746223"/>
          </a:xfrm>
        </p:spPr>
        <p:txBody>
          <a:bodyPr>
            <a:normAutofit/>
          </a:bodyPr>
          <a:lstStyle/>
          <a:p>
            <a:r>
              <a:rPr lang="en-US" sz="2400" dirty="0"/>
              <a:t>Datasets</a:t>
            </a:r>
            <a:endParaRPr lang="en-CA" sz="2400" dirty="0"/>
          </a:p>
        </p:txBody>
      </p:sp>
      <p:sp>
        <p:nvSpPr>
          <p:cNvPr id="3" name="Content Placeholder 2">
            <a:extLst>
              <a:ext uri="{FF2B5EF4-FFF2-40B4-BE49-F238E27FC236}">
                <a16:creationId xmlns:a16="http://schemas.microsoft.com/office/drawing/2014/main" id="{EC621B9B-EF3D-700F-60F3-3C5B9ECD52F8}"/>
              </a:ext>
            </a:extLst>
          </p:cNvPr>
          <p:cNvSpPr>
            <a:spLocks noGrp="1"/>
          </p:cNvSpPr>
          <p:nvPr>
            <p:ph idx="1"/>
          </p:nvPr>
        </p:nvSpPr>
        <p:spPr>
          <a:xfrm>
            <a:off x="838200" y="1690688"/>
            <a:ext cx="10515600" cy="4351338"/>
          </a:xfrm>
        </p:spPr>
        <p:txBody>
          <a:bodyPr>
            <a:noAutofit/>
          </a:bodyPr>
          <a:lstStyle/>
          <a:p>
            <a:pPr marL="0" indent="0">
              <a:buNone/>
            </a:pPr>
            <a:r>
              <a:rPr lang="en-CA" sz="2000" dirty="0" err="1"/>
              <a:t>unperturbed_time_course_processed</a:t>
            </a:r>
            <a:endParaRPr lang="en-CA" sz="2000" dirty="0"/>
          </a:p>
          <a:p>
            <a:pPr marL="0" indent="0">
              <a:buNone/>
            </a:pPr>
            <a:endParaRPr lang="en-CA" sz="2000" dirty="0"/>
          </a:p>
          <a:p>
            <a:pPr marL="0" indent="0">
              <a:buNone/>
            </a:pPr>
            <a:r>
              <a:rPr lang="en-CA" sz="2000" dirty="0" err="1"/>
              <a:t>CRISPRn_screen_virus_processed</a:t>
            </a:r>
            <a:endParaRPr lang="en-CA" sz="2000" dirty="0"/>
          </a:p>
          <a:p>
            <a:pPr marL="0" indent="0">
              <a:buNone/>
            </a:pPr>
            <a:endParaRPr lang="en-CA" sz="2000" dirty="0"/>
          </a:p>
          <a:p>
            <a:pPr marL="0" indent="0">
              <a:buNone/>
            </a:pPr>
            <a:r>
              <a:rPr lang="en-CA" sz="2000" dirty="0" err="1"/>
              <a:t>CRISPRi_perturb_host_processed</a:t>
            </a:r>
            <a:endParaRPr lang="en-CA" sz="2000" dirty="0"/>
          </a:p>
          <a:p>
            <a:pPr marL="0" indent="0">
              <a:buNone/>
            </a:pPr>
            <a:endParaRPr lang="en-CA" sz="2000" dirty="0"/>
          </a:p>
          <a:p>
            <a:pPr marL="0" indent="0">
              <a:buNone/>
            </a:pPr>
            <a:endParaRPr lang="en-CA" sz="2000" dirty="0"/>
          </a:p>
          <a:p>
            <a:pPr marL="0" indent="0">
              <a:buNone/>
            </a:pPr>
            <a:r>
              <a:rPr lang="en-CA" sz="2000" dirty="0"/>
              <a:t>https://www.ncbi.nlm.nih.gov/geo/query/acc.cgi?acc=GSE165291</a:t>
            </a:r>
          </a:p>
          <a:p>
            <a:pPr marL="0" indent="0">
              <a:buNone/>
            </a:pPr>
            <a:endParaRPr lang="en-CA" sz="2000" dirty="0"/>
          </a:p>
          <a:p>
            <a:pPr marL="0" indent="0">
              <a:buNone/>
            </a:pPr>
            <a:endParaRPr lang="en-CA" sz="2000" dirty="0"/>
          </a:p>
          <a:p>
            <a:pPr marL="0" indent="0">
              <a:buNone/>
            </a:pPr>
            <a:endParaRPr lang="en-CA" sz="2000" dirty="0"/>
          </a:p>
          <a:p>
            <a:pPr marL="0" indent="0">
              <a:buNone/>
            </a:pPr>
            <a:endParaRPr lang="en-CA" sz="2000" dirty="0"/>
          </a:p>
          <a:p>
            <a:pPr marL="0" indent="0">
              <a:buNone/>
            </a:pPr>
            <a:endParaRPr lang="en-CA" sz="2000" dirty="0"/>
          </a:p>
          <a:p>
            <a:pPr marL="0" indent="0">
              <a:buNone/>
            </a:pPr>
            <a:endParaRPr lang="en-CA" sz="2000" dirty="0"/>
          </a:p>
          <a:p>
            <a:pPr marL="0" indent="0">
              <a:buNone/>
            </a:pPr>
            <a:endParaRPr lang="en-CA" sz="2000" dirty="0"/>
          </a:p>
          <a:p>
            <a:pPr marL="0" indent="0">
              <a:buNone/>
            </a:pPr>
            <a:r>
              <a:rPr lang="en-CA" sz="2000" dirty="0"/>
              <a:t>Hein MY, Weissman JS. Functional single-cell genomics of human cytomegalovirus infection. </a:t>
            </a:r>
            <a:r>
              <a:rPr lang="en-CA" sz="2000" i="1" dirty="0"/>
              <a:t>Nat </a:t>
            </a:r>
            <a:r>
              <a:rPr lang="en-CA" sz="2000" i="1" dirty="0" err="1"/>
              <a:t>Biotechnol</a:t>
            </a:r>
            <a:r>
              <a:rPr lang="en-CA" sz="2000" dirty="0"/>
              <a:t> 2022 Mar;40(3):391-401.</a:t>
            </a:r>
          </a:p>
        </p:txBody>
      </p:sp>
    </p:spTree>
    <p:extLst>
      <p:ext uri="{BB962C8B-B14F-4D97-AF65-F5344CB8AC3E}">
        <p14:creationId xmlns:p14="http://schemas.microsoft.com/office/powerpoint/2010/main" val="37974639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2400" b="1" dirty="0">
                <a:latin typeface="Times New Roman" panose="02020603050405020304" pitchFamily="18" charset="0"/>
                <a:cs typeface="Times New Roman" panose="02020603050405020304" pitchFamily="18" charset="0"/>
              </a:rPr>
              <a:t>Expected Impact</a:t>
            </a:r>
            <a:br>
              <a:rPr lang="en-CA" sz="4800" b="1" dirty="0">
                <a:latin typeface="Times New Roman" panose="02020603050405020304" pitchFamily="18" charset="0"/>
                <a:cs typeface="Times New Roman" panose="02020603050405020304" pitchFamily="18" charset="0"/>
              </a:rPr>
            </a:br>
            <a:endParaRPr lang="en-CA" sz="4800" dirty="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7E5A5-573C-90CA-E5BB-90053B8FC229}"/>
              </a:ext>
            </a:extLst>
          </p:cNvPr>
          <p:cNvSpPr>
            <a:spLocks noGrp="1"/>
          </p:cNvSpPr>
          <p:nvPr>
            <p:ph type="title"/>
          </p:nvPr>
        </p:nvSpPr>
        <p:spPr/>
        <p:txBody>
          <a:bodyPr>
            <a:normAutofit/>
          </a:bodyPr>
          <a:lstStyle/>
          <a:p>
            <a:r>
              <a:rPr lang="en-US" sz="2400" b="1" dirty="0"/>
              <a:t>Future Work</a:t>
            </a:r>
            <a:endParaRPr lang="en-CA" sz="2400" b="1" dirty="0"/>
          </a:p>
        </p:txBody>
      </p:sp>
      <p:sp>
        <p:nvSpPr>
          <p:cNvPr id="9" name="Rectangle 4">
            <a:extLst>
              <a:ext uri="{FF2B5EF4-FFF2-40B4-BE49-F238E27FC236}">
                <a16:creationId xmlns:a16="http://schemas.microsoft.com/office/drawing/2014/main" id="{5981393E-4D40-A183-4702-E36306975BAF}"/>
              </a:ext>
            </a:extLst>
          </p:cNvPr>
          <p:cNvSpPr>
            <a:spLocks noGrp="1" noChangeArrowheads="1"/>
          </p:cNvSpPr>
          <p:nvPr>
            <p:ph idx="1"/>
          </p:nvPr>
        </p:nvSpPr>
        <p:spPr bwMode="auto">
          <a:xfrm>
            <a:off x="527305" y="1379855"/>
            <a:ext cx="1020775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Overfitting control</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Develop robust strategies to detect and mitigate overfitting between training and evaluation models.</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Selection of top genes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Systematically identify the optimal number of top genes(expressive genes) that maximizes predictive performance while preserving biological relevance.</a:t>
            </a: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60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1600" b="1" u="none" strike="noStrike" cap="none" normalizeH="0" baseline="0" dirty="0">
                <a:ln>
                  <a:noFill/>
                </a:ln>
                <a:solidFill>
                  <a:schemeClr val="tx1"/>
                </a:solidFill>
                <a:effectLst/>
              </a:rPr>
              <a:t>In-silico and experimental evaluation datasets</a:t>
            </a:r>
            <a:br>
              <a:rPr kumimoji="0" lang="en-US" altLang="en-US" sz="1600" u="none" strike="noStrike" cap="none" normalizeH="0" baseline="0" dirty="0">
                <a:ln>
                  <a:noFill/>
                </a:ln>
                <a:solidFill>
                  <a:schemeClr val="tx1"/>
                </a:solidFill>
                <a:effectLst/>
              </a:rPr>
            </a:br>
            <a:r>
              <a:rPr kumimoji="0" lang="en-US" altLang="en-US" sz="1600" u="none" strike="noStrike" cap="none" normalizeH="0" baseline="0" dirty="0">
                <a:ln>
                  <a:noFill/>
                </a:ln>
                <a:solidFill>
                  <a:schemeClr val="tx1"/>
                </a:solidFill>
                <a:effectLst/>
              </a:rPr>
              <a:t>Select independent in-silico and experimental out-of-sample datasets for rigorous external validation of the proposed framework.</a:t>
            </a:r>
          </a:p>
        </p:txBody>
      </p:sp>
    </p:spTree>
    <p:extLst>
      <p:ext uri="{BB962C8B-B14F-4D97-AF65-F5344CB8AC3E}">
        <p14:creationId xmlns:p14="http://schemas.microsoft.com/office/powerpoint/2010/main" val="279249011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947</TotalTime>
  <Words>2600</Words>
  <Application>Microsoft Office PowerPoint</Application>
  <PresentationFormat>Widescreen</PresentationFormat>
  <Paragraphs>346</Paragraphs>
  <Slides>30</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30</vt:i4>
      </vt:variant>
    </vt:vector>
  </HeadingPairs>
  <TitlesOfParts>
    <vt:vector size="38" baseType="lpstr">
      <vt:lpstr>-apple-system</vt:lpstr>
      <vt:lpstr>Aptos</vt:lpstr>
      <vt:lpstr>Arial</vt:lpstr>
      <vt:lpstr>Calibri</vt:lpstr>
      <vt:lpstr>Calibri Light</vt:lpstr>
      <vt:lpstr>Courier New</vt:lpstr>
      <vt:lpstr>Times New Roman</vt:lpstr>
      <vt:lpstr>Office 2013 - 2022 Theme</vt:lpstr>
      <vt:lpstr>Escaping Local Optima in the Waddington Landscape: A Multi-Stage TRPO-PPO Approach for Single-Cell Gene Perturbation Analysis  Boabang Francis</vt:lpstr>
      <vt:lpstr>Content</vt:lpstr>
      <vt:lpstr>Background</vt:lpstr>
      <vt:lpstr>Gaps in the Research</vt:lpstr>
      <vt:lpstr>Proposed Solution: Using Initialization Strategies to Address Nonlinearity in Developmental Biology </vt:lpstr>
      <vt:lpstr>Datasets</vt:lpstr>
      <vt:lpstr>Sample Data Example </vt:lpstr>
      <vt:lpstr>Model Design</vt:lpstr>
      <vt:lpstr>Simulated Hardware and Software for Gene Perturbation Analysis</vt:lpstr>
      <vt:lpstr>             Crisper Knockout</vt:lpstr>
      <vt:lpstr>Crispr Knockout (Single Perturbation)</vt:lpstr>
      <vt:lpstr>RNA Dataset Description</vt:lpstr>
      <vt:lpstr>Code Link</vt:lpstr>
      <vt:lpstr>Results(Control sample/Perturbed sample)</vt:lpstr>
      <vt:lpstr>Results(Insights)</vt:lpstr>
      <vt:lpstr>Results(Trajectories Comparision hardware and Software)</vt:lpstr>
      <vt:lpstr>Insights</vt:lpstr>
      <vt:lpstr>Results(Trajectories Comparision hardware and Software)</vt:lpstr>
      <vt:lpstr>Results</vt:lpstr>
      <vt:lpstr>Insights</vt:lpstr>
      <vt:lpstr>          Drug Development</vt:lpstr>
      <vt:lpstr>Dataset and Link to Evaluation Code</vt:lpstr>
      <vt:lpstr>Results</vt:lpstr>
      <vt:lpstr>Results</vt:lpstr>
      <vt:lpstr>Results</vt:lpstr>
      <vt:lpstr>Results</vt:lpstr>
      <vt:lpstr>CRISPR interference (CRISPRi)/CRISPR nuclease  (CRISPRn)</vt:lpstr>
      <vt:lpstr>Datasets</vt:lpstr>
      <vt:lpstr>Expected Impact </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53</cp:revision>
  <dcterms:created xsi:type="dcterms:W3CDTF">2025-11-12T22:28:05Z</dcterms:created>
  <dcterms:modified xsi:type="dcterms:W3CDTF">2025-11-29T00:27:02Z</dcterms:modified>
</cp:coreProperties>
</file>