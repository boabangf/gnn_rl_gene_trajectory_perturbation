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256" r:id="rId2"/>
    <p:sldId id="284" r:id="rId3"/>
    <p:sldId id="261" r:id="rId4"/>
    <p:sldId id="258" r:id="rId5"/>
    <p:sldId id="263" r:id="rId6"/>
    <p:sldId id="257" r:id="rId7"/>
    <p:sldId id="287" r:id="rId8"/>
    <p:sldId id="289" r:id="rId9"/>
    <p:sldId id="268" r:id="rId10"/>
    <p:sldId id="279" r:id="rId11"/>
    <p:sldId id="267" r:id="rId12"/>
    <p:sldId id="269" r:id="rId13"/>
    <p:sldId id="270" r:id="rId14"/>
    <p:sldId id="271" r:id="rId15"/>
    <p:sldId id="274" r:id="rId16"/>
    <p:sldId id="273" r:id="rId17"/>
    <p:sldId id="276" r:id="rId18"/>
    <p:sldId id="278" r:id="rId19"/>
    <p:sldId id="275" r:id="rId20"/>
    <p:sldId id="277" r:id="rId21"/>
    <p:sldId id="280" r:id="rId22"/>
    <p:sldId id="285" r:id="rId23"/>
    <p:sldId id="281" r:id="rId24"/>
    <p:sldId id="283" r:id="rId25"/>
    <p:sldId id="288" r:id="rId26"/>
    <p:sldId id="282" r:id="rId27"/>
    <p:sldId id="259" r:id="rId28"/>
    <p:sldId id="28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2025-11-27</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2025-11-27</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2025-11-27</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2025-11-27</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1600" dirty="0">
                <a:latin typeface="Times New Roman" panose="02020603050405020304" pitchFamily="18" charset="0"/>
                <a:cs typeface="Times New Roman" panose="02020603050405020304" pitchFamily="18" charset="0"/>
              </a:rPr>
              <a:t>Background</a:t>
            </a:r>
          </a:p>
          <a:p>
            <a:r>
              <a:rPr lang="en-US" sz="1600" dirty="0">
                <a:latin typeface="Times New Roman" panose="02020603050405020304" pitchFamily="18" charset="0"/>
                <a:cs typeface="Times New Roman" panose="02020603050405020304" pitchFamily="18" charset="0"/>
              </a:rPr>
              <a:t>Gaps in the Research</a:t>
            </a:r>
          </a:p>
          <a:p>
            <a:r>
              <a:rPr lang="en-US" sz="1600" dirty="0">
                <a:latin typeface="Times New Roman" panose="02020603050405020304" pitchFamily="18" charset="0"/>
                <a:cs typeface="Times New Roman" panose="02020603050405020304" pitchFamily="18" charset="0"/>
              </a:rPr>
              <a:t>Proposed Solution</a:t>
            </a:r>
          </a:p>
          <a:p>
            <a:r>
              <a:rPr lang="en-US" sz="1600" dirty="0">
                <a:latin typeface="Times New Roman" panose="02020603050405020304" pitchFamily="18" charset="0"/>
                <a:cs typeface="Times New Roman" panose="02020603050405020304" pitchFamily="18" charset="0"/>
              </a:rPr>
              <a:t>Datasets</a:t>
            </a:r>
          </a:p>
          <a:p>
            <a:r>
              <a:rPr lang="en-US" sz="1600" dirty="0">
                <a:latin typeface="Times New Roman" panose="02020603050405020304" pitchFamily="18" charset="0"/>
                <a:cs typeface="Times New Roman" panose="02020603050405020304" pitchFamily="18" charset="0"/>
              </a:rPr>
              <a:t>Model Design </a:t>
            </a:r>
          </a:p>
          <a:p>
            <a:r>
              <a:rPr lang="en-US" sz="1600" dirty="0">
                <a:latin typeface="Times New Roman" panose="02020603050405020304" pitchFamily="18" charset="0"/>
                <a:cs typeface="Times New Roman" panose="02020603050405020304" pitchFamily="18" charset="0"/>
              </a:rPr>
              <a:t>System Design (Hardware and Software)</a:t>
            </a:r>
          </a:p>
          <a:p>
            <a:r>
              <a:rPr lang="en-US" sz="1600" dirty="0">
                <a:latin typeface="Times New Roman" panose="02020603050405020304" pitchFamily="18" charset="0"/>
                <a:cs typeface="Times New Roman" panose="02020603050405020304" pitchFamily="18" charset="0"/>
              </a:rPr>
              <a:t>Crisper Knockout Evaluation Setting</a:t>
            </a:r>
          </a:p>
          <a:p>
            <a:r>
              <a:rPr lang="en-US" sz="1600" dirty="0">
                <a:latin typeface="Times New Roman" panose="02020603050405020304" pitchFamily="18" charset="0"/>
                <a:cs typeface="Times New Roman" panose="02020603050405020304" pitchFamily="18" charset="0"/>
              </a:rPr>
              <a:t>Drug Development Evaluation Setting</a:t>
            </a:r>
          </a:p>
          <a:p>
            <a:r>
              <a:rPr lang="en-US" sz="1600" dirty="0">
                <a:latin typeface="Times New Roman" panose="02020603050405020304" pitchFamily="18" charset="0"/>
                <a:cs typeface="Times New Roman" panose="02020603050405020304" pitchFamily="18" charset="0"/>
              </a:rPr>
              <a:t>Expected Outcome</a:t>
            </a:r>
          </a:p>
          <a:p>
            <a:r>
              <a:rPr lang="en-US" sz="16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6594-9025-383C-D90A-339D8756DCA4}"/>
              </a:ext>
            </a:extLst>
          </p:cNvPr>
          <p:cNvSpPr>
            <a:spLocks noGrp="1"/>
          </p:cNvSpPr>
          <p:nvPr>
            <p:ph type="title"/>
          </p:nvPr>
        </p:nvSpPr>
        <p:spPr>
          <a:xfrm>
            <a:off x="838200" y="95370"/>
            <a:ext cx="10515600" cy="639088"/>
          </a:xfrm>
        </p:spPr>
        <p:txBody>
          <a:bodyPr>
            <a:normAutofit/>
          </a:bodyPr>
          <a:lstStyle/>
          <a:p>
            <a:r>
              <a:rPr lang="en-US" sz="2400" b="1" dirty="0"/>
              <a:t>Model Design</a:t>
            </a:r>
            <a:endParaRPr lang="en-CA" sz="2400" b="1" dirty="0"/>
          </a:p>
        </p:txBody>
      </p:sp>
      <p:pic>
        <p:nvPicPr>
          <p:cNvPr id="1028" name="Picture 4" descr="Graph Attention Networks. Graph Machine Learning | by Ashish Kumar | Medium">
            <a:extLst>
              <a:ext uri="{FF2B5EF4-FFF2-40B4-BE49-F238E27FC236}">
                <a16:creationId xmlns:a16="http://schemas.microsoft.com/office/drawing/2014/main" id="{3CDB7DCA-A6FC-2517-E2D1-1EE1521EB3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7952" y="1012351"/>
            <a:ext cx="4261104" cy="22246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E62448-B44F-7F3B-E9A4-B5A86AD8E1E8}"/>
              </a:ext>
            </a:extLst>
          </p:cNvPr>
          <p:cNvSpPr txBox="1"/>
          <p:nvPr/>
        </p:nvSpPr>
        <p:spPr>
          <a:xfrm>
            <a:off x="3953432" y="729619"/>
            <a:ext cx="4876912" cy="369332"/>
          </a:xfrm>
          <a:prstGeom prst="rect">
            <a:avLst/>
          </a:prstGeom>
          <a:noFill/>
        </p:spPr>
        <p:txBody>
          <a:bodyPr wrap="none" rtlCol="0">
            <a:spAutoFit/>
          </a:bodyPr>
          <a:lstStyle/>
          <a:p>
            <a:r>
              <a:rPr lang="en-US" dirty="0"/>
              <a:t>Graph Attention Network for the Gene Embedding</a:t>
            </a:r>
            <a:endParaRPr lang="en-CA" dirty="0"/>
          </a:p>
        </p:txBody>
      </p:sp>
      <p:cxnSp>
        <p:nvCxnSpPr>
          <p:cNvPr id="7" name="Straight Arrow Connector 6">
            <a:extLst>
              <a:ext uri="{FF2B5EF4-FFF2-40B4-BE49-F238E27FC236}">
                <a16:creationId xmlns:a16="http://schemas.microsoft.com/office/drawing/2014/main" id="{2F5E5B73-B317-1D5E-2ABD-72968283A9D5}"/>
              </a:ext>
            </a:extLst>
          </p:cNvPr>
          <p:cNvCxnSpPr>
            <a:cxnSpLocks/>
          </p:cNvCxnSpPr>
          <p:nvPr/>
        </p:nvCxnSpPr>
        <p:spPr>
          <a:xfrm>
            <a:off x="6214872" y="3236977"/>
            <a:ext cx="0" cy="63512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What is Reinforcement Learning: Overview, Comparisons and Ap">
            <a:extLst>
              <a:ext uri="{FF2B5EF4-FFF2-40B4-BE49-F238E27FC236}">
                <a16:creationId xmlns:a16="http://schemas.microsoft.com/office/drawing/2014/main" id="{C3814DDE-55E8-175C-6E5F-9123161C51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7265" y="3872103"/>
            <a:ext cx="5342477" cy="2071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68FAC6-3366-71CA-7992-A97E43F193A9}"/>
              </a:ext>
            </a:extLst>
          </p:cNvPr>
          <p:cNvSpPr txBox="1"/>
          <p:nvPr/>
        </p:nvSpPr>
        <p:spPr>
          <a:xfrm>
            <a:off x="3953432" y="5913849"/>
            <a:ext cx="4730141" cy="369332"/>
          </a:xfrm>
          <a:prstGeom prst="rect">
            <a:avLst/>
          </a:prstGeom>
          <a:noFill/>
        </p:spPr>
        <p:txBody>
          <a:bodyPr wrap="none" rtlCol="0">
            <a:spAutoFit/>
          </a:bodyPr>
          <a:lstStyle/>
          <a:p>
            <a:r>
              <a:rPr lang="en-US" dirty="0"/>
              <a:t>Reinforcement Learning for Trajectory Prediction</a:t>
            </a:r>
            <a:endParaRPr lang="en-CA" dirty="0"/>
          </a:p>
        </p:txBody>
      </p:sp>
    </p:spTree>
    <p:extLst>
      <p:ext uri="{BB962C8B-B14F-4D97-AF65-F5344CB8AC3E}">
        <p14:creationId xmlns:p14="http://schemas.microsoft.com/office/powerpoint/2010/main" val="405825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58876" y="4122948"/>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58876" y="1544669"/>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556215"/>
            <a:ext cx="11088620" cy="155765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r>
              <a:rPr lang="en-CA" sz="1600" b="1" dirty="0" err="1"/>
              <a:t>Github</a:t>
            </a:r>
            <a:r>
              <a:rPr lang="en-CA" sz="1600" b="1" dirty="0"/>
              <a:t>: </a:t>
            </a:r>
          </a:p>
          <a:p>
            <a:pPr marL="0" indent="0">
              <a:buNone/>
            </a:pPr>
            <a:r>
              <a:rPr lang="en-CA" sz="1600" dirty="0"/>
              <a:t>https://github.com/boabangf/GNN_RL_gene_trajectory_perturbation/blob/main/Drug%20Development/drug_development.ipynb</a:t>
            </a:r>
          </a:p>
          <a:p>
            <a:pPr marL="0" indent="0">
              <a:buNone/>
            </a:pPr>
            <a:r>
              <a:rPr lang="en-CA" sz="1600" b="1"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448" y="1690688"/>
            <a:ext cx="8897112" cy="4531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2400" b="1" dirty="0">
                <a:latin typeface="Times New Roman" panose="02020603050405020304" pitchFamily="18" charset="0"/>
                <a:cs typeface="Times New Roman" panose="02020603050405020304" pitchFamily="18" charset="0"/>
              </a:rPr>
              <a:t>Expected Impact</a:t>
            </a:r>
            <a:br>
              <a:rPr lang="en-CA" sz="4800" b="1" dirty="0">
                <a:latin typeface="Times New Roman" panose="02020603050405020304" pitchFamily="18" charset="0"/>
                <a:cs typeface="Times New Roman" panose="02020603050405020304" pitchFamily="18" charset="0"/>
              </a:rPr>
            </a:br>
            <a:endParaRPr lang="en-CA" sz="4800" dirty="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945</TotalTime>
  <Words>2522</Words>
  <Application>Microsoft Office PowerPoint</Application>
  <PresentationFormat>Widescreen</PresentationFormat>
  <Paragraphs>328</Paragraphs>
  <Slides>28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-apple-system</vt:lpstr>
      <vt:lpstr>Aptos</vt:lpstr>
      <vt:lpstr>Arial</vt:lpstr>
      <vt:lpstr>Calibri</vt:lpstr>
      <vt:lpstr>Calibri Light</vt:lpstr>
      <vt:lpstr>Courier New</vt:lpstr>
      <vt:lpstr>Times New Roman</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Model Design</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52</cp:revision>
  <dcterms:created xsi:type="dcterms:W3CDTF">2025-11-12T22:28:05Z</dcterms:created>
  <dcterms:modified xsi:type="dcterms:W3CDTF">2025-11-27T16:03:04Z</dcterms:modified>
</cp:coreProperties>
</file>