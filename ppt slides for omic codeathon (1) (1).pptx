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sldIdLst>
    <p:sldId id="256" r:id="rId2"/>
    <p:sldId id="284" r:id="rId3"/>
    <p:sldId id="261" r:id="rId4"/>
    <p:sldId id="258" r:id="rId5"/>
    <p:sldId id="263" r:id="rId6"/>
    <p:sldId id="257" r:id="rId7"/>
    <p:sldId id="287" r:id="rId8"/>
    <p:sldId id="268" r:id="rId9"/>
    <p:sldId id="279" r:id="rId10"/>
    <p:sldId id="267" r:id="rId11"/>
    <p:sldId id="269" r:id="rId12"/>
    <p:sldId id="270" r:id="rId13"/>
    <p:sldId id="271" r:id="rId14"/>
    <p:sldId id="274" r:id="rId15"/>
    <p:sldId id="273" r:id="rId16"/>
    <p:sldId id="276" r:id="rId17"/>
    <p:sldId id="278" r:id="rId18"/>
    <p:sldId id="275" r:id="rId19"/>
    <p:sldId id="277" r:id="rId20"/>
    <p:sldId id="280" r:id="rId21"/>
    <p:sldId id="285" r:id="rId22"/>
    <p:sldId id="281" r:id="rId23"/>
    <p:sldId id="283" r:id="rId24"/>
    <p:sldId id="288" r:id="rId25"/>
    <p:sldId id="282" r:id="rId26"/>
    <p:sldId id="259" r:id="rId27"/>
    <p:sldId id="286"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100" d="100"/>
          <a:sy n="100" d="100"/>
        </p:scale>
        <p:origin x="96" y="1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diagrams/_rels/data2.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svg"/><Relationship Id="rId1" Type="http://schemas.openxmlformats.org/officeDocument/2006/relationships/image" Target="../media/image8.png"/><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svg"/><Relationship Id="rId1" Type="http://schemas.openxmlformats.org/officeDocument/2006/relationships/image" Target="../media/image8.png"/><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2025-11-26</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2025-11-26</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2025-11-26</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2025-11-26</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2025-11-26</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2" Type="http://schemas.openxmlformats.org/officeDocument/2006/relationships/hyperlink" Target="https://drive.google.com/drive/folders/1AAI4KU9G-UHoKo72Ne6iGAaCgFPADIW3?usp=drive_link"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www.ncbi.nlm.nih.gov/geo/query/acc.cgi?acc=GSE119352" TargetMode="External"/><Relationship Id="rId2" Type="http://schemas.openxmlformats.org/officeDocument/2006/relationships/hyperlink" Target="https://colab.research.google.com/drive/1UoPEKODPjZeQ2BuGoC5iFKkUqwlj3bkm?usp=sharing"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124712" y="1162822"/>
            <a:ext cx="9942576" cy="2387600"/>
          </a:xfrm>
        </p:spPr>
        <p:txBody>
          <a:bodyPr>
            <a:normAutofit fontScale="90000"/>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br>
              <a:rPr lang="en-CA" sz="4000" dirty="0">
                <a:latin typeface="Times New Roman" panose="02020603050405020304" pitchFamily="18" charset="0"/>
                <a:cs typeface="Times New Roman" panose="02020603050405020304" pitchFamily="18" charset="0"/>
              </a:rPr>
            </a:br>
            <a:br>
              <a:rPr lang="en-CA" sz="4000" dirty="0">
                <a:latin typeface="Times New Roman" panose="02020603050405020304" pitchFamily="18" charset="0"/>
                <a:cs typeface="Times New Roman" panose="02020603050405020304" pitchFamily="18" charset="0"/>
              </a:rPr>
            </a:br>
            <a:r>
              <a:rPr lang="en-CA" sz="2000" dirty="0">
                <a:latin typeface="Times New Roman" panose="02020603050405020304" pitchFamily="18" charset="0"/>
                <a:cs typeface="Times New Roman" panose="02020603050405020304" pitchFamily="18" charset="0"/>
              </a:rPr>
              <a:t>Boabang Francis</a:t>
            </a:r>
            <a:endParaRPr lang="en-CA" sz="2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399" y="5007747"/>
            <a:ext cx="2042889" cy="16753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01083" y="5286375"/>
            <a:ext cx="1842293" cy="13967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5D40A-C4AE-4876-9C65-DC7AF22BAEA1}"/>
              </a:ext>
            </a:extLst>
          </p:cNvPr>
          <p:cNvSpPr>
            <a:spLocks noGrp="1"/>
          </p:cNvSpPr>
          <p:nvPr>
            <p:ph type="title"/>
          </p:nvPr>
        </p:nvSpPr>
        <p:spPr/>
        <p:txBody>
          <a:bodyPr>
            <a:normAutofit/>
          </a:bodyPr>
          <a:lstStyle/>
          <a:p>
            <a:r>
              <a:rPr lang="en-US" sz="2400" b="1" dirty="0"/>
              <a:t>Content</a:t>
            </a:r>
            <a:endParaRPr lang="en-CA" sz="2400" b="1" dirty="0"/>
          </a:p>
        </p:txBody>
      </p:sp>
      <p:sp>
        <p:nvSpPr>
          <p:cNvPr id="3" name="Content Placeholder 2">
            <a:extLst>
              <a:ext uri="{FF2B5EF4-FFF2-40B4-BE49-F238E27FC236}">
                <a16:creationId xmlns:a16="http://schemas.microsoft.com/office/drawing/2014/main" id="{9ADDA3F5-0489-F0B1-F817-F5B2DE9FC7F0}"/>
              </a:ext>
            </a:extLst>
          </p:cNvPr>
          <p:cNvSpPr>
            <a:spLocks noGrp="1"/>
          </p:cNvSpPr>
          <p:nvPr>
            <p:ph idx="1"/>
          </p:nvPr>
        </p:nvSpPr>
        <p:spPr>
          <a:xfrm>
            <a:off x="838200" y="1451537"/>
            <a:ext cx="10515600" cy="4351338"/>
          </a:xfrm>
        </p:spPr>
        <p:txBody>
          <a:bodyPr>
            <a:normAutofit/>
          </a:bodyPr>
          <a:lstStyle/>
          <a:p>
            <a:r>
              <a:rPr lang="en-US" sz="2000" dirty="0">
                <a:latin typeface="Times New Roman" panose="02020603050405020304" pitchFamily="18" charset="0"/>
                <a:cs typeface="Times New Roman" panose="02020603050405020304" pitchFamily="18" charset="0"/>
              </a:rPr>
              <a:t>Background</a:t>
            </a:r>
          </a:p>
          <a:p>
            <a:r>
              <a:rPr lang="en-US" sz="2000" dirty="0">
                <a:latin typeface="Times New Roman" panose="02020603050405020304" pitchFamily="18" charset="0"/>
                <a:cs typeface="Times New Roman" panose="02020603050405020304" pitchFamily="18" charset="0"/>
              </a:rPr>
              <a:t>Gaps in the Research</a:t>
            </a:r>
          </a:p>
          <a:p>
            <a:r>
              <a:rPr lang="en-US" sz="2000" dirty="0">
                <a:latin typeface="Times New Roman" panose="02020603050405020304" pitchFamily="18" charset="0"/>
                <a:cs typeface="Times New Roman" panose="02020603050405020304" pitchFamily="18" charset="0"/>
              </a:rPr>
              <a:t>Proposed Solution</a:t>
            </a:r>
          </a:p>
          <a:p>
            <a:r>
              <a:rPr lang="en-US" sz="2000" dirty="0">
                <a:latin typeface="Times New Roman" panose="02020603050405020304" pitchFamily="18" charset="0"/>
                <a:cs typeface="Times New Roman" panose="02020603050405020304" pitchFamily="18" charset="0"/>
              </a:rPr>
              <a:t>Datasets</a:t>
            </a:r>
          </a:p>
          <a:p>
            <a:r>
              <a:rPr lang="en-US" sz="2000" dirty="0">
                <a:latin typeface="Times New Roman" panose="02020603050405020304" pitchFamily="18" charset="0"/>
                <a:cs typeface="Times New Roman" panose="02020603050405020304" pitchFamily="18" charset="0"/>
              </a:rPr>
              <a:t>System Design (Hardware and Software)</a:t>
            </a:r>
          </a:p>
          <a:p>
            <a:r>
              <a:rPr lang="en-US" sz="2000" dirty="0">
                <a:latin typeface="Times New Roman" panose="02020603050405020304" pitchFamily="18" charset="0"/>
                <a:cs typeface="Times New Roman" panose="02020603050405020304" pitchFamily="18" charset="0"/>
              </a:rPr>
              <a:t>Crisper Knockout Evaluation Setting</a:t>
            </a:r>
          </a:p>
          <a:p>
            <a:r>
              <a:rPr lang="en-US" sz="2000" dirty="0">
                <a:latin typeface="Times New Roman" panose="02020603050405020304" pitchFamily="18" charset="0"/>
                <a:cs typeface="Times New Roman" panose="02020603050405020304" pitchFamily="18" charset="0"/>
              </a:rPr>
              <a:t>Drug Development Evaluation Setting</a:t>
            </a:r>
          </a:p>
          <a:p>
            <a:r>
              <a:rPr lang="en-US" sz="2000" dirty="0">
                <a:latin typeface="Times New Roman" panose="02020603050405020304" pitchFamily="18" charset="0"/>
                <a:cs typeface="Times New Roman" panose="02020603050405020304" pitchFamily="18" charset="0"/>
              </a:rPr>
              <a:t>Expected Outcome</a:t>
            </a:r>
          </a:p>
          <a:p>
            <a:r>
              <a:rPr lang="en-US" sz="2000" dirty="0">
                <a:latin typeface="Times New Roman" panose="02020603050405020304" pitchFamily="18" charset="0"/>
                <a:cs typeface="Times New Roman" panose="02020603050405020304" pitchFamily="18" charset="0"/>
              </a:rPr>
              <a:t>Future Work</a:t>
            </a:r>
          </a:p>
          <a:p>
            <a:endParaRPr lang="en-US" sz="2000" dirty="0">
              <a:latin typeface="Times New Roman" panose="02020603050405020304" pitchFamily="18" charset="0"/>
              <a:cs typeface="Times New Roman" panose="02020603050405020304" pitchFamily="18" charset="0"/>
            </a:endParaRPr>
          </a:p>
          <a:p>
            <a:endParaRPr lang="en-CA"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9428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2400" dirty="0">
                <a:latin typeface="Times New Roman" panose="02020603050405020304" pitchFamily="18" charset="0"/>
                <a:cs typeface="Times New Roman" panose="02020603050405020304" pitchFamily="18" charset="0"/>
              </a:rPr>
              <a:t>Background</a:t>
            </a:r>
            <a:endParaRPr lang="en-CA" sz="2400" dirty="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a:xfrm>
            <a:off x="838200" y="365125"/>
            <a:ext cx="10515600" cy="905891"/>
          </a:xfrm>
        </p:spPr>
        <p:txBody>
          <a:bodyPr>
            <a:normAutofit fontScale="90000"/>
          </a:bodyPr>
          <a:lstStyle/>
          <a:p>
            <a:r>
              <a:rPr lang="en-CA" sz="2200" dirty="0">
                <a:latin typeface="Times New Roman" panose="02020603050405020304" pitchFamily="18" charset="0"/>
                <a:cs typeface="Times New Roman" panose="02020603050405020304" pitchFamily="18" charset="0"/>
              </a:rPr>
              <a:t>Proposed Solution: 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803503" y="1410790"/>
            <a:ext cx="5435634" cy="881742"/>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41825-950B-4DF9-D496-BFE44B154E5A}"/>
              </a:ext>
            </a:extLst>
          </p:cNvPr>
          <p:cNvSpPr>
            <a:spLocks noGrp="1"/>
          </p:cNvSpPr>
          <p:nvPr>
            <p:ph type="title"/>
          </p:nvPr>
        </p:nvSpPr>
        <p:spPr>
          <a:xfrm>
            <a:off x="957072" y="365125"/>
            <a:ext cx="8854440" cy="567880"/>
          </a:xfrm>
        </p:spPr>
        <p:txBody>
          <a:bodyPr>
            <a:normAutofit/>
          </a:bodyPr>
          <a:lstStyle/>
          <a:p>
            <a:r>
              <a:rPr lang="en-US" sz="2400" dirty="0">
                <a:latin typeface="Times New Roman" panose="02020603050405020304" pitchFamily="18" charset="0"/>
                <a:cs typeface="Times New Roman" panose="02020603050405020304" pitchFamily="18" charset="0"/>
              </a:rPr>
              <a:t>Sample Data Example </a:t>
            </a:r>
            <a:endParaRPr lang="en-CA" sz="2400"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12BF0DCB-31DC-4691-C5AF-182AE0E3E25E}"/>
              </a:ext>
            </a:extLst>
          </p:cNvPr>
          <p:cNvSpPr/>
          <p:nvPr/>
        </p:nvSpPr>
        <p:spPr>
          <a:xfrm>
            <a:off x="4219956" y="1224344"/>
            <a:ext cx="2328672" cy="56788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4098330F-D621-8D07-B793-CD09837D3D87}"/>
              </a:ext>
            </a:extLst>
          </p:cNvPr>
          <p:cNvSpPr/>
          <p:nvPr/>
        </p:nvSpPr>
        <p:spPr>
          <a:xfrm>
            <a:off x="1339596" y="3128676"/>
            <a:ext cx="3639312"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5">
            <a:extLst>
              <a:ext uri="{FF2B5EF4-FFF2-40B4-BE49-F238E27FC236}">
                <a16:creationId xmlns:a16="http://schemas.microsoft.com/office/drawing/2014/main" id="{04AE21EF-0D2C-A105-3DC4-2AE8EFD81FF1}"/>
              </a:ext>
            </a:extLst>
          </p:cNvPr>
          <p:cNvSpPr/>
          <p:nvPr/>
        </p:nvSpPr>
        <p:spPr>
          <a:xfrm>
            <a:off x="6548628" y="3128676"/>
            <a:ext cx="3389376"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TextBox 7">
            <a:extLst>
              <a:ext uri="{FF2B5EF4-FFF2-40B4-BE49-F238E27FC236}">
                <a16:creationId xmlns:a16="http://schemas.microsoft.com/office/drawing/2014/main" id="{31C85E2A-3BE4-F0E0-9586-59B05C470399}"/>
              </a:ext>
            </a:extLst>
          </p:cNvPr>
          <p:cNvSpPr txBox="1"/>
          <p:nvPr/>
        </p:nvSpPr>
        <p:spPr>
          <a:xfrm>
            <a:off x="2094357" y="6308209"/>
            <a:ext cx="7477506" cy="369332"/>
          </a:xfrm>
          <a:prstGeom prst="rect">
            <a:avLst/>
          </a:prstGeom>
          <a:noFill/>
        </p:spPr>
        <p:txBody>
          <a:bodyPr wrap="square">
            <a:spAutoFit/>
          </a:bodyPr>
          <a:lstStyle/>
          <a:p>
            <a:r>
              <a:rPr lang="en-CA" dirty="0"/>
              <a:t>https://www.ncbi.nlm.nih.gov/geo/query/acc.cgi?acc=GSE134139</a:t>
            </a:r>
          </a:p>
        </p:txBody>
      </p:sp>
      <p:cxnSp>
        <p:nvCxnSpPr>
          <p:cNvPr id="10" name="Straight Arrow Connector 9">
            <a:extLst>
              <a:ext uri="{FF2B5EF4-FFF2-40B4-BE49-F238E27FC236}">
                <a16:creationId xmlns:a16="http://schemas.microsoft.com/office/drawing/2014/main" id="{6958431A-A2CE-BA66-CF54-CE30D7FFFF3E}"/>
              </a:ext>
            </a:extLst>
          </p:cNvPr>
          <p:cNvCxnSpPr>
            <a:cxnSpLocks/>
            <a:stCxn id="4" idx="2"/>
            <a:endCxn id="5" idx="0"/>
          </p:cNvCxnSpPr>
          <p:nvPr/>
        </p:nvCxnSpPr>
        <p:spPr>
          <a:xfrm flipH="1">
            <a:off x="3159252" y="1792224"/>
            <a:ext cx="2225040"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E13FE5E-3197-F346-F644-8DD6F8D9580B}"/>
              </a:ext>
            </a:extLst>
          </p:cNvPr>
          <p:cNvCxnSpPr>
            <a:cxnSpLocks/>
            <a:stCxn id="4" idx="2"/>
            <a:endCxn id="6" idx="0"/>
          </p:cNvCxnSpPr>
          <p:nvPr/>
        </p:nvCxnSpPr>
        <p:spPr>
          <a:xfrm>
            <a:off x="5384292" y="1792224"/>
            <a:ext cx="2859024"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1132621-C0E9-D945-9AC2-E637B85C32FF}"/>
              </a:ext>
            </a:extLst>
          </p:cNvPr>
          <p:cNvSpPr txBox="1"/>
          <p:nvPr/>
        </p:nvSpPr>
        <p:spPr>
          <a:xfrm>
            <a:off x="4715797" y="1323618"/>
            <a:ext cx="1250663" cy="369332"/>
          </a:xfrm>
          <a:prstGeom prst="rect">
            <a:avLst/>
          </a:prstGeom>
          <a:noFill/>
        </p:spPr>
        <p:txBody>
          <a:bodyPr wrap="none" rtlCol="0">
            <a:spAutoFit/>
          </a:bodyPr>
          <a:lstStyle/>
          <a:p>
            <a:r>
              <a:rPr lang="en-US" dirty="0"/>
              <a:t>GSE134139</a:t>
            </a:r>
            <a:endParaRPr lang="en-CA" dirty="0"/>
          </a:p>
        </p:txBody>
      </p:sp>
      <p:sp>
        <p:nvSpPr>
          <p:cNvPr id="17" name="TextBox 16">
            <a:extLst>
              <a:ext uri="{FF2B5EF4-FFF2-40B4-BE49-F238E27FC236}">
                <a16:creationId xmlns:a16="http://schemas.microsoft.com/office/drawing/2014/main" id="{0B290553-83E6-1403-C1B2-484CFA69451E}"/>
              </a:ext>
            </a:extLst>
          </p:cNvPr>
          <p:cNvSpPr txBox="1"/>
          <p:nvPr/>
        </p:nvSpPr>
        <p:spPr>
          <a:xfrm>
            <a:off x="1419716" y="3290675"/>
            <a:ext cx="3306097"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CTRL_MATRIX = </a:t>
            </a:r>
            <a:r>
              <a:rPr lang="en-CA" sz="1200" b="0" dirty="0">
                <a:solidFill>
                  <a:srgbClr val="A31515"/>
                </a:solidFill>
                <a:effectLst/>
                <a:latin typeface="Courier New" panose="02070309020205020404" pitchFamily="49" charset="0"/>
              </a:rPr>
              <a:t>"GSM3937878_ctrl_matrix.mtx"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CTRL_FEAT   = </a:t>
            </a:r>
            <a:r>
              <a:rPr lang="en-CA" sz="1200" b="0" dirty="0">
                <a:solidFill>
                  <a:srgbClr val="A31515"/>
                </a:solidFill>
                <a:effectLst/>
                <a:latin typeface="Courier New" panose="02070309020205020404" pitchFamily="49" charset="0"/>
              </a:rPr>
              <a:t>"GSM3937878_ctrl_features.tsv"</a:t>
            </a:r>
            <a:endParaRPr lang="en-CA" sz="1200" b="0" dirty="0">
              <a:solidFill>
                <a:srgbClr val="000000"/>
              </a:solidFill>
              <a:effectLst/>
              <a:latin typeface="Courier New" panose="02070309020205020404" pitchFamily="49" charset="0"/>
            </a:endParaRPr>
          </a:p>
        </p:txBody>
      </p:sp>
      <p:sp>
        <p:nvSpPr>
          <p:cNvPr id="26" name="TextBox 25">
            <a:extLst>
              <a:ext uri="{FF2B5EF4-FFF2-40B4-BE49-F238E27FC236}">
                <a16:creationId xmlns:a16="http://schemas.microsoft.com/office/drawing/2014/main" id="{13E1C20D-9488-BC28-02EE-7427FD63BA08}"/>
              </a:ext>
            </a:extLst>
          </p:cNvPr>
          <p:cNvSpPr txBox="1"/>
          <p:nvPr/>
        </p:nvSpPr>
        <p:spPr>
          <a:xfrm>
            <a:off x="6635115" y="3290675"/>
            <a:ext cx="3389376"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PTPN2_MATRIX = </a:t>
            </a:r>
            <a:r>
              <a:rPr lang="en-CA" sz="1200" b="0" dirty="0">
                <a:solidFill>
                  <a:srgbClr val="A31515"/>
                </a:solidFill>
                <a:effectLst/>
                <a:latin typeface="Courier New" panose="02070309020205020404" pitchFamily="49" charset="0"/>
              </a:rPr>
              <a:t>"GSM3937879_Ptpn2_matrix.mtx"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PTPN2_FEAT   = </a:t>
            </a:r>
            <a:r>
              <a:rPr lang="en-CA" sz="1200" b="0" dirty="0">
                <a:solidFill>
                  <a:srgbClr val="A31515"/>
                </a:solidFill>
                <a:effectLst/>
                <a:latin typeface="Courier New" panose="02070309020205020404" pitchFamily="49" charset="0"/>
              </a:rPr>
              <a:t>"GSM3937879_Ptpn2_features.tsv"</a:t>
            </a:r>
            <a:endParaRPr lang="en-CA" sz="1200" b="0" dirty="0">
              <a:solidFill>
                <a:srgbClr val="000000"/>
              </a:solidFill>
              <a:effectLst/>
              <a:latin typeface="Courier New" panose="02070309020205020404" pitchFamily="49" charset="0"/>
            </a:endParaRPr>
          </a:p>
        </p:txBody>
      </p:sp>
      <p:sp>
        <p:nvSpPr>
          <p:cNvPr id="27" name="TextBox 26">
            <a:extLst>
              <a:ext uri="{FF2B5EF4-FFF2-40B4-BE49-F238E27FC236}">
                <a16:creationId xmlns:a16="http://schemas.microsoft.com/office/drawing/2014/main" id="{610377D2-2FB5-2A56-A1EC-1D4CD85F2FFB}"/>
              </a:ext>
            </a:extLst>
          </p:cNvPr>
          <p:cNvSpPr txBox="1"/>
          <p:nvPr/>
        </p:nvSpPr>
        <p:spPr>
          <a:xfrm>
            <a:off x="2261997" y="4315967"/>
            <a:ext cx="1621534" cy="369332"/>
          </a:xfrm>
          <a:prstGeom prst="rect">
            <a:avLst/>
          </a:prstGeom>
          <a:noFill/>
        </p:spPr>
        <p:txBody>
          <a:bodyPr wrap="none" rtlCol="0">
            <a:spAutoFit/>
          </a:bodyPr>
          <a:lstStyle/>
          <a:p>
            <a:r>
              <a:rPr lang="en-US" dirty="0"/>
              <a:t>Control Sample</a:t>
            </a:r>
            <a:endParaRPr lang="en-CA" dirty="0"/>
          </a:p>
        </p:txBody>
      </p:sp>
      <p:sp>
        <p:nvSpPr>
          <p:cNvPr id="28" name="TextBox 27">
            <a:extLst>
              <a:ext uri="{FF2B5EF4-FFF2-40B4-BE49-F238E27FC236}">
                <a16:creationId xmlns:a16="http://schemas.microsoft.com/office/drawing/2014/main" id="{92ABE879-518D-9B41-10C7-F77948CE6867}"/>
              </a:ext>
            </a:extLst>
          </p:cNvPr>
          <p:cNvSpPr txBox="1"/>
          <p:nvPr/>
        </p:nvSpPr>
        <p:spPr>
          <a:xfrm>
            <a:off x="7391790" y="4315967"/>
            <a:ext cx="1876026" cy="369332"/>
          </a:xfrm>
          <a:prstGeom prst="rect">
            <a:avLst/>
          </a:prstGeom>
          <a:noFill/>
        </p:spPr>
        <p:txBody>
          <a:bodyPr wrap="none" rtlCol="0">
            <a:spAutoFit/>
          </a:bodyPr>
          <a:lstStyle/>
          <a:p>
            <a:r>
              <a:rPr lang="en-US" dirty="0"/>
              <a:t>Perturbed Sample</a:t>
            </a:r>
            <a:endParaRPr lang="en-CA" dirty="0"/>
          </a:p>
        </p:txBody>
      </p:sp>
      <p:sp>
        <p:nvSpPr>
          <p:cNvPr id="30" name="TextBox 29">
            <a:extLst>
              <a:ext uri="{FF2B5EF4-FFF2-40B4-BE49-F238E27FC236}">
                <a16:creationId xmlns:a16="http://schemas.microsoft.com/office/drawing/2014/main" id="{0E38BE27-ECFF-781F-7BF9-F08CF0DD32EE}"/>
              </a:ext>
            </a:extLst>
          </p:cNvPr>
          <p:cNvSpPr txBox="1"/>
          <p:nvPr/>
        </p:nvSpPr>
        <p:spPr>
          <a:xfrm>
            <a:off x="635508" y="5725346"/>
            <a:ext cx="10395204" cy="369332"/>
          </a:xfrm>
          <a:prstGeom prst="rect">
            <a:avLst/>
          </a:prstGeom>
          <a:noFill/>
        </p:spPr>
        <p:txBody>
          <a:bodyPr wrap="square">
            <a:spAutoFit/>
          </a:bodyPr>
          <a:lstStyle/>
          <a:p>
            <a:r>
              <a:rPr lang="en-CA" b="0" i="0" u="sng" dirty="0">
                <a:solidFill>
                  <a:srgbClr val="0969DA"/>
                </a:solidFill>
                <a:effectLst/>
                <a:latin typeface="-apple-system"/>
                <a:hlinkClick r:id="rId2"/>
              </a:rPr>
              <a:t>https://drive.google.com/drive/folders/1AAI4KU9G-UHoKo72Ne6iGAaCgFPADIW3?usp=drive_link</a:t>
            </a:r>
            <a:endParaRPr lang="en-CA" dirty="0"/>
          </a:p>
        </p:txBody>
      </p:sp>
    </p:spTree>
    <p:extLst>
      <p:ext uri="{BB962C8B-B14F-4D97-AF65-F5344CB8AC3E}">
        <p14:creationId xmlns:p14="http://schemas.microsoft.com/office/powerpoint/2010/main" val="2284238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1590946" y="362936"/>
            <a:ext cx="10402824" cy="825478"/>
          </a:xfrm>
        </p:spPr>
        <p:txBody>
          <a:bodyPr>
            <a:normAutofit/>
          </a:bodyPr>
          <a:lstStyle/>
          <a:p>
            <a:r>
              <a:rPr lang="en-US" sz="2400" b="1" dirty="0"/>
              <a:t>Simulated Hardware and Software for Gene Perturbation Analysis</a:t>
            </a:r>
            <a:endParaRPr lang="en-CA" sz="2400" b="1"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25987" y="4162045"/>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63850" y="1616248"/>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679959"/>
            <a:ext cx="11088620" cy="1433909"/>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Crisper Knockout</a:t>
            </a:r>
            <a:endParaRPr lang="en-CA" b="1" dirty="0"/>
          </a:p>
        </p:txBody>
      </p:sp>
    </p:spTree>
    <p:extLst>
      <p:ext uri="{BB962C8B-B14F-4D97-AF65-F5344CB8AC3E}">
        <p14:creationId xmlns:p14="http://schemas.microsoft.com/office/powerpoint/2010/main" val="20991271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 (Single Perturbation)</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613351" y="396005"/>
            <a:ext cx="3748338" cy="678224"/>
          </a:xfrm>
        </p:spPr>
        <p:txBody>
          <a:bodyPr>
            <a:normAutofit/>
          </a:bodyPr>
          <a:lstStyle/>
          <a:p>
            <a:r>
              <a:rPr lang="en-US" sz="2400" b="1" dirty="0"/>
              <a:t>RNA Dataset Description</a:t>
            </a:r>
            <a:endParaRPr lang="en-CA" sz="2400" b="1"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a:xfrm>
            <a:off x="838200" y="402576"/>
            <a:ext cx="3536852" cy="556921"/>
          </a:xfrm>
        </p:spPr>
        <p:txBody>
          <a:bodyPr>
            <a:normAutofit/>
          </a:bodyPr>
          <a:lstStyle/>
          <a:p>
            <a:r>
              <a:rPr lang="en-US" sz="2400" b="1" dirty="0"/>
              <a:t>Code Link</a:t>
            </a:r>
            <a:endParaRPr lang="en-CA" sz="2400" b="1"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70508" y="173145"/>
            <a:ext cx="9258530" cy="842063"/>
          </a:xfrm>
        </p:spPr>
        <p:txBody>
          <a:bodyPr vert="horz" lIns="91440" tIns="45720" rIns="91440" bIns="45720" rtlCol="0" anchor="ctr">
            <a:normAutofit/>
          </a:bodyPr>
          <a:lstStyle/>
          <a:p>
            <a:r>
              <a:rPr lang="en-US" sz="2400" b="1" kern="1200" dirty="0">
                <a:solidFill>
                  <a:schemeClr val="tx1"/>
                </a:solidFill>
                <a:latin typeface="+mj-lt"/>
                <a:ea typeface="+mj-ea"/>
                <a:cs typeface="+mj-cs"/>
              </a:rPr>
              <a:t>Results(Control sample/Perturbed sample)</a:t>
            </a:r>
          </a:p>
        </p:txBody>
      </p:sp>
      <p:sp>
        <p:nvSpPr>
          <p:cNvPr id="4" name="TextBox 3">
            <a:extLst>
              <a:ext uri="{FF2B5EF4-FFF2-40B4-BE49-F238E27FC236}">
                <a16:creationId xmlns:a16="http://schemas.microsoft.com/office/drawing/2014/main" id="{F1BB7669-37AA-B4A5-7FA5-BA63F2687B15}"/>
              </a:ext>
            </a:extLst>
          </p:cNvPr>
          <p:cNvSpPr txBox="1"/>
          <p:nvPr/>
        </p:nvSpPr>
        <p:spPr>
          <a:xfrm>
            <a:off x="218113" y="5614068"/>
            <a:ext cx="5848318" cy="1169551"/>
          </a:xfrm>
          <a:prstGeom prst="rect">
            <a:avLst/>
          </a:prstGeom>
          <a:noFill/>
        </p:spPr>
        <p:txBody>
          <a:bodyPr wrap="square" rtlCol="0">
            <a:spAutoFit/>
          </a:bodyPr>
          <a:lstStyle/>
          <a:p>
            <a:r>
              <a:rPr lang="en-US" sz="1400" dirty="0"/>
              <a:t>CTRL: Control Sample</a:t>
            </a:r>
          </a:p>
          <a:p>
            <a:r>
              <a:rPr lang="en-US" sz="1400" dirty="0"/>
              <a:t>PTPN2: Perturb Sample</a:t>
            </a:r>
          </a:p>
          <a:p>
            <a:r>
              <a:rPr lang="en-US" sz="1400" dirty="0"/>
              <a:t>Trust region policy optimization</a:t>
            </a:r>
          </a:p>
          <a:p>
            <a:r>
              <a:rPr lang="en-US" sz="1400" dirty="0"/>
              <a:t>PPO: Proximal policy  optimization</a:t>
            </a:r>
          </a:p>
          <a:p>
            <a:r>
              <a:rPr lang="en-CA" sz="1400" dirty="0"/>
              <a:t>Prediction HORIZON    = 1  </a:t>
            </a:r>
          </a:p>
        </p:txBody>
      </p:sp>
      <p:graphicFrame>
        <p:nvGraphicFramePr>
          <p:cNvPr id="5" name="Table 4">
            <a:extLst>
              <a:ext uri="{FF2B5EF4-FFF2-40B4-BE49-F238E27FC236}">
                <a16:creationId xmlns:a16="http://schemas.microsoft.com/office/drawing/2014/main" id="{6244324C-C7D1-8E75-7007-FBA45CAAC7FB}"/>
              </a:ext>
            </a:extLst>
          </p:cNvPr>
          <p:cNvGraphicFramePr>
            <a:graphicFrameLocks noGrp="1"/>
          </p:cNvGraphicFramePr>
          <p:nvPr>
            <p:extLst>
              <p:ext uri="{D42A27DB-BD31-4B8C-83A1-F6EECF244321}">
                <p14:modId xmlns:p14="http://schemas.microsoft.com/office/powerpoint/2010/main" val="612837851"/>
              </p:ext>
            </p:extLst>
          </p:nvPr>
        </p:nvGraphicFramePr>
        <p:xfrm>
          <a:off x="883456" y="1188352"/>
          <a:ext cx="10425086" cy="4351335"/>
        </p:xfrm>
        <a:graphic>
          <a:graphicData uri="http://schemas.openxmlformats.org/drawingml/2006/table">
            <a:tbl>
              <a:tblPr/>
              <a:tblGrid>
                <a:gridCol w="1489298">
                  <a:extLst>
                    <a:ext uri="{9D8B030D-6E8A-4147-A177-3AD203B41FA5}">
                      <a16:colId xmlns:a16="http://schemas.microsoft.com/office/drawing/2014/main" val="257090424"/>
                    </a:ext>
                  </a:extLst>
                </a:gridCol>
                <a:gridCol w="1489298">
                  <a:extLst>
                    <a:ext uri="{9D8B030D-6E8A-4147-A177-3AD203B41FA5}">
                      <a16:colId xmlns:a16="http://schemas.microsoft.com/office/drawing/2014/main" val="3346602704"/>
                    </a:ext>
                  </a:extLst>
                </a:gridCol>
                <a:gridCol w="1489298">
                  <a:extLst>
                    <a:ext uri="{9D8B030D-6E8A-4147-A177-3AD203B41FA5}">
                      <a16:colId xmlns:a16="http://schemas.microsoft.com/office/drawing/2014/main" val="801850568"/>
                    </a:ext>
                  </a:extLst>
                </a:gridCol>
                <a:gridCol w="1489298">
                  <a:extLst>
                    <a:ext uri="{9D8B030D-6E8A-4147-A177-3AD203B41FA5}">
                      <a16:colId xmlns:a16="http://schemas.microsoft.com/office/drawing/2014/main" val="2831654327"/>
                    </a:ext>
                  </a:extLst>
                </a:gridCol>
                <a:gridCol w="1489298">
                  <a:extLst>
                    <a:ext uri="{9D8B030D-6E8A-4147-A177-3AD203B41FA5}">
                      <a16:colId xmlns:a16="http://schemas.microsoft.com/office/drawing/2014/main" val="2731428822"/>
                    </a:ext>
                  </a:extLst>
                </a:gridCol>
                <a:gridCol w="1489298">
                  <a:extLst>
                    <a:ext uri="{9D8B030D-6E8A-4147-A177-3AD203B41FA5}">
                      <a16:colId xmlns:a16="http://schemas.microsoft.com/office/drawing/2014/main" val="4085199551"/>
                    </a:ext>
                  </a:extLst>
                </a:gridCol>
                <a:gridCol w="1489298">
                  <a:extLst>
                    <a:ext uri="{9D8B030D-6E8A-4147-A177-3AD203B41FA5}">
                      <a16:colId xmlns:a16="http://schemas.microsoft.com/office/drawing/2014/main" val="4067453655"/>
                    </a:ext>
                  </a:extLst>
                </a:gridCol>
              </a:tblGrid>
              <a:tr h="362611">
                <a:tc>
                  <a:txBody>
                    <a:bodyPr/>
                    <a:lstStyle/>
                    <a:p>
                      <a:pPr>
                        <a:buNone/>
                      </a:pPr>
                      <a:r>
                        <a:rPr lang="en-CA" sz="1200" dirty="0"/>
                        <a:t>System</a:t>
                      </a:r>
                    </a:p>
                  </a:txBody>
                  <a:tcPr marL="90653" marR="90653" marT="45326" marB="45326" anchor="ctr">
                    <a:lnL>
                      <a:noFill/>
                    </a:lnL>
                    <a:lnR>
                      <a:noFill/>
                    </a:lnR>
                    <a:lnT>
                      <a:noFill/>
                    </a:lnT>
                    <a:lnB>
                      <a:noFill/>
                    </a:lnB>
                    <a:noFill/>
                  </a:tcPr>
                </a:tc>
                <a:tc>
                  <a:txBody>
                    <a:bodyPr/>
                    <a:lstStyle/>
                    <a:p>
                      <a:pPr>
                        <a:buNone/>
                      </a:pPr>
                      <a:r>
                        <a:rPr lang="en-CA" sz="1200"/>
                        <a:t>Algorithm</a:t>
                      </a:r>
                    </a:p>
                  </a:txBody>
                  <a:tcPr marL="90653" marR="90653" marT="45326" marB="45326" anchor="ctr">
                    <a:lnL>
                      <a:noFill/>
                    </a:lnL>
                    <a:lnR>
                      <a:noFill/>
                    </a:lnR>
                    <a:lnT>
                      <a:noFill/>
                    </a:lnT>
                    <a:lnB>
                      <a:noFill/>
                    </a:lnB>
                    <a:noFill/>
                  </a:tcPr>
                </a:tc>
                <a:tc>
                  <a:txBody>
                    <a:bodyPr/>
                    <a:lstStyle/>
                    <a:p>
                      <a:pPr>
                        <a:buNone/>
                      </a:pPr>
                      <a:r>
                        <a:rPr lang="en-CA" sz="1200"/>
                        <a:t>MSE</a:t>
                      </a:r>
                    </a:p>
                  </a:txBody>
                  <a:tcPr marL="90653" marR="90653" marT="45326" marB="45326" anchor="ctr">
                    <a:lnL>
                      <a:noFill/>
                    </a:lnL>
                    <a:lnR>
                      <a:noFill/>
                    </a:lnR>
                    <a:lnT>
                      <a:noFill/>
                    </a:lnT>
                    <a:lnB>
                      <a:noFill/>
                    </a:lnB>
                    <a:noFill/>
                  </a:tcPr>
                </a:tc>
                <a:tc>
                  <a:txBody>
                    <a:bodyPr/>
                    <a:lstStyle/>
                    <a:p>
                      <a:pPr>
                        <a:buNone/>
                      </a:pPr>
                      <a:r>
                        <a:rPr lang="en-CA" sz="1200"/>
                        <a:t>RMSE</a:t>
                      </a:r>
                    </a:p>
                  </a:txBody>
                  <a:tcPr marL="90653" marR="90653" marT="45326" marB="45326" anchor="ctr">
                    <a:lnL>
                      <a:noFill/>
                    </a:lnL>
                    <a:lnR>
                      <a:noFill/>
                    </a:lnR>
                    <a:lnT>
                      <a:noFill/>
                    </a:lnT>
                    <a:lnB>
                      <a:noFill/>
                    </a:lnB>
                    <a:noFill/>
                  </a:tcPr>
                </a:tc>
                <a:tc>
                  <a:txBody>
                    <a:bodyPr/>
                    <a:lstStyle/>
                    <a:p>
                      <a:pPr>
                        <a:buNone/>
                      </a:pPr>
                      <a:r>
                        <a:rPr lang="en-CA" sz="1200"/>
                        <a:t>MAE</a:t>
                      </a:r>
                    </a:p>
                  </a:txBody>
                  <a:tcPr marL="90653" marR="90653" marT="45326" marB="45326" anchor="ctr">
                    <a:lnL>
                      <a:noFill/>
                    </a:lnL>
                    <a:lnR>
                      <a:noFill/>
                    </a:lnR>
                    <a:lnT>
                      <a:noFill/>
                    </a:lnT>
                    <a:lnB>
                      <a:noFill/>
                    </a:lnB>
                    <a:noFill/>
                  </a:tcPr>
                </a:tc>
                <a:tc>
                  <a:txBody>
                    <a:bodyPr/>
                    <a:lstStyle/>
                    <a:p>
                      <a:pPr>
                        <a:buNone/>
                      </a:pPr>
                      <a:r>
                        <a:rPr lang="en-CA" sz="1200"/>
                        <a:t>R²</a:t>
                      </a:r>
                    </a:p>
                  </a:txBody>
                  <a:tcPr marL="90653" marR="90653" marT="45326" marB="45326" anchor="ctr">
                    <a:lnL>
                      <a:noFill/>
                    </a:lnL>
                    <a:lnR>
                      <a:noFill/>
                    </a:lnR>
                    <a:lnT>
                      <a:noFill/>
                    </a:lnT>
                    <a:lnB>
                      <a:noFill/>
                    </a:lnB>
                    <a:noFill/>
                  </a:tcPr>
                </a:tc>
                <a:tc>
                  <a:txBody>
                    <a:bodyPr/>
                    <a:lstStyle/>
                    <a:p>
                      <a:pPr>
                        <a:buNone/>
                      </a:pPr>
                      <a:r>
                        <a:rPr lang="en-CA" sz="12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2439124447"/>
                  </a:ext>
                </a:extLst>
              </a:tr>
              <a:tr h="362611">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PPO (Test)</a:t>
                      </a:r>
                    </a:p>
                  </a:txBody>
                  <a:tcPr marL="90653" marR="90653" marT="45326" marB="45326" anchor="ctr">
                    <a:lnL>
                      <a:noFill/>
                    </a:lnL>
                    <a:lnR>
                      <a:noFill/>
                    </a:lnR>
                    <a:lnT>
                      <a:noFill/>
                    </a:lnT>
                    <a:lnB>
                      <a:noFill/>
                    </a:lnB>
                    <a:noFill/>
                  </a:tcPr>
                </a:tc>
                <a:tc>
                  <a:txBody>
                    <a:bodyPr/>
                    <a:lstStyle/>
                    <a:p>
                      <a:pPr>
                        <a:buNone/>
                      </a:pPr>
                      <a:r>
                        <a:rPr lang="en-CA" sz="1200"/>
                        <a:t>0.138</a:t>
                      </a:r>
                    </a:p>
                  </a:txBody>
                  <a:tcPr marL="90653" marR="90653" marT="45326" marB="45326" anchor="ctr">
                    <a:lnL>
                      <a:noFill/>
                    </a:lnL>
                    <a:lnR>
                      <a:noFill/>
                    </a:lnR>
                    <a:lnT>
                      <a:noFill/>
                    </a:lnT>
                    <a:lnB>
                      <a:noFill/>
                    </a:lnB>
                    <a:noFill/>
                  </a:tcPr>
                </a:tc>
                <a:tc>
                  <a:txBody>
                    <a:bodyPr/>
                    <a:lstStyle/>
                    <a:p>
                      <a:pPr>
                        <a:buNone/>
                      </a:pPr>
                      <a:r>
                        <a:rPr lang="en-CA" sz="1200"/>
                        <a:t>0.371</a:t>
                      </a:r>
                    </a:p>
                  </a:txBody>
                  <a:tcPr marL="90653" marR="90653" marT="45326" marB="45326" anchor="ctr">
                    <a:lnL>
                      <a:noFill/>
                    </a:lnL>
                    <a:lnR>
                      <a:noFill/>
                    </a:lnR>
                    <a:lnT>
                      <a:noFill/>
                    </a:lnT>
                    <a:lnB>
                      <a:noFill/>
                    </a:lnB>
                    <a:noFill/>
                  </a:tcPr>
                </a:tc>
                <a:tc>
                  <a:txBody>
                    <a:bodyPr/>
                    <a:lstStyle/>
                    <a:p>
                      <a:pPr>
                        <a:buNone/>
                      </a:pPr>
                      <a:r>
                        <a:rPr lang="en-CA" sz="1200"/>
                        <a:t>0.360</a:t>
                      </a:r>
                    </a:p>
                  </a:txBody>
                  <a:tcPr marL="90653" marR="90653" marT="45326" marB="45326" anchor="ctr">
                    <a:lnL>
                      <a:noFill/>
                    </a:lnL>
                    <a:lnR>
                      <a:noFill/>
                    </a:lnR>
                    <a:lnT>
                      <a:noFill/>
                    </a:lnT>
                    <a:lnB>
                      <a:noFill/>
                    </a:lnB>
                    <a:noFill/>
                  </a:tcPr>
                </a:tc>
                <a:tc>
                  <a:txBody>
                    <a:bodyPr/>
                    <a:lstStyle/>
                    <a:p>
                      <a:pPr>
                        <a:buNone/>
                      </a:pPr>
                      <a:r>
                        <a:rPr lang="en-CA" sz="1200"/>
                        <a:t>0.865</a:t>
                      </a:r>
                    </a:p>
                  </a:txBody>
                  <a:tcPr marL="90653" marR="90653" marT="45326" marB="45326" anchor="ctr">
                    <a:lnL>
                      <a:noFill/>
                    </a:lnL>
                    <a:lnR>
                      <a:noFill/>
                    </a:lnR>
                    <a:lnT>
                      <a:noFill/>
                    </a:lnT>
                    <a:lnB>
                      <a:noFill/>
                    </a:lnB>
                    <a:noFill/>
                  </a:tcPr>
                </a:tc>
                <a:tc>
                  <a:txBody>
                    <a:bodyPr/>
                    <a:lstStyle/>
                    <a:p>
                      <a:pPr>
                        <a:buNone/>
                      </a:pPr>
                      <a:r>
                        <a:rPr lang="en-CA" sz="1200"/>
                        <a:t>0.993</a:t>
                      </a:r>
                    </a:p>
                  </a:txBody>
                  <a:tcPr marL="90653" marR="90653" marT="45326" marB="45326" anchor="ctr">
                    <a:lnL>
                      <a:noFill/>
                    </a:lnL>
                    <a:lnR>
                      <a:noFill/>
                    </a:lnR>
                    <a:lnT>
                      <a:noFill/>
                    </a:lnT>
                    <a:lnB>
                      <a:noFill/>
                    </a:lnB>
                    <a:noFill/>
                  </a:tcPr>
                </a:tc>
                <a:extLst>
                  <a:ext uri="{0D108BD9-81ED-4DB2-BD59-A6C34878D82A}">
                    <a16:rowId xmlns:a16="http://schemas.microsoft.com/office/drawing/2014/main" val="2569451864"/>
                  </a:ext>
                </a:extLst>
              </a:tr>
              <a:tr h="362611">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PPO (Train)</a:t>
                      </a:r>
                    </a:p>
                  </a:txBody>
                  <a:tcPr marL="90653" marR="90653" marT="45326" marB="45326" anchor="ctr">
                    <a:lnL>
                      <a:noFill/>
                    </a:lnL>
                    <a:lnR>
                      <a:noFill/>
                    </a:lnR>
                    <a:lnT>
                      <a:noFill/>
                    </a:lnT>
                    <a:lnB>
                      <a:noFill/>
                    </a:lnB>
                    <a:noFill/>
                  </a:tcPr>
                </a:tc>
                <a:tc>
                  <a:txBody>
                    <a:bodyPr/>
                    <a:lstStyle/>
                    <a:p>
                      <a:pPr>
                        <a:buNone/>
                      </a:pPr>
                      <a:r>
                        <a:rPr lang="en-CA" sz="1200"/>
                        <a:t>0.139</a:t>
                      </a:r>
                    </a:p>
                  </a:txBody>
                  <a:tcPr marL="90653" marR="90653" marT="45326" marB="45326" anchor="ctr">
                    <a:lnL>
                      <a:noFill/>
                    </a:lnL>
                    <a:lnR>
                      <a:noFill/>
                    </a:lnR>
                    <a:lnT>
                      <a:noFill/>
                    </a:lnT>
                    <a:lnB>
                      <a:noFill/>
                    </a:lnB>
                    <a:noFill/>
                  </a:tcPr>
                </a:tc>
                <a:tc>
                  <a:txBody>
                    <a:bodyPr/>
                    <a:lstStyle/>
                    <a:p>
                      <a:pPr>
                        <a:buNone/>
                      </a:pPr>
                      <a:r>
                        <a:rPr lang="en-CA" sz="1200"/>
                        <a:t>0.372</a:t>
                      </a:r>
                    </a:p>
                  </a:txBody>
                  <a:tcPr marL="90653" marR="90653" marT="45326" marB="45326" anchor="ctr">
                    <a:lnL>
                      <a:noFill/>
                    </a:lnL>
                    <a:lnR>
                      <a:noFill/>
                    </a:lnR>
                    <a:lnT>
                      <a:noFill/>
                    </a:lnT>
                    <a:lnB>
                      <a:noFill/>
                    </a:lnB>
                    <a:noFill/>
                  </a:tcPr>
                </a:tc>
                <a:tc>
                  <a:txBody>
                    <a:bodyPr/>
                    <a:lstStyle/>
                    <a:p>
                      <a:pPr>
                        <a:buNone/>
                      </a:pPr>
                      <a:r>
                        <a:rPr lang="en-CA" sz="1200"/>
                        <a:t>0.361</a:t>
                      </a:r>
                    </a:p>
                  </a:txBody>
                  <a:tcPr marL="90653" marR="90653" marT="45326" marB="45326" anchor="ctr">
                    <a:lnL>
                      <a:noFill/>
                    </a:lnL>
                    <a:lnR>
                      <a:noFill/>
                    </a:lnR>
                    <a:lnT>
                      <a:noFill/>
                    </a:lnT>
                    <a:lnB>
                      <a:noFill/>
                    </a:lnB>
                    <a:noFill/>
                  </a:tcPr>
                </a:tc>
                <a:tc>
                  <a:txBody>
                    <a:bodyPr/>
                    <a:lstStyle/>
                    <a:p>
                      <a:pPr>
                        <a:buNone/>
                      </a:pPr>
                      <a:r>
                        <a:rPr lang="en-CA" sz="1200"/>
                        <a:t>0.860</a:t>
                      </a:r>
                    </a:p>
                  </a:txBody>
                  <a:tcPr marL="90653" marR="90653" marT="45326" marB="45326" anchor="ctr">
                    <a:lnL>
                      <a:noFill/>
                    </a:lnL>
                    <a:lnR>
                      <a:noFill/>
                    </a:lnR>
                    <a:lnT>
                      <a:noFill/>
                    </a:lnT>
                    <a:lnB>
                      <a:noFill/>
                    </a:lnB>
                    <a:noFill/>
                  </a:tcPr>
                </a:tc>
                <a:tc>
                  <a:txBody>
                    <a:bodyPr/>
                    <a:lstStyle/>
                    <a:p>
                      <a:pPr>
                        <a:buNone/>
                      </a:pPr>
                      <a:r>
                        <a:rPr lang="en-CA" sz="1200"/>
                        <a:t>0.993</a:t>
                      </a:r>
                    </a:p>
                  </a:txBody>
                  <a:tcPr marL="90653" marR="90653" marT="45326" marB="45326" anchor="ctr">
                    <a:lnL>
                      <a:noFill/>
                    </a:lnL>
                    <a:lnR>
                      <a:noFill/>
                    </a:lnR>
                    <a:lnT>
                      <a:noFill/>
                    </a:lnT>
                    <a:lnB>
                      <a:noFill/>
                    </a:lnB>
                    <a:noFill/>
                  </a:tcPr>
                </a:tc>
                <a:extLst>
                  <a:ext uri="{0D108BD9-81ED-4DB2-BD59-A6C34878D82A}">
                    <a16:rowId xmlns:a16="http://schemas.microsoft.com/office/drawing/2014/main" val="2590472158"/>
                  </a:ext>
                </a:extLst>
              </a:tr>
              <a:tr h="634570">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TRPO→PPO (Test)</a:t>
                      </a:r>
                    </a:p>
                  </a:txBody>
                  <a:tcPr marL="90653" marR="90653" marT="45326" marB="45326" anchor="ctr">
                    <a:lnL>
                      <a:noFill/>
                    </a:lnL>
                    <a:lnR>
                      <a:noFill/>
                    </a:lnR>
                    <a:lnT>
                      <a:noFill/>
                    </a:lnT>
                    <a:lnB>
                      <a:noFill/>
                    </a:lnB>
                    <a:noFill/>
                  </a:tcPr>
                </a:tc>
                <a:tc>
                  <a:txBody>
                    <a:bodyPr/>
                    <a:lstStyle/>
                    <a:p>
                      <a:pPr>
                        <a:buNone/>
                      </a:pPr>
                      <a:r>
                        <a:rPr lang="en-CA" sz="1200"/>
                        <a:t>0.002</a:t>
                      </a:r>
                    </a:p>
                  </a:txBody>
                  <a:tcPr marL="90653" marR="90653" marT="45326" marB="45326" anchor="ctr">
                    <a:lnL>
                      <a:noFill/>
                    </a:lnL>
                    <a:lnR>
                      <a:noFill/>
                    </a:lnR>
                    <a:lnT>
                      <a:noFill/>
                    </a:lnT>
                    <a:lnB>
                      <a:noFill/>
                    </a:lnB>
                    <a:noFill/>
                  </a:tcPr>
                </a:tc>
                <a:tc>
                  <a:txBody>
                    <a:bodyPr/>
                    <a:lstStyle/>
                    <a:p>
                      <a:pPr>
                        <a:buNone/>
                      </a:pPr>
                      <a:r>
                        <a:rPr lang="en-CA" sz="1200"/>
                        <a:t>0.042</a:t>
                      </a:r>
                    </a:p>
                  </a:txBody>
                  <a:tcPr marL="90653" marR="90653" marT="45326" marB="45326" anchor="ctr">
                    <a:lnL>
                      <a:noFill/>
                    </a:lnL>
                    <a:lnR>
                      <a:noFill/>
                    </a:lnR>
                    <a:lnT>
                      <a:noFill/>
                    </a:lnT>
                    <a:lnB>
                      <a:noFill/>
                    </a:lnB>
                    <a:noFill/>
                  </a:tcPr>
                </a:tc>
                <a:tc>
                  <a:txBody>
                    <a:bodyPr/>
                    <a:lstStyle/>
                    <a:p>
                      <a:pPr>
                        <a:buNone/>
                      </a:pPr>
                      <a:r>
                        <a:rPr lang="en-CA" sz="1200"/>
                        <a:t>0.034</a:t>
                      </a:r>
                    </a:p>
                  </a:txBody>
                  <a:tcPr marL="90653" marR="90653" marT="45326" marB="45326" anchor="ctr">
                    <a:lnL>
                      <a:noFill/>
                    </a:lnL>
                    <a:lnR>
                      <a:noFill/>
                    </a:lnR>
                    <a:lnT>
                      <a:noFill/>
                    </a:lnT>
                    <a:lnB>
                      <a:noFill/>
                    </a:lnB>
                    <a:noFill/>
                  </a:tcPr>
                </a:tc>
                <a:tc>
                  <a:txBody>
                    <a:bodyPr/>
                    <a:lstStyle/>
                    <a:p>
                      <a:pPr>
                        <a:buNone/>
                      </a:pPr>
                      <a:r>
                        <a:rPr lang="en-CA" sz="1200"/>
                        <a:t>0.998</a:t>
                      </a:r>
                    </a:p>
                  </a:txBody>
                  <a:tcPr marL="90653" marR="90653" marT="45326" marB="45326" anchor="ctr">
                    <a:lnL>
                      <a:noFill/>
                    </a:lnL>
                    <a:lnR>
                      <a:noFill/>
                    </a:lnR>
                    <a:lnT>
                      <a:noFill/>
                    </a:lnT>
                    <a:lnB>
                      <a:noFill/>
                    </a:lnB>
                    <a:noFill/>
                  </a:tcPr>
                </a:tc>
                <a:tc>
                  <a:txBody>
                    <a:bodyPr/>
                    <a:lstStyle/>
                    <a:p>
                      <a:pPr>
                        <a:buNone/>
                      </a:pPr>
                      <a:r>
                        <a:rPr lang="en-CA" sz="1200"/>
                        <a:t>0.999</a:t>
                      </a:r>
                    </a:p>
                  </a:txBody>
                  <a:tcPr marL="90653" marR="90653" marT="45326" marB="45326" anchor="ctr">
                    <a:lnL>
                      <a:noFill/>
                    </a:lnL>
                    <a:lnR>
                      <a:noFill/>
                    </a:lnR>
                    <a:lnT>
                      <a:noFill/>
                    </a:lnT>
                    <a:lnB>
                      <a:noFill/>
                    </a:lnB>
                    <a:noFill/>
                  </a:tcPr>
                </a:tc>
                <a:extLst>
                  <a:ext uri="{0D108BD9-81ED-4DB2-BD59-A6C34878D82A}">
                    <a16:rowId xmlns:a16="http://schemas.microsoft.com/office/drawing/2014/main" val="2158012375"/>
                  </a:ext>
                </a:extLst>
              </a:tr>
              <a:tr h="634570">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TRPO→PPO (Train)</a:t>
                      </a:r>
                    </a:p>
                  </a:txBody>
                  <a:tcPr marL="90653" marR="90653" marT="45326" marB="45326" anchor="ctr">
                    <a:lnL>
                      <a:noFill/>
                    </a:lnL>
                    <a:lnR>
                      <a:noFill/>
                    </a:lnR>
                    <a:lnT>
                      <a:noFill/>
                    </a:lnT>
                    <a:lnB>
                      <a:noFill/>
                    </a:lnB>
                    <a:noFill/>
                  </a:tcPr>
                </a:tc>
                <a:tc>
                  <a:txBody>
                    <a:bodyPr/>
                    <a:lstStyle/>
                    <a:p>
                      <a:pPr>
                        <a:buNone/>
                      </a:pPr>
                      <a:r>
                        <a:rPr lang="en-CA" sz="1200"/>
                        <a:t>0.002</a:t>
                      </a:r>
                    </a:p>
                  </a:txBody>
                  <a:tcPr marL="90653" marR="90653" marT="45326" marB="45326" anchor="ctr">
                    <a:lnL>
                      <a:noFill/>
                    </a:lnL>
                    <a:lnR>
                      <a:noFill/>
                    </a:lnR>
                    <a:lnT>
                      <a:noFill/>
                    </a:lnT>
                    <a:lnB>
                      <a:noFill/>
                    </a:lnB>
                    <a:noFill/>
                  </a:tcPr>
                </a:tc>
                <a:tc>
                  <a:txBody>
                    <a:bodyPr/>
                    <a:lstStyle/>
                    <a:p>
                      <a:pPr>
                        <a:buNone/>
                      </a:pPr>
                      <a:r>
                        <a:rPr lang="en-CA" sz="1200"/>
                        <a:t>0.042</a:t>
                      </a:r>
                    </a:p>
                  </a:txBody>
                  <a:tcPr marL="90653" marR="90653" marT="45326" marB="45326" anchor="ctr">
                    <a:lnL>
                      <a:noFill/>
                    </a:lnL>
                    <a:lnR>
                      <a:noFill/>
                    </a:lnR>
                    <a:lnT>
                      <a:noFill/>
                    </a:lnT>
                    <a:lnB>
                      <a:noFill/>
                    </a:lnB>
                    <a:noFill/>
                  </a:tcPr>
                </a:tc>
                <a:tc>
                  <a:txBody>
                    <a:bodyPr/>
                    <a:lstStyle/>
                    <a:p>
                      <a:pPr>
                        <a:buNone/>
                      </a:pPr>
                      <a:r>
                        <a:rPr lang="en-CA" sz="1200"/>
                        <a:t>0.034</a:t>
                      </a:r>
                    </a:p>
                  </a:txBody>
                  <a:tcPr marL="90653" marR="90653" marT="45326" marB="45326" anchor="ctr">
                    <a:lnL>
                      <a:noFill/>
                    </a:lnL>
                    <a:lnR>
                      <a:noFill/>
                    </a:lnR>
                    <a:lnT>
                      <a:noFill/>
                    </a:lnT>
                    <a:lnB>
                      <a:noFill/>
                    </a:lnB>
                    <a:noFill/>
                  </a:tcPr>
                </a:tc>
                <a:tc>
                  <a:txBody>
                    <a:bodyPr/>
                    <a:lstStyle/>
                    <a:p>
                      <a:pPr>
                        <a:buNone/>
                      </a:pPr>
                      <a:r>
                        <a:rPr lang="en-CA" sz="1200"/>
                        <a:t>0.998</a:t>
                      </a:r>
                    </a:p>
                  </a:txBody>
                  <a:tcPr marL="90653" marR="90653" marT="45326" marB="45326" anchor="ctr">
                    <a:lnL>
                      <a:noFill/>
                    </a:lnL>
                    <a:lnR>
                      <a:noFill/>
                    </a:lnR>
                    <a:lnT>
                      <a:noFill/>
                    </a:lnT>
                    <a:lnB>
                      <a:noFill/>
                    </a:lnB>
                    <a:noFill/>
                  </a:tcPr>
                </a:tc>
                <a:tc>
                  <a:txBody>
                    <a:bodyPr/>
                    <a:lstStyle/>
                    <a:p>
                      <a:pPr>
                        <a:buNone/>
                      </a:pPr>
                      <a:r>
                        <a:rPr lang="en-CA" sz="1200"/>
                        <a:t>0.999</a:t>
                      </a:r>
                    </a:p>
                  </a:txBody>
                  <a:tcPr marL="90653" marR="90653" marT="45326" marB="45326" anchor="ctr">
                    <a:lnL>
                      <a:noFill/>
                    </a:lnL>
                    <a:lnR>
                      <a:noFill/>
                    </a:lnR>
                    <a:lnT>
                      <a:noFill/>
                    </a:lnT>
                    <a:lnB>
                      <a:noFill/>
                    </a:lnB>
                    <a:noFill/>
                  </a:tcPr>
                </a:tc>
                <a:extLst>
                  <a:ext uri="{0D108BD9-81ED-4DB2-BD59-A6C34878D82A}">
                    <a16:rowId xmlns:a16="http://schemas.microsoft.com/office/drawing/2014/main" val="445757522"/>
                  </a:ext>
                </a:extLst>
              </a:tr>
              <a:tr h="362611">
                <a:tc>
                  <a:txBody>
                    <a:bodyPr/>
                    <a:lstStyle/>
                    <a:p>
                      <a:pPr>
                        <a:buNone/>
                      </a:pPr>
                      <a:r>
                        <a:rPr lang="en-CA" sz="1200" dirty="0"/>
                        <a:t>PTPN2</a:t>
                      </a:r>
                    </a:p>
                  </a:txBody>
                  <a:tcPr marL="90653" marR="90653" marT="45326" marB="45326" anchor="ctr">
                    <a:lnL>
                      <a:noFill/>
                    </a:lnL>
                    <a:lnR>
                      <a:noFill/>
                    </a:lnR>
                    <a:lnT>
                      <a:noFill/>
                    </a:lnT>
                    <a:lnB>
                      <a:noFill/>
                    </a:lnB>
                    <a:noFill/>
                  </a:tcPr>
                </a:tc>
                <a:tc>
                  <a:txBody>
                    <a:bodyPr/>
                    <a:lstStyle/>
                    <a:p>
                      <a:pPr>
                        <a:buNone/>
                      </a:pPr>
                      <a:r>
                        <a:rPr lang="en-CA" sz="1200"/>
                        <a:t>PPO (Test)</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993833400"/>
                  </a:ext>
                </a:extLst>
              </a:tr>
              <a:tr h="362611">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a:t>PPO (Train)</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18092011"/>
                  </a:ext>
                </a:extLst>
              </a:tr>
              <a:tr h="634570">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a:t>TRPO→PPO (Test)</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2631687750"/>
                  </a:ext>
                </a:extLst>
              </a:tr>
              <a:tr h="634570">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dirty="0"/>
                        <a:t>TRPO→PPO (Train)</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581330692"/>
                  </a:ext>
                </a:extLst>
              </a:tr>
            </a:tbl>
          </a:graphicData>
        </a:graphic>
      </p:graphicFrame>
    </p:spTree>
    <p:extLst>
      <p:ext uri="{BB962C8B-B14F-4D97-AF65-F5344CB8AC3E}">
        <p14:creationId xmlns:p14="http://schemas.microsoft.com/office/powerpoint/2010/main" val="16738869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b="1" dirty="0"/>
              <a:t>Results(Insights)</a:t>
            </a:r>
            <a:endParaRPr lang="en-CA" sz="2400" b="1"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comparable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5122" name="Picture 2">
            <a:extLst>
              <a:ext uri="{FF2B5EF4-FFF2-40B4-BE49-F238E27FC236}">
                <a16:creationId xmlns:a16="http://schemas.microsoft.com/office/drawing/2014/main" id="{08B76761-AE24-3939-18CF-2CA349BDA7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5938" y="1571625"/>
            <a:ext cx="8620125" cy="3714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530757"/>
          </a:xfrm>
        </p:spPr>
        <p:txBody>
          <a:bodyPr>
            <a:normAutofit/>
          </a:bodyPr>
          <a:lstStyle/>
          <a:p>
            <a:r>
              <a:rPr lang="en-US" sz="2400" b="1" dirty="0"/>
              <a:t>Results(Trajectories Comparision hardware and Software)</a:t>
            </a:r>
            <a:endParaRPr lang="en-CA" sz="2400" b="1"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6" name="Table 5">
            <a:extLst>
              <a:ext uri="{FF2B5EF4-FFF2-40B4-BE49-F238E27FC236}">
                <a16:creationId xmlns:a16="http://schemas.microsoft.com/office/drawing/2014/main" id="{35A9D0B9-1A51-6321-AC0D-E90EB1C7577F}"/>
              </a:ext>
            </a:extLst>
          </p:cNvPr>
          <p:cNvGraphicFramePr>
            <a:graphicFrameLocks noGrp="1"/>
          </p:cNvGraphicFramePr>
          <p:nvPr>
            <p:extLst>
              <p:ext uri="{D42A27DB-BD31-4B8C-83A1-F6EECF244321}">
                <p14:modId xmlns:p14="http://schemas.microsoft.com/office/powerpoint/2010/main" val="2464292590"/>
              </p:ext>
            </p:extLst>
          </p:nvPr>
        </p:nvGraphicFramePr>
        <p:xfrm>
          <a:off x="1003173" y="1162050"/>
          <a:ext cx="10515600" cy="1828800"/>
        </p:xfrm>
        <a:graphic>
          <a:graphicData uri="http://schemas.openxmlformats.org/drawingml/2006/table">
            <a:tbl>
              <a:tblPr/>
              <a:tblGrid>
                <a:gridCol w="2628900">
                  <a:extLst>
                    <a:ext uri="{9D8B030D-6E8A-4147-A177-3AD203B41FA5}">
                      <a16:colId xmlns:a16="http://schemas.microsoft.com/office/drawing/2014/main" val="2201055357"/>
                    </a:ext>
                  </a:extLst>
                </a:gridCol>
                <a:gridCol w="2628900">
                  <a:extLst>
                    <a:ext uri="{9D8B030D-6E8A-4147-A177-3AD203B41FA5}">
                      <a16:colId xmlns:a16="http://schemas.microsoft.com/office/drawing/2014/main" val="1576787890"/>
                    </a:ext>
                  </a:extLst>
                </a:gridCol>
                <a:gridCol w="2628900">
                  <a:extLst>
                    <a:ext uri="{9D8B030D-6E8A-4147-A177-3AD203B41FA5}">
                      <a16:colId xmlns:a16="http://schemas.microsoft.com/office/drawing/2014/main" val="2002103820"/>
                    </a:ext>
                  </a:extLst>
                </a:gridCol>
                <a:gridCol w="2628900">
                  <a:extLst>
                    <a:ext uri="{9D8B030D-6E8A-4147-A177-3AD203B41FA5}">
                      <a16:colId xmlns:a16="http://schemas.microsoft.com/office/drawing/2014/main" val="843929939"/>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dirty="0"/>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1377964396"/>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0.935</a:t>
                      </a:r>
                    </a:p>
                  </a:txBody>
                  <a:tcPr anchor="ctr">
                    <a:lnL>
                      <a:noFill/>
                    </a:lnL>
                    <a:lnR>
                      <a:noFill/>
                    </a:lnR>
                    <a:lnT>
                      <a:noFill/>
                    </a:lnT>
                    <a:lnB>
                      <a:noFill/>
                    </a:lnB>
                    <a:noFill/>
                  </a:tcPr>
                </a:tc>
                <a:tc>
                  <a:txBody>
                    <a:bodyPr/>
                    <a:lstStyle/>
                    <a:p>
                      <a:pPr>
                        <a:buNone/>
                      </a:pPr>
                      <a:r>
                        <a:rPr lang="en-CA"/>
                        <a:t>0.362</a:t>
                      </a:r>
                    </a:p>
                  </a:txBody>
                  <a:tcPr anchor="ctr">
                    <a:lnL>
                      <a:noFill/>
                    </a:lnL>
                    <a:lnR>
                      <a:noFill/>
                    </a:lnR>
                    <a:lnT>
                      <a:noFill/>
                    </a:lnT>
                    <a:lnB>
                      <a:noFill/>
                    </a:lnB>
                    <a:noFill/>
                  </a:tcPr>
                </a:tc>
                <a:extLst>
                  <a:ext uri="{0D108BD9-81ED-4DB2-BD59-A6C34878D82A}">
                    <a16:rowId xmlns:a16="http://schemas.microsoft.com/office/drawing/2014/main" val="1471995102"/>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0.872</a:t>
                      </a:r>
                    </a:p>
                  </a:txBody>
                  <a:tcPr anchor="ctr">
                    <a:lnL>
                      <a:noFill/>
                    </a:lnL>
                    <a:lnR>
                      <a:noFill/>
                    </a:lnR>
                    <a:lnT>
                      <a:noFill/>
                    </a:lnT>
                    <a:lnB>
                      <a:noFill/>
                    </a:lnB>
                    <a:noFill/>
                  </a:tcPr>
                </a:tc>
                <a:tc>
                  <a:txBody>
                    <a:bodyPr/>
                    <a:lstStyle/>
                    <a:p>
                      <a:pPr>
                        <a:buNone/>
                      </a:pPr>
                      <a:r>
                        <a:rPr lang="en-CA"/>
                        <a:t>0.432</a:t>
                      </a:r>
                    </a:p>
                  </a:txBody>
                  <a:tcPr anchor="ctr">
                    <a:lnL>
                      <a:noFill/>
                    </a:lnL>
                    <a:lnR>
                      <a:noFill/>
                    </a:lnR>
                    <a:lnT>
                      <a:noFill/>
                    </a:lnT>
                    <a:lnB>
                      <a:noFill/>
                    </a:lnB>
                    <a:noFill/>
                  </a:tcPr>
                </a:tc>
                <a:extLst>
                  <a:ext uri="{0D108BD9-81ED-4DB2-BD59-A6C34878D82A}">
                    <a16:rowId xmlns:a16="http://schemas.microsoft.com/office/drawing/2014/main" val="2052915524"/>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0.961</a:t>
                      </a:r>
                    </a:p>
                  </a:txBody>
                  <a:tcPr anchor="ctr">
                    <a:lnL>
                      <a:noFill/>
                    </a:lnL>
                    <a:lnR>
                      <a:noFill/>
                    </a:lnR>
                    <a:lnT>
                      <a:noFill/>
                    </a:lnT>
                    <a:lnB>
                      <a:noFill/>
                    </a:lnB>
                    <a:noFill/>
                  </a:tcPr>
                </a:tc>
                <a:tc>
                  <a:txBody>
                    <a:bodyPr/>
                    <a:lstStyle/>
                    <a:p>
                      <a:pPr>
                        <a:buNone/>
                      </a:pPr>
                      <a:r>
                        <a:rPr lang="en-CA"/>
                        <a:t>0.480</a:t>
                      </a:r>
                    </a:p>
                  </a:txBody>
                  <a:tcPr anchor="ctr">
                    <a:lnL>
                      <a:noFill/>
                    </a:lnL>
                    <a:lnR>
                      <a:noFill/>
                    </a:lnR>
                    <a:lnT>
                      <a:noFill/>
                    </a:lnT>
                    <a:lnB>
                      <a:noFill/>
                    </a:lnB>
                    <a:noFill/>
                  </a:tcPr>
                </a:tc>
                <a:extLst>
                  <a:ext uri="{0D108BD9-81ED-4DB2-BD59-A6C34878D82A}">
                    <a16:rowId xmlns:a16="http://schemas.microsoft.com/office/drawing/2014/main" val="21795726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1.180</a:t>
                      </a:r>
                    </a:p>
                  </a:txBody>
                  <a:tcPr anchor="ctr">
                    <a:lnL>
                      <a:noFill/>
                    </a:lnL>
                    <a:lnR>
                      <a:noFill/>
                    </a:lnR>
                    <a:lnT>
                      <a:noFill/>
                    </a:lnT>
                    <a:lnB>
                      <a:noFill/>
                    </a:lnB>
                    <a:noFill/>
                  </a:tcPr>
                </a:tc>
                <a:tc>
                  <a:txBody>
                    <a:bodyPr/>
                    <a:lstStyle/>
                    <a:p>
                      <a:pPr>
                        <a:buNone/>
                      </a:pPr>
                      <a:r>
                        <a:rPr lang="en-CA" dirty="0"/>
                        <a:t>0.590</a:t>
                      </a:r>
                    </a:p>
                  </a:txBody>
                  <a:tcPr anchor="ctr">
                    <a:lnL>
                      <a:noFill/>
                    </a:lnL>
                    <a:lnR>
                      <a:noFill/>
                    </a:lnR>
                    <a:lnT>
                      <a:noFill/>
                    </a:lnT>
                    <a:lnB>
                      <a:noFill/>
                    </a:lnB>
                    <a:noFill/>
                  </a:tcPr>
                </a:tc>
                <a:extLst>
                  <a:ext uri="{0D108BD9-81ED-4DB2-BD59-A6C34878D82A}">
                    <a16:rowId xmlns:a16="http://schemas.microsoft.com/office/drawing/2014/main" val="579702080"/>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b="1" dirty="0"/>
              <a:t>Results</a:t>
            </a:r>
            <a:endParaRPr lang="en-CA" sz="2400" b="1" dirty="0"/>
          </a:p>
        </p:txBody>
      </p:sp>
      <p:pic>
        <p:nvPicPr>
          <p:cNvPr id="6146" name="Picture 2">
            <a:extLst>
              <a:ext uri="{FF2B5EF4-FFF2-40B4-BE49-F238E27FC236}">
                <a16:creationId xmlns:a16="http://schemas.microsoft.com/office/drawing/2014/main" id="{B43FEB0E-E105-2866-3B9E-46F4185567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37581" y="1504950"/>
            <a:ext cx="7716837" cy="4895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Drug Development</a:t>
            </a:r>
            <a:endParaRPr lang="en-CA" b="1" dirty="0"/>
          </a:p>
        </p:txBody>
      </p:sp>
    </p:spTree>
    <p:extLst>
      <p:ext uri="{BB962C8B-B14F-4D97-AF65-F5344CB8AC3E}">
        <p14:creationId xmlns:p14="http://schemas.microsoft.com/office/powerpoint/2010/main" val="34126545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7864-FC9E-5CFD-BA24-56E200960EEE}"/>
              </a:ext>
            </a:extLst>
          </p:cNvPr>
          <p:cNvSpPr>
            <a:spLocks noGrp="1"/>
          </p:cNvSpPr>
          <p:nvPr>
            <p:ph type="title"/>
          </p:nvPr>
        </p:nvSpPr>
        <p:spPr>
          <a:xfrm>
            <a:off x="838200" y="529717"/>
            <a:ext cx="10046208" cy="649859"/>
          </a:xfrm>
        </p:spPr>
        <p:txBody>
          <a:bodyPr>
            <a:normAutofit/>
          </a:bodyPr>
          <a:lstStyle/>
          <a:p>
            <a:r>
              <a:rPr lang="en-US" sz="2400" b="1" dirty="0"/>
              <a:t>Dataset and Link to Evaluation Code</a:t>
            </a:r>
            <a:endParaRPr lang="en-CA" sz="2400" b="1" dirty="0"/>
          </a:p>
        </p:txBody>
      </p:sp>
      <p:sp>
        <p:nvSpPr>
          <p:cNvPr id="3" name="Content Placeholder 2">
            <a:extLst>
              <a:ext uri="{FF2B5EF4-FFF2-40B4-BE49-F238E27FC236}">
                <a16:creationId xmlns:a16="http://schemas.microsoft.com/office/drawing/2014/main" id="{AB8F849B-AD7A-66D7-5D1B-9202504483FC}"/>
              </a:ext>
            </a:extLst>
          </p:cNvPr>
          <p:cNvSpPr>
            <a:spLocks noGrp="1"/>
          </p:cNvSpPr>
          <p:nvPr>
            <p:ph idx="1"/>
          </p:nvPr>
        </p:nvSpPr>
        <p:spPr>
          <a:xfrm>
            <a:off x="902208" y="1505585"/>
            <a:ext cx="10515600" cy="4351338"/>
          </a:xfrm>
        </p:spPr>
        <p:txBody>
          <a:bodyPr>
            <a:normAutofit/>
          </a:bodyPr>
          <a:lstStyle/>
          <a:p>
            <a:r>
              <a:rPr lang="en-CA" sz="1600" b="1" dirty="0"/>
              <a:t>Drug treatment in Mouse (Double Perturbation)</a:t>
            </a:r>
          </a:p>
          <a:p>
            <a:endParaRPr lang="en-CA" sz="1600" dirty="0"/>
          </a:p>
          <a:p>
            <a:r>
              <a:rPr lang="en-CA" sz="1600" dirty="0"/>
              <a:t>Anti–PD-1 → blocks PD-1/PD-L1 suppressive axis</a:t>
            </a:r>
          </a:p>
          <a:p>
            <a:endParaRPr lang="en-CA" sz="1600" dirty="0"/>
          </a:p>
          <a:p>
            <a:r>
              <a:rPr lang="en-CA" sz="1600" dirty="0"/>
              <a:t>Anti–CTLA-4 → blocks regulatory checkpoints &amp; enhances T cell priming</a:t>
            </a:r>
          </a:p>
          <a:p>
            <a:endParaRPr lang="en-CA" sz="1600" dirty="0"/>
          </a:p>
          <a:p>
            <a:r>
              <a:rPr lang="en-CA" sz="1600" dirty="0"/>
              <a:t>Link to Code: </a:t>
            </a:r>
            <a:r>
              <a:rPr lang="en-CA" sz="1600" u="sng" dirty="0">
                <a:hlinkClick r:id="rId2"/>
              </a:rPr>
              <a:t>https://colab.research.google.com/drive/1UoPEKODPjZeQ2BuGoC5iFKkUqwlj3bkm?usp=sharing</a:t>
            </a:r>
            <a:endParaRPr lang="en-CA" sz="1600" u="sng" dirty="0"/>
          </a:p>
          <a:p>
            <a:endParaRPr lang="en-CA" sz="1600" dirty="0"/>
          </a:p>
          <a:p>
            <a:pPr marL="0" indent="0">
              <a:buNone/>
            </a:pPr>
            <a:r>
              <a:rPr lang="en-CA" sz="1600" dirty="0"/>
              <a:t>Dataset</a:t>
            </a:r>
          </a:p>
          <a:p>
            <a:r>
              <a:rPr lang="en-CA" sz="1600" b="1" u="sng" dirty="0">
                <a:hlinkClick r:id="rId3"/>
              </a:rPr>
              <a:t>https://www.ncbi.nlm.nih.gov/geo/query/acc.cgi?acc=GSE119352</a:t>
            </a:r>
            <a:endParaRPr lang="en-CA" sz="1600" dirty="0"/>
          </a:p>
          <a:p>
            <a:endParaRPr lang="en-CA" sz="1600" dirty="0"/>
          </a:p>
        </p:txBody>
      </p:sp>
    </p:spTree>
    <p:extLst>
      <p:ext uri="{BB962C8B-B14F-4D97-AF65-F5344CB8AC3E}">
        <p14:creationId xmlns:p14="http://schemas.microsoft.com/office/powerpoint/2010/main" val="18557032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80CC-FA33-8E34-AEE0-0BCF28AD8183}"/>
              </a:ext>
            </a:extLst>
          </p:cNvPr>
          <p:cNvSpPr>
            <a:spLocks noGrp="1"/>
          </p:cNvSpPr>
          <p:nvPr>
            <p:ph type="title"/>
          </p:nvPr>
        </p:nvSpPr>
        <p:spPr>
          <a:xfrm>
            <a:off x="915902" y="210381"/>
            <a:ext cx="10515600" cy="1325563"/>
          </a:xfrm>
        </p:spPr>
        <p:txBody>
          <a:bodyPr>
            <a:normAutofit/>
          </a:bodyPr>
          <a:lstStyle/>
          <a:p>
            <a:r>
              <a:rPr lang="en-US" sz="2400" b="1" dirty="0"/>
              <a:t>Results</a:t>
            </a:r>
            <a:endParaRPr lang="en-CA" sz="2400" b="1" dirty="0"/>
          </a:p>
        </p:txBody>
      </p:sp>
      <p:pic>
        <p:nvPicPr>
          <p:cNvPr id="1026" name="Picture 2">
            <a:extLst>
              <a:ext uri="{FF2B5EF4-FFF2-40B4-BE49-F238E27FC236}">
                <a16:creationId xmlns:a16="http://schemas.microsoft.com/office/drawing/2014/main" id="{E34576B2-0A76-798B-527F-74160E3B59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3639" y="1849610"/>
            <a:ext cx="8464721" cy="45729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46472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ED77D-B13D-C708-4A40-03ED96CC862E}"/>
              </a:ext>
            </a:extLst>
          </p:cNvPr>
          <p:cNvSpPr>
            <a:spLocks noGrp="1"/>
          </p:cNvSpPr>
          <p:nvPr>
            <p:ph type="title"/>
          </p:nvPr>
        </p:nvSpPr>
        <p:spPr/>
        <p:txBody>
          <a:bodyPr>
            <a:normAutofit/>
          </a:bodyPr>
          <a:lstStyle/>
          <a:p>
            <a:r>
              <a:rPr lang="en-US" sz="2400" b="1" dirty="0"/>
              <a:t>Results</a:t>
            </a:r>
            <a:endParaRPr lang="en-CA" sz="2400" b="1" dirty="0"/>
          </a:p>
        </p:txBody>
      </p:sp>
      <p:graphicFrame>
        <p:nvGraphicFramePr>
          <p:cNvPr id="4" name="Table 3">
            <a:extLst>
              <a:ext uri="{FF2B5EF4-FFF2-40B4-BE49-F238E27FC236}">
                <a16:creationId xmlns:a16="http://schemas.microsoft.com/office/drawing/2014/main" id="{E9D5AA26-372F-D8BB-8B43-A049C84137F1}"/>
              </a:ext>
            </a:extLst>
          </p:cNvPr>
          <p:cNvGraphicFramePr>
            <a:graphicFrameLocks noGrp="1"/>
          </p:cNvGraphicFramePr>
          <p:nvPr>
            <p:extLst>
              <p:ext uri="{D42A27DB-BD31-4B8C-83A1-F6EECF244321}">
                <p14:modId xmlns:p14="http://schemas.microsoft.com/office/powerpoint/2010/main" val="417492942"/>
              </p:ext>
            </p:extLst>
          </p:nvPr>
        </p:nvGraphicFramePr>
        <p:xfrm>
          <a:off x="542778" y="2017749"/>
          <a:ext cx="10515600" cy="1828800"/>
        </p:xfrm>
        <a:graphic>
          <a:graphicData uri="http://schemas.openxmlformats.org/drawingml/2006/table">
            <a:tbl>
              <a:tblPr/>
              <a:tblGrid>
                <a:gridCol w="2628900">
                  <a:extLst>
                    <a:ext uri="{9D8B030D-6E8A-4147-A177-3AD203B41FA5}">
                      <a16:colId xmlns:a16="http://schemas.microsoft.com/office/drawing/2014/main" val="3048872658"/>
                    </a:ext>
                  </a:extLst>
                </a:gridCol>
                <a:gridCol w="2628900">
                  <a:extLst>
                    <a:ext uri="{9D8B030D-6E8A-4147-A177-3AD203B41FA5}">
                      <a16:colId xmlns:a16="http://schemas.microsoft.com/office/drawing/2014/main" val="933983716"/>
                    </a:ext>
                  </a:extLst>
                </a:gridCol>
                <a:gridCol w="2628900">
                  <a:extLst>
                    <a:ext uri="{9D8B030D-6E8A-4147-A177-3AD203B41FA5}">
                      <a16:colId xmlns:a16="http://schemas.microsoft.com/office/drawing/2014/main" val="1226521377"/>
                    </a:ext>
                  </a:extLst>
                </a:gridCol>
                <a:gridCol w="2628900">
                  <a:extLst>
                    <a:ext uri="{9D8B030D-6E8A-4147-A177-3AD203B41FA5}">
                      <a16:colId xmlns:a16="http://schemas.microsoft.com/office/drawing/2014/main" val="2028874475"/>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2542318273"/>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2.997</a:t>
                      </a:r>
                    </a:p>
                  </a:txBody>
                  <a:tcPr anchor="ctr">
                    <a:lnL>
                      <a:noFill/>
                    </a:lnL>
                    <a:lnR>
                      <a:noFill/>
                    </a:lnR>
                    <a:lnT>
                      <a:noFill/>
                    </a:lnT>
                    <a:lnB>
                      <a:noFill/>
                    </a:lnB>
                    <a:noFill/>
                  </a:tcPr>
                </a:tc>
                <a:tc>
                  <a:txBody>
                    <a:bodyPr/>
                    <a:lstStyle/>
                    <a:p>
                      <a:pPr>
                        <a:buNone/>
                      </a:pPr>
                      <a:r>
                        <a:rPr lang="en-CA"/>
                        <a:t>1.183</a:t>
                      </a:r>
                    </a:p>
                  </a:txBody>
                  <a:tcPr anchor="ctr">
                    <a:lnL>
                      <a:noFill/>
                    </a:lnL>
                    <a:lnR>
                      <a:noFill/>
                    </a:lnR>
                    <a:lnT>
                      <a:noFill/>
                    </a:lnT>
                    <a:lnB>
                      <a:noFill/>
                    </a:lnB>
                    <a:noFill/>
                  </a:tcPr>
                </a:tc>
                <a:extLst>
                  <a:ext uri="{0D108BD9-81ED-4DB2-BD59-A6C34878D82A}">
                    <a16:rowId xmlns:a16="http://schemas.microsoft.com/office/drawing/2014/main" val="242166470"/>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2.721</a:t>
                      </a:r>
                    </a:p>
                  </a:txBody>
                  <a:tcPr anchor="ctr">
                    <a:lnL>
                      <a:noFill/>
                    </a:lnL>
                    <a:lnR>
                      <a:noFill/>
                    </a:lnR>
                    <a:lnT>
                      <a:noFill/>
                    </a:lnT>
                    <a:lnB>
                      <a:noFill/>
                    </a:lnB>
                    <a:noFill/>
                  </a:tcPr>
                </a:tc>
                <a:tc>
                  <a:txBody>
                    <a:bodyPr/>
                    <a:lstStyle/>
                    <a:p>
                      <a:pPr>
                        <a:buNone/>
                      </a:pPr>
                      <a:r>
                        <a:rPr lang="en-CA"/>
                        <a:t>1.277</a:t>
                      </a:r>
                    </a:p>
                  </a:txBody>
                  <a:tcPr anchor="ctr">
                    <a:lnL>
                      <a:noFill/>
                    </a:lnL>
                    <a:lnR>
                      <a:noFill/>
                    </a:lnR>
                    <a:lnT>
                      <a:noFill/>
                    </a:lnT>
                    <a:lnB>
                      <a:noFill/>
                    </a:lnB>
                    <a:noFill/>
                  </a:tcPr>
                </a:tc>
                <a:extLst>
                  <a:ext uri="{0D108BD9-81ED-4DB2-BD59-A6C34878D82A}">
                    <a16:rowId xmlns:a16="http://schemas.microsoft.com/office/drawing/2014/main" val="1024624646"/>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2.209</a:t>
                      </a:r>
                    </a:p>
                  </a:txBody>
                  <a:tcPr anchor="ctr">
                    <a:lnL>
                      <a:noFill/>
                    </a:lnL>
                    <a:lnR>
                      <a:noFill/>
                    </a:lnR>
                    <a:lnT>
                      <a:noFill/>
                    </a:lnT>
                    <a:lnB>
                      <a:noFill/>
                    </a:lnB>
                    <a:noFill/>
                  </a:tcPr>
                </a:tc>
                <a:tc>
                  <a:txBody>
                    <a:bodyPr/>
                    <a:lstStyle/>
                    <a:p>
                      <a:pPr>
                        <a:buNone/>
                      </a:pPr>
                      <a:r>
                        <a:rPr lang="en-CA"/>
                        <a:t>1.105</a:t>
                      </a:r>
                    </a:p>
                  </a:txBody>
                  <a:tcPr anchor="ctr">
                    <a:lnL>
                      <a:noFill/>
                    </a:lnL>
                    <a:lnR>
                      <a:noFill/>
                    </a:lnR>
                    <a:lnT>
                      <a:noFill/>
                    </a:lnT>
                    <a:lnB>
                      <a:noFill/>
                    </a:lnB>
                    <a:noFill/>
                  </a:tcPr>
                </a:tc>
                <a:extLst>
                  <a:ext uri="{0D108BD9-81ED-4DB2-BD59-A6C34878D82A}">
                    <a16:rowId xmlns:a16="http://schemas.microsoft.com/office/drawing/2014/main" val="2069544609"/>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2.204</a:t>
                      </a:r>
                    </a:p>
                  </a:txBody>
                  <a:tcPr anchor="ctr">
                    <a:lnL>
                      <a:noFill/>
                    </a:lnL>
                    <a:lnR>
                      <a:noFill/>
                    </a:lnR>
                    <a:lnT>
                      <a:noFill/>
                    </a:lnT>
                    <a:lnB>
                      <a:noFill/>
                    </a:lnB>
                    <a:noFill/>
                  </a:tcPr>
                </a:tc>
                <a:tc>
                  <a:txBody>
                    <a:bodyPr/>
                    <a:lstStyle/>
                    <a:p>
                      <a:pPr>
                        <a:buNone/>
                      </a:pPr>
                      <a:r>
                        <a:rPr lang="en-CA" dirty="0"/>
                        <a:t>1.102</a:t>
                      </a:r>
                    </a:p>
                  </a:txBody>
                  <a:tcPr anchor="ctr">
                    <a:lnL>
                      <a:noFill/>
                    </a:lnL>
                    <a:lnR>
                      <a:noFill/>
                    </a:lnR>
                    <a:lnT>
                      <a:noFill/>
                    </a:lnT>
                    <a:lnB>
                      <a:noFill/>
                    </a:lnB>
                    <a:noFill/>
                  </a:tcPr>
                </a:tc>
                <a:extLst>
                  <a:ext uri="{0D108BD9-81ED-4DB2-BD59-A6C34878D82A}">
                    <a16:rowId xmlns:a16="http://schemas.microsoft.com/office/drawing/2014/main" val="1952402833"/>
                  </a:ext>
                </a:extLst>
              </a:tr>
            </a:tbl>
          </a:graphicData>
        </a:graphic>
      </p:graphicFrame>
    </p:spTree>
    <p:extLst>
      <p:ext uri="{BB962C8B-B14F-4D97-AF65-F5344CB8AC3E}">
        <p14:creationId xmlns:p14="http://schemas.microsoft.com/office/powerpoint/2010/main" val="10303764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61FC9-AEC9-6EB1-00B9-95B642884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C3D5B3-FA8C-C8B4-ABD3-86F6606B12D2}"/>
              </a:ext>
            </a:extLst>
          </p:cNvPr>
          <p:cNvSpPr>
            <a:spLocks noGrp="1"/>
          </p:cNvSpPr>
          <p:nvPr>
            <p:ph type="title"/>
          </p:nvPr>
        </p:nvSpPr>
        <p:spPr/>
        <p:txBody>
          <a:bodyPr>
            <a:normAutofit/>
          </a:bodyPr>
          <a:lstStyle/>
          <a:p>
            <a:r>
              <a:rPr lang="en-US" sz="2400" b="1"/>
              <a:t>Results</a:t>
            </a:r>
            <a:endParaRPr lang="en-CA" sz="2400" b="1" dirty="0"/>
          </a:p>
        </p:txBody>
      </p:sp>
      <p:graphicFrame>
        <p:nvGraphicFramePr>
          <p:cNvPr id="4" name="Table 3">
            <a:extLst>
              <a:ext uri="{FF2B5EF4-FFF2-40B4-BE49-F238E27FC236}">
                <a16:creationId xmlns:a16="http://schemas.microsoft.com/office/drawing/2014/main" id="{115B2F35-D0EC-CC56-231E-CAC97A2CDC5A}"/>
              </a:ext>
            </a:extLst>
          </p:cNvPr>
          <p:cNvGraphicFramePr>
            <a:graphicFrameLocks noGrp="1"/>
          </p:cNvGraphicFramePr>
          <p:nvPr>
            <p:extLst>
              <p:ext uri="{D42A27DB-BD31-4B8C-83A1-F6EECF244321}">
                <p14:modId xmlns:p14="http://schemas.microsoft.com/office/powerpoint/2010/main" val="588015297"/>
              </p:ext>
            </p:extLst>
          </p:nvPr>
        </p:nvGraphicFramePr>
        <p:xfrm>
          <a:off x="883457" y="1810280"/>
          <a:ext cx="10425086" cy="4382028"/>
        </p:xfrm>
        <a:graphic>
          <a:graphicData uri="http://schemas.openxmlformats.org/drawingml/2006/table">
            <a:tbl>
              <a:tblPr/>
              <a:tblGrid>
                <a:gridCol w="1489298">
                  <a:extLst>
                    <a:ext uri="{9D8B030D-6E8A-4147-A177-3AD203B41FA5}">
                      <a16:colId xmlns:a16="http://schemas.microsoft.com/office/drawing/2014/main" val="691652012"/>
                    </a:ext>
                  </a:extLst>
                </a:gridCol>
                <a:gridCol w="1489298">
                  <a:extLst>
                    <a:ext uri="{9D8B030D-6E8A-4147-A177-3AD203B41FA5}">
                      <a16:colId xmlns:a16="http://schemas.microsoft.com/office/drawing/2014/main" val="3494577412"/>
                    </a:ext>
                  </a:extLst>
                </a:gridCol>
                <a:gridCol w="1489298">
                  <a:extLst>
                    <a:ext uri="{9D8B030D-6E8A-4147-A177-3AD203B41FA5}">
                      <a16:colId xmlns:a16="http://schemas.microsoft.com/office/drawing/2014/main" val="4180678195"/>
                    </a:ext>
                  </a:extLst>
                </a:gridCol>
                <a:gridCol w="1489298">
                  <a:extLst>
                    <a:ext uri="{9D8B030D-6E8A-4147-A177-3AD203B41FA5}">
                      <a16:colId xmlns:a16="http://schemas.microsoft.com/office/drawing/2014/main" val="2974442656"/>
                    </a:ext>
                  </a:extLst>
                </a:gridCol>
                <a:gridCol w="1489298">
                  <a:extLst>
                    <a:ext uri="{9D8B030D-6E8A-4147-A177-3AD203B41FA5}">
                      <a16:colId xmlns:a16="http://schemas.microsoft.com/office/drawing/2014/main" val="297378597"/>
                    </a:ext>
                  </a:extLst>
                </a:gridCol>
                <a:gridCol w="1489298">
                  <a:extLst>
                    <a:ext uri="{9D8B030D-6E8A-4147-A177-3AD203B41FA5}">
                      <a16:colId xmlns:a16="http://schemas.microsoft.com/office/drawing/2014/main" val="3569179526"/>
                    </a:ext>
                  </a:extLst>
                </a:gridCol>
                <a:gridCol w="1489298">
                  <a:extLst>
                    <a:ext uri="{9D8B030D-6E8A-4147-A177-3AD203B41FA5}">
                      <a16:colId xmlns:a16="http://schemas.microsoft.com/office/drawing/2014/main" val="1100507030"/>
                    </a:ext>
                  </a:extLst>
                </a:gridCol>
              </a:tblGrid>
              <a:tr h="362611">
                <a:tc>
                  <a:txBody>
                    <a:bodyPr/>
                    <a:lstStyle/>
                    <a:p>
                      <a:pPr>
                        <a:buNone/>
                      </a:pPr>
                      <a:r>
                        <a:rPr lang="en-CA" sz="1800"/>
                        <a:t>System</a:t>
                      </a:r>
                    </a:p>
                  </a:txBody>
                  <a:tcPr marL="90653" marR="90653" marT="45326" marB="45326" anchor="ctr">
                    <a:lnL>
                      <a:noFill/>
                    </a:lnL>
                    <a:lnR>
                      <a:noFill/>
                    </a:lnR>
                    <a:lnT>
                      <a:noFill/>
                    </a:lnT>
                    <a:lnB>
                      <a:noFill/>
                    </a:lnB>
                    <a:noFill/>
                  </a:tcPr>
                </a:tc>
                <a:tc>
                  <a:txBody>
                    <a:bodyPr/>
                    <a:lstStyle/>
                    <a:p>
                      <a:pPr>
                        <a:buNone/>
                      </a:pPr>
                      <a:r>
                        <a:rPr lang="en-CA" sz="1800"/>
                        <a:t>Algorithm</a:t>
                      </a:r>
                    </a:p>
                  </a:txBody>
                  <a:tcPr marL="90653" marR="90653" marT="45326" marB="45326" anchor="ctr">
                    <a:lnL>
                      <a:noFill/>
                    </a:lnL>
                    <a:lnR>
                      <a:noFill/>
                    </a:lnR>
                    <a:lnT>
                      <a:noFill/>
                    </a:lnT>
                    <a:lnB>
                      <a:noFill/>
                    </a:lnB>
                    <a:noFill/>
                  </a:tcPr>
                </a:tc>
                <a:tc>
                  <a:txBody>
                    <a:bodyPr/>
                    <a:lstStyle/>
                    <a:p>
                      <a:pPr>
                        <a:buNone/>
                      </a:pPr>
                      <a:r>
                        <a:rPr lang="en-CA" sz="1800"/>
                        <a:t>MSE</a:t>
                      </a:r>
                    </a:p>
                  </a:txBody>
                  <a:tcPr marL="90653" marR="90653" marT="45326" marB="45326" anchor="ctr">
                    <a:lnL>
                      <a:noFill/>
                    </a:lnL>
                    <a:lnR>
                      <a:noFill/>
                    </a:lnR>
                    <a:lnT>
                      <a:noFill/>
                    </a:lnT>
                    <a:lnB>
                      <a:noFill/>
                    </a:lnB>
                    <a:noFill/>
                  </a:tcPr>
                </a:tc>
                <a:tc>
                  <a:txBody>
                    <a:bodyPr/>
                    <a:lstStyle/>
                    <a:p>
                      <a:pPr>
                        <a:buNone/>
                      </a:pPr>
                      <a:r>
                        <a:rPr lang="en-CA" sz="1800"/>
                        <a:t>RMSE</a:t>
                      </a:r>
                    </a:p>
                  </a:txBody>
                  <a:tcPr marL="90653" marR="90653" marT="45326" marB="45326" anchor="ctr">
                    <a:lnL>
                      <a:noFill/>
                    </a:lnL>
                    <a:lnR>
                      <a:noFill/>
                    </a:lnR>
                    <a:lnT>
                      <a:noFill/>
                    </a:lnT>
                    <a:lnB>
                      <a:noFill/>
                    </a:lnB>
                    <a:noFill/>
                  </a:tcPr>
                </a:tc>
                <a:tc>
                  <a:txBody>
                    <a:bodyPr/>
                    <a:lstStyle/>
                    <a:p>
                      <a:pPr>
                        <a:buNone/>
                      </a:pPr>
                      <a:r>
                        <a:rPr lang="en-CA" sz="1800"/>
                        <a:t>MAE</a:t>
                      </a:r>
                    </a:p>
                  </a:txBody>
                  <a:tcPr marL="90653" marR="90653" marT="45326" marB="45326" anchor="ctr">
                    <a:lnL>
                      <a:noFill/>
                    </a:lnL>
                    <a:lnR>
                      <a:noFill/>
                    </a:lnR>
                    <a:lnT>
                      <a:noFill/>
                    </a:lnT>
                    <a:lnB>
                      <a:noFill/>
                    </a:lnB>
                    <a:noFill/>
                  </a:tcPr>
                </a:tc>
                <a:tc>
                  <a:txBody>
                    <a:bodyPr/>
                    <a:lstStyle/>
                    <a:p>
                      <a:pPr>
                        <a:buNone/>
                      </a:pPr>
                      <a:r>
                        <a:rPr lang="en-CA" sz="1800"/>
                        <a:t>R²</a:t>
                      </a:r>
                    </a:p>
                  </a:txBody>
                  <a:tcPr marL="90653" marR="90653" marT="45326" marB="45326" anchor="ctr">
                    <a:lnL>
                      <a:noFill/>
                    </a:lnL>
                    <a:lnR>
                      <a:noFill/>
                    </a:lnR>
                    <a:lnT>
                      <a:noFill/>
                    </a:lnT>
                    <a:lnB>
                      <a:noFill/>
                    </a:lnB>
                    <a:noFill/>
                  </a:tcPr>
                </a:tc>
                <a:tc>
                  <a:txBody>
                    <a:bodyPr/>
                    <a:lstStyle/>
                    <a:p>
                      <a:pPr>
                        <a:buNone/>
                      </a:pPr>
                      <a:r>
                        <a:rPr lang="en-CA" sz="18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488586187"/>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1.524</a:t>
                      </a:r>
                    </a:p>
                  </a:txBody>
                  <a:tcPr marL="90653" marR="90653" marT="45326" marB="45326" anchor="ctr">
                    <a:lnL>
                      <a:noFill/>
                    </a:lnL>
                    <a:lnR>
                      <a:noFill/>
                    </a:lnR>
                    <a:lnT>
                      <a:noFill/>
                    </a:lnT>
                    <a:lnB>
                      <a:noFill/>
                    </a:lnB>
                    <a:noFill/>
                  </a:tcPr>
                </a:tc>
                <a:tc>
                  <a:txBody>
                    <a:bodyPr/>
                    <a:lstStyle/>
                    <a:p>
                      <a:pPr>
                        <a:buNone/>
                      </a:pPr>
                      <a:r>
                        <a:rPr lang="en-CA" sz="1800"/>
                        <a:t>1.205</a:t>
                      </a:r>
                    </a:p>
                  </a:txBody>
                  <a:tcPr marL="90653" marR="90653" marT="45326" marB="45326" anchor="ctr">
                    <a:lnL>
                      <a:noFill/>
                    </a:lnL>
                    <a:lnR>
                      <a:noFill/>
                    </a:lnR>
                    <a:lnT>
                      <a:noFill/>
                    </a:lnT>
                    <a:lnB>
                      <a:noFill/>
                    </a:lnB>
                    <a:noFill/>
                  </a:tcPr>
                </a:tc>
                <a:tc>
                  <a:txBody>
                    <a:bodyPr/>
                    <a:lstStyle/>
                    <a:p>
                      <a:pPr>
                        <a:buNone/>
                      </a:pPr>
                      <a:r>
                        <a:rPr lang="en-CA" sz="1800"/>
                        <a:t>1.118</a:t>
                      </a:r>
                    </a:p>
                  </a:txBody>
                  <a:tcPr marL="90653" marR="90653" marT="45326" marB="45326" anchor="ctr">
                    <a:lnL>
                      <a:noFill/>
                    </a:lnL>
                    <a:lnR>
                      <a:noFill/>
                    </a:lnR>
                    <a:lnT>
                      <a:noFill/>
                    </a:lnT>
                    <a:lnB>
                      <a:noFill/>
                    </a:lnB>
                    <a:noFill/>
                  </a:tcPr>
                </a:tc>
                <a:tc>
                  <a:txBody>
                    <a:bodyPr/>
                    <a:lstStyle/>
                    <a:p>
                      <a:pPr>
                        <a:buNone/>
                      </a:pPr>
                      <a:r>
                        <a:rPr lang="en-CA" sz="1800"/>
                        <a:t>0.351</a:t>
                      </a:r>
                    </a:p>
                  </a:txBody>
                  <a:tcPr marL="90653" marR="90653" marT="45326" marB="45326" anchor="ctr">
                    <a:lnL>
                      <a:noFill/>
                    </a:lnL>
                    <a:lnR>
                      <a:noFill/>
                    </a:lnR>
                    <a:lnT>
                      <a:noFill/>
                    </a:lnT>
                    <a:lnB>
                      <a:noFill/>
                    </a:lnB>
                    <a:noFill/>
                  </a:tcPr>
                </a:tc>
                <a:tc>
                  <a:txBody>
                    <a:bodyPr/>
                    <a:lstStyle/>
                    <a:p>
                      <a:pPr>
                        <a:buNone/>
                      </a:pPr>
                      <a:r>
                        <a:rPr lang="en-CA" sz="1800"/>
                        <a:t>0.950</a:t>
                      </a:r>
                    </a:p>
                  </a:txBody>
                  <a:tcPr marL="90653" marR="90653" marT="45326" marB="45326" anchor="ctr">
                    <a:lnL>
                      <a:noFill/>
                    </a:lnL>
                    <a:lnR>
                      <a:noFill/>
                    </a:lnR>
                    <a:lnT>
                      <a:noFill/>
                    </a:lnT>
                    <a:lnB>
                      <a:noFill/>
                    </a:lnB>
                    <a:noFill/>
                  </a:tcPr>
                </a:tc>
                <a:extLst>
                  <a:ext uri="{0D108BD9-81ED-4DB2-BD59-A6C34878D82A}">
                    <a16:rowId xmlns:a16="http://schemas.microsoft.com/office/drawing/2014/main" val="2309450861"/>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1.528</a:t>
                      </a:r>
                    </a:p>
                  </a:txBody>
                  <a:tcPr marL="90653" marR="90653" marT="45326" marB="45326" anchor="ctr">
                    <a:lnL>
                      <a:noFill/>
                    </a:lnL>
                    <a:lnR>
                      <a:noFill/>
                    </a:lnR>
                    <a:lnT>
                      <a:noFill/>
                    </a:lnT>
                    <a:lnB>
                      <a:noFill/>
                    </a:lnB>
                    <a:noFill/>
                  </a:tcPr>
                </a:tc>
                <a:tc>
                  <a:txBody>
                    <a:bodyPr/>
                    <a:lstStyle/>
                    <a:p>
                      <a:pPr>
                        <a:buNone/>
                      </a:pPr>
                      <a:r>
                        <a:rPr lang="en-CA" sz="1800"/>
                        <a:t>1.207</a:t>
                      </a:r>
                    </a:p>
                  </a:txBody>
                  <a:tcPr marL="90653" marR="90653" marT="45326" marB="45326" anchor="ctr">
                    <a:lnL>
                      <a:noFill/>
                    </a:lnL>
                    <a:lnR>
                      <a:noFill/>
                    </a:lnR>
                    <a:lnT>
                      <a:noFill/>
                    </a:lnT>
                    <a:lnB>
                      <a:noFill/>
                    </a:lnB>
                    <a:noFill/>
                  </a:tcPr>
                </a:tc>
                <a:tc>
                  <a:txBody>
                    <a:bodyPr/>
                    <a:lstStyle/>
                    <a:p>
                      <a:pPr>
                        <a:buNone/>
                      </a:pPr>
                      <a:r>
                        <a:rPr lang="en-CA" sz="1800"/>
                        <a:t>1.121</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0.949</a:t>
                      </a:r>
                    </a:p>
                  </a:txBody>
                  <a:tcPr marL="90653" marR="90653" marT="45326" marB="45326" anchor="ctr">
                    <a:lnL>
                      <a:noFill/>
                    </a:lnL>
                    <a:lnR>
                      <a:noFill/>
                    </a:lnR>
                    <a:lnT>
                      <a:noFill/>
                    </a:lnT>
                    <a:lnB>
                      <a:noFill/>
                    </a:lnB>
                    <a:noFill/>
                  </a:tcPr>
                </a:tc>
                <a:extLst>
                  <a:ext uri="{0D108BD9-81ED-4DB2-BD59-A6C34878D82A}">
                    <a16:rowId xmlns:a16="http://schemas.microsoft.com/office/drawing/2014/main" val="3722683695"/>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0.162</a:t>
                      </a:r>
                    </a:p>
                  </a:txBody>
                  <a:tcPr marL="90653" marR="90653" marT="45326" marB="45326" anchor="ctr">
                    <a:lnL>
                      <a:noFill/>
                    </a:lnL>
                    <a:lnR>
                      <a:noFill/>
                    </a:lnR>
                    <a:lnT>
                      <a:noFill/>
                    </a:lnT>
                    <a:lnB>
                      <a:noFill/>
                    </a:lnB>
                    <a:noFill/>
                  </a:tcPr>
                </a:tc>
                <a:tc>
                  <a:txBody>
                    <a:bodyPr/>
                    <a:lstStyle/>
                    <a:p>
                      <a:pPr>
                        <a:buNone/>
                      </a:pPr>
                      <a:r>
                        <a:rPr lang="en-CA" sz="1800"/>
                        <a:t>0.373</a:t>
                      </a:r>
                    </a:p>
                  </a:txBody>
                  <a:tcPr marL="90653" marR="90653" marT="45326" marB="45326" anchor="ctr">
                    <a:lnL>
                      <a:noFill/>
                    </a:lnL>
                    <a:lnR>
                      <a:noFill/>
                    </a:lnR>
                    <a:lnT>
                      <a:noFill/>
                    </a:lnT>
                    <a:lnB>
                      <a:noFill/>
                    </a:lnB>
                    <a:noFill/>
                  </a:tcPr>
                </a:tc>
                <a:tc>
                  <a:txBody>
                    <a:bodyPr/>
                    <a:lstStyle/>
                    <a:p>
                      <a:pPr>
                        <a:buNone/>
                      </a:pPr>
                      <a:r>
                        <a:rPr lang="en-CA" sz="1800"/>
                        <a:t>0.322</a:t>
                      </a:r>
                    </a:p>
                  </a:txBody>
                  <a:tcPr marL="90653" marR="90653" marT="45326" marB="45326" anchor="ctr">
                    <a:lnL>
                      <a:noFill/>
                    </a:lnL>
                    <a:lnR>
                      <a:noFill/>
                    </a:lnR>
                    <a:lnT>
                      <a:noFill/>
                    </a:lnT>
                    <a:lnB>
                      <a:noFill/>
                    </a:lnB>
                    <a:noFill/>
                  </a:tcPr>
                </a:tc>
                <a:tc>
                  <a:txBody>
                    <a:bodyPr/>
                    <a:lstStyle/>
                    <a:p>
                      <a:pPr>
                        <a:buNone/>
                      </a:pPr>
                      <a:r>
                        <a:rPr lang="en-CA" sz="1800"/>
                        <a:t>0.937</a:t>
                      </a:r>
                    </a:p>
                  </a:txBody>
                  <a:tcPr marL="90653" marR="90653" marT="45326" marB="45326" anchor="ctr">
                    <a:lnL>
                      <a:noFill/>
                    </a:lnL>
                    <a:lnR>
                      <a:noFill/>
                    </a:lnR>
                    <a:lnT>
                      <a:noFill/>
                    </a:lnT>
                    <a:lnB>
                      <a:noFill/>
                    </a:lnB>
                    <a:noFill/>
                  </a:tcPr>
                </a:tc>
                <a:tc>
                  <a:txBody>
                    <a:bodyPr/>
                    <a:lstStyle/>
                    <a:p>
                      <a:pPr>
                        <a:buNone/>
                      </a:pPr>
                      <a:r>
                        <a:rPr lang="en-CA" sz="1800"/>
                        <a:t>0.988</a:t>
                      </a:r>
                    </a:p>
                  </a:txBody>
                  <a:tcPr marL="90653" marR="90653" marT="45326" marB="45326" anchor="ctr">
                    <a:lnL>
                      <a:noFill/>
                    </a:lnL>
                    <a:lnR>
                      <a:noFill/>
                    </a:lnR>
                    <a:lnT>
                      <a:noFill/>
                    </a:lnT>
                    <a:lnB>
                      <a:noFill/>
                    </a:lnB>
                    <a:noFill/>
                  </a:tcPr>
                </a:tc>
                <a:extLst>
                  <a:ext uri="{0D108BD9-81ED-4DB2-BD59-A6C34878D82A}">
                    <a16:rowId xmlns:a16="http://schemas.microsoft.com/office/drawing/2014/main" val="1855217704"/>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0.167</a:t>
                      </a:r>
                    </a:p>
                  </a:txBody>
                  <a:tcPr marL="90653" marR="90653" marT="45326" marB="45326" anchor="ctr">
                    <a:lnL>
                      <a:noFill/>
                    </a:lnL>
                    <a:lnR>
                      <a:noFill/>
                    </a:lnR>
                    <a:lnT>
                      <a:noFill/>
                    </a:lnT>
                    <a:lnB>
                      <a:noFill/>
                    </a:lnB>
                    <a:noFill/>
                  </a:tcPr>
                </a:tc>
                <a:tc>
                  <a:txBody>
                    <a:bodyPr/>
                    <a:lstStyle/>
                    <a:p>
                      <a:pPr>
                        <a:buNone/>
                      </a:pPr>
                      <a:r>
                        <a:rPr lang="en-CA" sz="1800"/>
                        <a:t>0.379</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0.930</a:t>
                      </a:r>
                    </a:p>
                  </a:txBody>
                  <a:tcPr marL="90653" marR="90653" marT="45326" marB="45326" anchor="ctr">
                    <a:lnL>
                      <a:noFill/>
                    </a:lnL>
                    <a:lnR>
                      <a:noFill/>
                    </a:lnR>
                    <a:lnT>
                      <a:noFill/>
                    </a:lnT>
                    <a:lnB>
                      <a:noFill/>
                    </a:lnB>
                    <a:noFill/>
                  </a:tcPr>
                </a:tc>
                <a:tc>
                  <a:txBody>
                    <a:bodyPr/>
                    <a:lstStyle/>
                    <a:p>
                      <a:pPr>
                        <a:buNone/>
                      </a:pPr>
                      <a:r>
                        <a:rPr lang="en-CA" sz="1800"/>
                        <a:t>0.986</a:t>
                      </a:r>
                    </a:p>
                  </a:txBody>
                  <a:tcPr marL="90653" marR="90653" marT="45326" marB="45326" anchor="ctr">
                    <a:lnL>
                      <a:noFill/>
                    </a:lnL>
                    <a:lnR>
                      <a:noFill/>
                    </a:lnR>
                    <a:lnT>
                      <a:noFill/>
                    </a:lnT>
                    <a:lnB>
                      <a:noFill/>
                    </a:lnB>
                    <a:noFill/>
                  </a:tcPr>
                </a:tc>
                <a:extLst>
                  <a:ext uri="{0D108BD9-81ED-4DB2-BD59-A6C34878D82A}">
                    <a16:rowId xmlns:a16="http://schemas.microsoft.com/office/drawing/2014/main" val="1700657450"/>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031135242"/>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802902718"/>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61667456"/>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3527228105"/>
                  </a:ext>
                </a:extLst>
              </a:tr>
            </a:tbl>
          </a:graphicData>
        </a:graphic>
      </p:graphicFrame>
    </p:spTree>
    <p:extLst>
      <p:ext uri="{BB962C8B-B14F-4D97-AF65-F5344CB8AC3E}">
        <p14:creationId xmlns:p14="http://schemas.microsoft.com/office/powerpoint/2010/main" val="18210267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379E1-E4B9-D067-BB57-5A8FAA198733}"/>
              </a:ext>
            </a:extLst>
          </p:cNvPr>
          <p:cNvSpPr>
            <a:spLocks noGrp="1"/>
          </p:cNvSpPr>
          <p:nvPr>
            <p:ph type="title"/>
          </p:nvPr>
        </p:nvSpPr>
        <p:spPr/>
        <p:txBody>
          <a:bodyPr>
            <a:normAutofit/>
          </a:bodyPr>
          <a:lstStyle/>
          <a:p>
            <a:r>
              <a:rPr lang="en-US" sz="2400" b="1" dirty="0"/>
              <a:t>Results</a:t>
            </a:r>
            <a:endParaRPr lang="en-CA" sz="2400" b="1" dirty="0"/>
          </a:p>
        </p:txBody>
      </p:sp>
      <p:pic>
        <p:nvPicPr>
          <p:cNvPr id="2050" name="Picture 2">
            <a:extLst>
              <a:ext uri="{FF2B5EF4-FFF2-40B4-BE49-F238E27FC236}">
                <a16:creationId xmlns:a16="http://schemas.microsoft.com/office/drawing/2014/main" id="{D823702F-4671-44B4-696B-17AD4C31B2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1063" y="1490662"/>
            <a:ext cx="7716837" cy="49006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70048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7E5A5-573C-90CA-E5BB-90053B8FC229}"/>
              </a:ext>
            </a:extLst>
          </p:cNvPr>
          <p:cNvSpPr>
            <a:spLocks noGrp="1"/>
          </p:cNvSpPr>
          <p:nvPr>
            <p:ph type="title"/>
          </p:nvPr>
        </p:nvSpPr>
        <p:spPr/>
        <p:txBody>
          <a:bodyPr>
            <a:normAutofit/>
          </a:bodyPr>
          <a:lstStyle/>
          <a:p>
            <a:r>
              <a:rPr lang="en-US" sz="2400" b="1" dirty="0"/>
              <a:t>Future Work</a:t>
            </a:r>
            <a:endParaRPr lang="en-CA" sz="2400" b="1" dirty="0"/>
          </a:p>
        </p:txBody>
      </p:sp>
      <p:sp>
        <p:nvSpPr>
          <p:cNvPr id="9" name="Rectangle 4">
            <a:extLst>
              <a:ext uri="{FF2B5EF4-FFF2-40B4-BE49-F238E27FC236}">
                <a16:creationId xmlns:a16="http://schemas.microsoft.com/office/drawing/2014/main" id="{5981393E-4D40-A183-4702-E36306975BAF}"/>
              </a:ext>
            </a:extLst>
          </p:cNvPr>
          <p:cNvSpPr>
            <a:spLocks noGrp="1" noChangeArrowheads="1"/>
          </p:cNvSpPr>
          <p:nvPr>
            <p:ph idx="1"/>
          </p:nvPr>
        </p:nvSpPr>
        <p:spPr bwMode="auto">
          <a:xfrm>
            <a:off x="527305" y="1379855"/>
            <a:ext cx="1020775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Overfitting control</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Develop robust strategies to detect and mitigate overfitting between training and evaluation models.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Selection of top genes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Systematically identify the optimal number of top genes(expressive genes) that maximizes predictive performance while preserving biological relevance.</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In-silico and experimental evaluation datasets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Select independent in-silico and experimental out-of-sample datasets for rigorous external validation of the proposed framework.</a:t>
            </a:r>
          </a:p>
        </p:txBody>
      </p:sp>
    </p:spTree>
    <p:extLst>
      <p:ext uri="{BB962C8B-B14F-4D97-AF65-F5344CB8AC3E}">
        <p14:creationId xmlns:p14="http://schemas.microsoft.com/office/powerpoint/2010/main" val="279249011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928</TotalTime>
  <Words>2473</Words>
  <Application>Microsoft Office PowerPoint</Application>
  <PresentationFormat>Widescreen</PresentationFormat>
  <Paragraphs>323</Paragraphs>
  <Slides>27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27</vt:i4>
      </vt:variant>
    </vt:vector>
  </HeadingPairs>
  <TitlesOfParts>
    <vt:vector size="35" baseType="lpstr">
      <vt:lpstr>-apple-system</vt:lpstr>
      <vt:lpstr>Aptos</vt:lpstr>
      <vt:lpstr>Arial</vt:lpstr>
      <vt:lpstr>Calibri</vt:lpstr>
      <vt:lpstr>Calibri Light</vt:lpstr>
      <vt:lpstr>Courier New</vt:lpstr>
      <vt:lpstr>Times New Roman</vt:lpstr>
      <vt:lpstr>Office 2013 - 2022 Theme</vt:lpstr>
      <vt:lpstr>Escaping Local Optima in the Waddington Landscape: A Multi-Stage TRPO-PPO Approach for Single-Cell Gene Perturbation Analysis  Boabang Francis</vt:lpstr>
      <vt:lpstr>Content</vt:lpstr>
      <vt:lpstr>Background</vt:lpstr>
      <vt:lpstr>Gaps in the Research</vt:lpstr>
      <vt:lpstr>Proposed Solution: Using Initialization Strategies to Address Nonlinearity in Developmental Biology </vt:lpstr>
      <vt:lpstr>Datasets</vt:lpstr>
      <vt:lpstr>Sample Data Example </vt:lpstr>
      <vt:lpstr>Simulated Hardware and Software for Gene Perturbation Analysis</vt:lpstr>
      <vt:lpstr>             Crisper Knockout</vt:lpstr>
      <vt:lpstr>Crispr Knockout (Single Perturbation)</vt:lpstr>
      <vt:lpstr>RNA Dataset Description</vt:lpstr>
      <vt:lpstr>Code Link</vt:lpstr>
      <vt:lpstr>Results(Control sample/Perturbed sample)</vt:lpstr>
      <vt:lpstr>Results(Insights)</vt:lpstr>
      <vt:lpstr>Results(Trajectories Comparision hardware and Software)</vt:lpstr>
      <vt:lpstr>Insights</vt:lpstr>
      <vt:lpstr>Results(Trajectories Comparision hardware and Software)</vt:lpstr>
      <vt:lpstr>Results</vt:lpstr>
      <vt:lpstr>Insights</vt:lpstr>
      <vt:lpstr>          Drug Development</vt:lpstr>
      <vt:lpstr>Dataset and Link to Evaluation Code</vt:lpstr>
      <vt:lpstr>Results</vt:lpstr>
      <vt:lpstr>Results</vt:lpstr>
      <vt:lpstr>Results</vt:lpstr>
      <vt:lpstr>Results</vt:lpstr>
      <vt:lpstr>Expected Impact </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48</cp:revision>
  <dcterms:created xsi:type="dcterms:W3CDTF">2025-11-12T22:28:05Z</dcterms:created>
  <dcterms:modified xsi:type="dcterms:W3CDTF">2025-11-27T00:34:27Z</dcterms:modified>
</cp:coreProperties>
</file>