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5"/>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90" r:id="rId29"/>
    <p:sldId id="291" r:id="rId30"/>
    <p:sldId id="294" r:id="rId31"/>
    <p:sldId id="292" r:id="rId32"/>
    <p:sldId id="293" r:id="rId33"/>
    <p:sldId id="286"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2025-12-04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2025-12-04</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2025-12-04</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2025-12-04</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2025-12-04</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pPr marL="0" indent="0">
              <a:buNone/>
            </a:pPr>
            <a:endParaRPr lang="en-CA" sz="1600" dirty="0"/>
          </a:p>
          <a:p>
            <a:pPr marL="0" indent="0">
              <a:buNone/>
            </a:pPr>
            <a:endParaRPr lang="en-CA" sz="1600" dirty="0"/>
          </a:p>
        </p:txBody>
      </p:sp>
      <p:graphicFrame>
        <p:nvGraphicFramePr>
          <p:cNvPr id="4" name="Table 3">
            <a:extLst>
              <a:ext uri="{FF2B5EF4-FFF2-40B4-BE49-F238E27FC236}">
                <a16:creationId xmlns:a16="http://schemas.microsoft.com/office/drawing/2014/main" id="{95C04D88-FBCC-845D-F882-CD9B9C35CA70}"/>
              </a:ext>
            </a:extLst>
          </p:cNvPr>
          <p:cNvGraphicFramePr>
            <a:graphicFrameLocks noGrp="1"/>
          </p:cNvGraphicFramePr>
          <p:nvPr>
            <p:extLst>
              <p:ext uri="{D42A27DB-BD31-4B8C-83A1-F6EECF244321}">
                <p14:modId xmlns:p14="http://schemas.microsoft.com/office/powerpoint/2010/main" val="1685611038"/>
              </p:ext>
            </p:extLst>
          </p:nvPr>
        </p:nvGraphicFramePr>
        <p:xfrm>
          <a:off x="978408" y="6057773"/>
          <a:ext cx="9381744" cy="541020"/>
        </p:xfrm>
        <a:graphic>
          <a:graphicData uri="http://schemas.openxmlformats.org/drawingml/2006/table">
            <a:tbl>
              <a:tblPr/>
              <a:tblGrid>
                <a:gridCol w="9381744">
                  <a:extLst>
                    <a:ext uri="{9D8B030D-6E8A-4147-A177-3AD203B41FA5}">
                      <a16:colId xmlns:a16="http://schemas.microsoft.com/office/drawing/2014/main" val="3264525774"/>
                    </a:ext>
                  </a:extLst>
                </a:gridCol>
              </a:tblGrid>
              <a:tr h="270510">
                <a:tc>
                  <a:txBody>
                    <a:bodyPr/>
                    <a:lstStyle/>
                    <a:p>
                      <a:pPr>
                        <a:spcAft>
                          <a:spcPts val="300"/>
                        </a:spcAft>
                        <a:buFont typeface="Arial" panose="020B0604020202020204" pitchFamily="34" charset="0"/>
                        <a:buNone/>
                      </a:pPr>
                      <a:br>
                        <a:rPr lang="en-CA" sz="1100" dirty="0">
                          <a:effectLst/>
                          <a:latin typeface="Verdana" panose="020B0604030504040204" pitchFamily="34" charset="0"/>
                        </a:rPr>
                      </a:br>
                      <a:r>
                        <a:rPr lang="en-CA" sz="1100" dirty="0">
                          <a:effectLst/>
                          <a:latin typeface="Verdana" panose="020B0604030504040204" pitchFamily="34" charset="0"/>
                        </a:rPr>
                        <a:t>Gubin MM, </a:t>
                      </a:r>
                      <a:r>
                        <a:rPr lang="en-CA" sz="1100" dirty="0" err="1">
                          <a:effectLst/>
                          <a:latin typeface="Verdana" panose="020B0604030504040204" pitchFamily="34" charset="0"/>
                        </a:rPr>
                        <a:t>Esaulova</a:t>
                      </a:r>
                      <a:r>
                        <a:rPr lang="en-CA" sz="1100" dirty="0">
                          <a:effectLst/>
                          <a:latin typeface="Verdana" panose="020B0604030504040204" pitchFamily="34" charset="0"/>
                        </a:rPr>
                        <a:t> E, Ward JP, Malkova ON et al. High-Dimensional Analysis Delineates Myeloid and Lymphoid Compartment Remodeling during Successful Immune-Checkpoint Cancer Therapy. </a:t>
                      </a:r>
                      <a:r>
                        <a:rPr lang="en-CA" sz="1100" i="1" dirty="0">
                          <a:effectLst/>
                          <a:latin typeface="Verdana" panose="020B0604030504040204" pitchFamily="34" charset="0"/>
                        </a:rPr>
                        <a:t>Cell</a:t>
                      </a:r>
                      <a:r>
                        <a:rPr lang="en-CA" sz="1100" dirty="0">
                          <a:effectLst/>
                          <a:latin typeface="Verdana" panose="020B0604030504040204" pitchFamily="34" charset="0"/>
                        </a:rPr>
                        <a:t> 2018 Nov 1;175(4)</a:t>
                      </a: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4123696934"/>
                  </a:ext>
                </a:extLst>
              </a:tr>
            </a:tbl>
          </a:graphicData>
        </a:graphic>
      </p:graphicFrame>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B0AB68-D5E4-63A2-B601-46CF1D234C9F}"/>
              </a:ext>
            </a:extLst>
          </p:cNvPr>
          <p:cNvSpPr>
            <a:spLocks noGrp="1"/>
          </p:cNvSpPr>
          <p:nvPr>
            <p:ph idx="1"/>
          </p:nvPr>
        </p:nvSpPr>
        <p:spPr/>
        <p:txBody>
          <a:bodyPr/>
          <a:lstStyle/>
          <a:p>
            <a:pPr marL="0" indent="0">
              <a:buNone/>
            </a:pPr>
            <a:endParaRPr lang="en-US" dirty="0"/>
          </a:p>
          <a:p>
            <a:pPr marL="0" indent="0">
              <a:buNone/>
            </a:pPr>
            <a:endParaRPr lang="en-US" dirty="0"/>
          </a:p>
          <a:p>
            <a:pPr marL="0" indent="0">
              <a:buNone/>
            </a:pPr>
            <a:r>
              <a:rPr lang="en-US" dirty="0"/>
              <a:t>                </a:t>
            </a:r>
          </a:p>
          <a:p>
            <a:pPr marL="0" indent="0">
              <a:buNone/>
            </a:pPr>
            <a:r>
              <a:rPr lang="en-US" dirty="0"/>
              <a:t>               OUT –OF-SAMPLE PREDICTION(CRISPR KNOCKOUT)</a:t>
            </a:r>
            <a:endParaRPr lang="en-CA" dirty="0"/>
          </a:p>
        </p:txBody>
      </p:sp>
    </p:spTree>
    <p:extLst>
      <p:ext uri="{BB962C8B-B14F-4D97-AF65-F5344CB8AC3E}">
        <p14:creationId xmlns:p14="http://schemas.microsoft.com/office/powerpoint/2010/main" val="2424526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1373E-BC6A-E006-CAEE-BC43A16C1AFA}"/>
              </a:ext>
            </a:extLst>
          </p:cNvPr>
          <p:cNvSpPr>
            <a:spLocks noGrp="1"/>
          </p:cNvSpPr>
          <p:nvPr>
            <p:ph type="title"/>
          </p:nvPr>
        </p:nvSpPr>
        <p:spPr>
          <a:xfrm>
            <a:off x="384048" y="355981"/>
            <a:ext cx="10457688" cy="448691"/>
          </a:xfrm>
        </p:spPr>
        <p:txBody>
          <a:bodyPr>
            <a:normAutofit/>
          </a:bodyPr>
          <a:lstStyle/>
          <a:p>
            <a:r>
              <a:rPr lang="en-US" sz="2400" dirty="0"/>
              <a:t>Datasets</a:t>
            </a:r>
            <a:endParaRPr lang="en-CA" sz="2400" dirty="0"/>
          </a:p>
        </p:txBody>
      </p:sp>
      <p:sp>
        <p:nvSpPr>
          <p:cNvPr id="4" name="Rectangle 1">
            <a:extLst>
              <a:ext uri="{FF2B5EF4-FFF2-40B4-BE49-F238E27FC236}">
                <a16:creationId xmlns:a16="http://schemas.microsoft.com/office/drawing/2014/main" id="{0F3027D1-3D95-2DE9-6FEB-3B188BD20F89}"/>
              </a:ext>
            </a:extLst>
          </p:cNvPr>
          <p:cNvSpPr>
            <a:spLocks noGrp="1" noChangeArrowheads="1"/>
          </p:cNvSpPr>
          <p:nvPr>
            <p:ph idx="1"/>
          </p:nvPr>
        </p:nvSpPr>
        <p:spPr bwMode="auto">
          <a:xfrm>
            <a:off x="509016" y="1099603"/>
            <a:ext cx="9416232" cy="4362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IQCELL</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r>
              <a:rPr kumimoji="0" lang="en-US" altLang="en-US" sz="1800" b="0" i="0" u="none" strike="noStrike" cap="none" normalizeH="0" baseline="0" dirty="0">
                <a:ln>
                  <a:noFill/>
                </a:ln>
                <a:solidFill>
                  <a:schemeClr val="tx1"/>
                </a:solidFill>
                <a:effectLst/>
                <a:cs typeface="Arial" panose="020B0604020202020204" pitchFamily="34" charset="0"/>
              </a:rPr>
              <a:t>Predicts </a:t>
            </a:r>
            <a:r>
              <a:rPr kumimoji="0" lang="en-US" altLang="en-US" sz="1800" b="0" i="1" u="none" strike="noStrike" cap="none" normalizeH="0" baseline="0" dirty="0">
                <a:ln>
                  <a:noFill/>
                </a:ln>
                <a:solidFill>
                  <a:schemeClr val="tx1"/>
                </a:solidFill>
                <a:effectLst/>
                <a:cs typeface="Arial" panose="020B0604020202020204" pitchFamily="34" charset="0"/>
              </a:rPr>
              <a:t>how gene perturbations alter developmental trajectories</a:t>
            </a:r>
            <a:r>
              <a:rPr kumimoji="0" lang="en-US" altLang="en-US" sz="1800" b="0" i="0" u="none" strike="noStrike" cap="none" normalizeH="0" baseline="0" dirty="0">
                <a:ln>
                  <a:noFill/>
                </a:ln>
                <a:solidFill>
                  <a:schemeClr val="tx1"/>
                </a:solidFill>
                <a:effectLst/>
                <a:cs typeface="Arial" panose="020B0604020202020204" pitchFamily="34" charset="0"/>
              </a:rPr>
              <a:t> (state transitions, fate decisions).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cs typeface="Arial" panose="020B0604020202020204" pitchFamily="34" charset="0"/>
              </a:rPr>
              <a:t>Uses control dat</a:t>
            </a:r>
            <a:r>
              <a:rPr lang="en-US" altLang="en-US" sz="1800" dirty="0">
                <a:cs typeface="Arial" panose="020B0604020202020204" pitchFamily="34" charset="0"/>
              </a:rPr>
              <a:t>a and perform </a:t>
            </a:r>
            <a:r>
              <a:rPr lang="en-US" altLang="en-US" sz="1800" dirty="0" err="1">
                <a:cs typeface="Arial" panose="020B0604020202020204" pitchFamily="34" charset="0"/>
              </a:rPr>
              <a:t>crispr</a:t>
            </a:r>
            <a:r>
              <a:rPr lang="en-US" altLang="en-US" sz="1800" dirty="0">
                <a:cs typeface="Arial" panose="020B0604020202020204" pitchFamily="34" charset="0"/>
              </a:rPr>
              <a:t> based in-</a:t>
            </a:r>
            <a:r>
              <a:rPr lang="en-US" altLang="en-US" sz="1800" dirty="0" err="1">
                <a:cs typeface="Arial" panose="020B0604020202020204" pitchFamily="34" charset="0"/>
              </a:rPr>
              <a:t>silio</a:t>
            </a:r>
            <a:r>
              <a:rPr lang="en-US" altLang="en-US" sz="1800" dirty="0">
                <a:cs typeface="Arial" panose="020B0604020202020204" pitchFamily="34" charset="0"/>
              </a:rPr>
              <a:t> perturbed</a:t>
            </a:r>
            <a:endParaRPr kumimoji="0" lang="en-US" altLang="en-US" sz="1800" b="0"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indent="0">
              <a:buNone/>
            </a:pPr>
            <a:r>
              <a:rPr lang="en-CA" sz="1600" dirty="0"/>
              <a:t>IQCELL: A platform for predicting the effect of gene perturbations</a:t>
            </a:r>
          </a:p>
          <a:p>
            <a:pPr marL="0" indent="0">
              <a:buNone/>
            </a:pPr>
            <a:r>
              <a:rPr lang="en-CA" sz="1600" dirty="0"/>
              <a:t>on developmental trajectories using single-cell RNA-seq data." </a:t>
            </a:r>
            <a:r>
              <a:rPr lang="en-CA" sz="1600" dirty="0" err="1"/>
              <a:t>PLoS</a:t>
            </a:r>
            <a:r>
              <a:rPr lang="en-CA" sz="1600" dirty="0"/>
              <a:t> Computational Biology 18.2 (2022)</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Jin et al. (Perturb-Seq)</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r>
              <a:rPr kumimoji="0" lang="en-US" altLang="en-US" sz="1800" b="0" i="1" u="none" strike="noStrike" cap="none" normalizeH="0" baseline="0" dirty="0">
                <a:ln>
                  <a:noFill/>
                </a:ln>
                <a:solidFill>
                  <a:schemeClr val="tx1"/>
                </a:solidFill>
                <a:effectLst/>
                <a:cs typeface="Arial" panose="020B0604020202020204" pitchFamily="34" charset="0"/>
              </a:rPr>
              <a:t>Directly measures how autism risk-gene perturbations alter neuronal and glial trajectories in vivo.</a:t>
            </a:r>
          </a:p>
          <a:p>
            <a:pPr marL="0" lvl="0" indent="0" eaLnBrk="0" fontAlgn="base" hangingPunct="0">
              <a:lnSpc>
                <a:spcPct val="100000"/>
              </a:lnSpc>
              <a:spcBef>
                <a:spcPct val="0"/>
              </a:spcBef>
              <a:spcAft>
                <a:spcPct val="0"/>
              </a:spcAft>
              <a:buNone/>
            </a:pPr>
            <a:endParaRPr lang="en-US" altLang="en-US" sz="1800" dirty="0">
              <a:cs typeface="Arial" panose="020B0604020202020204" pitchFamily="34" charset="0"/>
            </a:endParaRPr>
          </a:p>
          <a:p>
            <a:pPr marL="0" lvl="0" indent="0" eaLnBrk="0" fontAlgn="base" hangingPunct="0">
              <a:lnSpc>
                <a:spcPct val="100000"/>
              </a:lnSpc>
              <a:spcBef>
                <a:spcPct val="0"/>
              </a:spcBef>
              <a:spcAft>
                <a:spcPct val="0"/>
              </a:spcAft>
              <a:buNone/>
            </a:pPr>
            <a:r>
              <a:rPr lang="en-US" altLang="en-US" sz="1800" dirty="0">
                <a:cs typeface="Arial" panose="020B0604020202020204" pitchFamily="34" charset="0"/>
              </a:rPr>
              <a:t>Uses control data and perform in-vitro based perturbation</a:t>
            </a: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i="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cs typeface="Arial" panose="020B0604020202020204" pitchFamily="34" charset="0"/>
            </a:endParaRPr>
          </a:p>
        </p:txBody>
      </p:sp>
      <p:graphicFrame>
        <p:nvGraphicFramePr>
          <p:cNvPr id="5" name="Table 4">
            <a:extLst>
              <a:ext uri="{FF2B5EF4-FFF2-40B4-BE49-F238E27FC236}">
                <a16:creationId xmlns:a16="http://schemas.microsoft.com/office/drawing/2014/main" id="{DF835951-1381-F799-32B7-31D36C8A8A1E}"/>
              </a:ext>
            </a:extLst>
          </p:cNvPr>
          <p:cNvGraphicFramePr>
            <a:graphicFrameLocks noGrp="1"/>
          </p:cNvGraphicFramePr>
          <p:nvPr>
            <p:extLst>
              <p:ext uri="{D42A27DB-BD31-4B8C-83A1-F6EECF244321}">
                <p14:modId xmlns:p14="http://schemas.microsoft.com/office/powerpoint/2010/main" val="3314538001"/>
              </p:ext>
            </p:extLst>
          </p:nvPr>
        </p:nvGraphicFramePr>
        <p:xfrm>
          <a:off x="762000" y="5538978"/>
          <a:ext cx="8444484" cy="586740"/>
        </p:xfrm>
        <a:graphic>
          <a:graphicData uri="http://schemas.openxmlformats.org/drawingml/2006/table">
            <a:tbl>
              <a:tblPr/>
              <a:tblGrid>
                <a:gridCol w="8444484">
                  <a:extLst>
                    <a:ext uri="{9D8B030D-6E8A-4147-A177-3AD203B41FA5}">
                      <a16:colId xmlns:a16="http://schemas.microsoft.com/office/drawing/2014/main" val="145204435"/>
                    </a:ext>
                  </a:extLst>
                </a:gridCol>
              </a:tblGrid>
              <a:tr h="448691">
                <a:tc>
                  <a:txBody>
                    <a:bodyPr/>
                    <a:lstStyle/>
                    <a:p>
                      <a:pPr>
                        <a:spcAft>
                          <a:spcPts val="300"/>
                        </a:spcAft>
                        <a:buFont typeface="Arial" panose="020B0604020202020204" pitchFamily="34" charset="0"/>
                        <a:buNone/>
                      </a:pPr>
                      <a:br>
                        <a:rPr lang="en-CA" sz="1200" dirty="0">
                          <a:effectLst/>
                          <a:latin typeface="Verdana" panose="020B0604030504040204" pitchFamily="34" charset="0"/>
                        </a:rPr>
                      </a:br>
                      <a:r>
                        <a:rPr lang="en-CA" sz="1200" dirty="0">
                          <a:effectLst/>
                          <a:latin typeface="Verdana" panose="020B0604030504040204" pitchFamily="34" charset="0"/>
                        </a:rPr>
                        <a:t>Jin X, Simmons SK, Guo A, Shetty AS et al. In vivo Perturb-Seq reveals neuronal and glial abnormalities associated with autism risk genes. </a:t>
                      </a:r>
                      <a:r>
                        <a:rPr lang="en-CA" sz="1200" i="1" dirty="0">
                          <a:effectLst/>
                          <a:latin typeface="Verdana" panose="020B0604030504040204" pitchFamily="34" charset="0"/>
                        </a:rPr>
                        <a:t>Science</a:t>
                      </a:r>
                      <a:r>
                        <a:rPr lang="en-CA" sz="1200" dirty="0">
                          <a:effectLst/>
                          <a:latin typeface="Verdana" panose="020B0604030504040204" pitchFamily="34" charset="0"/>
                        </a:rPr>
                        <a:t> 2020 Nov 27;370(6520).</a:t>
                      </a: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2844913777"/>
                  </a:ext>
                </a:extLst>
              </a:tr>
            </a:tbl>
          </a:graphicData>
        </a:graphic>
      </p:graphicFrame>
    </p:spTree>
    <p:extLst>
      <p:ext uri="{BB962C8B-B14F-4D97-AF65-F5344CB8AC3E}">
        <p14:creationId xmlns:p14="http://schemas.microsoft.com/office/powerpoint/2010/main" val="3496764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121D6-CA2C-490A-A083-E3533C8A832E}"/>
              </a:ext>
            </a:extLst>
          </p:cNvPr>
          <p:cNvSpPr>
            <a:spLocks noGrp="1"/>
          </p:cNvSpPr>
          <p:nvPr>
            <p:ph type="title"/>
          </p:nvPr>
        </p:nvSpPr>
        <p:spPr/>
        <p:txBody>
          <a:bodyPr/>
          <a:lstStyle/>
          <a:p>
            <a:r>
              <a:rPr lang="en-US" altLang="en-US" b="1" dirty="0">
                <a:cs typeface="Arial" panose="020B0604020202020204" pitchFamily="34" charset="0"/>
              </a:rPr>
              <a:t>Jin et al. (Perturb-Seq) details</a:t>
            </a:r>
            <a:endParaRPr lang="en-CA" dirty="0"/>
          </a:p>
        </p:txBody>
      </p:sp>
      <p:graphicFrame>
        <p:nvGraphicFramePr>
          <p:cNvPr id="4" name="Content Placeholder 3">
            <a:extLst>
              <a:ext uri="{FF2B5EF4-FFF2-40B4-BE49-F238E27FC236}">
                <a16:creationId xmlns:a16="http://schemas.microsoft.com/office/drawing/2014/main" id="{78E36CFD-CFEA-C04A-557F-519A5AE8DD0F}"/>
              </a:ext>
            </a:extLst>
          </p:cNvPr>
          <p:cNvGraphicFramePr>
            <a:graphicFrameLocks noGrp="1"/>
          </p:cNvGraphicFramePr>
          <p:nvPr>
            <p:ph idx="1"/>
            <p:extLst>
              <p:ext uri="{D42A27DB-BD31-4B8C-83A1-F6EECF244321}">
                <p14:modId xmlns:p14="http://schemas.microsoft.com/office/powerpoint/2010/main" val="347168777"/>
              </p:ext>
            </p:extLst>
          </p:nvPr>
        </p:nvGraphicFramePr>
        <p:xfrm>
          <a:off x="978027" y="2570258"/>
          <a:ext cx="10515600" cy="1097280"/>
        </p:xfrm>
        <a:graphic>
          <a:graphicData uri="http://schemas.openxmlformats.org/drawingml/2006/table">
            <a:tbl>
              <a:tblPr/>
              <a:tblGrid>
                <a:gridCol w="5257800">
                  <a:extLst>
                    <a:ext uri="{9D8B030D-6E8A-4147-A177-3AD203B41FA5}">
                      <a16:colId xmlns:a16="http://schemas.microsoft.com/office/drawing/2014/main" val="3333501855"/>
                    </a:ext>
                  </a:extLst>
                </a:gridCol>
                <a:gridCol w="5257800">
                  <a:extLst>
                    <a:ext uri="{9D8B030D-6E8A-4147-A177-3AD203B41FA5}">
                      <a16:colId xmlns:a16="http://schemas.microsoft.com/office/drawing/2014/main" val="3735340647"/>
                    </a:ext>
                  </a:extLst>
                </a:gridCol>
              </a:tblGrid>
              <a:tr h="0">
                <a:tc>
                  <a:txBody>
                    <a:bodyPr/>
                    <a:lstStyle/>
                    <a:p>
                      <a:pPr>
                        <a:buNone/>
                      </a:pPr>
                      <a:r>
                        <a:rPr lang="en-CA"/>
                        <a:t>File</a:t>
                      </a:r>
                    </a:p>
                  </a:txBody>
                  <a:tcPr anchor="ctr">
                    <a:lnL>
                      <a:noFill/>
                    </a:lnL>
                    <a:lnR>
                      <a:noFill/>
                    </a:lnR>
                    <a:lnT>
                      <a:noFill/>
                    </a:lnT>
                    <a:lnB>
                      <a:noFill/>
                    </a:lnB>
                    <a:noFill/>
                  </a:tcPr>
                </a:tc>
                <a:tc>
                  <a:txBody>
                    <a:bodyPr/>
                    <a:lstStyle/>
                    <a:p>
                      <a:pPr>
                        <a:buNone/>
                      </a:pPr>
                      <a:r>
                        <a:rPr lang="en-CA"/>
                        <a:t>Meaning</a:t>
                      </a:r>
                    </a:p>
                  </a:txBody>
                  <a:tcPr anchor="ctr">
                    <a:lnL>
                      <a:noFill/>
                    </a:lnL>
                    <a:lnR>
                      <a:noFill/>
                    </a:lnR>
                    <a:lnT>
                      <a:noFill/>
                    </a:lnT>
                    <a:lnB>
                      <a:noFill/>
                    </a:lnB>
                    <a:noFill/>
                  </a:tcPr>
                </a:tc>
                <a:extLst>
                  <a:ext uri="{0D108BD9-81ED-4DB2-BD59-A6C34878D82A}">
                    <a16:rowId xmlns:a16="http://schemas.microsoft.com/office/drawing/2014/main" val="1999013176"/>
                  </a:ext>
                </a:extLst>
              </a:tr>
              <a:tr h="0">
                <a:tc>
                  <a:txBody>
                    <a:bodyPr/>
                    <a:lstStyle/>
                    <a:p>
                      <a:pPr>
                        <a:buNone/>
                      </a:pPr>
                      <a:r>
                        <a:rPr lang="en-CA" b="1" dirty="0"/>
                        <a:t>GFP</a:t>
                      </a:r>
                      <a:endParaRPr lang="en-CA" dirty="0"/>
                    </a:p>
                  </a:txBody>
                  <a:tcPr anchor="ctr">
                    <a:lnL>
                      <a:noFill/>
                    </a:lnL>
                    <a:lnR>
                      <a:noFill/>
                    </a:lnR>
                    <a:lnT>
                      <a:noFill/>
                    </a:lnT>
                    <a:lnB>
                      <a:noFill/>
                    </a:lnB>
                    <a:noFill/>
                  </a:tcPr>
                </a:tc>
                <a:tc>
                  <a:txBody>
                    <a:bodyPr/>
                    <a:lstStyle/>
                    <a:p>
                      <a:pPr>
                        <a:buNone/>
                      </a:pPr>
                      <a:r>
                        <a:rPr lang="en-CA"/>
                        <a:t>Negative control (no functional perturbation)</a:t>
                      </a:r>
                    </a:p>
                  </a:txBody>
                  <a:tcPr anchor="ctr">
                    <a:lnL>
                      <a:noFill/>
                    </a:lnL>
                    <a:lnR>
                      <a:noFill/>
                    </a:lnR>
                    <a:lnT>
                      <a:noFill/>
                    </a:lnT>
                    <a:lnB>
                      <a:noFill/>
                    </a:lnB>
                    <a:noFill/>
                  </a:tcPr>
                </a:tc>
                <a:extLst>
                  <a:ext uri="{0D108BD9-81ED-4DB2-BD59-A6C34878D82A}">
                    <a16:rowId xmlns:a16="http://schemas.microsoft.com/office/drawing/2014/main" val="2307939342"/>
                  </a:ext>
                </a:extLst>
              </a:tr>
              <a:tr h="0">
                <a:tc>
                  <a:txBody>
                    <a:bodyPr/>
                    <a:lstStyle/>
                    <a:p>
                      <a:pPr>
                        <a:buNone/>
                      </a:pPr>
                      <a:r>
                        <a:rPr lang="en-CA" b="1"/>
                        <a:t>Ank2</a:t>
                      </a:r>
                      <a:endParaRPr lang="en-CA"/>
                    </a:p>
                  </a:txBody>
                  <a:tcPr anchor="ctr">
                    <a:lnL>
                      <a:noFill/>
                    </a:lnL>
                    <a:lnR>
                      <a:noFill/>
                    </a:lnR>
                    <a:lnT>
                      <a:noFill/>
                    </a:lnT>
                    <a:lnB>
                      <a:noFill/>
                    </a:lnB>
                    <a:noFill/>
                  </a:tcPr>
                </a:tc>
                <a:tc>
                  <a:txBody>
                    <a:bodyPr/>
                    <a:lstStyle/>
                    <a:p>
                      <a:pPr>
                        <a:buNone/>
                      </a:pPr>
                      <a:r>
                        <a:rPr lang="en-CA" dirty="0"/>
                        <a:t>Autism-risk gene knockout</a:t>
                      </a:r>
                    </a:p>
                  </a:txBody>
                  <a:tcPr anchor="ctr">
                    <a:lnL>
                      <a:noFill/>
                    </a:lnL>
                    <a:lnR>
                      <a:noFill/>
                    </a:lnR>
                    <a:lnT>
                      <a:noFill/>
                    </a:lnT>
                    <a:lnB>
                      <a:noFill/>
                    </a:lnB>
                    <a:noFill/>
                  </a:tcPr>
                </a:tc>
                <a:extLst>
                  <a:ext uri="{0D108BD9-81ED-4DB2-BD59-A6C34878D82A}">
                    <a16:rowId xmlns:a16="http://schemas.microsoft.com/office/drawing/2014/main" val="4237134701"/>
                  </a:ext>
                </a:extLst>
              </a:tr>
            </a:tbl>
          </a:graphicData>
        </a:graphic>
      </p:graphicFrame>
    </p:spTree>
    <p:extLst>
      <p:ext uri="{BB962C8B-B14F-4D97-AF65-F5344CB8AC3E}">
        <p14:creationId xmlns:p14="http://schemas.microsoft.com/office/powerpoint/2010/main" val="6135165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31FD2-85F0-B70E-6ED0-B0650D5F2BB4}"/>
              </a:ext>
            </a:extLst>
          </p:cNvPr>
          <p:cNvSpPr>
            <a:spLocks noGrp="1"/>
          </p:cNvSpPr>
          <p:nvPr>
            <p:ph type="title"/>
          </p:nvPr>
        </p:nvSpPr>
        <p:spPr/>
        <p:txBody>
          <a:bodyPr/>
          <a:lstStyle/>
          <a:p>
            <a:r>
              <a:rPr lang="en-US" dirty="0"/>
              <a:t>Data Visualization</a:t>
            </a:r>
            <a:endParaRPr lang="en-CA" dirty="0"/>
          </a:p>
        </p:txBody>
      </p:sp>
      <p:sp>
        <p:nvSpPr>
          <p:cNvPr id="4" name="Rectangle 3">
            <a:extLst>
              <a:ext uri="{FF2B5EF4-FFF2-40B4-BE49-F238E27FC236}">
                <a16:creationId xmlns:a16="http://schemas.microsoft.com/office/drawing/2014/main" id="{CCD27D98-8D3F-FC47-D4CE-BBB70E2586CE}"/>
              </a:ext>
            </a:extLst>
          </p:cNvPr>
          <p:cNvSpPr/>
          <p:nvPr/>
        </p:nvSpPr>
        <p:spPr>
          <a:xfrm>
            <a:off x="754144" y="1762812"/>
            <a:ext cx="273377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A367278F-33FC-EAA2-012B-EFD921B92258}"/>
              </a:ext>
            </a:extLst>
          </p:cNvPr>
          <p:cNvSpPr/>
          <p:nvPr/>
        </p:nvSpPr>
        <p:spPr>
          <a:xfrm>
            <a:off x="5393703" y="1745528"/>
            <a:ext cx="2637934" cy="6488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587DBCF0-AC78-F9F0-849C-E355DDD1DD36}"/>
              </a:ext>
            </a:extLst>
          </p:cNvPr>
          <p:cNvSpPr/>
          <p:nvPr/>
        </p:nvSpPr>
        <p:spPr>
          <a:xfrm>
            <a:off x="796565" y="3037788"/>
            <a:ext cx="2648932"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Rectangle 6">
            <a:extLst>
              <a:ext uri="{FF2B5EF4-FFF2-40B4-BE49-F238E27FC236}">
                <a16:creationId xmlns:a16="http://schemas.microsoft.com/office/drawing/2014/main" id="{87A452FD-B44C-F1A5-7C0C-565633F07ACD}"/>
              </a:ext>
            </a:extLst>
          </p:cNvPr>
          <p:cNvSpPr/>
          <p:nvPr/>
        </p:nvSpPr>
        <p:spPr>
          <a:xfrm>
            <a:off x="5393703" y="3037788"/>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B5B5F1B5-216C-4EB7-831F-8DDA515FBEDD}"/>
              </a:ext>
            </a:extLst>
          </p:cNvPr>
          <p:cNvSpPr txBox="1"/>
          <p:nvPr/>
        </p:nvSpPr>
        <p:spPr>
          <a:xfrm>
            <a:off x="838201" y="1885301"/>
            <a:ext cx="2307336" cy="523220"/>
          </a:xfrm>
          <a:prstGeom prst="rect">
            <a:avLst/>
          </a:prstGeom>
          <a:noFill/>
        </p:spPr>
        <p:txBody>
          <a:bodyPr wrap="square">
            <a:spAutoFit/>
          </a:bodyPr>
          <a:lstStyle/>
          <a:p>
            <a:r>
              <a:rPr lang="en-US" altLang="en-US" sz="1400" b="1" dirty="0">
                <a:cs typeface="Arial" panose="020B0604020202020204" pitchFamily="34" charset="0"/>
              </a:rPr>
              <a:t>IQCELL</a:t>
            </a:r>
            <a:r>
              <a:rPr lang="en-US" altLang="en-US" sz="1400" dirty="0">
                <a:cs typeface="Arial" panose="020B0604020202020204" pitchFamily="34" charset="0"/>
              </a:rPr>
              <a:t>: </a:t>
            </a:r>
            <a:r>
              <a:rPr lang="en-CA" sz="1400" b="0" i="0" dirty="0">
                <a:solidFill>
                  <a:srgbClr val="000000"/>
                </a:solidFill>
                <a:effectLst/>
                <a:latin typeface="Verdana" panose="020B0604030504040204" pitchFamily="34" charset="0"/>
              </a:rPr>
              <a:t>GSE196972_RAW.tar</a:t>
            </a:r>
            <a:endParaRPr lang="en-CA" sz="1400" dirty="0"/>
          </a:p>
        </p:txBody>
      </p:sp>
      <p:sp>
        <p:nvSpPr>
          <p:cNvPr id="10" name="TextBox 9">
            <a:extLst>
              <a:ext uri="{FF2B5EF4-FFF2-40B4-BE49-F238E27FC236}">
                <a16:creationId xmlns:a16="http://schemas.microsoft.com/office/drawing/2014/main" id="{AE9FE287-1066-B819-C233-FDCEB59EAE38}"/>
              </a:ext>
            </a:extLst>
          </p:cNvPr>
          <p:cNvSpPr txBox="1"/>
          <p:nvPr/>
        </p:nvSpPr>
        <p:spPr>
          <a:xfrm>
            <a:off x="1150070" y="3168920"/>
            <a:ext cx="1845955" cy="369332"/>
          </a:xfrm>
          <a:prstGeom prst="rect">
            <a:avLst/>
          </a:prstGeom>
          <a:noFill/>
        </p:spPr>
        <p:txBody>
          <a:bodyPr wrap="none" rtlCol="0">
            <a:spAutoFit/>
          </a:bodyPr>
          <a:lstStyle/>
          <a:p>
            <a:r>
              <a:rPr lang="en-US" dirty="0"/>
              <a:t>Control Sequence</a:t>
            </a:r>
            <a:endParaRPr lang="en-CA" dirty="0"/>
          </a:p>
        </p:txBody>
      </p:sp>
      <p:sp>
        <p:nvSpPr>
          <p:cNvPr id="11" name="Rectangle 10">
            <a:extLst>
              <a:ext uri="{FF2B5EF4-FFF2-40B4-BE49-F238E27FC236}">
                <a16:creationId xmlns:a16="http://schemas.microsoft.com/office/drawing/2014/main" id="{784251FA-8EF0-C1A8-4C5E-B6D602A6823B}"/>
              </a:ext>
            </a:extLst>
          </p:cNvPr>
          <p:cNvSpPr/>
          <p:nvPr/>
        </p:nvSpPr>
        <p:spPr>
          <a:xfrm>
            <a:off x="796564" y="4312764"/>
            <a:ext cx="2755047"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a:extLst>
              <a:ext uri="{FF2B5EF4-FFF2-40B4-BE49-F238E27FC236}">
                <a16:creationId xmlns:a16="http://schemas.microsoft.com/office/drawing/2014/main" id="{F38AADCA-D438-6446-3EDA-D399CA2FDB19}"/>
              </a:ext>
            </a:extLst>
          </p:cNvPr>
          <p:cNvCxnSpPr>
            <a:stCxn id="4" idx="2"/>
            <a:endCxn id="6" idx="0"/>
          </p:cNvCxnSpPr>
          <p:nvPr/>
        </p:nvCxnSpPr>
        <p:spPr>
          <a:xfrm>
            <a:off x="2121031" y="2394408"/>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59FB33A-D8E7-8A5E-E31F-7E98AD9297ED}"/>
              </a:ext>
            </a:extLst>
          </p:cNvPr>
          <p:cNvCxnSpPr/>
          <p:nvPr/>
        </p:nvCxnSpPr>
        <p:spPr>
          <a:xfrm>
            <a:off x="2121031" y="36693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7FEB854-3240-798C-DC3A-40ED67E791DC}"/>
              </a:ext>
            </a:extLst>
          </p:cNvPr>
          <p:cNvSpPr txBox="1"/>
          <p:nvPr/>
        </p:nvSpPr>
        <p:spPr>
          <a:xfrm>
            <a:off x="754144" y="4463593"/>
            <a:ext cx="2755050" cy="369332"/>
          </a:xfrm>
          <a:prstGeom prst="rect">
            <a:avLst/>
          </a:prstGeom>
          <a:noFill/>
        </p:spPr>
        <p:txBody>
          <a:bodyPr wrap="none" rtlCol="0">
            <a:spAutoFit/>
          </a:bodyPr>
          <a:lstStyle/>
          <a:p>
            <a:r>
              <a:rPr lang="en-US" dirty="0"/>
              <a:t>In-silico Crispr perturbation</a:t>
            </a:r>
            <a:endParaRPr lang="en-CA" dirty="0"/>
          </a:p>
        </p:txBody>
      </p:sp>
      <p:sp>
        <p:nvSpPr>
          <p:cNvPr id="16" name="Rectangle 15">
            <a:extLst>
              <a:ext uri="{FF2B5EF4-FFF2-40B4-BE49-F238E27FC236}">
                <a16:creationId xmlns:a16="http://schemas.microsoft.com/office/drawing/2014/main" id="{F149BA33-1C77-2CB6-E2F2-5C27AADC0AD2}"/>
              </a:ext>
            </a:extLst>
          </p:cNvPr>
          <p:cNvSpPr/>
          <p:nvPr/>
        </p:nvSpPr>
        <p:spPr>
          <a:xfrm>
            <a:off x="5393703" y="4446253"/>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B1013954-8779-7ACF-E722-D7687390A024}"/>
              </a:ext>
            </a:extLst>
          </p:cNvPr>
          <p:cNvSpPr txBox="1"/>
          <p:nvPr/>
        </p:nvSpPr>
        <p:spPr>
          <a:xfrm>
            <a:off x="5393706" y="1847887"/>
            <a:ext cx="2637931" cy="584775"/>
          </a:xfrm>
          <a:prstGeom prst="rect">
            <a:avLst/>
          </a:prstGeom>
          <a:noFill/>
        </p:spPr>
        <p:txBody>
          <a:bodyPr wrap="square">
            <a:spAutoFit/>
          </a:bodyPr>
          <a:lstStyle/>
          <a:p>
            <a:r>
              <a:rPr lang="en-US" altLang="en-US" sz="1600" b="1" dirty="0">
                <a:cs typeface="Arial" panose="020B0604020202020204" pitchFamily="34" charset="0"/>
              </a:rPr>
              <a:t>Jin et al. (Perturb-Seq)</a:t>
            </a:r>
            <a:r>
              <a:rPr lang="en-US" altLang="en-US" sz="1600" dirty="0">
                <a:cs typeface="Arial" panose="020B0604020202020204" pitchFamily="34" charset="0"/>
              </a:rPr>
              <a:t>: </a:t>
            </a:r>
            <a:r>
              <a:rPr lang="en-CA" sz="1600" b="0" i="0" dirty="0">
                <a:solidFill>
                  <a:srgbClr val="000000"/>
                </a:solidFill>
                <a:effectLst/>
                <a:latin typeface="Verdana" panose="020B0604030504040204" pitchFamily="34" charset="0"/>
              </a:rPr>
              <a:t>GSE157977_RAW.tar</a:t>
            </a:r>
            <a:endParaRPr lang="en-CA" sz="1600" dirty="0"/>
          </a:p>
        </p:txBody>
      </p:sp>
      <p:sp>
        <p:nvSpPr>
          <p:cNvPr id="19" name="TextBox 18">
            <a:extLst>
              <a:ext uri="{FF2B5EF4-FFF2-40B4-BE49-F238E27FC236}">
                <a16:creationId xmlns:a16="http://schemas.microsoft.com/office/drawing/2014/main" id="{8B3A6B21-FDFF-2531-445F-7851D95C69B6}"/>
              </a:ext>
            </a:extLst>
          </p:cNvPr>
          <p:cNvSpPr txBox="1"/>
          <p:nvPr/>
        </p:nvSpPr>
        <p:spPr>
          <a:xfrm>
            <a:off x="5759777" y="3168920"/>
            <a:ext cx="2100447" cy="369332"/>
          </a:xfrm>
          <a:prstGeom prst="rect">
            <a:avLst/>
          </a:prstGeom>
          <a:noFill/>
        </p:spPr>
        <p:txBody>
          <a:bodyPr wrap="none" rtlCol="0">
            <a:spAutoFit/>
          </a:bodyPr>
          <a:lstStyle/>
          <a:p>
            <a:r>
              <a:rPr lang="en-US" dirty="0"/>
              <a:t>Perturbed Sequence</a:t>
            </a:r>
            <a:endParaRPr lang="en-CA" dirty="0"/>
          </a:p>
        </p:txBody>
      </p:sp>
      <p:sp>
        <p:nvSpPr>
          <p:cNvPr id="20" name="TextBox 19">
            <a:extLst>
              <a:ext uri="{FF2B5EF4-FFF2-40B4-BE49-F238E27FC236}">
                <a16:creationId xmlns:a16="http://schemas.microsoft.com/office/drawing/2014/main" id="{23E0AD70-A3BA-D8DC-9A66-1D0882D4F311}"/>
              </a:ext>
            </a:extLst>
          </p:cNvPr>
          <p:cNvSpPr txBox="1"/>
          <p:nvPr/>
        </p:nvSpPr>
        <p:spPr>
          <a:xfrm>
            <a:off x="5338447" y="4575028"/>
            <a:ext cx="2748445" cy="369332"/>
          </a:xfrm>
          <a:prstGeom prst="rect">
            <a:avLst/>
          </a:prstGeom>
          <a:noFill/>
        </p:spPr>
        <p:txBody>
          <a:bodyPr wrap="none" rtlCol="0">
            <a:spAutoFit/>
          </a:bodyPr>
          <a:lstStyle/>
          <a:p>
            <a:r>
              <a:rPr lang="en-US" dirty="0"/>
              <a:t>In-Vitro Crispr perturbation</a:t>
            </a:r>
            <a:endParaRPr lang="en-CA" dirty="0"/>
          </a:p>
        </p:txBody>
      </p:sp>
      <p:cxnSp>
        <p:nvCxnSpPr>
          <p:cNvPr id="21" name="Straight Arrow Connector 20">
            <a:extLst>
              <a:ext uri="{FF2B5EF4-FFF2-40B4-BE49-F238E27FC236}">
                <a16:creationId xmlns:a16="http://schemas.microsoft.com/office/drawing/2014/main" id="{4F7A1501-78F9-69AD-3C92-5D96D9FCA0DD}"/>
              </a:ext>
            </a:extLst>
          </p:cNvPr>
          <p:cNvCxnSpPr/>
          <p:nvPr/>
        </p:nvCxnSpPr>
        <p:spPr>
          <a:xfrm>
            <a:off x="6712669" y="2394408"/>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94ADA63-572E-80A8-456C-ADED0CCC6C50}"/>
              </a:ext>
            </a:extLst>
          </p:cNvPr>
          <p:cNvCxnSpPr>
            <a:cxnSpLocks/>
            <a:endCxn id="16" idx="0"/>
          </p:cNvCxnSpPr>
          <p:nvPr/>
        </p:nvCxnSpPr>
        <p:spPr>
          <a:xfrm flipH="1">
            <a:off x="6712670" y="3669384"/>
            <a:ext cx="2355" cy="7768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3135DD24-5FBC-4C6A-275C-D2D4356347C1}"/>
              </a:ext>
            </a:extLst>
          </p:cNvPr>
          <p:cNvSpPr/>
          <p:nvPr/>
        </p:nvSpPr>
        <p:spPr>
          <a:xfrm>
            <a:off x="2562126" y="5607437"/>
            <a:ext cx="3695415" cy="10761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7" name="Straight Arrow Connector 26">
            <a:extLst>
              <a:ext uri="{FF2B5EF4-FFF2-40B4-BE49-F238E27FC236}">
                <a16:creationId xmlns:a16="http://schemas.microsoft.com/office/drawing/2014/main" id="{42E39095-8EA8-CBAB-45B4-CA2700766752}"/>
              </a:ext>
            </a:extLst>
          </p:cNvPr>
          <p:cNvCxnSpPr>
            <a:cxnSpLocks/>
          </p:cNvCxnSpPr>
          <p:nvPr/>
        </p:nvCxnSpPr>
        <p:spPr>
          <a:xfrm>
            <a:off x="2036190" y="6124399"/>
            <a:ext cx="52593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8A16BB5-2264-5602-A7AD-D4EB8DA2EB7B}"/>
              </a:ext>
            </a:extLst>
          </p:cNvPr>
          <p:cNvCxnSpPr>
            <a:cxnSpLocks/>
          </p:cNvCxnSpPr>
          <p:nvPr/>
        </p:nvCxnSpPr>
        <p:spPr>
          <a:xfrm>
            <a:off x="2048256" y="4944360"/>
            <a:ext cx="0" cy="118003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D90FD43-E4F3-1534-070A-B48B31E5E55B}"/>
              </a:ext>
            </a:extLst>
          </p:cNvPr>
          <p:cNvCxnSpPr>
            <a:cxnSpLocks/>
            <a:endCxn id="24" idx="3"/>
          </p:cNvCxnSpPr>
          <p:nvPr/>
        </p:nvCxnSpPr>
        <p:spPr>
          <a:xfrm flipH="1">
            <a:off x="6257541" y="6145520"/>
            <a:ext cx="45512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BD3631C-C1CB-860F-ABDC-B569EDC34140}"/>
              </a:ext>
            </a:extLst>
          </p:cNvPr>
          <p:cNvCxnSpPr>
            <a:cxnSpLocks/>
          </p:cNvCxnSpPr>
          <p:nvPr/>
        </p:nvCxnSpPr>
        <p:spPr>
          <a:xfrm>
            <a:off x="6700477" y="5077849"/>
            <a:ext cx="12192" cy="1067671"/>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9F8F598A-22FB-4EE6-7FFE-C026C7B40A81}"/>
              </a:ext>
            </a:extLst>
          </p:cNvPr>
          <p:cNvSpPr txBox="1"/>
          <p:nvPr/>
        </p:nvSpPr>
        <p:spPr>
          <a:xfrm>
            <a:off x="2735734" y="5709717"/>
            <a:ext cx="3521807" cy="923330"/>
          </a:xfrm>
          <a:prstGeom prst="rect">
            <a:avLst/>
          </a:prstGeom>
          <a:noFill/>
        </p:spPr>
        <p:txBody>
          <a:bodyPr wrap="square">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p:txBody>
      </p:sp>
    </p:spTree>
    <p:extLst>
      <p:ext uri="{BB962C8B-B14F-4D97-AF65-F5344CB8AC3E}">
        <p14:creationId xmlns:p14="http://schemas.microsoft.com/office/powerpoint/2010/main" val="34255654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D0266-83C5-4DA2-D131-76689771C834}"/>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FB00B93E-5F06-7E9B-BC34-2830E25CDEE1}"/>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47736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1030</TotalTime>
  <Words>2750</Words>
  <Application>Microsoft Office PowerPoint</Application>
  <PresentationFormat>Widescreen</PresentationFormat>
  <Paragraphs>364</Paragraphs>
  <Slides>33</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33</vt:i4>
      </vt:variant>
    </vt:vector>
  </HeadingPairs>
  <TitlesOfParts>
    <vt:vector size="42" baseType="lpstr">
      <vt:lpstr>-apple-system</vt:lpstr>
      <vt:lpstr>Aptos</vt:lpstr>
      <vt:lpstr>Arial</vt:lpstr>
      <vt:lpstr>Calibri</vt:lpstr>
      <vt:lpstr>Calibri Light</vt:lpstr>
      <vt:lpstr>Courier New</vt:lpstr>
      <vt:lpstr>Times New Roman</vt:lpstr>
      <vt:lpstr>Verdana</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PowerPoint Presentation</vt:lpstr>
      <vt:lpstr>Datasets</vt:lpstr>
      <vt:lpstr>Jin et al. (Perturb-Seq) details</vt:lpstr>
      <vt:lpstr>Data Visualization</vt:lpstr>
      <vt:lpstr>Results</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57</cp:revision>
  <dcterms:created xsi:type="dcterms:W3CDTF">2025-11-12T22:28:05Z</dcterms:created>
  <dcterms:modified xsi:type="dcterms:W3CDTF">2025-12-04T22:43:16Z</dcterms:modified>
</cp:coreProperties>
</file>