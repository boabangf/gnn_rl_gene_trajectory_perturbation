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4"/>
  </p:notesMasterIdLst>
  <p:sldIdLst>
    <p:sldId id="256" r:id="rId2"/>
    <p:sldId id="284" r:id="rId3"/>
    <p:sldId id="261" r:id="rId4"/>
    <p:sldId id="258" r:id="rId5"/>
    <p:sldId id="263" r:id="rId6"/>
    <p:sldId id="257" r:id="rId7"/>
    <p:sldId id="287" r:id="rId8"/>
    <p:sldId id="289" r:id="rId9"/>
    <p:sldId id="268" r:id="rId10"/>
    <p:sldId id="279" r:id="rId11"/>
    <p:sldId id="267" r:id="rId12"/>
    <p:sldId id="269" r:id="rId13"/>
    <p:sldId id="270" r:id="rId14"/>
    <p:sldId id="271" r:id="rId15"/>
    <p:sldId id="274" r:id="rId16"/>
    <p:sldId id="273" r:id="rId17"/>
    <p:sldId id="276" r:id="rId18"/>
    <p:sldId id="278" r:id="rId19"/>
    <p:sldId id="275" r:id="rId20"/>
    <p:sldId id="277" r:id="rId21"/>
    <p:sldId id="280" r:id="rId22"/>
    <p:sldId id="285" r:id="rId23"/>
    <p:sldId id="281" r:id="rId24"/>
    <p:sldId id="283" r:id="rId25"/>
    <p:sldId id="288" r:id="rId26"/>
    <p:sldId id="282" r:id="rId27"/>
    <p:sldId id="259" r:id="rId28"/>
    <p:sldId id="290" r:id="rId29"/>
    <p:sldId id="291" r:id="rId30"/>
    <p:sldId id="292" r:id="rId31"/>
    <p:sldId id="293" r:id="rId32"/>
    <p:sldId id="286"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2025-12-04</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2025-12-04</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2025-12-04</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2025-12-04</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2025-12-04</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2025-12-04</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2025-12-04</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1628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399" y="5007747"/>
            <a:ext cx="2042889" cy="1675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083" y="5286375"/>
            <a:ext cx="1842293" cy="1396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1600" dirty="0">
                <a:latin typeface="Times New Roman" panose="02020603050405020304" pitchFamily="18" charset="0"/>
                <a:cs typeface="Times New Roman" panose="02020603050405020304" pitchFamily="18" charset="0"/>
              </a:rPr>
              <a:t>Background</a:t>
            </a:r>
          </a:p>
          <a:p>
            <a:r>
              <a:rPr lang="en-US" sz="1600" dirty="0">
                <a:latin typeface="Times New Roman" panose="02020603050405020304" pitchFamily="18" charset="0"/>
                <a:cs typeface="Times New Roman" panose="02020603050405020304" pitchFamily="18" charset="0"/>
              </a:rPr>
              <a:t>Gaps in the Research</a:t>
            </a:r>
          </a:p>
          <a:p>
            <a:r>
              <a:rPr lang="en-US" sz="1600" dirty="0">
                <a:latin typeface="Times New Roman" panose="02020603050405020304" pitchFamily="18" charset="0"/>
                <a:cs typeface="Times New Roman" panose="02020603050405020304" pitchFamily="18" charset="0"/>
              </a:rPr>
              <a:t>Proposed Solution</a:t>
            </a:r>
          </a:p>
          <a:p>
            <a:r>
              <a:rPr lang="en-US" sz="1600" dirty="0">
                <a:latin typeface="Times New Roman" panose="02020603050405020304" pitchFamily="18" charset="0"/>
                <a:cs typeface="Times New Roman" panose="02020603050405020304" pitchFamily="18" charset="0"/>
              </a:rPr>
              <a:t>Datasets</a:t>
            </a:r>
          </a:p>
          <a:p>
            <a:r>
              <a:rPr lang="en-US" sz="1600" dirty="0">
                <a:latin typeface="Times New Roman" panose="02020603050405020304" pitchFamily="18" charset="0"/>
                <a:cs typeface="Times New Roman" panose="02020603050405020304" pitchFamily="18" charset="0"/>
              </a:rPr>
              <a:t>Model Design </a:t>
            </a:r>
          </a:p>
          <a:p>
            <a:r>
              <a:rPr lang="en-US" sz="1600" dirty="0">
                <a:latin typeface="Times New Roman" panose="02020603050405020304" pitchFamily="18" charset="0"/>
                <a:cs typeface="Times New Roman" panose="02020603050405020304" pitchFamily="18" charset="0"/>
              </a:rPr>
              <a:t>System Design (Hardware and Software)</a:t>
            </a:r>
          </a:p>
          <a:p>
            <a:r>
              <a:rPr lang="en-US" sz="1600" dirty="0">
                <a:latin typeface="Times New Roman" panose="02020603050405020304" pitchFamily="18" charset="0"/>
                <a:cs typeface="Times New Roman" panose="02020603050405020304" pitchFamily="18" charset="0"/>
              </a:rPr>
              <a:t>Crisper Knockout Evaluation Setting</a:t>
            </a:r>
          </a:p>
          <a:p>
            <a:r>
              <a:rPr lang="en-US" sz="1600" dirty="0">
                <a:latin typeface="Times New Roman" panose="02020603050405020304" pitchFamily="18" charset="0"/>
                <a:cs typeface="Times New Roman" panose="02020603050405020304" pitchFamily="18" charset="0"/>
              </a:rPr>
              <a:t>Drug Development Evaluation Setting</a:t>
            </a:r>
          </a:p>
          <a:p>
            <a:r>
              <a:rPr lang="en-US" sz="1600" dirty="0">
                <a:latin typeface="Times New Roman" panose="02020603050405020304" pitchFamily="18" charset="0"/>
                <a:cs typeface="Times New Roman" panose="02020603050405020304" pitchFamily="18" charset="0"/>
              </a:rPr>
              <a:t>Expected Outcome</a:t>
            </a:r>
          </a:p>
          <a:p>
            <a:r>
              <a:rPr lang="en-US" sz="16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06594-9025-383C-D90A-339D8756DCA4}"/>
              </a:ext>
            </a:extLst>
          </p:cNvPr>
          <p:cNvSpPr>
            <a:spLocks noGrp="1"/>
          </p:cNvSpPr>
          <p:nvPr>
            <p:ph type="title"/>
          </p:nvPr>
        </p:nvSpPr>
        <p:spPr>
          <a:xfrm>
            <a:off x="838200" y="95370"/>
            <a:ext cx="10515600" cy="639088"/>
          </a:xfrm>
        </p:spPr>
        <p:txBody>
          <a:bodyPr>
            <a:normAutofit/>
          </a:bodyPr>
          <a:lstStyle/>
          <a:p>
            <a:r>
              <a:rPr lang="en-US" sz="2400" b="1" dirty="0"/>
              <a:t>Model Design</a:t>
            </a:r>
            <a:endParaRPr lang="en-CA" sz="2400" b="1" dirty="0"/>
          </a:p>
        </p:txBody>
      </p:sp>
      <p:pic>
        <p:nvPicPr>
          <p:cNvPr id="1028" name="Picture 4" descr="Graph Attention Networks. Graph Machine Learning | by Ashish Kumar | Medium">
            <a:extLst>
              <a:ext uri="{FF2B5EF4-FFF2-40B4-BE49-F238E27FC236}">
                <a16:creationId xmlns:a16="http://schemas.microsoft.com/office/drawing/2014/main" id="{3CDB7DCA-A6FC-2517-E2D1-1EE1521EB3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7952" y="1012351"/>
            <a:ext cx="4261104" cy="22246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4E62448-B44F-7F3B-E9A4-B5A86AD8E1E8}"/>
              </a:ext>
            </a:extLst>
          </p:cNvPr>
          <p:cNvSpPr txBox="1"/>
          <p:nvPr/>
        </p:nvSpPr>
        <p:spPr>
          <a:xfrm>
            <a:off x="3953432" y="729619"/>
            <a:ext cx="4876912" cy="369332"/>
          </a:xfrm>
          <a:prstGeom prst="rect">
            <a:avLst/>
          </a:prstGeom>
          <a:noFill/>
        </p:spPr>
        <p:txBody>
          <a:bodyPr wrap="none" rtlCol="0">
            <a:spAutoFit/>
          </a:bodyPr>
          <a:lstStyle/>
          <a:p>
            <a:r>
              <a:rPr lang="en-US" dirty="0"/>
              <a:t>Graph Attention Network for the Gene Embedding</a:t>
            </a:r>
            <a:endParaRPr lang="en-CA" dirty="0"/>
          </a:p>
        </p:txBody>
      </p:sp>
      <p:cxnSp>
        <p:nvCxnSpPr>
          <p:cNvPr id="7" name="Straight Arrow Connector 6">
            <a:extLst>
              <a:ext uri="{FF2B5EF4-FFF2-40B4-BE49-F238E27FC236}">
                <a16:creationId xmlns:a16="http://schemas.microsoft.com/office/drawing/2014/main" id="{2F5E5B73-B317-1D5E-2ABD-72968283A9D5}"/>
              </a:ext>
            </a:extLst>
          </p:cNvPr>
          <p:cNvCxnSpPr>
            <a:cxnSpLocks/>
          </p:cNvCxnSpPr>
          <p:nvPr/>
        </p:nvCxnSpPr>
        <p:spPr>
          <a:xfrm>
            <a:off x="6214872" y="3236977"/>
            <a:ext cx="0" cy="63512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What is Reinforcement Learning: Overview, Comparisons and Ap">
            <a:extLst>
              <a:ext uri="{FF2B5EF4-FFF2-40B4-BE49-F238E27FC236}">
                <a16:creationId xmlns:a16="http://schemas.microsoft.com/office/drawing/2014/main" id="{C3814DDE-55E8-175C-6E5F-9123161C51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47265" y="3872103"/>
            <a:ext cx="5342477" cy="2071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68FAC6-3366-71CA-7992-A97E43F193A9}"/>
              </a:ext>
            </a:extLst>
          </p:cNvPr>
          <p:cNvSpPr txBox="1"/>
          <p:nvPr/>
        </p:nvSpPr>
        <p:spPr>
          <a:xfrm>
            <a:off x="3953432" y="5913849"/>
            <a:ext cx="4730141" cy="369332"/>
          </a:xfrm>
          <a:prstGeom prst="rect">
            <a:avLst/>
          </a:prstGeom>
          <a:noFill/>
        </p:spPr>
        <p:txBody>
          <a:bodyPr wrap="none" rtlCol="0">
            <a:spAutoFit/>
          </a:bodyPr>
          <a:lstStyle/>
          <a:p>
            <a:r>
              <a:rPr lang="en-US" dirty="0"/>
              <a:t>Reinforcement Learning for Trajectory Prediction</a:t>
            </a:r>
            <a:endParaRPr lang="en-CA" dirty="0"/>
          </a:p>
        </p:txBody>
      </p:sp>
    </p:spTree>
    <p:extLst>
      <p:ext uri="{BB962C8B-B14F-4D97-AF65-F5344CB8AC3E}">
        <p14:creationId xmlns:p14="http://schemas.microsoft.com/office/powerpoint/2010/main" val="405825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58876" y="4122948"/>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58876" y="1544669"/>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556215"/>
            <a:ext cx="11088620" cy="155765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70508" y="173145"/>
            <a:ext cx="9258530" cy="842063"/>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a:t>
            </a:r>
          </a:p>
        </p:txBody>
      </p:sp>
      <p:sp>
        <p:nvSpPr>
          <p:cNvPr id="4" name="TextBox 3">
            <a:extLst>
              <a:ext uri="{FF2B5EF4-FFF2-40B4-BE49-F238E27FC236}">
                <a16:creationId xmlns:a16="http://schemas.microsoft.com/office/drawing/2014/main" id="{F1BB7669-37AA-B4A5-7FA5-BA63F2687B15}"/>
              </a:ext>
            </a:extLst>
          </p:cNvPr>
          <p:cNvSpPr txBox="1"/>
          <p:nvPr/>
        </p:nvSpPr>
        <p:spPr>
          <a:xfrm>
            <a:off x="218113" y="5614068"/>
            <a:ext cx="5848318" cy="1169551"/>
          </a:xfrm>
          <a:prstGeom prst="rect">
            <a:avLst/>
          </a:prstGeom>
          <a:noFill/>
        </p:spPr>
        <p:txBody>
          <a:bodyPr wrap="square" rtlCol="0">
            <a:spAutoFit/>
          </a:bodyPr>
          <a:lstStyle/>
          <a:p>
            <a:r>
              <a:rPr lang="en-US" sz="1400" dirty="0"/>
              <a:t>CTRL: Control Sample</a:t>
            </a:r>
          </a:p>
          <a:p>
            <a:r>
              <a:rPr lang="en-US" sz="1400" dirty="0"/>
              <a:t>PTPN2: Perturb Sample</a:t>
            </a:r>
          </a:p>
          <a:p>
            <a:r>
              <a:rPr lang="en-US" sz="1400" dirty="0"/>
              <a:t>Trust region policy optimization</a:t>
            </a:r>
          </a:p>
          <a:p>
            <a:r>
              <a:rPr lang="en-US" sz="1400" dirty="0"/>
              <a:t>PPO: Proximal policy  optimization</a:t>
            </a:r>
          </a:p>
          <a:p>
            <a:r>
              <a:rPr lang="en-CA" sz="1400" dirty="0"/>
              <a:t>Prediction HORIZON    = 1  </a:t>
            </a:r>
          </a:p>
        </p:txBody>
      </p:sp>
      <p:graphicFrame>
        <p:nvGraphicFramePr>
          <p:cNvPr id="5" name="Table 4">
            <a:extLst>
              <a:ext uri="{FF2B5EF4-FFF2-40B4-BE49-F238E27FC236}">
                <a16:creationId xmlns:a16="http://schemas.microsoft.com/office/drawing/2014/main" id="{6244324C-C7D1-8E75-7007-FBA45CAAC7FB}"/>
              </a:ext>
            </a:extLst>
          </p:cNvPr>
          <p:cNvGraphicFramePr>
            <a:graphicFrameLocks noGrp="1"/>
          </p:cNvGraphicFramePr>
          <p:nvPr>
            <p:extLst>
              <p:ext uri="{D42A27DB-BD31-4B8C-83A1-F6EECF244321}">
                <p14:modId xmlns:p14="http://schemas.microsoft.com/office/powerpoint/2010/main" val="612837851"/>
              </p:ext>
            </p:extLst>
          </p:nvPr>
        </p:nvGraphicFramePr>
        <p:xfrm>
          <a:off x="883456" y="1188352"/>
          <a:ext cx="10425086" cy="4351335"/>
        </p:xfrm>
        <a:graphic>
          <a:graphicData uri="http://schemas.openxmlformats.org/drawingml/2006/table">
            <a:tbl>
              <a:tblPr/>
              <a:tblGrid>
                <a:gridCol w="1489298">
                  <a:extLst>
                    <a:ext uri="{9D8B030D-6E8A-4147-A177-3AD203B41FA5}">
                      <a16:colId xmlns:a16="http://schemas.microsoft.com/office/drawing/2014/main" val="257090424"/>
                    </a:ext>
                  </a:extLst>
                </a:gridCol>
                <a:gridCol w="1489298">
                  <a:extLst>
                    <a:ext uri="{9D8B030D-6E8A-4147-A177-3AD203B41FA5}">
                      <a16:colId xmlns:a16="http://schemas.microsoft.com/office/drawing/2014/main" val="3346602704"/>
                    </a:ext>
                  </a:extLst>
                </a:gridCol>
                <a:gridCol w="1489298">
                  <a:extLst>
                    <a:ext uri="{9D8B030D-6E8A-4147-A177-3AD203B41FA5}">
                      <a16:colId xmlns:a16="http://schemas.microsoft.com/office/drawing/2014/main" val="801850568"/>
                    </a:ext>
                  </a:extLst>
                </a:gridCol>
                <a:gridCol w="1489298">
                  <a:extLst>
                    <a:ext uri="{9D8B030D-6E8A-4147-A177-3AD203B41FA5}">
                      <a16:colId xmlns:a16="http://schemas.microsoft.com/office/drawing/2014/main" val="2831654327"/>
                    </a:ext>
                  </a:extLst>
                </a:gridCol>
                <a:gridCol w="1489298">
                  <a:extLst>
                    <a:ext uri="{9D8B030D-6E8A-4147-A177-3AD203B41FA5}">
                      <a16:colId xmlns:a16="http://schemas.microsoft.com/office/drawing/2014/main" val="2731428822"/>
                    </a:ext>
                  </a:extLst>
                </a:gridCol>
                <a:gridCol w="1489298">
                  <a:extLst>
                    <a:ext uri="{9D8B030D-6E8A-4147-A177-3AD203B41FA5}">
                      <a16:colId xmlns:a16="http://schemas.microsoft.com/office/drawing/2014/main" val="4085199551"/>
                    </a:ext>
                  </a:extLst>
                </a:gridCol>
                <a:gridCol w="1489298">
                  <a:extLst>
                    <a:ext uri="{9D8B030D-6E8A-4147-A177-3AD203B41FA5}">
                      <a16:colId xmlns:a16="http://schemas.microsoft.com/office/drawing/2014/main" val="4067453655"/>
                    </a:ext>
                  </a:extLst>
                </a:gridCol>
              </a:tblGrid>
              <a:tr h="362611">
                <a:tc>
                  <a:txBody>
                    <a:bodyPr/>
                    <a:lstStyle/>
                    <a:p>
                      <a:pPr>
                        <a:buNone/>
                      </a:pPr>
                      <a:r>
                        <a:rPr lang="en-CA" sz="1200" dirty="0"/>
                        <a:t>System</a:t>
                      </a:r>
                    </a:p>
                  </a:txBody>
                  <a:tcPr marL="90653" marR="90653" marT="45326" marB="45326" anchor="ctr">
                    <a:lnL>
                      <a:noFill/>
                    </a:lnL>
                    <a:lnR>
                      <a:noFill/>
                    </a:lnR>
                    <a:lnT>
                      <a:noFill/>
                    </a:lnT>
                    <a:lnB>
                      <a:noFill/>
                    </a:lnB>
                    <a:noFill/>
                  </a:tcPr>
                </a:tc>
                <a:tc>
                  <a:txBody>
                    <a:bodyPr/>
                    <a:lstStyle/>
                    <a:p>
                      <a:pPr>
                        <a:buNone/>
                      </a:pPr>
                      <a:r>
                        <a:rPr lang="en-CA" sz="1200"/>
                        <a:t>Algorithm</a:t>
                      </a:r>
                    </a:p>
                  </a:txBody>
                  <a:tcPr marL="90653" marR="90653" marT="45326" marB="45326" anchor="ctr">
                    <a:lnL>
                      <a:noFill/>
                    </a:lnL>
                    <a:lnR>
                      <a:noFill/>
                    </a:lnR>
                    <a:lnT>
                      <a:noFill/>
                    </a:lnT>
                    <a:lnB>
                      <a:noFill/>
                    </a:lnB>
                    <a:noFill/>
                  </a:tcPr>
                </a:tc>
                <a:tc>
                  <a:txBody>
                    <a:bodyPr/>
                    <a:lstStyle/>
                    <a:p>
                      <a:pPr>
                        <a:buNone/>
                      </a:pPr>
                      <a:r>
                        <a:rPr lang="en-CA" sz="1200"/>
                        <a:t>MSE</a:t>
                      </a:r>
                    </a:p>
                  </a:txBody>
                  <a:tcPr marL="90653" marR="90653" marT="45326" marB="45326" anchor="ctr">
                    <a:lnL>
                      <a:noFill/>
                    </a:lnL>
                    <a:lnR>
                      <a:noFill/>
                    </a:lnR>
                    <a:lnT>
                      <a:noFill/>
                    </a:lnT>
                    <a:lnB>
                      <a:noFill/>
                    </a:lnB>
                    <a:noFill/>
                  </a:tcPr>
                </a:tc>
                <a:tc>
                  <a:txBody>
                    <a:bodyPr/>
                    <a:lstStyle/>
                    <a:p>
                      <a:pPr>
                        <a:buNone/>
                      </a:pPr>
                      <a:r>
                        <a:rPr lang="en-CA" sz="1200"/>
                        <a:t>RMSE</a:t>
                      </a:r>
                    </a:p>
                  </a:txBody>
                  <a:tcPr marL="90653" marR="90653" marT="45326" marB="45326" anchor="ctr">
                    <a:lnL>
                      <a:noFill/>
                    </a:lnL>
                    <a:lnR>
                      <a:noFill/>
                    </a:lnR>
                    <a:lnT>
                      <a:noFill/>
                    </a:lnT>
                    <a:lnB>
                      <a:noFill/>
                    </a:lnB>
                    <a:noFill/>
                  </a:tcPr>
                </a:tc>
                <a:tc>
                  <a:txBody>
                    <a:bodyPr/>
                    <a:lstStyle/>
                    <a:p>
                      <a:pPr>
                        <a:buNone/>
                      </a:pPr>
                      <a:r>
                        <a:rPr lang="en-CA" sz="1200"/>
                        <a:t>MAE</a:t>
                      </a:r>
                    </a:p>
                  </a:txBody>
                  <a:tcPr marL="90653" marR="90653" marT="45326" marB="45326" anchor="ctr">
                    <a:lnL>
                      <a:noFill/>
                    </a:lnL>
                    <a:lnR>
                      <a:noFill/>
                    </a:lnR>
                    <a:lnT>
                      <a:noFill/>
                    </a:lnT>
                    <a:lnB>
                      <a:noFill/>
                    </a:lnB>
                    <a:noFill/>
                  </a:tcPr>
                </a:tc>
                <a:tc>
                  <a:txBody>
                    <a:bodyPr/>
                    <a:lstStyle/>
                    <a:p>
                      <a:pPr>
                        <a:buNone/>
                      </a:pPr>
                      <a:r>
                        <a:rPr lang="en-CA" sz="1200"/>
                        <a:t>R²</a:t>
                      </a:r>
                    </a:p>
                  </a:txBody>
                  <a:tcPr marL="90653" marR="90653" marT="45326" marB="45326" anchor="ctr">
                    <a:lnL>
                      <a:noFill/>
                    </a:lnL>
                    <a:lnR>
                      <a:noFill/>
                    </a:lnR>
                    <a:lnT>
                      <a:noFill/>
                    </a:lnT>
                    <a:lnB>
                      <a:noFill/>
                    </a:lnB>
                    <a:noFill/>
                  </a:tcPr>
                </a:tc>
                <a:tc>
                  <a:txBody>
                    <a:bodyPr/>
                    <a:lstStyle/>
                    <a:p>
                      <a:pPr>
                        <a:buNone/>
                      </a:pPr>
                      <a:r>
                        <a:rPr lang="en-CA" sz="12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2439124447"/>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0.138</a:t>
                      </a:r>
                    </a:p>
                  </a:txBody>
                  <a:tcPr marL="90653" marR="90653" marT="45326" marB="45326" anchor="ctr">
                    <a:lnL>
                      <a:noFill/>
                    </a:lnL>
                    <a:lnR>
                      <a:noFill/>
                    </a:lnR>
                    <a:lnT>
                      <a:noFill/>
                    </a:lnT>
                    <a:lnB>
                      <a:noFill/>
                    </a:lnB>
                    <a:noFill/>
                  </a:tcPr>
                </a:tc>
                <a:tc>
                  <a:txBody>
                    <a:bodyPr/>
                    <a:lstStyle/>
                    <a:p>
                      <a:pPr>
                        <a:buNone/>
                      </a:pPr>
                      <a:r>
                        <a:rPr lang="en-CA" sz="1200"/>
                        <a:t>0.371</a:t>
                      </a:r>
                    </a:p>
                  </a:txBody>
                  <a:tcPr marL="90653" marR="90653" marT="45326" marB="45326" anchor="ctr">
                    <a:lnL>
                      <a:noFill/>
                    </a:lnL>
                    <a:lnR>
                      <a:noFill/>
                    </a:lnR>
                    <a:lnT>
                      <a:noFill/>
                    </a:lnT>
                    <a:lnB>
                      <a:noFill/>
                    </a:lnB>
                    <a:noFill/>
                  </a:tcPr>
                </a:tc>
                <a:tc>
                  <a:txBody>
                    <a:bodyPr/>
                    <a:lstStyle/>
                    <a:p>
                      <a:pPr>
                        <a:buNone/>
                      </a:pPr>
                      <a:r>
                        <a:rPr lang="en-CA" sz="1200"/>
                        <a:t>0.360</a:t>
                      </a:r>
                    </a:p>
                  </a:txBody>
                  <a:tcPr marL="90653" marR="90653" marT="45326" marB="45326" anchor="ctr">
                    <a:lnL>
                      <a:noFill/>
                    </a:lnL>
                    <a:lnR>
                      <a:noFill/>
                    </a:lnR>
                    <a:lnT>
                      <a:noFill/>
                    </a:lnT>
                    <a:lnB>
                      <a:noFill/>
                    </a:lnB>
                    <a:noFill/>
                  </a:tcPr>
                </a:tc>
                <a:tc>
                  <a:txBody>
                    <a:bodyPr/>
                    <a:lstStyle/>
                    <a:p>
                      <a:pPr>
                        <a:buNone/>
                      </a:pPr>
                      <a:r>
                        <a:rPr lang="en-CA" sz="1200"/>
                        <a:t>0.865</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69451864"/>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0.139</a:t>
                      </a:r>
                    </a:p>
                  </a:txBody>
                  <a:tcPr marL="90653" marR="90653" marT="45326" marB="45326" anchor="ctr">
                    <a:lnL>
                      <a:noFill/>
                    </a:lnL>
                    <a:lnR>
                      <a:noFill/>
                    </a:lnR>
                    <a:lnT>
                      <a:noFill/>
                    </a:lnT>
                    <a:lnB>
                      <a:noFill/>
                    </a:lnB>
                    <a:noFill/>
                  </a:tcPr>
                </a:tc>
                <a:tc>
                  <a:txBody>
                    <a:bodyPr/>
                    <a:lstStyle/>
                    <a:p>
                      <a:pPr>
                        <a:buNone/>
                      </a:pPr>
                      <a:r>
                        <a:rPr lang="en-CA" sz="1200"/>
                        <a:t>0.372</a:t>
                      </a:r>
                    </a:p>
                  </a:txBody>
                  <a:tcPr marL="90653" marR="90653" marT="45326" marB="45326" anchor="ctr">
                    <a:lnL>
                      <a:noFill/>
                    </a:lnL>
                    <a:lnR>
                      <a:noFill/>
                    </a:lnR>
                    <a:lnT>
                      <a:noFill/>
                    </a:lnT>
                    <a:lnB>
                      <a:noFill/>
                    </a:lnB>
                    <a:noFill/>
                  </a:tcPr>
                </a:tc>
                <a:tc>
                  <a:txBody>
                    <a:bodyPr/>
                    <a:lstStyle/>
                    <a:p>
                      <a:pPr>
                        <a:buNone/>
                      </a:pPr>
                      <a:r>
                        <a:rPr lang="en-CA" sz="1200"/>
                        <a:t>0.361</a:t>
                      </a:r>
                    </a:p>
                  </a:txBody>
                  <a:tcPr marL="90653" marR="90653" marT="45326" marB="45326" anchor="ctr">
                    <a:lnL>
                      <a:noFill/>
                    </a:lnL>
                    <a:lnR>
                      <a:noFill/>
                    </a:lnR>
                    <a:lnT>
                      <a:noFill/>
                    </a:lnT>
                    <a:lnB>
                      <a:noFill/>
                    </a:lnB>
                    <a:noFill/>
                  </a:tcPr>
                </a:tc>
                <a:tc>
                  <a:txBody>
                    <a:bodyPr/>
                    <a:lstStyle/>
                    <a:p>
                      <a:pPr>
                        <a:buNone/>
                      </a:pPr>
                      <a:r>
                        <a:rPr lang="en-CA" sz="1200"/>
                        <a:t>0.860</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90472158"/>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2158012375"/>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(Train)</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445757522"/>
                  </a:ext>
                </a:extLst>
              </a:tr>
              <a:tr h="362611">
                <a:tc>
                  <a:txBody>
                    <a:bodyPr/>
                    <a:lstStyle/>
                    <a:p>
                      <a:pPr>
                        <a:buNone/>
                      </a:pPr>
                      <a:r>
                        <a:rPr lang="en-CA" sz="1200" dirty="0"/>
                        <a:t>PTPN2</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993833400"/>
                  </a:ext>
                </a:extLst>
              </a:tr>
              <a:tr h="362611">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18092011"/>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2631687750"/>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dirty="0"/>
                        <a:t>TRPO→PPO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581330692"/>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comparable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5122" name="Picture 2">
            <a:extLst>
              <a:ext uri="{FF2B5EF4-FFF2-40B4-BE49-F238E27FC236}">
                <a16:creationId xmlns:a16="http://schemas.microsoft.com/office/drawing/2014/main" id="{08B76761-AE24-3939-18CF-2CA349BDA7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571625"/>
            <a:ext cx="8620125" cy="3714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530757"/>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6" name="Table 5">
            <a:extLst>
              <a:ext uri="{FF2B5EF4-FFF2-40B4-BE49-F238E27FC236}">
                <a16:creationId xmlns:a16="http://schemas.microsoft.com/office/drawing/2014/main" id="{35A9D0B9-1A51-6321-AC0D-E90EB1C7577F}"/>
              </a:ext>
            </a:extLst>
          </p:cNvPr>
          <p:cNvGraphicFramePr>
            <a:graphicFrameLocks noGrp="1"/>
          </p:cNvGraphicFramePr>
          <p:nvPr>
            <p:extLst>
              <p:ext uri="{D42A27DB-BD31-4B8C-83A1-F6EECF244321}">
                <p14:modId xmlns:p14="http://schemas.microsoft.com/office/powerpoint/2010/main" val="2464292590"/>
              </p:ext>
            </p:extLst>
          </p:nvPr>
        </p:nvGraphicFramePr>
        <p:xfrm>
          <a:off x="1003173" y="1162050"/>
          <a:ext cx="10515600" cy="1828800"/>
        </p:xfrm>
        <a:graphic>
          <a:graphicData uri="http://schemas.openxmlformats.org/drawingml/2006/table">
            <a:tbl>
              <a:tblPr/>
              <a:tblGrid>
                <a:gridCol w="2628900">
                  <a:extLst>
                    <a:ext uri="{9D8B030D-6E8A-4147-A177-3AD203B41FA5}">
                      <a16:colId xmlns:a16="http://schemas.microsoft.com/office/drawing/2014/main" val="2201055357"/>
                    </a:ext>
                  </a:extLst>
                </a:gridCol>
                <a:gridCol w="2628900">
                  <a:extLst>
                    <a:ext uri="{9D8B030D-6E8A-4147-A177-3AD203B41FA5}">
                      <a16:colId xmlns:a16="http://schemas.microsoft.com/office/drawing/2014/main" val="1576787890"/>
                    </a:ext>
                  </a:extLst>
                </a:gridCol>
                <a:gridCol w="2628900">
                  <a:extLst>
                    <a:ext uri="{9D8B030D-6E8A-4147-A177-3AD203B41FA5}">
                      <a16:colId xmlns:a16="http://schemas.microsoft.com/office/drawing/2014/main" val="2002103820"/>
                    </a:ext>
                  </a:extLst>
                </a:gridCol>
                <a:gridCol w="2628900">
                  <a:extLst>
                    <a:ext uri="{9D8B030D-6E8A-4147-A177-3AD203B41FA5}">
                      <a16:colId xmlns:a16="http://schemas.microsoft.com/office/drawing/2014/main" val="843929939"/>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dirty="0"/>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1377964396"/>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0.935</a:t>
                      </a:r>
                    </a:p>
                  </a:txBody>
                  <a:tcPr anchor="ctr">
                    <a:lnL>
                      <a:noFill/>
                    </a:lnL>
                    <a:lnR>
                      <a:noFill/>
                    </a:lnR>
                    <a:lnT>
                      <a:noFill/>
                    </a:lnT>
                    <a:lnB>
                      <a:noFill/>
                    </a:lnB>
                    <a:noFill/>
                  </a:tcPr>
                </a:tc>
                <a:tc>
                  <a:txBody>
                    <a:bodyPr/>
                    <a:lstStyle/>
                    <a:p>
                      <a:pPr>
                        <a:buNone/>
                      </a:pPr>
                      <a:r>
                        <a:rPr lang="en-CA"/>
                        <a:t>0.362</a:t>
                      </a:r>
                    </a:p>
                  </a:txBody>
                  <a:tcPr anchor="ctr">
                    <a:lnL>
                      <a:noFill/>
                    </a:lnL>
                    <a:lnR>
                      <a:noFill/>
                    </a:lnR>
                    <a:lnT>
                      <a:noFill/>
                    </a:lnT>
                    <a:lnB>
                      <a:noFill/>
                    </a:lnB>
                    <a:noFill/>
                  </a:tcPr>
                </a:tc>
                <a:extLst>
                  <a:ext uri="{0D108BD9-81ED-4DB2-BD59-A6C34878D82A}">
                    <a16:rowId xmlns:a16="http://schemas.microsoft.com/office/drawing/2014/main" val="1471995102"/>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0.872</a:t>
                      </a:r>
                    </a:p>
                  </a:txBody>
                  <a:tcPr anchor="ctr">
                    <a:lnL>
                      <a:noFill/>
                    </a:lnL>
                    <a:lnR>
                      <a:noFill/>
                    </a:lnR>
                    <a:lnT>
                      <a:noFill/>
                    </a:lnT>
                    <a:lnB>
                      <a:noFill/>
                    </a:lnB>
                    <a:noFill/>
                  </a:tcPr>
                </a:tc>
                <a:tc>
                  <a:txBody>
                    <a:bodyPr/>
                    <a:lstStyle/>
                    <a:p>
                      <a:pPr>
                        <a:buNone/>
                      </a:pPr>
                      <a:r>
                        <a:rPr lang="en-CA"/>
                        <a:t>0.432</a:t>
                      </a:r>
                    </a:p>
                  </a:txBody>
                  <a:tcPr anchor="ctr">
                    <a:lnL>
                      <a:noFill/>
                    </a:lnL>
                    <a:lnR>
                      <a:noFill/>
                    </a:lnR>
                    <a:lnT>
                      <a:noFill/>
                    </a:lnT>
                    <a:lnB>
                      <a:noFill/>
                    </a:lnB>
                    <a:noFill/>
                  </a:tcPr>
                </a:tc>
                <a:extLst>
                  <a:ext uri="{0D108BD9-81ED-4DB2-BD59-A6C34878D82A}">
                    <a16:rowId xmlns:a16="http://schemas.microsoft.com/office/drawing/2014/main" val="2052915524"/>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0.961</a:t>
                      </a:r>
                    </a:p>
                  </a:txBody>
                  <a:tcPr anchor="ctr">
                    <a:lnL>
                      <a:noFill/>
                    </a:lnL>
                    <a:lnR>
                      <a:noFill/>
                    </a:lnR>
                    <a:lnT>
                      <a:noFill/>
                    </a:lnT>
                    <a:lnB>
                      <a:noFill/>
                    </a:lnB>
                    <a:noFill/>
                  </a:tcPr>
                </a:tc>
                <a:tc>
                  <a:txBody>
                    <a:bodyPr/>
                    <a:lstStyle/>
                    <a:p>
                      <a:pPr>
                        <a:buNone/>
                      </a:pPr>
                      <a:r>
                        <a:rPr lang="en-CA"/>
                        <a:t>0.480</a:t>
                      </a:r>
                    </a:p>
                  </a:txBody>
                  <a:tcPr anchor="ctr">
                    <a:lnL>
                      <a:noFill/>
                    </a:lnL>
                    <a:lnR>
                      <a:noFill/>
                    </a:lnR>
                    <a:lnT>
                      <a:noFill/>
                    </a:lnT>
                    <a:lnB>
                      <a:noFill/>
                    </a:lnB>
                    <a:noFill/>
                  </a:tcPr>
                </a:tc>
                <a:extLst>
                  <a:ext uri="{0D108BD9-81ED-4DB2-BD59-A6C34878D82A}">
                    <a16:rowId xmlns:a16="http://schemas.microsoft.com/office/drawing/2014/main" val="21795726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1.180</a:t>
                      </a:r>
                    </a:p>
                  </a:txBody>
                  <a:tcPr anchor="ctr">
                    <a:lnL>
                      <a:noFill/>
                    </a:lnL>
                    <a:lnR>
                      <a:noFill/>
                    </a:lnR>
                    <a:lnT>
                      <a:noFill/>
                    </a:lnT>
                    <a:lnB>
                      <a:noFill/>
                    </a:lnB>
                    <a:noFill/>
                  </a:tcPr>
                </a:tc>
                <a:tc>
                  <a:txBody>
                    <a:bodyPr/>
                    <a:lstStyle/>
                    <a:p>
                      <a:pPr>
                        <a:buNone/>
                      </a:pPr>
                      <a:r>
                        <a:rPr lang="en-CA" dirty="0"/>
                        <a:t>0.590</a:t>
                      </a:r>
                    </a:p>
                  </a:txBody>
                  <a:tcPr anchor="ctr">
                    <a:lnL>
                      <a:noFill/>
                    </a:lnL>
                    <a:lnR>
                      <a:noFill/>
                    </a:lnR>
                    <a:lnT>
                      <a:noFill/>
                    </a:lnT>
                    <a:lnB>
                      <a:noFill/>
                    </a:lnB>
                    <a:noFill/>
                  </a:tcPr>
                </a:tc>
                <a:extLst>
                  <a:ext uri="{0D108BD9-81ED-4DB2-BD59-A6C34878D82A}">
                    <a16:rowId xmlns:a16="http://schemas.microsoft.com/office/drawing/2014/main" val="579702080"/>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6146" name="Picture 2">
            <a:extLst>
              <a:ext uri="{FF2B5EF4-FFF2-40B4-BE49-F238E27FC236}">
                <a16:creationId xmlns:a16="http://schemas.microsoft.com/office/drawing/2014/main" id="{B43FEB0E-E105-2866-3B9E-46F4185567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7581" y="1504950"/>
            <a:ext cx="7716837"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Drug Development</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r>
              <a:rPr lang="en-CA" sz="1600" b="1" dirty="0" err="1"/>
              <a:t>Github</a:t>
            </a:r>
            <a:r>
              <a:rPr lang="en-CA" sz="1600" b="1" dirty="0"/>
              <a:t>: </a:t>
            </a:r>
          </a:p>
          <a:p>
            <a:pPr marL="0" indent="0">
              <a:buNone/>
            </a:pPr>
            <a:r>
              <a:rPr lang="en-CA" sz="1600" dirty="0"/>
              <a:t>https://github.com/boabangf/GNN_RL_gene_trajectory_perturbation/blob/main/Drug%20Development/drug_development.ipynb</a:t>
            </a:r>
          </a:p>
          <a:p>
            <a:pPr marL="0" indent="0">
              <a:buNone/>
            </a:pPr>
            <a:r>
              <a:rPr lang="en-CA" sz="1600" b="1" dirty="0"/>
              <a:t>Dataset</a:t>
            </a:r>
          </a:p>
          <a:p>
            <a:r>
              <a:rPr lang="en-CA" sz="1600" b="1" u="sng" dirty="0">
                <a:hlinkClick r:id="rId3"/>
              </a:rPr>
              <a:t>https://www.ncbi.nlm.nih.gov/geo/query/acc.cgi?acc=GSE119352</a:t>
            </a:r>
            <a:endParaRPr lang="en-CA" sz="1600" dirty="0"/>
          </a:p>
          <a:p>
            <a:pPr marL="0" indent="0">
              <a:buNone/>
            </a:pPr>
            <a:endParaRPr lang="en-CA" sz="1600" dirty="0"/>
          </a:p>
          <a:p>
            <a:pPr marL="0" indent="0">
              <a:buNone/>
            </a:pPr>
            <a:endParaRPr lang="en-CA" sz="1600" dirty="0"/>
          </a:p>
        </p:txBody>
      </p:sp>
      <p:graphicFrame>
        <p:nvGraphicFramePr>
          <p:cNvPr id="4" name="Table 3">
            <a:extLst>
              <a:ext uri="{FF2B5EF4-FFF2-40B4-BE49-F238E27FC236}">
                <a16:creationId xmlns:a16="http://schemas.microsoft.com/office/drawing/2014/main" id="{95C04D88-FBCC-845D-F882-CD9B9C35CA70}"/>
              </a:ext>
            </a:extLst>
          </p:cNvPr>
          <p:cNvGraphicFramePr>
            <a:graphicFrameLocks noGrp="1"/>
          </p:cNvGraphicFramePr>
          <p:nvPr>
            <p:extLst>
              <p:ext uri="{D42A27DB-BD31-4B8C-83A1-F6EECF244321}">
                <p14:modId xmlns:p14="http://schemas.microsoft.com/office/powerpoint/2010/main" val="1685611038"/>
              </p:ext>
            </p:extLst>
          </p:nvPr>
        </p:nvGraphicFramePr>
        <p:xfrm>
          <a:off x="978408" y="6057773"/>
          <a:ext cx="9381744" cy="541020"/>
        </p:xfrm>
        <a:graphic>
          <a:graphicData uri="http://schemas.openxmlformats.org/drawingml/2006/table">
            <a:tbl>
              <a:tblPr/>
              <a:tblGrid>
                <a:gridCol w="9381744">
                  <a:extLst>
                    <a:ext uri="{9D8B030D-6E8A-4147-A177-3AD203B41FA5}">
                      <a16:colId xmlns:a16="http://schemas.microsoft.com/office/drawing/2014/main" val="3264525774"/>
                    </a:ext>
                  </a:extLst>
                </a:gridCol>
              </a:tblGrid>
              <a:tr h="270510">
                <a:tc>
                  <a:txBody>
                    <a:bodyPr/>
                    <a:lstStyle/>
                    <a:p>
                      <a:pPr>
                        <a:spcAft>
                          <a:spcPts val="300"/>
                        </a:spcAft>
                        <a:buFont typeface="Arial" panose="020B0604020202020204" pitchFamily="34" charset="0"/>
                        <a:buNone/>
                      </a:pPr>
                      <a:br>
                        <a:rPr lang="en-CA" sz="1100" dirty="0">
                          <a:effectLst/>
                          <a:latin typeface="Verdana" panose="020B0604030504040204" pitchFamily="34" charset="0"/>
                        </a:rPr>
                      </a:br>
                      <a:r>
                        <a:rPr lang="en-CA" sz="1100" dirty="0">
                          <a:effectLst/>
                          <a:latin typeface="Verdana" panose="020B0604030504040204" pitchFamily="34" charset="0"/>
                        </a:rPr>
                        <a:t>Gubin MM, </a:t>
                      </a:r>
                      <a:r>
                        <a:rPr lang="en-CA" sz="1100" dirty="0" err="1">
                          <a:effectLst/>
                          <a:latin typeface="Verdana" panose="020B0604030504040204" pitchFamily="34" charset="0"/>
                        </a:rPr>
                        <a:t>Esaulova</a:t>
                      </a:r>
                      <a:r>
                        <a:rPr lang="en-CA" sz="1100" dirty="0">
                          <a:effectLst/>
                          <a:latin typeface="Verdana" panose="020B0604030504040204" pitchFamily="34" charset="0"/>
                        </a:rPr>
                        <a:t> E, Ward JP, Malkova ON et al. High-Dimensional Analysis Delineates Myeloid and Lymphoid Compartment Remodeling during Successful Immune-Checkpoint Cancer Therapy. </a:t>
                      </a:r>
                      <a:r>
                        <a:rPr lang="en-CA" sz="1100" i="1" dirty="0">
                          <a:effectLst/>
                          <a:latin typeface="Verdana" panose="020B0604030504040204" pitchFamily="34" charset="0"/>
                        </a:rPr>
                        <a:t>Cell</a:t>
                      </a:r>
                      <a:r>
                        <a:rPr lang="en-CA" sz="1100" dirty="0">
                          <a:effectLst/>
                          <a:latin typeface="Verdana" panose="020B0604030504040204" pitchFamily="34" charset="0"/>
                        </a:rPr>
                        <a:t> 2018 Nov 1;175(4)</a:t>
                      </a:r>
                    </a:p>
                  </a:txBody>
                  <a:tcPr marL="19050" marR="19050" marT="19050" marB="19050">
                    <a:lnL>
                      <a:noFill/>
                    </a:lnL>
                    <a:lnR>
                      <a:noFill/>
                    </a:lnR>
                    <a:lnT>
                      <a:noFill/>
                    </a:lnT>
                    <a:lnB>
                      <a:noFill/>
                    </a:lnB>
                    <a:solidFill>
                      <a:srgbClr val="FFFFFF"/>
                    </a:solidFill>
                  </a:tcPr>
                </a:tc>
                <a:extLst>
                  <a:ext uri="{0D108BD9-81ED-4DB2-BD59-A6C34878D82A}">
                    <a16:rowId xmlns:a16="http://schemas.microsoft.com/office/drawing/2014/main" val="4123696934"/>
                  </a:ext>
                </a:extLst>
              </a:tr>
            </a:tbl>
          </a:graphicData>
        </a:graphic>
      </p:graphicFrame>
    </p:spTree>
    <p:extLst>
      <p:ext uri="{BB962C8B-B14F-4D97-AF65-F5344CB8AC3E}">
        <p14:creationId xmlns:p14="http://schemas.microsoft.com/office/powerpoint/2010/main" val="1855703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8448" y="1690688"/>
            <a:ext cx="8897112" cy="4531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2400" b="1" dirty="0">
                <a:latin typeface="Times New Roman" panose="02020603050405020304" pitchFamily="18" charset="0"/>
                <a:cs typeface="Times New Roman" panose="02020603050405020304" pitchFamily="18" charset="0"/>
              </a:rPr>
              <a:t>Expected Impact</a:t>
            </a:r>
            <a:br>
              <a:rPr lang="en-CA" sz="4800" b="1" dirty="0">
                <a:latin typeface="Times New Roman" panose="02020603050405020304" pitchFamily="18" charset="0"/>
                <a:cs typeface="Times New Roman" panose="02020603050405020304" pitchFamily="18" charset="0"/>
              </a:rPr>
            </a:br>
            <a:endParaRPr lang="en-CA" sz="4800" dirty="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B0AB68-D5E4-63A2-B601-46CF1D234C9F}"/>
              </a:ext>
            </a:extLst>
          </p:cNvPr>
          <p:cNvSpPr>
            <a:spLocks noGrp="1"/>
          </p:cNvSpPr>
          <p:nvPr>
            <p:ph idx="1"/>
          </p:nvPr>
        </p:nvSpPr>
        <p:spPr/>
        <p:txBody>
          <a:bodyPr/>
          <a:lstStyle/>
          <a:p>
            <a:pPr marL="0" indent="0">
              <a:buNone/>
            </a:pPr>
            <a:endParaRPr lang="en-US" dirty="0"/>
          </a:p>
          <a:p>
            <a:pPr marL="0" indent="0">
              <a:buNone/>
            </a:pPr>
            <a:endParaRPr lang="en-US" dirty="0"/>
          </a:p>
          <a:p>
            <a:pPr marL="0" indent="0">
              <a:buNone/>
            </a:pPr>
            <a:r>
              <a:rPr lang="en-US" dirty="0"/>
              <a:t>                </a:t>
            </a:r>
          </a:p>
          <a:p>
            <a:pPr marL="0" indent="0">
              <a:buNone/>
            </a:pPr>
            <a:r>
              <a:rPr lang="en-US" dirty="0"/>
              <a:t>               OUT –OF-SAMPLE PREDICTION(CRISPR KNOCKOUT)</a:t>
            </a:r>
            <a:endParaRPr lang="en-CA" dirty="0"/>
          </a:p>
        </p:txBody>
      </p:sp>
    </p:spTree>
    <p:extLst>
      <p:ext uri="{BB962C8B-B14F-4D97-AF65-F5344CB8AC3E}">
        <p14:creationId xmlns:p14="http://schemas.microsoft.com/office/powerpoint/2010/main" val="24245260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1373E-BC6A-E006-CAEE-BC43A16C1AFA}"/>
              </a:ext>
            </a:extLst>
          </p:cNvPr>
          <p:cNvSpPr>
            <a:spLocks noGrp="1"/>
          </p:cNvSpPr>
          <p:nvPr>
            <p:ph type="title"/>
          </p:nvPr>
        </p:nvSpPr>
        <p:spPr>
          <a:xfrm>
            <a:off x="384048" y="355981"/>
            <a:ext cx="10457688" cy="448691"/>
          </a:xfrm>
        </p:spPr>
        <p:txBody>
          <a:bodyPr>
            <a:normAutofit/>
          </a:bodyPr>
          <a:lstStyle/>
          <a:p>
            <a:r>
              <a:rPr lang="en-US" sz="2400" dirty="0"/>
              <a:t>Datasets</a:t>
            </a:r>
            <a:endParaRPr lang="en-CA" sz="2400" dirty="0"/>
          </a:p>
        </p:txBody>
      </p:sp>
      <p:sp>
        <p:nvSpPr>
          <p:cNvPr id="4" name="Rectangle 1">
            <a:extLst>
              <a:ext uri="{FF2B5EF4-FFF2-40B4-BE49-F238E27FC236}">
                <a16:creationId xmlns:a16="http://schemas.microsoft.com/office/drawing/2014/main" id="{0F3027D1-3D95-2DE9-6FEB-3B188BD20F89}"/>
              </a:ext>
            </a:extLst>
          </p:cNvPr>
          <p:cNvSpPr>
            <a:spLocks noGrp="1" noChangeArrowheads="1"/>
          </p:cNvSpPr>
          <p:nvPr>
            <p:ph idx="1"/>
          </p:nvPr>
        </p:nvSpPr>
        <p:spPr bwMode="auto">
          <a:xfrm>
            <a:off x="509016" y="1515101"/>
            <a:ext cx="9416232" cy="3531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cs typeface="Arial" panose="020B0604020202020204" pitchFamily="34" charset="0"/>
              </a:rPr>
              <a:t>IQCELL</a:t>
            </a:r>
            <a:r>
              <a:rPr kumimoji="0" lang="en-US" altLang="en-US" sz="1800" b="0" i="0" u="none" strike="noStrike" cap="none" normalizeH="0" baseline="0" dirty="0">
                <a:ln>
                  <a:noFill/>
                </a:ln>
                <a:solidFill>
                  <a:schemeClr val="tx1"/>
                </a:solidFill>
                <a:effectLst/>
                <a:cs typeface="Arial" panose="020B0604020202020204" pitchFamily="34" charset="0"/>
              </a:rPr>
              <a:t>:</a:t>
            </a:r>
            <a:br>
              <a:rPr kumimoji="0" lang="en-US" altLang="en-US" sz="1800" b="0" i="0" u="none" strike="noStrike" cap="none" normalizeH="0" baseline="0" dirty="0">
                <a:ln>
                  <a:noFill/>
                </a:ln>
                <a:solidFill>
                  <a:schemeClr val="tx1"/>
                </a:solidFill>
                <a:effectLst/>
                <a:cs typeface="Arial" panose="020B0604020202020204" pitchFamily="34" charset="0"/>
              </a:rPr>
            </a:br>
            <a:r>
              <a:rPr kumimoji="0" lang="en-US" altLang="en-US" sz="1800" b="0" i="0" u="none" strike="noStrike" cap="none" normalizeH="0" baseline="0" dirty="0">
                <a:ln>
                  <a:noFill/>
                </a:ln>
                <a:solidFill>
                  <a:schemeClr val="tx1"/>
                </a:solidFill>
                <a:effectLst/>
                <a:cs typeface="Arial" panose="020B0604020202020204" pitchFamily="34" charset="0"/>
              </a:rPr>
              <a:t>Predicts </a:t>
            </a:r>
            <a:r>
              <a:rPr kumimoji="0" lang="en-US" altLang="en-US" sz="1800" b="0" i="1" u="none" strike="noStrike" cap="none" normalizeH="0" baseline="0" dirty="0">
                <a:ln>
                  <a:noFill/>
                </a:ln>
                <a:solidFill>
                  <a:schemeClr val="tx1"/>
                </a:solidFill>
                <a:effectLst/>
                <a:cs typeface="Arial" panose="020B0604020202020204" pitchFamily="34" charset="0"/>
              </a:rPr>
              <a:t>how gene perturbations alter developmental trajectories</a:t>
            </a:r>
            <a:r>
              <a:rPr kumimoji="0" lang="en-US" altLang="en-US" sz="1800" b="0" i="0" u="none" strike="noStrike" cap="none" normalizeH="0" baseline="0" dirty="0">
                <a:ln>
                  <a:noFill/>
                </a:ln>
                <a:solidFill>
                  <a:schemeClr val="tx1"/>
                </a:solidFill>
                <a:effectLst/>
                <a:cs typeface="Arial" panose="020B0604020202020204" pitchFamily="34" charset="0"/>
              </a:rPr>
              <a:t> (state transitions, fate decisions).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0" i="0" u="none" strike="noStrike" cap="none" normalizeH="0" baseline="0" dirty="0">
                <a:ln>
                  <a:noFill/>
                </a:ln>
                <a:solidFill>
                  <a:schemeClr val="tx1"/>
                </a:solidFill>
                <a:effectLst/>
                <a:cs typeface="Arial" panose="020B0604020202020204" pitchFamily="34" charset="0"/>
              </a:rPr>
              <a:t>Uses control dat</a:t>
            </a:r>
            <a:r>
              <a:rPr lang="en-US" altLang="en-US" sz="1800" dirty="0">
                <a:cs typeface="Arial" panose="020B0604020202020204" pitchFamily="34" charset="0"/>
              </a:rPr>
              <a:t>a and perform </a:t>
            </a:r>
            <a:r>
              <a:rPr lang="en-US" altLang="en-US" sz="1800" dirty="0" err="1">
                <a:cs typeface="Arial" panose="020B0604020202020204" pitchFamily="34" charset="0"/>
              </a:rPr>
              <a:t>crispr</a:t>
            </a:r>
            <a:r>
              <a:rPr lang="en-US" altLang="en-US" sz="1800" dirty="0">
                <a:cs typeface="Arial" panose="020B0604020202020204" pitchFamily="34" charset="0"/>
              </a:rPr>
              <a:t> based in-</a:t>
            </a:r>
            <a:r>
              <a:rPr lang="en-US" altLang="en-US" sz="1800" dirty="0" err="1">
                <a:cs typeface="Arial" panose="020B0604020202020204" pitchFamily="34" charset="0"/>
              </a:rPr>
              <a:t>silio</a:t>
            </a:r>
            <a:r>
              <a:rPr lang="en-US" altLang="en-US" sz="1800" dirty="0">
                <a:cs typeface="Arial" panose="020B0604020202020204" pitchFamily="34" charset="0"/>
              </a:rPr>
              <a:t> perturbed</a:t>
            </a:r>
            <a:endParaRPr kumimoji="0" lang="en-US" altLang="en-US" sz="1800" b="0"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1"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1800" b="1" dirty="0">
              <a:cs typeface="Arial" panose="020B0604020202020204" pitchFamily="34" charset="0"/>
            </a:endParaRPr>
          </a:p>
          <a:p>
            <a:pPr marL="0" indent="0">
              <a:buNone/>
            </a:pPr>
            <a:r>
              <a:rPr lang="en-CA" sz="1600" dirty="0"/>
              <a:t>IQCELL: A platform for predicting the effect of gene perturbations</a:t>
            </a:r>
          </a:p>
          <a:p>
            <a:pPr marL="0" indent="0">
              <a:buNone/>
            </a:pPr>
            <a:r>
              <a:rPr lang="en-CA" sz="1600" dirty="0"/>
              <a:t>on developmental trajectories using single-cell RNA-seq data." </a:t>
            </a:r>
            <a:r>
              <a:rPr lang="en-CA" sz="1600" dirty="0" err="1"/>
              <a:t>PLoS</a:t>
            </a:r>
            <a:r>
              <a:rPr lang="en-CA" sz="1600" dirty="0"/>
              <a:t> Computational Biology 18.2 (2022)</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b="1" i="0" u="none" strike="noStrike" cap="none" normalizeH="0" baseline="0" dirty="0">
              <a:ln>
                <a:noFill/>
              </a:ln>
              <a:solidFill>
                <a:schemeClr val="tx1"/>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sz="1800" b="1" dirty="0">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cs typeface="Arial" panose="020B0604020202020204" pitchFamily="34" charset="0"/>
              </a:rPr>
              <a:t>(Perturb-Seq)</a:t>
            </a:r>
            <a:r>
              <a:rPr kumimoji="0" lang="en-US" altLang="en-US" sz="1800" b="0" i="0" u="none" strike="noStrike" cap="none" normalizeH="0" baseline="0" dirty="0">
                <a:ln>
                  <a:noFill/>
                </a:ln>
                <a:solidFill>
                  <a:schemeClr val="tx1"/>
                </a:solidFill>
                <a:effectLst/>
                <a:cs typeface="Arial" panose="020B0604020202020204" pitchFamily="34" charset="0"/>
              </a:rPr>
              <a:t>:</a:t>
            </a:r>
            <a:br>
              <a:rPr kumimoji="0" lang="en-US" altLang="en-US" sz="1800" b="0" i="0" u="none" strike="noStrike" cap="none" normalizeH="0" baseline="0" dirty="0">
                <a:ln>
                  <a:noFill/>
                </a:ln>
                <a:solidFill>
                  <a:schemeClr val="tx1"/>
                </a:solidFill>
                <a:effectLst/>
                <a:cs typeface="Arial" panose="020B0604020202020204" pitchFamily="34" charset="0"/>
              </a:rPr>
            </a:br>
            <a:endParaRPr lang="en-US" altLang="en-US" sz="1800" i="1" dirty="0">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0" i="0" u="none" strike="noStrike" cap="none" normalizeH="0" baseline="0" dirty="0">
              <a:ln>
                <a:noFill/>
              </a:ln>
              <a:solidFill>
                <a:schemeClr val="tx1"/>
              </a:solidFill>
              <a:effectLst/>
              <a:cs typeface="Arial" panose="020B0604020202020204" pitchFamily="34" charset="0"/>
            </a:endParaRPr>
          </a:p>
        </p:txBody>
      </p:sp>
    </p:spTree>
    <p:extLst>
      <p:ext uri="{BB962C8B-B14F-4D97-AF65-F5344CB8AC3E}">
        <p14:creationId xmlns:p14="http://schemas.microsoft.com/office/powerpoint/2010/main" val="3496764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31FD2-85F0-B70E-6ED0-B0650D5F2BB4}"/>
              </a:ext>
            </a:extLst>
          </p:cNvPr>
          <p:cNvSpPr>
            <a:spLocks noGrp="1"/>
          </p:cNvSpPr>
          <p:nvPr>
            <p:ph type="title"/>
          </p:nvPr>
        </p:nvSpPr>
        <p:spPr/>
        <p:txBody>
          <a:bodyPr/>
          <a:lstStyle/>
          <a:p>
            <a:r>
              <a:rPr lang="en-US" dirty="0"/>
              <a:t>Data Visualization</a:t>
            </a:r>
            <a:endParaRPr lang="en-CA" dirty="0"/>
          </a:p>
        </p:txBody>
      </p:sp>
      <p:sp>
        <p:nvSpPr>
          <p:cNvPr id="4" name="Rectangle 3">
            <a:extLst>
              <a:ext uri="{FF2B5EF4-FFF2-40B4-BE49-F238E27FC236}">
                <a16:creationId xmlns:a16="http://schemas.microsoft.com/office/drawing/2014/main" id="{CCD27D98-8D3F-FC47-D4CE-BBB70E2586CE}"/>
              </a:ext>
            </a:extLst>
          </p:cNvPr>
          <p:cNvSpPr/>
          <p:nvPr/>
        </p:nvSpPr>
        <p:spPr>
          <a:xfrm>
            <a:off x="1833136" y="1690688"/>
            <a:ext cx="273377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A367278F-33FC-EAA2-012B-EFD921B92258}"/>
              </a:ext>
            </a:extLst>
          </p:cNvPr>
          <p:cNvSpPr/>
          <p:nvPr/>
        </p:nvSpPr>
        <p:spPr>
          <a:xfrm>
            <a:off x="6472695" y="1673404"/>
            <a:ext cx="2637934" cy="6488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587DBCF0-AC78-F9F0-849C-E355DDD1DD36}"/>
              </a:ext>
            </a:extLst>
          </p:cNvPr>
          <p:cNvSpPr/>
          <p:nvPr/>
        </p:nvSpPr>
        <p:spPr>
          <a:xfrm>
            <a:off x="1875557" y="2965664"/>
            <a:ext cx="2648932"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Rectangle 6">
            <a:extLst>
              <a:ext uri="{FF2B5EF4-FFF2-40B4-BE49-F238E27FC236}">
                <a16:creationId xmlns:a16="http://schemas.microsoft.com/office/drawing/2014/main" id="{87A452FD-B44C-F1A5-7C0C-565633F07ACD}"/>
              </a:ext>
            </a:extLst>
          </p:cNvPr>
          <p:cNvSpPr/>
          <p:nvPr/>
        </p:nvSpPr>
        <p:spPr>
          <a:xfrm>
            <a:off x="6472695" y="2965664"/>
            <a:ext cx="263793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B5B5F1B5-216C-4EB7-831F-8DDA515FBEDD}"/>
              </a:ext>
            </a:extLst>
          </p:cNvPr>
          <p:cNvSpPr txBox="1"/>
          <p:nvPr/>
        </p:nvSpPr>
        <p:spPr>
          <a:xfrm>
            <a:off x="1917193" y="1813177"/>
            <a:ext cx="2307336" cy="523220"/>
          </a:xfrm>
          <a:prstGeom prst="rect">
            <a:avLst/>
          </a:prstGeom>
          <a:noFill/>
        </p:spPr>
        <p:txBody>
          <a:bodyPr wrap="square">
            <a:spAutoFit/>
          </a:bodyPr>
          <a:lstStyle/>
          <a:p>
            <a:r>
              <a:rPr lang="en-US" altLang="en-US" sz="1400" b="1" dirty="0">
                <a:cs typeface="Arial" panose="020B0604020202020204" pitchFamily="34" charset="0"/>
              </a:rPr>
              <a:t>IQCELL</a:t>
            </a:r>
            <a:r>
              <a:rPr lang="en-US" altLang="en-US" sz="1400" dirty="0">
                <a:cs typeface="Arial" panose="020B0604020202020204" pitchFamily="34" charset="0"/>
              </a:rPr>
              <a:t>: </a:t>
            </a:r>
            <a:r>
              <a:rPr lang="en-CA" sz="1400" b="0" i="0" dirty="0">
                <a:solidFill>
                  <a:srgbClr val="000000"/>
                </a:solidFill>
                <a:effectLst/>
                <a:latin typeface="Verdana" panose="020B0604030504040204" pitchFamily="34" charset="0"/>
              </a:rPr>
              <a:t>GSE196972_RAW.tar</a:t>
            </a:r>
            <a:endParaRPr lang="en-CA" sz="1400" dirty="0"/>
          </a:p>
        </p:txBody>
      </p:sp>
      <p:sp>
        <p:nvSpPr>
          <p:cNvPr id="10" name="TextBox 9">
            <a:extLst>
              <a:ext uri="{FF2B5EF4-FFF2-40B4-BE49-F238E27FC236}">
                <a16:creationId xmlns:a16="http://schemas.microsoft.com/office/drawing/2014/main" id="{AE9FE287-1066-B819-C233-FDCEB59EAE38}"/>
              </a:ext>
            </a:extLst>
          </p:cNvPr>
          <p:cNvSpPr txBox="1"/>
          <p:nvPr/>
        </p:nvSpPr>
        <p:spPr>
          <a:xfrm>
            <a:off x="2229062" y="3096796"/>
            <a:ext cx="1845955" cy="369332"/>
          </a:xfrm>
          <a:prstGeom prst="rect">
            <a:avLst/>
          </a:prstGeom>
          <a:noFill/>
        </p:spPr>
        <p:txBody>
          <a:bodyPr wrap="none" rtlCol="0">
            <a:spAutoFit/>
          </a:bodyPr>
          <a:lstStyle/>
          <a:p>
            <a:r>
              <a:rPr lang="en-US" dirty="0"/>
              <a:t>Control Sequence</a:t>
            </a:r>
            <a:endParaRPr lang="en-CA" dirty="0"/>
          </a:p>
        </p:txBody>
      </p:sp>
      <p:sp>
        <p:nvSpPr>
          <p:cNvPr id="11" name="Rectangle 10">
            <a:extLst>
              <a:ext uri="{FF2B5EF4-FFF2-40B4-BE49-F238E27FC236}">
                <a16:creationId xmlns:a16="http://schemas.microsoft.com/office/drawing/2014/main" id="{784251FA-8EF0-C1A8-4C5E-B6D602A6823B}"/>
              </a:ext>
            </a:extLst>
          </p:cNvPr>
          <p:cNvSpPr/>
          <p:nvPr/>
        </p:nvSpPr>
        <p:spPr>
          <a:xfrm>
            <a:off x="1875556" y="4240640"/>
            <a:ext cx="2755047"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3" name="Straight Arrow Connector 12">
            <a:extLst>
              <a:ext uri="{FF2B5EF4-FFF2-40B4-BE49-F238E27FC236}">
                <a16:creationId xmlns:a16="http://schemas.microsoft.com/office/drawing/2014/main" id="{F38AADCA-D438-6446-3EDA-D399CA2FDB19}"/>
              </a:ext>
            </a:extLst>
          </p:cNvPr>
          <p:cNvCxnSpPr>
            <a:stCxn id="4" idx="2"/>
            <a:endCxn id="6" idx="0"/>
          </p:cNvCxnSpPr>
          <p:nvPr/>
        </p:nvCxnSpPr>
        <p:spPr>
          <a:xfrm>
            <a:off x="3200023" y="2322284"/>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59FB33A-D8E7-8A5E-E31F-7E98AD9297ED}"/>
              </a:ext>
            </a:extLst>
          </p:cNvPr>
          <p:cNvCxnSpPr/>
          <p:nvPr/>
        </p:nvCxnSpPr>
        <p:spPr>
          <a:xfrm>
            <a:off x="3200023" y="3597260"/>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D7FEB854-3240-798C-DC3A-40ED67E791DC}"/>
              </a:ext>
            </a:extLst>
          </p:cNvPr>
          <p:cNvSpPr txBox="1"/>
          <p:nvPr/>
        </p:nvSpPr>
        <p:spPr>
          <a:xfrm>
            <a:off x="1833136" y="4391469"/>
            <a:ext cx="2755050" cy="369332"/>
          </a:xfrm>
          <a:prstGeom prst="rect">
            <a:avLst/>
          </a:prstGeom>
          <a:noFill/>
        </p:spPr>
        <p:txBody>
          <a:bodyPr wrap="none" rtlCol="0">
            <a:spAutoFit/>
          </a:bodyPr>
          <a:lstStyle/>
          <a:p>
            <a:r>
              <a:rPr lang="en-US" dirty="0"/>
              <a:t>In-silico Crispr perturbation</a:t>
            </a:r>
            <a:endParaRPr lang="en-CA" dirty="0"/>
          </a:p>
        </p:txBody>
      </p:sp>
      <p:sp>
        <p:nvSpPr>
          <p:cNvPr id="16" name="Rectangle 15">
            <a:extLst>
              <a:ext uri="{FF2B5EF4-FFF2-40B4-BE49-F238E27FC236}">
                <a16:creationId xmlns:a16="http://schemas.microsoft.com/office/drawing/2014/main" id="{F149BA33-1C77-2CB6-E2F2-5C27AADC0AD2}"/>
              </a:ext>
            </a:extLst>
          </p:cNvPr>
          <p:cNvSpPr/>
          <p:nvPr/>
        </p:nvSpPr>
        <p:spPr>
          <a:xfrm>
            <a:off x="6472695" y="4374129"/>
            <a:ext cx="2637934" cy="6315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TextBox 18">
            <a:extLst>
              <a:ext uri="{FF2B5EF4-FFF2-40B4-BE49-F238E27FC236}">
                <a16:creationId xmlns:a16="http://schemas.microsoft.com/office/drawing/2014/main" id="{8B3A6B21-FDFF-2531-445F-7851D95C69B6}"/>
              </a:ext>
            </a:extLst>
          </p:cNvPr>
          <p:cNvSpPr txBox="1"/>
          <p:nvPr/>
        </p:nvSpPr>
        <p:spPr>
          <a:xfrm>
            <a:off x="6838769" y="3096796"/>
            <a:ext cx="2100447" cy="369332"/>
          </a:xfrm>
          <a:prstGeom prst="rect">
            <a:avLst/>
          </a:prstGeom>
          <a:noFill/>
        </p:spPr>
        <p:txBody>
          <a:bodyPr wrap="none" rtlCol="0">
            <a:spAutoFit/>
          </a:bodyPr>
          <a:lstStyle/>
          <a:p>
            <a:r>
              <a:rPr lang="en-US" dirty="0"/>
              <a:t>Perturbed Sequence</a:t>
            </a:r>
            <a:endParaRPr lang="en-CA" dirty="0"/>
          </a:p>
        </p:txBody>
      </p:sp>
      <p:sp>
        <p:nvSpPr>
          <p:cNvPr id="20" name="TextBox 19">
            <a:extLst>
              <a:ext uri="{FF2B5EF4-FFF2-40B4-BE49-F238E27FC236}">
                <a16:creationId xmlns:a16="http://schemas.microsoft.com/office/drawing/2014/main" id="{23E0AD70-A3BA-D8DC-9A66-1D0882D4F311}"/>
              </a:ext>
            </a:extLst>
          </p:cNvPr>
          <p:cNvSpPr txBox="1"/>
          <p:nvPr/>
        </p:nvSpPr>
        <p:spPr>
          <a:xfrm>
            <a:off x="6417439" y="4502904"/>
            <a:ext cx="2748445" cy="369332"/>
          </a:xfrm>
          <a:prstGeom prst="rect">
            <a:avLst/>
          </a:prstGeom>
          <a:noFill/>
        </p:spPr>
        <p:txBody>
          <a:bodyPr wrap="none" rtlCol="0">
            <a:spAutoFit/>
          </a:bodyPr>
          <a:lstStyle/>
          <a:p>
            <a:r>
              <a:rPr lang="en-US" dirty="0"/>
              <a:t>In-Vitro Crispr perturbation</a:t>
            </a:r>
            <a:endParaRPr lang="en-CA" dirty="0"/>
          </a:p>
        </p:txBody>
      </p:sp>
      <p:cxnSp>
        <p:nvCxnSpPr>
          <p:cNvPr id="21" name="Straight Arrow Connector 20">
            <a:extLst>
              <a:ext uri="{FF2B5EF4-FFF2-40B4-BE49-F238E27FC236}">
                <a16:creationId xmlns:a16="http://schemas.microsoft.com/office/drawing/2014/main" id="{4F7A1501-78F9-69AD-3C92-5D96D9FCA0DD}"/>
              </a:ext>
            </a:extLst>
          </p:cNvPr>
          <p:cNvCxnSpPr/>
          <p:nvPr/>
        </p:nvCxnSpPr>
        <p:spPr>
          <a:xfrm>
            <a:off x="7791661" y="2322284"/>
            <a:ext cx="0" cy="6433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794ADA63-572E-80A8-456C-ADED0CCC6C50}"/>
              </a:ext>
            </a:extLst>
          </p:cNvPr>
          <p:cNvCxnSpPr>
            <a:cxnSpLocks/>
            <a:endCxn id="16" idx="0"/>
          </p:cNvCxnSpPr>
          <p:nvPr/>
        </p:nvCxnSpPr>
        <p:spPr>
          <a:xfrm flipH="1">
            <a:off x="7791662" y="3597260"/>
            <a:ext cx="2355" cy="77686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3135DD24-5FBC-4C6A-275C-D2D4356347C1}"/>
              </a:ext>
            </a:extLst>
          </p:cNvPr>
          <p:cNvSpPr/>
          <p:nvPr/>
        </p:nvSpPr>
        <p:spPr>
          <a:xfrm>
            <a:off x="3641118" y="5535313"/>
            <a:ext cx="3695415" cy="107616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7" name="Straight Arrow Connector 26">
            <a:extLst>
              <a:ext uri="{FF2B5EF4-FFF2-40B4-BE49-F238E27FC236}">
                <a16:creationId xmlns:a16="http://schemas.microsoft.com/office/drawing/2014/main" id="{42E39095-8EA8-CBAB-45B4-CA2700766752}"/>
              </a:ext>
            </a:extLst>
          </p:cNvPr>
          <p:cNvCxnSpPr>
            <a:cxnSpLocks/>
          </p:cNvCxnSpPr>
          <p:nvPr/>
        </p:nvCxnSpPr>
        <p:spPr>
          <a:xfrm>
            <a:off x="3115182" y="6052275"/>
            <a:ext cx="52593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8A16BB5-2264-5602-A7AD-D4EB8DA2EB7B}"/>
              </a:ext>
            </a:extLst>
          </p:cNvPr>
          <p:cNvCxnSpPr>
            <a:cxnSpLocks/>
          </p:cNvCxnSpPr>
          <p:nvPr/>
        </p:nvCxnSpPr>
        <p:spPr>
          <a:xfrm>
            <a:off x="3127248" y="4872236"/>
            <a:ext cx="0" cy="1180039"/>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D90FD43-E4F3-1534-070A-B48B31E5E55B}"/>
              </a:ext>
            </a:extLst>
          </p:cNvPr>
          <p:cNvCxnSpPr>
            <a:cxnSpLocks/>
            <a:endCxn id="24" idx="3"/>
          </p:cNvCxnSpPr>
          <p:nvPr/>
        </p:nvCxnSpPr>
        <p:spPr>
          <a:xfrm flipH="1">
            <a:off x="7336533" y="6073396"/>
            <a:ext cx="45512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BD3631C-C1CB-860F-ABDC-B569EDC34140}"/>
              </a:ext>
            </a:extLst>
          </p:cNvPr>
          <p:cNvCxnSpPr>
            <a:cxnSpLocks/>
          </p:cNvCxnSpPr>
          <p:nvPr/>
        </p:nvCxnSpPr>
        <p:spPr>
          <a:xfrm>
            <a:off x="7779469" y="5005725"/>
            <a:ext cx="12192" cy="1067671"/>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9F8F598A-22FB-4EE6-7FFE-C026C7B40A81}"/>
              </a:ext>
            </a:extLst>
          </p:cNvPr>
          <p:cNvSpPr txBox="1"/>
          <p:nvPr/>
        </p:nvSpPr>
        <p:spPr>
          <a:xfrm>
            <a:off x="3814726" y="5637593"/>
            <a:ext cx="3521807" cy="923330"/>
          </a:xfrm>
          <a:prstGeom prst="rect">
            <a:avLst/>
          </a:prstGeom>
          <a:noFill/>
        </p:spPr>
        <p:txBody>
          <a:bodyPr wrap="square">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p:txBody>
      </p:sp>
    </p:spTree>
    <p:extLst>
      <p:ext uri="{BB962C8B-B14F-4D97-AF65-F5344CB8AC3E}">
        <p14:creationId xmlns:p14="http://schemas.microsoft.com/office/powerpoint/2010/main" val="34255654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D0266-83C5-4DA2-D131-76689771C834}"/>
              </a:ext>
            </a:extLst>
          </p:cNvPr>
          <p:cNvSpPr>
            <a:spLocks noGrp="1"/>
          </p:cNvSpPr>
          <p:nvPr>
            <p:ph type="title"/>
          </p:nvPr>
        </p:nvSpPr>
        <p:spPr/>
        <p:txBody>
          <a:bodyPr/>
          <a:lstStyle/>
          <a:p>
            <a:r>
              <a:rPr lang="en-US" dirty="0"/>
              <a:t>Results</a:t>
            </a:r>
            <a:endParaRPr lang="en-CA" dirty="0"/>
          </a:p>
        </p:txBody>
      </p:sp>
      <p:sp>
        <p:nvSpPr>
          <p:cNvPr id="3" name="Content Placeholder 2">
            <a:extLst>
              <a:ext uri="{FF2B5EF4-FFF2-40B4-BE49-F238E27FC236}">
                <a16:creationId xmlns:a16="http://schemas.microsoft.com/office/drawing/2014/main" id="{FB00B93E-5F06-7E9B-BC34-2830E25CDEE1}"/>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4477363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1030</TotalTime>
  <Words>2656</Words>
  <Application>Microsoft Office PowerPoint</Application>
  <PresentationFormat>Widescreen</PresentationFormat>
  <Paragraphs>353</Paragraphs>
  <Slides>32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-apple-system</vt:lpstr>
      <vt:lpstr>Aptos</vt:lpstr>
      <vt:lpstr>Arial</vt:lpstr>
      <vt:lpstr>Calibri</vt:lpstr>
      <vt:lpstr>Calibri Light</vt:lpstr>
      <vt:lpstr>Courier New</vt:lpstr>
      <vt:lpstr>Times New Roman</vt:lpstr>
      <vt:lpstr>Verdana</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Model Design</vt:lpstr>
      <vt:lpstr>Simulated Hardware and Software for Gene Perturbation Analysis</vt:lpstr>
      <vt:lpstr>             Crisper Knockout</vt:lpstr>
      <vt:lpstr>Crispr Knockout (Single Perturbation)</vt:lpstr>
      <vt:lpstr>RNA Dataset Description</vt:lpstr>
      <vt:lpstr>Code Link</vt:lpstr>
      <vt:lpstr>Results(Control sample/Perturbed sample)</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Expected Impact </vt:lpstr>
      <vt:lpstr>PowerPoint Presentation</vt:lpstr>
      <vt:lpstr>Datasets</vt:lpstr>
      <vt:lpstr>Data Visualization</vt:lpstr>
      <vt:lpstr>Results</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59</cp:revision>
  <dcterms:created xsi:type="dcterms:W3CDTF">2025-11-12T22:28:05Z</dcterms:created>
  <dcterms:modified xsi:type="dcterms:W3CDTF">2025-12-04T23:55:04Z</dcterms:modified>
</cp:coreProperties>
</file>