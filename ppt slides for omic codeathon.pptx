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1"/>
  </p:notesMasterIdLst>
  <p:sldIdLst>
    <p:sldId id="256" r:id="rId2"/>
    <p:sldId id="261" r:id="rId3"/>
    <p:sldId id="258" r:id="rId4"/>
    <p:sldId id="257" r:id="rId5"/>
    <p:sldId id="266" r:id="rId6"/>
    <p:sldId id="267" r:id="rId7"/>
    <p:sldId id="263" r:id="rId8"/>
    <p:sldId id="265" r:id="rId9"/>
    <p:sldId id="259"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4660"/>
  </p:normalViewPr>
  <p:slideViewPr>
    <p:cSldViewPr snapToGrid="0">
      <p:cViewPr varScale="1">
        <p:scale>
          <a:sx n="105" d="100"/>
          <a:sy n="105" d="100"/>
        </p:scale>
        <p:origin x="82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diagrams/_rels/data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a:t>scRNA-seq / scATAC-seq / CITE-seq</a:t>
          </a:r>
          <a:r>
            <a:rPr lang="en-US" b="0" i="0" baseline="0"/>
            <a:t> – Multi-omic single-cell data.</a:t>
          </a:r>
          <a:endParaRPr lang="en-US"/>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a:t>scRNA-seq / scATAC-seq / CITE-seq</a:t>
          </a:r>
          <a:r>
            <a:rPr lang="en-US" sz="2100" b="0" i="0" kern="1200" baseline="0"/>
            <a:t> – Multi-omic single-cell data.</a:t>
          </a:r>
          <a:endParaRPr lang="en-US" sz="2100" kern="120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2025-11-16</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2025-11-16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2025-11-16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2025-11-16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2025-11-16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2025-11-16</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2025-11-16</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2025-11-16</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2025-11-16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2025-11-16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2025-11-16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2025-11-16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2025-11-16</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docs.google.com/forms/d/e/1FAIpQLSfmWvIxuE7JR4T7kwfWA_HIt0GUQ_czqVlK2zeeio5tzBmmvw/viewform?pli=1"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1524000" y="868362"/>
            <a:ext cx="9942576" cy="2387600"/>
          </a:xfrm>
        </p:spPr>
        <p:txBody>
          <a:bodyPr>
            <a:normAutofit/>
          </a:bodyPr>
          <a:lstStyle/>
          <a:p>
            <a:r>
              <a:rPr lang="en-CA" sz="4000" b="1" dirty="0">
                <a:latin typeface="Times New Roman" panose="02020603050405020304" pitchFamily="18" charset="0"/>
                <a:cs typeface="Times New Roman" panose="02020603050405020304" pitchFamily="18" charset="0"/>
              </a:rPr>
              <a:t>Single-Cell </a:t>
            </a:r>
            <a:r>
              <a:rPr lang="en-US" sz="4000" b="1" dirty="0">
                <a:latin typeface="Times New Roman" panose="02020603050405020304" pitchFamily="18" charset="0"/>
                <a:cs typeface="Times New Roman" panose="02020603050405020304" pitchFamily="18" charset="0"/>
              </a:rPr>
              <a:t>Perturbation </a:t>
            </a:r>
            <a:br>
              <a:rPr lang="en-US" sz="4000" b="1" dirty="0">
                <a:latin typeface="Times New Roman" panose="02020603050405020304" pitchFamily="18" charset="0"/>
                <a:cs typeface="Times New Roman" panose="02020603050405020304" pitchFamily="18" charset="0"/>
              </a:rPr>
            </a:br>
            <a:r>
              <a:rPr lang="en-US" sz="4000" b="1" dirty="0">
                <a:latin typeface="Times New Roman" panose="02020603050405020304" pitchFamily="18" charset="0"/>
                <a:cs typeface="Times New Roman" panose="02020603050405020304" pitchFamily="18" charset="0"/>
              </a:rPr>
              <a:t>Analysis Using Machine Learning</a:t>
            </a:r>
            <a:endParaRPr lang="en-CA" sz="4000" b="1"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59E30310-84A1-E499-89E2-05B3CB5EB181}"/>
              </a:ext>
            </a:extLst>
          </p:cNvPr>
          <p:cNvSpPr>
            <a:spLocks noGrp="1"/>
          </p:cNvSpPr>
          <p:nvPr>
            <p:ph type="subTitle" idx="1"/>
          </p:nvPr>
        </p:nvSpPr>
        <p:spPr>
          <a:xfrm>
            <a:off x="563880" y="4333876"/>
            <a:ext cx="10418064" cy="1655762"/>
          </a:xfrm>
        </p:spPr>
        <p:txBody>
          <a:bodyPr>
            <a:normAutofit fontScale="92500" lnSpcReduction="20000"/>
          </a:bodyPr>
          <a:lstStyle/>
          <a:p>
            <a:r>
              <a:rPr lang="en-US" dirty="0"/>
              <a:t>Francis Boabang</a:t>
            </a:r>
          </a:p>
          <a:p>
            <a:endParaRPr lang="en-US" dirty="0"/>
          </a:p>
          <a:p>
            <a:r>
              <a:rPr lang="en-US" dirty="0"/>
              <a:t>Sponsor: </a:t>
            </a:r>
            <a:r>
              <a:rPr lang="en-CA" u="sng" dirty="0">
                <a:hlinkClick r:id="rId2"/>
              </a:rPr>
              <a:t>https://docs.google.com/forms/d/e/1FAIpQLSfmWvIxuE7JR4T7kwfWA_HIt0GUQ_czqVlK2zeeio5tzBmmvw/viewform?pli=1</a:t>
            </a:r>
            <a:endParaRPr lang="en-CA" dirty="0"/>
          </a:p>
        </p:txBody>
      </p:sp>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4000">
                <a:latin typeface="Times New Roman" panose="02020603050405020304" pitchFamily="18" charset="0"/>
                <a:cs typeface="Times New Roman" panose="02020603050405020304" pitchFamily="18" charset="0"/>
              </a:rPr>
              <a:t>Background</a:t>
            </a:r>
            <a:endParaRPr lang="en-CA" sz="400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768628" y="2285999"/>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fontScale="92500" lnSpcReduction="10000"/>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However, current regression-based models often assume linearity, missing complex regulatory dynamics.</a:t>
            </a:r>
          </a:p>
          <a:p>
            <a:pPr eaLnBrk="0" fontAlgn="base" hangingPunct="0">
              <a:spcBef>
                <a:spcPct val="0"/>
              </a:spcBef>
              <a:spcAft>
                <a:spcPts val="600"/>
              </a:spcAft>
            </a:pPr>
            <a:endParaRPr lang="en-US" altLang="en-US" sz="1600" dirty="0">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lang="en-CA" sz="1600" dirty="0">
                <a:latin typeface="Times New Roman" panose="02020603050405020304" pitchFamily="18" charset="0"/>
                <a:cs typeface="Times New Roman" panose="02020603050405020304" pitchFamily="18" charset="0"/>
              </a:rPr>
              <a:t>Most existing models rely exclusively on either </a:t>
            </a:r>
            <a:r>
              <a:rPr lang="en-CA" sz="1600" i="1" dirty="0">
                <a:latin typeface="Times New Roman" panose="02020603050405020304" pitchFamily="18" charset="0"/>
                <a:cs typeface="Times New Roman" panose="02020603050405020304" pitchFamily="18" charset="0"/>
              </a:rPr>
              <a:t>in silico</a:t>
            </a:r>
            <a:r>
              <a:rPr lang="en-CA" sz="16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1043631" y="809898"/>
            <a:ext cx="10173010" cy="1554480"/>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1916742222"/>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A7AAC-FF58-834B-CBDF-6C2E17F3DD87}"/>
              </a:ext>
            </a:extLst>
          </p:cNvPr>
          <p:cNvSpPr>
            <a:spLocks noGrp="1"/>
          </p:cNvSpPr>
          <p:nvPr>
            <p:ph type="title"/>
          </p:nvPr>
        </p:nvSpPr>
        <p:spPr>
          <a:xfrm>
            <a:off x="163017" y="158592"/>
            <a:ext cx="10515600" cy="558035"/>
          </a:xfrm>
        </p:spPr>
        <p:txBody>
          <a:bodyPr>
            <a:normAutofit/>
          </a:bodyPr>
          <a:lstStyle/>
          <a:p>
            <a:r>
              <a:rPr lang="en-US" sz="2000" dirty="0"/>
              <a:t>Example(Crispr Screen)</a:t>
            </a:r>
            <a:endParaRPr lang="en-CA" sz="2000" dirty="0"/>
          </a:p>
        </p:txBody>
      </p:sp>
      <p:sp>
        <p:nvSpPr>
          <p:cNvPr id="4" name="Rectangle 3">
            <a:extLst>
              <a:ext uri="{FF2B5EF4-FFF2-40B4-BE49-F238E27FC236}">
                <a16:creationId xmlns:a16="http://schemas.microsoft.com/office/drawing/2014/main" id="{57297EEA-A3FA-17DB-0F38-DF94A269B9A1}"/>
              </a:ext>
            </a:extLst>
          </p:cNvPr>
          <p:cNvSpPr/>
          <p:nvPr/>
        </p:nvSpPr>
        <p:spPr>
          <a:xfrm>
            <a:off x="1856232" y="1253592"/>
            <a:ext cx="2688336" cy="43986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TextBox 6">
            <a:extLst>
              <a:ext uri="{FF2B5EF4-FFF2-40B4-BE49-F238E27FC236}">
                <a16:creationId xmlns:a16="http://schemas.microsoft.com/office/drawing/2014/main" id="{A1F8C08E-C5A6-84A3-B356-101C367696DF}"/>
              </a:ext>
            </a:extLst>
          </p:cNvPr>
          <p:cNvSpPr txBox="1"/>
          <p:nvPr/>
        </p:nvSpPr>
        <p:spPr>
          <a:xfrm>
            <a:off x="2066544" y="1324124"/>
            <a:ext cx="2114746" cy="369332"/>
          </a:xfrm>
          <a:prstGeom prst="rect">
            <a:avLst/>
          </a:prstGeom>
          <a:noFill/>
        </p:spPr>
        <p:txBody>
          <a:bodyPr wrap="none" rtlCol="0">
            <a:spAutoFit/>
          </a:bodyPr>
          <a:lstStyle/>
          <a:p>
            <a:r>
              <a:rPr lang="en-US" dirty="0"/>
              <a:t>GSE153056_RAW.tar</a:t>
            </a:r>
            <a:endParaRPr lang="en-CA" dirty="0"/>
          </a:p>
        </p:txBody>
      </p:sp>
      <p:sp>
        <p:nvSpPr>
          <p:cNvPr id="8" name="Rectangle 7">
            <a:extLst>
              <a:ext uri="{FF2B5EF4-FFF2-40B4-BE49-F238E27FC236}">
                <a16:creationId xmlns:a16="http://schemas.microsoft.com/office/drawing/2014/main" id="{1A9EE5CC-E954-FC70-1F72-0B743CF52368}"/>
              </a:ext>
            </a:extLst>
          </p:cNvPr>
          <p:cNvSpPr/>
          <p:nvPr/>
        </p:nvSpPr>
        <p:spPr>
          <a:xfrm>
            <a:off x="207264" y="2497335"/>
            <a:ext cx="2688336" cy="64633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406B3CC9-CDDA-C4D6-378A-44840C6B2B94}"/>
              </a:ext>
            </a:extLst>
          </p:cNvPr>
          <p:cNvSpPr/>
          <p:nvPr/>
        </p:nvSpPr>
        <p:spPr>
          <a:xfrm>
            <a:off x="3496144" y="2504910"/>
            <a:ext cx="3334423" cy="80387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TextBox 9">
            <a:extLst>
              <a:ext uri="{FF2B5EF4-FFF2-40B4-BE49-F238E27FC236}">
                <a16:creationId xmlns:a16="http://schemas.microsoft.com/office/drawing/2014/main" id="{C6DA7CF7-BA19-5F4C-CBA6-2CDF42CA3036}"/>
              </a:ext>
            </a:extLst>
          </p:cNvPr>
          <p:cNvSpPr txBox="1"/>
          <p:nvPr/>
        </p:nvSpPr>
        <p:spPr>
          <a:xfrm>
            <a:off x="3496145" y="2504910"/>
            <a:ext cx="3422833" cy="646331"/>
          </a:xfrm>
          <a:prstGeom prst="rect">
            <a:avLst/>
          </a:prstGeom>
          <a:noFill/>
        </p:spPr>
        <p:txBody>
          <a:bodyPr wrap="square" rtlCol="0">
            <a:spAutoFit/>
          </a:bodyPr>
          <a:lstStyle/>
          <a:p>
            <a:r>
              <a:rPr lang="en-CA" dirty="0"/>
              <a:t>Expanded CRISPR-</a:t>
            </a:r>
          </a:p>
          <a:p>
            <a:r>
              <a:rPr lang="en-CA" dirty="0"/>
              <a:t>Compatible CITE-seq(i.e.,</a:t>
            </a:r>
            <a:r>
              <a:rPr lang="en-CA" dirty="0" err="1"/>
              <a:t>crisprKO</a:t>
            </a:r>
            <a:r>
              <a:rPr lang="en-CA" dirty="0"/>
              <a:t>)</a:t>
            </a:r>
          </a:p>
        </p:txBody>
      </p:sp>
      <p:sp>
        <p:nvSpPr>
          <p:cNvPr id="12" name="TextBox 11">
            <a:extLst>
              <a:ext uri="{FF2B5EF4-FFF2-40B4-BE49-F238E27FC236}">
                <a16:creationId xmlns:a16="http://schemas.microsoft.com/office/drawing/2014/main" id="{F89FE222-81A9-44D9-AA17-58A7A1FE527C}"/>
              </a:ext>
            </a:extLst>
          </p:cNvPr>
          <p:cNvSpPr txBox="1"/>
          <p:nvPr/>
        </p:nvSpPr>
        <p:spPr>
          <a:xfrm>
            <a:off x="674087" y="2635447"/>
            <a:ext cx="1575337" cy="369332"/>
          </a:xfrm>
          <a:prstGeom prst="rect">
            <a:avLst/>
          </a:prstGeom>
          <a:noFill/>
        </p:spPr>
        <p:txBody>
          <a:bodyPr wrap="square">
            <a:spAutoFit/>
          </a:bodyPr>
          <a:lstStyle/>
          <a:p>
            <a:r>
              <a:rPr lang="en-CA" dirty="0"/>
              <a:t>CITE-seq</a:t>
            </a:r>
          </a:p>
        </p:txBody>
      </p:sp>
      <p:cxnSp>
        <p:nvCxnSpPr>
          <p:cNvPr id="14" name="Straight Arrow Connector 13">
            <a:extLst>
              <a:ext uri="{FF2B5EF4-FFF2-40B4-BE49-F238E27FC236}">
                <a16:creationId xmlns:a16="http://schemas.microsoft.com/office/drawing/2014/main" id="{E8721AA7-C8BE-8B4D-151D-A8DA37129B65}"/>
              </a:ext>
            </a:extLst>
          </p:cNvPr>
          <p:cNvCxnSpPr>
            <a:stCxn id="7" idx="2"/>
          </p:cNvCxnSpPr>
          <p:nvPr/>
        </p:nvCxnSpPr>
        <p:spPr>
          <a:xfrm flipH="1">
            <a:off x="1856232" y="1693456"/>
            <a:ext cx="1267685" cy="80387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D2A5673-06F6-B3B8-F132-AC94B7655FF8}"/>
              </a:ext>
            </a:extLst>
          </p:cNvPr>
          <p:cNvCxnSpPr>
            <a:cxnSpLocks/>
          </p:cNvCxnSpPr>
          <p:nvPr/>
        </p:nvCxnSpPr>
        <p:spPr>
          <a:xfrm>
            <a:off x="3123917" y="1693455"/>
            <a:ext cx="1566955" cy="80387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48C7AA50-EB00-9C25-75CE-195B9D93A158}"/>
              </a:ext>
            </a:extLst>
          </p:cNvPr>
          <p:cNvCxnSpPr>
            <a:stCxn id="8" idx="2"/>
          </p:cNvCxnSpPr>
          <p:nvPr/>
        </p:nvCxnSpPr>
        <p:spPr>
          <a:xfrm flipH="1">
            <a:off x="1545336" y="3143665"/>
            <a:ext cx="6096" cy="89065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5F56664F-D47F-502F-8D8E-4E39ACF332DB}"/>
              </a:ext>
            </a:extLst>
          </p:cNvPr>
          <p:cNvSpPr/>
          <p:nvPr/>
        </p:nvSpPr>
        <p:spPr>
          <a:xfrm>
            <a:off x="207265" y="4012254"/>
            <a:ext cx="2688336" cy="90112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 name="TextBox 22">
            <a:extLst>
              <a:ext uri="{FF2B5EF4-FFF2-40B4-BE49-F238E27FC236}">
                <a16:creationId xmlns:a16="http://schemas.microsoft.com/office/drawing/2014/main" id="{47D68213-3AE4-19D4-4EF6-433012E7E2CD}"/>
              </a:ext>
            </a:extLst>
          </p:cNvPr>
          <p:cNvSpPr txBox="1"/>
          <p:nvPr/>
        </p:nvSpPr>
        <p:spPr>
          <a:xfrm>
            <a:off x="451190" y="4173206"/>
            <a:ext cx="2188291" cy="646331"/>
          </a:xfrm>
          <a:prstGeom prst="rect">
            <a:avLst/>
          </a:prstGeom>
          <a:noFill/>
        </p:spPr>
        <p:txBody>
          <a:bodyPr wrap="none" rtlCol="0">
            <a:spAutoFit/>
          </a:bodyPr>
          <a:lstStyle/>
          <a:p>
            <a:r>
              <a:rPr lang="en-US" dirty="0"/>
              <a:t>Training plus In-silico </a:t>
            </a:r>
          </a:p>
          <a:p>
            <a:r>
              <a:rPr lang="en-US" dirty="0"/>
              <a:t>Perturbation</a:t>
            </a:r>
            <a:endParaRPr lang="en-CA" dirty="0"/>
          </a:p>
        </p:txBody>
      </p:sp>
      <p:sp>
        <p:nvSpPr>
          <p:cNvPr id="24" name="Rectangle 23">
            <a:extLst>
              <a:ext uri="{FF2B5EF4-FFF2-40B4-BE49-F238E27FC236}">
                <a16:creationId xmlns:a16="http://schemas.microsoft.com/office/drawing/2014/main" id="{F53A0D4D-A4CB-79C8-9DBC-4E3F009EC561}"/>
              </a:ext>
            </a:extLst>
          </p:cNvPr>
          <p:cNvSpPr/>
          <p:nvPr/>
        </p:nvSpPr>
        <p:spPr>
          <a:xfrm>
            <a:off x="3496144" y="4012253"/>
            <a:ext cx="3328326" cy="90112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5" name="TextBox 24">
            <a:extLst>
              <a:ext uri="{FF2B5EF4-FFF2-40B4-BE49-F238E27FC236}">
                <a16:creationId xmlns:a16="http://schemas.microsoft.com/office/drawing/2014/main" id="{125CD366-5503-00F9-5008-ED6ACC9F8B75}"/>
              </a:ext>
            </a:extLst>
          </p:cNvPr>
          <p:cNvSpPr txBox="1"/>
          <p:nvPr/>
        </p:nvSpPr>
        <p:spPr>
          <a:xfrm>
            <a:off x="4181290" y="4278152"/>
            <a:ext cx="2415405" cy="369332"/>
          </a:xfrm>
          <a:prstGeom prst="rect">
            <a:avLst/>
          </a:prstGeom>
          <a:noFill/>
        </p:spPr>
        <p:txBody>
          <a:bodyPr wrap="none" rtlCol="0">
            <a:spAutoFit/>
          </a:bodyPr>
          <a:lstStyle/>
          <a:p>
            <a:r>
              <a:rPr lang="en-US" dirty="0"/>
              <a:t>Experimental Validation</a:t>
            </a:r>
            <a:endParaRPr lang="en-CA" dirty="0"/>
          </a:p>
        </p:txBody>
      </p:sp>
      <p:cxnSp>
        <p:nvCxnSpPr>
          <p:cNvPr id="26" name="Straight Arrow Connector 25">
            <a:extLst>
              <a:ext uri="{FF2B5EF4-FFF2-40B4-BE49-F238E27FC236}">
                <a16:creationId xmlns:a16="http://schemas.microsoft.com/office/drawing/2014/main" id="{5709A9A2-D288-4E2F-FE54-BAE0FF4B9A3E}"/>
              </a:ext>
            </a:extLst>
          </p:cNvPr>
          <p:cNvCxnSpPr>
            <a:cxnSpLocks/>
          </p:cNvCxnSpPr>
          <p:nvPr/>
        </p:nvCxnSpPr>
        <p:spPr>
          <a:xfrm>
            <a:off x="5312576" y="3365922"/>
            <a:ext cx="0" cy="64633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28" name="Picture 27">
            <a:extLst>
              <a:ext uri="{FF2B5EF4-FFF2-40B4-BE49-F238E27FC236}">
                <a16:creationId xmlns:a16="http://schemas.microsoft.com/office/drawing/2014/main" id="{BA0A7FB8-080C-ABAF-8519-6B721E656C7E}"/>
              </a:ext>
            </a:extLst>
          </p:cNvPr>
          <p:cNvPicPr>
            <a:picLocks noChangeAspect="1"/>
          </p:cNvPicPr>
          <p:nvPr/>
        </p:nvPicPr>
        <p:blipFill>
          <a:blip r:embed="rId2"/>
          <a:stretch>
            <a:fillRect/>
          </a:stretch>
        </p:blipFill>
        <p:spPr>
          <a:xfrm>
            <a:off x="7820903" y="806599"/>
            <a:ext cx="4163833" cy="5276087"/>
          </a:xfrm>
          <a:prstGeom prst="rect">
            <a:avLst/>
          </a:prstGeom>
        </p:spPr>
      </p:pic>
      <p:sp>
        <p:nvSpPr>
          <p:cNvPr id="32" name="TextBox 31">
            <a:extLst>
              <a:ext uri="{FF2B5EF4-FFF2-40B4-BE49-F238E27FC236}">
                <a16:creationId xmlns:a16="http://schemas.microsoft.com/office/drawing/2014/main" id="{DD763A5E-71D8-B5EE-70DD-A11FB200E25F}"/>
              </a:ext>
            </a:extLst>
          </p:cNvPr>
          <p:cNvSpPr txBox="1"/>
          <p:nvPr/>
        </p:nvSpPr>
        <p:spPr>
          <a:xfrm>
            <a:off x="163017" y="6330076"/>
            <a:ext cx="8684514" cy="369332"/>
          </a:xfrm>
          <a:prstGeom prst="rect">
            <a:avLst/>
          </a:prstGeom>
          <a:noFill/>
        </p:spPr>
        <p:txBody>
          <a:bodyPr wrap="square">
            <a:spAutoFit/>
          </a:bodyPr>
          <a:lstStyle/>
          <a:p>
            <a:r>
              <a:rPr lang="en-CA" dirty="0"/>
              <a:t>https://drive.google.com/file/d/1kj6sNfe_Tib92T1__a-CkNkFFudfbhOt/view?usp=sharing</a:t>
            </a:r>
          </a:p>
        </p:txBody>
      </p:sp>
    </p:spTree>
    <p:extLst>
      <p:ext uri="{BB962C8B-B14F-4D97-AF65-F5344CB8AC3E}">
        <p14:creationId xmlns:p14="http://schemas.microsoft.com/office/powerpoint/2010/main" val="33698130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p:txBody>
          <a:bodyPr>
            <a:normAutofit/>
          </a:bodyPr>
          <a:lstStyle/>
          <a:p>
            <a:r>
              <a:rPr lang="en-CA" sz="2200" b="1" dirty="0">
                <a:latin typeface="Times New Roman" panose="02020603050405020304" pitchFamily="18" charset="0"/>
                <a:cs typeface="Times New Roman" panose="02020603050405020304" pitchFamily="18" charset="0"/>
              </a:rPr>
              <a:t>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latin typeface="Times New Roman" panose="02020603050405020304" pitchFamily="18" charset="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Concept: Convex or structured initializations (e.g., sparse regression, trust-region, or pre-trained convex embeddings) provide stable starting points for highly nonlinear optimization landscapes in biological systems.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876044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07F0A-3138-797A-FD19-F132FDDFB16F}"/>
              </a:ext>
            </a:extLst>
          </p:cNvPr>
          <p:cNvSpPr>
            <a:spLocks noGrp="1"/>
          </p:cNvSpPr>
          <p:nvPr>
            <p:ph type="title"/>
          </p:nvPr>
        </p:nvSpPr>
        <p:spPr/>
        <p:txBody>
          <a:bodyPr>
            <a:normAutofit/>
          </a:bodyPr>
          <a:lstStyle/>
          <a:p>
            <a:r>
              <a:rPr lang="en-CA" sz="2000" b="1" dirty="0">
                <a:latin typeface="Times New Roman" panose="02020603050405020304" pitchFamily="18" charset="0"/>
                <a:cs typeface="Times New Roman" panose="02020603050405020304" pitchFamily="18" charset="0"/>
              </a:rPr>
              <a:t>Proposed Idea 1: Escaping Local Optima in the Waddington Landscape: A Multi-Stage TRPO-PPO Approach for Single-Cell Perturbation Analysis</a:t>
            </a:r>
            <a:br>
              <a:rPr lang="en-CA" sz="2400" dirty="0">
                <a:latin typeface="Times New Roman" panose="02020603050405020304" pitchFamily="18" charset="0"/>
                <a:cs typeface="Times New Roman" panose="02020603050405020304" pitchFamily="18" charset="0"/>
              </a:rPr>
            </a:br>
            <a:endParaRPr lang="en-CA" sz="24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DFAAE30-6B09-18D9-C24B-38FDD0E4DA86}"/>
              </a:ext>
            </a:extLst>
          </p:cNvPr>
          <p:cNvSpPr>
            <a:spLocks noGrp="1"/>
          </p:cNvSpPr>
          <p:nvPr>
            <p:ph idx="1"/>
          </p:nvPr>
        </p:nvSpPr>
        <p:spPr/>
        <p:txBody>
          <a:bodyPr>
            <a:normAutofit/>
          </a:bodyPr>
          <a:lstStyle/>
          <a:p>
            <a:pPr marL="0" indent="0" fontAlgn="base">
              <a:buNone/>
            </a:pPr>
            <a:r>
              <a:rPr lang="en-CA" sz="1600" dirty="0">
                <a:latin typeface="Times New Roman" panose="02020603050405020304" pitchFamily="18" charset="0"/>
                <a:cs typeface="Times New Roman" panose="02020603050405020304" pitchFamily="18" charset="0"/>
              </a:rPr>
              <a:t>Boabang, Francis, and Samuel Asante </a:t>
            </a:r>
            <a:r>
              <a:rPr lang="en-CA" sz="1600" dirty="0" err="1">
                <a:latin typeface="Times New Roman" panose="02020603050405020304" pitchFamily="18" charset="0"/>
                <a:cs typeface="Times New Roman" panose="02020603050405020304" pitchFamily="18" charset="0"/>
              </a:rPr>
              <a:t>Gyamerah</a:t>
            </a:r>
            <a:r>
              <a:rPr lang="en-CA" sz="16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600" i="1" dirty="0" err="1">
                <a:latin typeface="Times New Roman" panose="02020603050405020304" pitchFamily="18" charset="0"/>
                <a:cs typeface="Times New Roman" panose="02020603050405020304" pitchFamily="18" charset="0"/>
              </a:rPr>
              <a:t>arXiv</a:t>
            </a:r>
            <a:r>
              <a:rPr lang="en-CA" sz="1600" i="1" dirty="0">
                <a:latin typeface="Times New Roman" panose="02020603050405020304" pitchFamily="18" charset="0"/>
                <a:cs typeface="Times New Roman" panose="02020603050405020304" pitchFamily="18" charset="0"/>
              </a:rPr>
              <a:t> preprint arXiv:2510.13018</a:t>
            </a:r>
            <a:r>
              <a:rPr lang="en-CA" sz="1600" dirty="0">
                <a:latin typeface="Times New Roman" panose="02020603050405020304" pitchFamily="18" charset="0"/>
                <a:cs typeface="Times New Roman" panose="02020603050405020304" pitchFamily="18" charset="0"/>
              </a:rPr>
              <a:t> (2025).</a:t>
            </a:r>
          </a:p>
          <a:p>
            <a:endParaRPr lang="en-CA" sz="1800" dirty="0"/>
          </a:p>
        </p:txBody>
      </p:sp>
    </p:spTree>
    <p:extLst>
      <p:ext uri="{BB962C8B-B14F-4D97-AF65-F5344CB8AC3E}">
        <p14:creationId xmlns:p14="http://schemas.microsoft.com/office/powerpoint/2010/main" val="15613575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4800" b="1">
                <a:latin typeface="Times New Roman" panose="02020603050405020304" pitchFamily="18" charset="0"/>
                <a:cs typeface="Times New Roman" panose="02020603050405020304" pitchFamily="18" charset="0"/>
              </a:rPr>
              <a:t>Expected Impact</a:t>
            </a:r>
            <a:br>
              <a:rPr lang="en-CA" sz="4800" b="1">
                <a:latin typeface="Times New Roman" panose="02020603050405020304" pitchFamily="18" charset="0"/>
                <a:cs typeface="Times New Roman" panose="02020603050405020304" pitchFamily="18" charset="0"/>
              </a:rPr>
            </a:br>
            <a:endParaRPr lang="en-CA" sz="480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227</TotalTime>
  <Words>872</Words>
  <Application>Microsoft Office PowerPoint</Application>
  <PresentationFormat>Widescreen</PresentationFormat>
  <Paragraphs>69</Paragraphs>
  <Slides>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-apple-system</vt:lpstr>
      <vt:lpstr>Aptos</vt:lpstr>
      <vt:lpstr>Arial</vt:lpstr>
      <vt:lpstr>Calibri</vt:lpstr>
      <vt:lpstr>Calibri Light</vt:lpstr>
      <vt:lpstr>Times New Roman</vt:lpstr>
      <vt:lpstr>Office 2013 - 2022 Theme</vt:lpstr>
      <vt:lpstr>Single-Cell Perturbation  Analysis Using Machine Learning</vt:lpstr>
      <vt:lpstr>Background</vt:lpstr>
      <vt:lpstr>Gaps in the Research</vt:lpstr>
      <vt:lpstr>Datasets</vt:lpstr>
      <vt:lpstr>Example(Crispr Screen)</vt:lpstr>
      <vt:lpstr>Crispr Knockout</vt:lpstr>
      <vt:lpstr>Using Initialization Strategies to Address Nonlinearity in Developmental Biology </vt:lpstr>
      <vt:lpstr>Proposed Idea 1: Escaping Local Optima in the Waddington Landscape: A Multi-Stage TRPO-PPO Approach for Single-Cell Perturbation Analysis </vt:lpstr>
      <vt:lpstr>Expected Impact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16</cp:revision>
  <dcterms:created xsi:type="dcterms:W3CDTF">2025-11-12T22:28:05Z</dcterms:created>
  <dcterms:modified xsi:type="dcterms:W3CDTF">2025-11-16T22:14:00Z</dcterms:modified>
</cp:coreProperties>
</file>