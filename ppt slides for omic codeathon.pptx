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1" r:id="rId3"/>
    <p:sldId id="258" r:id="rId4"/>
    <p:sldId id="257" r:id="rId5"/>
    <p:sldId id="263" r:id="rId6"/>
    <p:sldId id="262" r:id="rId7"/>
    <p:sldId id="259" r:id="rId8"/>
    <p:sldId id="260"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a:t>scRNA-seq / scATAC-seq / CITE-seq</a:t>
          </a:r>
          <a:r>
            <a:rPr lang="en-US" b="0" i="0" baseline="0"/>
            <a:t> – Multi-omic single-cell data.</a:t>
          </a:r>
          <a:endParaRPr lang="en-US"/>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a:t>scRNA-seq / scATAC-seq / CITE-seq</a:t>
          </a:r>
          <a:r>
            <a:rPr lang="en-US" sz="2100" b="0" i="0" kern="1200" baseline="0"/>
            <a:t> – Multi-omic single-cell data.</a:t>
          </a:r>
          <a:endParaRPr lang="en-US" sz="2100" kern="120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2025-11-12</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2025-11-12</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2025-11-12</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2025-11-12</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2025-11-12</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2025-11-12</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p:txBody>
          <a:bodyPr>
            <a:normAutofit fontScale="90000"/>
          </a:bodyPr>
          <a:lstStyle/>
          <a:p>
            <a:r>
              <a:rPr lang="en-US" dirty="0"/>
              <a:t>Gene Perturbation </a:t>
            </a:r>
            <a:br>
              <a:rPr lang="en-US" dirty="0"/>
            </a:br>
            <a:r>
              <a:rPr lang="en-US" dirty="0"/>
              <a:t>Analysis Using Machine Learning</a:t>
            </a:r>
            <a:endParaRPr lang="en-CA" dirty="0"/>
          </a:p>
        </p:txBody>
      </p:sp>
      <p:sp>
        <p:nvSpPr>
          <p:cNvPr id="3" name="Subtitle 2">
            <a:extLst>
              <a:ext uri="{FF2B5EF4-FFF2-40B4-BE49-F238E27FC236}">
                <a16:creationId xmlns:a16="http://schemas.microsoft.com/office/drawing/2014/main" id="{59E30310-84A1-E499-89E2-05B3CB5EB181}"/>
              </a:ext>
            </a:extLst>
          </p:cNvPr>
          <p:cNvSpPr>
            <a:spLocks noGrp="1"/>
          </p:cNvSpPr>
          <p:nvPr>
            <p:ph type="subTitle" idx="1"/>
          </p:nvPr>
        </p:nvSpPr>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761802" y="2459736"/>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fontScale="92500" lnSpcReduction="10000"/>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However, current regression-based models often assume linearity, missing complex regulatory dynamics.</a:t>
            </a:r>
          </a:p>
          <a:p>
            <a:pPr eaLnBrk="0" fontAlgn="base" hangingPunct="0">
              <a:spcBef>
                <a:spcPct val="0"/>
              </a:spcBef>
              <a:spcAft>
                <a:spcPts val="600"/>
              </a:spcAft>
            </a:pPr>
            <a:endParaRPr lang="en-US" altLang="en-US" sz="1600" dirty="0">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lang="en-CA" sz="1600" dirty="0">
                <a:latin typeface="Times New Roman" panose="02020603050405020304" pitchFamily="18" charset="0"/>
                <a:cs typeface="Times New Roman" panose="02020603050405020304" pitchFamily="18" charset="0"/>
              </a:rPr>
              <a:t>Most existing models rely exclusively on either </a:t>
            </a:r>
            <a:r>
              <a:rPr lang="en-CA" sz="1600" i="1" dirty="0">
                <a:latin typeface="Times New Roman" panose="02020603050405020304" pitchFamily="18" charset="0"/>
                <a:cs typeface="Times New Roman" panose="02020603050405020304" pitchFamily="18" charset="0"/>
              </a:rPr>
              <a:t>in silico</a:t>
            </a:r>
            <a:r>
              <a:rPr lang="en-CA" sz="16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335024"/>
            <a:ext cx="1051560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a:t>
            </a: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both—limiting their ability to generalize and validate predictions across simulated and real biological contexts.</a:t>
            </a:r>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Integration between regression (static mapping) and RL (dynamic decision process).</a:t>
            </a:r>
          </a:p>
          <a:p>
            <a:r>
              <a:rPr lang="en-CA" sz="1400" dirty="0">
                <a:latin typeface="Times New Roman" panose="02020603050405020304" pitchFamily="18" charset="0"/>
                <a:cs typeface="Times New Roman" panose="02020603050405020304" pitchFamily="18" charset="0"/>
              </a:rPr>
              <a:t>Generalization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4800" dirty="0"/>
              <a:t>Datasets</a:t>
            </a:r>
            <a:endParaRPr lang="en-CA" sz="4800" dirty="0"/>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1916742222"/>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876044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47AC3-36EE-EE88-DC7E-D3EF44BE43AB}"/>
              </a:ext>
            </a:extLst>
          </p:cNvPr>
          <p:cNvSpPr>
            <a:spLocks noGrp="1"/>
          </p:cNvSpPr>
          <p:nvPr>
            <p:ph type="title"/>
          </p:nvPr>
        </p:nvSpPr>
        <p:spPr>
          <a:xfrm>
            <a:off x="1060704" y="365125"/>
            <a:ext cx="10293096" cy="485267"/>
          </a:xfrm>
        </p:spPr>
        <p:txBody>
          <a:bodyPr>
            <a:normAutofit fontScale="90000"/>
          </a:bodyPr>
          <a:lstStyle/>
          <a:p>
            <a:r>
              <a:rPr lang="en-CA" sz="2400" b="1" dirty="0"/>
              <a:t>Using Initialization Strategies to Address Nonlinearity in Developmental Biology</a:t>
            </a:r>
            <a:br>
              <a:rPr lang="en-CA" sz="2400" b="1" dirty="0"/>
            </a:br>
            <a:endParaRPr lang="en-CA" sz="2400" dirty="0"/>
          </a:p>
        </p:txBody>
      </p:sp>
      <p:sp>
        <p:nvSpPr>
          <p:cNvPr id="3" name="Content Placeholder 2">
            <a:extLst>
              <a:ext uri="{FF2B5EF4-FFF2-40B4-BE49-F238E27FC236}">
                <a16:creationId xmlns:a16="http://schemas.microsoft.com/office/drawing/2014/main" id="{31E6F48F-C8A8-9C67-6A7E-D49A75B0B9C2}"/>
              </a:ext>
            </a:extLst>
          </p:cNvPr>
          <p:cNvSpPr>
            <a:spLocks noGrp="1"/>
          </p:cNvSpPr>
          <p:nvPr>
            <p:ph idx="1"/>
          </p:nvPr>
        </p:nvSpPr>
        <p:spPr>
          <a:xfrm>
            <a:off x="265176" y="956945"/>
            <a:ext cx="11161776" cy="4351338"/>
          </a:xfrm>
        </p:spPr>
        <p:txBody>
          <a:bodyPr>
            <a:noAutofit/>
          </a:bodyPr>
          <a:lstStyle/>
          <a:p>
            <a:pPr marL="0" indent="0" fontAlgn="base">
              <a:buNone/>
            </a:pPr>
            <a:r>
              <a:rPr lang="en-US" sz="1400" dirty="0">
                <a:latin typeface="Times New Roman" panose="02020603050405020304" pitchFamily="18" charset="0"/>
                <a:cs typeface="Times New Roman" panose="02020603050405020304" pitchFamily="18" charset="0"/>
              </a:rPr>
              <a:t>K. D. Humbird, J. L. Peterson and R. G. Mcclarren, "Deep Neural Network Initialization With Decision Trees," in </a:t>
            </a:r>
            <a:r>
              <a:rPr lang="en-US" sz="1400" i="1" dirty="0">
                <a:latin typeface="Times New Roman" panose="02020603050405020304" pitchFamily="18" charset="0"/>
                <a:cs typeface="Times New Roman" panose="02020603050405020304" pitchFamily="18" charset="0"/>
              </a:rPr>
              <a:t>IEEE Transactions on Neural Networks and Learning Systems</a:t>
            </a:r>
            <a:r>
              <a:rPr lang="en-US" sz="1400" dirty="0">
                <a:latin typeface="Times New Roman" panose="02020603050405020304" pitchFamily="18" charset="0"/>
                <a:cs typeface="Times New Roman" panose="02020603050405020304" pitchFamily="18" charset="0"/>
              </a:rPr>
              <a:t>, vol. 30, no. 5, pp. 1286-1295, May 2019, </a:t>
            </a:r>
            <a:r>
              <a:rPr lang="en-US" sz="1400" dirty="0" err="1">
                <a:latin typeface="Times New Roman" panose="02020603050405020304" pitchFamily="18" charset="0"/>
                <a:cs typeface="Times New Roman" panose="02020603050405020304" pitchFamily="18" charset="0"/>
              </a:rPr>
              <a:t>doi</a:t>
            </a:r>
            <a:r>
              <a:rPr lang="en-US" sz="1400" dirty="0">
                <a:latin typeface="Times New Roman" panose="02020603050405020304" pitchFamily="18" charset="0"/>
                <a:cs typeface="Times New Roman" panose="02020603050405020304" pitchFamily="18" charset="0"/>
              </a:rPr>
              <a:t>: 10.1109/TNNLS.2018.2869694. </a:t>
            </a:r>
          </a:p>
          <a:p>
            <a:pPr marL="0" indent="0" fontAlgn="base">
              <a:buNone/>
            </a:pPr>
            <a:r>
              <a:rPr lang="en-US" sz="1400" b="1" dirty="0">
                <a:latin typeface="Times New Roman" panose="02020603050405020304" pitchFamily="18" charset="0"/>
                <a:cs typeface="Times New Roman" panose="02020603050405020304" pitchFamily="18" charset="0"/>
              </a:rPr>
              <a:t>Application</a:t>
            </a:r>
            <a:r>
              <a:rPr lang="en-US" sz="1400" dirty="0">
                <a:latin typeface="Times New Roman" panose="02020603050405020304" pitchFamily="18" charset="0"/>
                <a:cs typeface="Times New Roman" panose="02020603050405020304" pitchFamily="18" charset="0"/>
              </a:rPr>
              <a:t>: Decision Tree-Guided Neural Initialization for Stable Modeling of Gene-Regulatory Networks to improve model generalization performance</a:t>
            </a: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r>
              <a:rPr lang="en-CA" sz="1400" dirty="0">
                <a:latin typeface="Times New Roman" panose="02020603050405020304" pitchFamily="18" charset="0"/>
                <a:cs typeface="Times New Roman" panose="02020603050405020304" pitchFamily="18" charset="0"/>
              </a:rPr>
              <a:t>Boabang, Francis, and Samuel Asante </a:t>
            </a:r>
            <a:r>
              <a:rPr lang="en-CA" sz="1400" dirty="0" err="1">
                <a:latin typeface="Times New Roman" panose="02020603050405020304" pitchFamily="18" charset="0"/>
                <a:cs typeface="Times New Roman" panose="02020603050405020304" pitchFamily="18" charset="0"/>
              </a:rPr>
              <a:t>Gyamerah</a:t>
            </a:r>
            <a:r>
              <a:rPr lang="en-CA" sz="14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400" i="1" dirty="0" err="1">
                <a:latin typeface="Times New Roman" panose="02020603050405020304" pitchFamily="18" charset="0"/>
                <a:cs typeface="Times New Roman" panose="02020603050405020304" pitchFamily="18" charset="0"/>
              </a:rPr>
              <a:t>arXiv</a:t>
            </a:r>
            <a:r>
              <a:rPr lang="en-CA" sz="1400" i="1" dirty="0">
                <a:latin typeface="Times New Roman" panose="02020603050405020304" pitchFamily="18" charset="0"/>
                <a:cs typeface="Times New Roman" panose="02020603050405020304" pitchFamily="18" charset="0"/>
              </a:rPr>
              <a:t> preprint arXiv:2510.13018</a:t>
            </a:r>
            <a:r>
              <a:rPr lang="en-CA" sz="1400" dirty="0">
                <a:latin typeface="Times New Roman" panose="02020603050405020304" pitchFamily="18" charset="0"/>
                <a:cs typeface="Times New Roman" panose="02020603050405020304" pitchFamily="18" charset="0"/>
              </a:rPr>
              <a:t> (2025).</a:t>
            </a:r>
          </a:p>
          <a:p>
            <a:pPr marL="0" indent="0" fontAlgn="base">
              <a:buNone/>
            </a:pPr>
            <a:r>
              <a:rPr lang="en-CA" sz="1400" b="1" dirty="0">
                <a:latin typeface="Times New Roman" panose="02020603050405020304" pitchFamily="18" charset="0"/>
                <a:cs typeface="Times New Roman" panose="02020603050405020304" pitchFamily="18" charset="0"/>
              </a:rPr>
              <a:t>Application</a:t>
            </a:r>
            <a:r>
              <a:rPr lang="en-CA" sz="14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a:t>
            </a:r>
          </a:p>
          <a:p>
            <a:pPr marL="0" indent="0" fontAlgn="base">
              <a:buNone/>
            </a:pPr>
            <a:endParaRPr lang="en-CA" sz="1400" dirty="0">
              <a:latin typeface="Times New Roman" panose="02020603050405020304" pitchFamily="18" charset="0"/>
              <a:cs typeface="Times New Roman" panose="02020603050405020304" pitchFamily="18" charset="0"/>
            </a:endParaRPr>
          </a:p>
          <a:p>
            <a:pPr marL="0" indent="0" fontAlgn="base">
              <a:buNone/>
            </a:pPr>
            <a:r>
              <a:rPr lang="en-CA" sz="1400" dirty="0">
                <a:latin typeface="Times New Roman" panose="02020603050405020304" pitchFamily="18" charset="0"/>
                <a:cs typeface="Times New Roman" panose="02020603050405020304" pitchFamily="18" charset="0"/>
              </a:rPr>
              <a:t>Selesnick, "Sparse Regularization via Convex Analysis," in </a:t>
            </a:r>
            <a:r>
              <a:rPr lang="en-CA" sz="1400" i="1" dirty="0">
                <a:latin typeface="Times New Roman" panose="02020603050405020304" pitchFamily="18" charset="0"/>
                <a:cs typeface="Times New Roman" panose="02020603050405020304" pitchFamily="18" charset="0"/>
              </a:rPr>
              <a:t>IEEE Transactions on Signal Processing</a:t>
            </a:r>
            <a:r>
              <a:rPr lang="en-CA" sz="1400" dirty="0">
                <a:latin typeface="Times New Roman" panose="02020603050405020304" pitchFamily="18" charset="0"/>
                <a:cs typeface="Times New Roman" panose="02020603050405020304" pitchFamily="18" charset="0"/>
              </a:rPr>
              <a:t>, vol. 65, no. 17, pp. 4481-4494, 1 Sept.1, 2017</a:t>
            </a:r>
          </a:p>
          <a:p>
            <a:pPr marL="0" indent="0" fontAlgn="base">
              <a:buNone/>
            </a:pPr>
            <a:r>
              <a:rPr lang="en-CA" sz="1400" dirty="0"/>
              <a:t>Boabang, Francis. </a:t>
            </a:r>
            <a:r>
              <a:rPr lang="en-CA" sz="1400" i="1" dirty="0"/>
              <a:t>Refining Optimization Methods for Training Machine Learning Models: A Case Study in Robotic Surgical Procedures</a:t>
            </a:r>
            <a:r>
              <a:rPr lang="en-CA" sz="1400" dirty="0"/>
              <a:t>. Diss. Concordia University, 2024.</a:t>
            </a:r>
            <a:endParaRPr lang="en-CA" sz="1400" dirty="0">
              <a:latin typeface="Times New Roman" panose="02020603050405020304" pitchFamily="18" charset="0"/>
              <a:cs typeface="Times New Roman" panose="02020603050405020304" pitchFamily="18" charset="0"/>
            </a:endParaRPr>
          </a:p>
          <a:p>
            <a:pPr marL="0" indent="0">
              <a:buNone/>
            </a:pPr>
            <a:r>
              <a:rPr lang="en-CA" sz="1400" b="1" dirty="0">
                <a:latin typeface="Times New Roman" panose="02020603050405020304" pitchFamily="18" charset="0"/>
                <a:cs typeface="Times New Roman" panose="02020603050405020304" pitchFamily="18" charset="0"/>
              </a:rPr>
              <a:t>Application: Convex-Initialized Regression for Nonlinear Gene-Regulatory Modeling</a:t>
            </a:r>
          </a:p>
          <a:p>
            <a:pPr marL="0" indent="0">
              <a:buNone/>
            </a:pPr>
            <a:r>
              <a:rPr lang="en-CA" sz="1400" dirty="0">
                <a:latin typeface="Times New Roman" panose="02020603050405020304" pitchFamily="18" charset="0"/>
                <a:cs typeface="Times New Roman" panose="02020603050405020304" pitchFamily="18" charset="0"/>
              </a:rPr>
              <a:t>Building on Selesnick’s </a:t>
            </a:r>
            <a:r>
              <a:rPr lang="en-CA" sz="1400" i="1" dirty="0">
                <a:latin typeface="Times New Roman" panose="02020603050405020304" pitchFamily="18" charset="0"/>
                <a:cs typeface="Times New Roman" panose="02020603050405020304" pitchFamily="18" charset="0"/>
              </a:rPr>
              <a:t>“Sparse Regularization via Convex Analysis”</a:t>
            </a:r>
            <a:r>
              <a:rPr lang="en-CA" sz="1400" dirty="0">
                <a:latin typeface="Times New Roman" panose="02020603050405020304" pitchFamily="18" charset="0"/>
                <a:cs typeface="Times New Roman" panose="02020603050405020304" pitchFamily="18" charset="0"/>
              </a:rPr>
              <a:t> (IEEE TSP, 2017) and Boabang et al. , this work can apply convex-analysis–based initialization to stabilize nonlinear gene-regulatory machine-learning models.</a:t>
            </a:r>
          </a:p>
          <a:p>
            <a:pPr marL="0" indent="0">
              <a:buNone/>
            </a:pPr>
            <a:r>
              <a:rPr lang="en-CA" sz="1400" b="1" dirty="0">
                <a:latin typeface="Times New Roman" panose="02020603050405020304" pitchFamily="18" charset="0"/>
                <a:cs typeface="Times New Roman" panose="02020603050405020304" pitchFamily="18" charset="0"/>
              </a:rPr>
              <a:t>Convex initialization:</a:t>
            </a:r>
            <a:r>
              <a:rPr lang="en-CA" sz="1400" dirty="0">
                <a:latin typeface="Times New Roman" panose="02020603050405020304" pitchFamily="18" charset="0"/>
                <a:cs typeface="Times New Roman" panose="02020603050405020304" pitchFamily="18" charset="0"/>
              </a:rPr>
              <a:t> Begin with a convex sparsity-inducing regression stage (e.g., Elastic Net or LASSO) to estimate key regulator–target dependencies. This yields a stable and interpretable sparse prior.</a:t>
            </a:r>
          </a:p>
          <a:p>
            <a:pPr marL="0" indent="0">
              <a:buNone/>
            </a:pPr>
            <a:r>
              <a:rPr lang="en-CA" sz="1400" b="1" dirty="0">
                <a:latin typeface="Times New Roman" panose="02020603050405020304" pitchFamily="18" charset="0"/>
                <a:cs typeface="Times New Roman" panose="02020603050405020304" pitchFamily="18" charset="0"/>
              </a:rPr>
              <a:t>Nonlinear refinement:</a:t>
            </a:r>
            <a:r>
              <a:rPr lang="en-CA" sz="1400" dirty="0">
                <a:latin typeface="Times New Roman" panose="02020603050405020304" pitchFamily="18" charset="0"/>
                <a:cs typeface="Times New Roman" panose="02020603050405020304" pitchFamily="18" charset="0"/>
              </a:rPr>
              <a:t> The convex solution seeds subsequent nonlinear learners—such as Gaussian-process regressors or neural networks—capturing higher-order, context-dependent regulatory effects.</a:t>
            </a: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endParaRPr lang="en-US" sz="1400" dirty="0">
              <a:latin typeface="Times New Roman" panose="02020603050405020304" pitchFamily="18" charset="0"/>
              <a:cs typeface="Times New Roman" panose="02020603050405020304" pitchFamily="18" charset="0"/>
            </a:endParaRPr>
          </a:p>
          <a:p>
            <a:pPr marL="0" indent="0" fontAlgn="base">
              <a:buNone/>
            </a:pPr>
            <a:r>
              <a:rPr lang="en-US" sz="1400" dirty="0">
                <a:latin typeface="Times New Roman" panose="02020603050405020304" pitchFamily="18" charset="0"/>
                <a:cs typeface="Times New Roman" panose="02020603050405020304" pitchFamily="18" charset="0"/>
              </a:rPr>
              <a:t> </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80679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9FF606-D46E-59EF-4C76-AD609B0A293E}"/>
              </a:ext>
            </a:extLst>
          </p:cNvPr>
          <p:cNvSpPr>
            <a:spLocks noGrp="1"/>
          </p:cNvSpPr>
          <p:nvPr>
            <p:ph type="title"/>
          </p:nvPr>
        </p:nvSpPr>
        <p:spPr>
          <a:xfrm>
            <a:off x="987552" y="365125"/>
            <a:ext cx="10366248" cy="1070483"/>
          </a:xfrm>
        </p:spPr>
        <p:txBody>
          <a:bodyPr/>
          <a:lstStyle/>
          <a:p>
            <a:r>
              <a:rPr lang="en-CA" sz="2000" dirty="0">
                <a:latin typeface="Times New Roman" panose="02020603050405020304" pitchFamily="18" charset="0"/>
                <a:cs typeface="Times New Roman" panose="02020603050405020304" pitchFamily="18" charset="0"/>
              </a:rPr>
              <a:t>References</a:t>
            </a:r>
            <a:br>
              <a:rPr lang="en-CA" b="1" dirty="0"/>
            </a:br>
            <a:endParaRPr lang="en-CA" dirty="0"/>
          </a:p>
        </p:txBody>
      </p:sp>
      <p:sp>
        <p:nvSpPr>
          <p:cNvPr id="3" name="Content Placeholder 2">
            <a:extLst>
              <a:ext uri="{FF2B5EF4-FFF2-40B4-BE49-F238E27FC236}">
                <a16:creationId xmlns:a16="http://schemas.microsoft.com/office/drawing/2014/main" id="{1EA4C39E-A79E-2D8D-CE01-BBB5609C1FB5}"/>
              </a:ext>
            </a:extLst>
          </p:cNvPr>
          <p:cNvSpPr>
            <a:spLocks noGrp="1"/>
          </p:cNvSpPr>
          <p:nvPr>
            <p:ph idx="1"/>
          </p:nvPr>
        </p:nvSpPr>
        <p:spPr>
          <a:xfrm>
            <a:off x="838200" y="1253331"/>
            <a:ext cx="10515600" cy="4351338"/>
          </a:xfrm>
        </p:spPr>
        <p:txBody>
          <a:bodyPr>
            <a:normAutofit/>
          </a:bodyPr>
          <a:lstStyle/>
          <a:p>
            <a:r>
              <a:rPr lang="en-CA" sz="1400" dirty="0">
                <a:latin typeface="Times New Roman" panose="02020603050405020304" pitchFamily="18" charset="0"/>
                <a:cs typeface="Times New Roman" panose="02020603050405020304" pitchFamily="18" charset="0"/>
              </a:rPr>
              <a:t>Xing, H., &amp; Yau, C. (2025). </a:t>
            </a:r>
            <a:r>
              <a:rPr lang="en-CA" sz="1400" i="1" dirty="0">
                <a:latin typeface="Times New Roman" panose="02020603050405020304" pitchFamily="18" charset="0"/>
                <a:cs typeface="Times New Roman" panose="02020603050405020304" pitchFamily="18" charset="0"/>
              </a:rPr>
              <a:t>GPerturb: Gaussian Process Modelling of Single-Cell Perturbation Data</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Nature Communications</a:t>
            </a:r>
            <a:r>
              <a:rPr lang="en-CA" sz="1400" dirty="0">
                <a:latin typeface="Times New Roman" panose="02020603050405020304" pitchFamily="18" charset="0"/>
                <a:cs typeface="Times New Roman" panose="02020603050405020304" pitchFamily="18" charset="0"/>
              </a:rPr>
              <a:t>.</a:t>
            </a:r>
          </a:p>
          <a:p>
            <a:r>
              <a:rPr lang="en-CA" sz="1400" dirty="0">
                <a:latin typeface="Times New Roman" panose="02020603050405020304" pitchFamily="18" charset="0"/>
                <a:cs typeface="Times New Roman" panose="02020603050405020304" pitchFamily="18" charset="0"/>
              </a:rPr>
              <a:t>Gavriilidis, G. I., et al. (2024). </a:t>
            </a:r>
            <a:r>
              <a:rPr lang="en-CA" sz="1400" i="1" dirty="0">
                <a:latin typeface="Times New Roman" panose="02020603050405020304" pitchFamily="18" charset="0"/>
                <a:cs typeface="Times New Roman" panose="02020603050405020304" pitchFamily="18" charset="0"/>
              </a:rPr>
              <a:t>A Mini-review on Perturbation Modelling Across Single-Cell </a:t>
            </a:r>
            <a:r>
              <a:rPr lang="en-CA" sz="1400" i="1" dirty="0" err="1">
                <a:latin typeface="Times New Roman" panose="02020603050405020304" pitchFamily="18" charset="0"/>
                <a:cs typeface="Times New Roman" panose="02020603050405020304" pitchFamily="18" charset="0"/>
              </a:rPr>
              <a:t>Omic</a:t>
            </a:r>
            <a:r>
              <a:rPr lang="en-CA" sz="1400" i="1" dirty="0">
                <a:latin typeface="Times New Roman" panose="02020603050405020304" pitchFamily="18" charset="0"/>
                <a:cs typeface="Times New Roman" panose="02020603050405020304" pitchFamily="18" charset="0"/>
              </a:rPr>
              <a:t> Modalities</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CSBJ</a:t>
            </a:r>
            <a:r>
              <a:rPr lang="en-CA" sz="1400" dirty="0">
                <a:latin typeface="Times New Roman" panose="02020603050405020304" pitchFamily="18" charset="0"/>
                <a:cs typeface="Times New Roman" panose="02020603050405020304" pitchFamily="18" charset="0"/>
              </a:rPr>
              <a:t>.</a:t>
            </a:r>
          </a:p>
          <a:p>
            <a:r>
              <a:rPr lang="en-CA" sz="1400" dirty="0">
                <a:latin typeface="Times New Roman" panose="02020603050405020304" pitchFamily="18" charset="0"/>
                <a:cs typeface="Times New Roman" panose="02020603050405020304" pitchFamily="18" charset="0"/>
              </a:rPr>
              <a:t>Wang, Y., et al. (2023). </a:t>
            </a:r>
            <a:r>
              <a:rPr lang="en-CA" sz="1400" i="1" dirty="0">
                <a:latin typeface="Times New Roman" panose="02020603050405020304" pitchFamily="18" charset="0"/>
                <a:cs typeface="Times New Roman" panose="02020603050405020304" pitchFamily="18" charset="0"/>
              </a:rPr>
              <a:t>Self-play Reinforcement Learning Guides Protein Engineering</a:t>
            </a:r>
            <a:r>
              <a:rPr lang="en-CA" sz="1400" dirty="0">
                <a:latin typeface="Times New Roman" panose="02020603050405020304" pitchFamily="18" charset="0"/>
                <a:cs typeface="Times New Roman" panose="02020603050405020304" pitchFamily="18" charset="0"/>
              </a:rPr>
              <a:t>. </a:t>
            </a:r>
            <a:r>
              <a:rPr lang="en-CA" sz="1400" i="1" dirty="0">
                <a:latin typeface="Times New Roman" panose="02020603050405020304" pitchFamily="18" charset="0"/>
                <a:cs typeface="Times New Roman" panose="02020603050405020304" pitchFamily="18" charset="0"/>
              </a:rPr>
              <a:t>Nature Machine Intelligence</a:t>
            </a:r>
            <a:r>
              <a:rPr lang="en-CA" sz="14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32761428"/>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96</TotalTime>
  <Words>1046</Words>
  <Application>Microsoft Office PowerPoint</Application>
  <PresentationFormat>Widescreen</PresentationFormat>
  <Paragraphs>70</Paragraphs>
  <Slides>8</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-apple-system</vt:lpstr>
      <vt:lpstr>Arial</vt:lpstr>
      <vt:lpstr>Calibri</vt:lpstr>
      <vt:lpstr>Calibri Light</vt:lpstr>
      <vt:lpstr>Times New Roman</vt:lpstr>
      <vt:lpstr>Office 2013 - 2022 Theme</vt:lpstr>
      <vt:lpstr>Gene Perturbation  Analysis Using Machine Learning</vt:lpstr>
      <vt:lpstr>Background</vt:lpstr>
      <vt:lpstr>Gaps in the Research</vt:lpstr>
      <vt:lpstr>Datasets</vt:lpstr>
      <vt:lpstr>Using Initialization Strategies to Address Nonlinearity in Developmental Biology </vt:lpstr>
      <vt:lpstr>Using Initialization Strategies to Address Nonlinearity in Developmental Biology </vt:lpstr>
      <vt:lpstr>Expected Impact </vt:lpstr>
      <vt:lpstr>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5</cp:revision>
  <dcterms:created xsi:type="dcterms:W3CDTF">2025-11-12T22:28:05Z</dcterms:created>
  <dcterms:modified xsi:type="dcterms:W3CDTF">2025-11-13T00:04:45Z</dcterms:modified>
</cp:coreProperties>
</file>