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61" r:id="rId3"/>
    <p:sldId id="258" r:id="rId4"/>
    <p:sldId id="257" r:id="rId5"/>
    <p:sldId id="266" r:id="rId6"/>
    <p:sldId id="263" r:id="rId7"/>
    <p:sldId id="265" r:id="rId8"/>
    <p:sldId id="262" r:id="rId9"/>
    <p:sldId id="264" r:id="rId10"/>
    <p:sldId id="25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FF3701-45DE-4332-85CE-F9AAAD7CD9A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5A59AFC8-6699-4791-8C2F-B7FA9D41E005}">
      <dgm:prSet/>
      <dgm:spPr/>
      <dgm:t>
        <a:bodyPr/>
        <a:lstStyle/>
        <a:p>
          <a:r>
            <a:rPr lang="en-US" b="1" i="0" baseline="0" dirty="0"/>
            <a:t>Perturb-seq / </a:t>
          </a:r>
          <a:r>
            <a:rPr lang="en-US" b="1" i="0" baseline="0" dirty="0" err="1"/>
            <a:t>Mixscape</a:t>
          </a:r>
          <a:r>
            <a:rPr lang="en-US" b="0" i="0" baseline="0" dirty="0"/>
            <a:t> – CRISPR perturbations with transcriptomic readouts for </a:t>
          </a:r>
          <a:r>
            <a:rPr lang="en-US" b="1" i="0" baseline="0" dirty="0"/>
            <a:t>validation.</a:t>
          </a:r>
          <a:endParaRPr lang="en-US" b="1" dirty="0"/>
        </a:p>
      </dgm:t>
    </dgm:pt>
    <dgm:pt modelId="{2325147D-06A1-430E-8597-E111E711F301}" type="parTrans" cxnId="{191EE81E-7F10-42F6-BC7C-2C593EEA863A}">
      <dgm:prSet/>
      <dgm:spPr/>
      <dgm:t>
        <a:bodyPr/>
        <a:lstStyle/>
        <a:p>
          <a:endParaRPr lang="en-US"/>
        </a:p>
      </dgm:t>
    </dgm:pt>
    <dgm:pt modelId="{5763D4E9-1CF5-4905-8E16-E546996F07A8}" type="sibTrans" cxnId="{191EE81E-7F10-42F6-BC7C-2C593EEA863A}">
      <dgm:prSet/>
      <dgm:spPr/>
      <dgm:t>
        <a:bodyPr/>
        <a:lstStyle/>
        <a:p>
          <a:endParaRPr lang="en-US"/>
        </a:p>
      </dgm:t>
    </dgm:pt>
    <dgm:pt modelId="{6DE2D6FA-ACED-4DD5-8758-4F65DFFAD282}">
      <dgm:prSet/>
      <dgm:spPr/>
      <dgm:t>
        <a:bodyPr/>
        <a:lstStyle/>
        <a:p>
          <a:r>
            <a:rPr lang="en-US" b="1" i="0" baseline="0"/>
            <a:t>scRNA-seq / scATAC-seq / CITE-seq</a:t>
          </a:r>
          <a:r>
            <a:rPr lang="en-US" b="0" i="0" baseline="0"/>
            <a:t> – Multi-omic single-cell data.</a:t>
          </a:r>
          <a:endParaRPr lang="en-US"/>
        </a:p>
      </dgm:t>
    </dgm:pt>
    <dgm:pt modelId="{1D5A7600-DBD6-43BC-B94D-3FD31A4AC460}" type="parTrans" cxnId="{5CFB4E4A-D86A-457A-888D-8116E2668E36}">
      <dgm:prSet/>
      <dgm:spPr/>
      <dgm:t>
        <a:bodyPr/>
        <a:lstStyle/>
        <a:p>
          <a:endParaRPr lang="en-US"/>
        </a:p>
      </dgm:t>
    </dgm:pt>
    <dgm:pt modelId="{B043B846-413F-4CD1-B0E5-5F9F144EEC26}" type="sibTrans" cxnId="{5CFB4E4A-D86A-457A-888D-8116E2668E36}">
      <dgm:prSet/>
      <dgm:spPr/>
      <dgm:t>
        <a:bodyPr/>
        <a:lstStyle/>
        <a:p>
          <a:endParaRPr lang="en-US"/>
        </a:p>
      </dgm:t>
    </dgm:pt>
    <dgm:pt modelId="{18D6ADEF-D6AB-42A1-BB39-A90A446EAA0C}">
      <dgm:prSet/>
      <dgm:spPr/>
      <dgm:t>
        <a:bodyPr/>
        <a:lstStyle/>
        <a:p>
          <a:r>
            <a:rPr lang="en-US" b="1" i="0" baseline="0" dirty="0"/>
            <a:t>Simulated GRNs</a:t>
          </a:r>
          <a:r>
            <a:rPr lang="en-US" b="0" i="0" baseline="0" dirty="0"/>
            <a:t> – In-silico perturbation environments for </a:t>
          </a:r>
          <a:r>
            <a:rPr lang="en-US" b="1" i="0" baseline="0" dirty="0"/>
            <a:t>model training.</a:t>
          </a:r>
          <a:endParaRPr lang="en-US" b="1" dirty="0"/>
        </a:p>
      </dgm:t>
    </dgm:pt>
    <dgm:pt modelId="{0210C5A9-0638-414F-ABED-9409B76CC4C1}" type="parTrans" cxnId="{454A77ED-9065-40FF-9CED-868E575E6EF3}">
      <dgm:prSet/>
      <dgm:spPr/>
      <dgm:t>
        <a:bodyPr/>
        <a:lstStyle/>
        <a:p>
          <a:endParaRPr lang="en-US"/>
        </a:p>
      </dgm:t>
    </dgm:pt>
    <dgm:pt modelId="{5C1C6139-9D97-431D-B442-4388C9EFD49D}" type="sibTrans" cxnId="{454A77ED-9065-40FF-9CED-868E575E6EF3}">
      <dgm:prSet/>
      <dgm:spPr/>
      <dgm:t>
        <a:bodyPr/>
        <a:lstStyle/>
        <a:p>
          <a:endParaRPr lang="en-US"/>
        </a:p>
      </dgm:t>
    </dgm:pt>
    <dgm:pt modelId="{3D582306-406A-4688-8FE0-5B22D99776E3}" type="pres">
      <dgm:prSet presAssocID="{36FF3701-45DE-4332-85CE-F9AAAD7CD9AF}" presName="hierChild1" presStyleCnt="0">
        <dgm:presLayoutVars>
          <dgm:chPref val="1"/>
          <dgm:dir/>
          <dgm:animOne val="branch"/>
          <dgm:animLvl val="lvl"/>
          <dgm:resizeHandles/>
        </dgm:presLayoutVars>
      </dgm:prSet>
      <dgm:spPr/>
    </dgm:pt>
    <dgm:pt modelId="{B0511DC8-99C6-4DAC-96FF-E669BCABCB9E}" type="pres">
      <dgm:prSet presAssocID="{5A59AFC8-6699-4791-8C2F-B7FA9D41E005}" presName="hierRoot1" presStyleCnt="0"/>
      <dgm:spPr/>
    </dgm:pt>
    <dgm:pt modelId="{E95061CA-2CAA-4202-90FE-DA282C18D7F8}" type="pres">
      <dgm:prSet presAssocID="{5A59AFC8-6699-4791-8C2F-B7FA9D41E005}" presName="composite" presStyleCnt="0"/>
      <dgm:spPr/>
    </dgm:pt>
    <dgm:pt modelId="{26122A1E-4B78-4EAE-B426-DE9975110259}" type="pres">
      <dgm:prSet presAssocID="{5A59AFC8-6699-4791-8C2F-B7FA9D41E005}" presName="background" presStyleLbl="node0" presStyleIdx="0" presStyleCnt="3"/>
      <dgm:spPr/>
    </dgm:pt>
    <dgm:pt modelId="{DD6ED2D3-287F-4F0A-B231-DA877C50F933}" type="pres">
      <dgm:prSet presAssocID="{5A59AFC8-6699-4791-8C2F-B7FA9D41E005}" presName="text" presStyleLbl="fgAcc0" presStyleIdx="0" presStyleCnt="3">
        <dgm:presLayoutVars>
          <dgm:chPref val="3"/>
        </dgm:presLayoutVars>
      </dgm:prSet>
      <dgm:spPr/>
    </dgm:pt>
    <dgm:pt modelId="{78C09AA5-0CBC-40C6-ADF0-EA928C8E87EB}" type="pres">
      <dgm:prSet presAssocID="{5A59AFC8-6699-4791-8C2F-B7FA9D41E005}" presName="hierChild2" presStyleCnt="0"/>
      <dgm:spPr/>
    </dgm:pt>
    <dgm:pt modelId="{17CE2374-6A5C-479D-B44D-8D785AB53852}" type="pres">
      <dgm:prSet presAssocID="{6DE2D6FA-ACED-4DD5-8758-4F65DFFAD282}" presName="hierRoot1" presStyleCnt="0"/>
      <dgm:spPr/>
    </dgm:pt>
    <dgm:pt modelId="{C0AF88F7-B051-4EFD-AFCB-B973F09529BA}" type="pres">
      <dgm:prSet presAssocID="{6DE2D6FA-ACED-4DD5-8758-4F65DFFAD282}" presName="composite" presStyleCnt="0"/>
      <dgm:spPr/>
    </dgm:pt>
    <dgm:pt modelId="{E71E7F66-E1D1-420F-B147-D2D207BE2F83}" type="pres">
      <dgm:prSet presAssocID="{6DE2D6FA-ACED-4DD5-8758-4F65DFFAD282}" presName="background" presStyleLbl="node0" presStyleIdx="1" presStyleCnt="3"/>
      <dgm:spPr/>
    </dgm:pt>
    <dgm:pt modelId="{4048A0B6-0051-40AC-98C9-1318C17D0FD5}" type="pres">
      <dgm:prSet presAssocID="{6DE2D6FA-ACED-4DD5-8758-4F65DFFAD282}" presName="text" presStyleLbl="fgAcc0" presStyleIdx="1" presStyleCnt="3">
        <dgm:presLayoutVars>
          <dgm:chPref val="3"/>
        </dgm:presLayoutVars>
      </dgm:prSet>
      <dgm:spPr/>
    </dgm:pt>
    <dgm:pt modelId="{B824CC7A-E0C4-4EBB-B36F-D7CC5E87A3ED}" type="pres">
      <dgm:prSet presAssocID="{6DE2D6FA-ACED-4DD5-8758-4F65DFFAD282}" presName="hierChild2" presStyleCnt="0"/>
      <dgm:spPr/>
    </dgm:pt>
    <dgm:pt modelId="{C5747B4D-282D-4ACC-AE90-411421DA4A10}" type="pres">
      <dgm:prSet presAssocID="{18D6ADEF-D6AB-42A1-BB39-A90A446EAA0C}" presName="hierRoot1" presStyleCnt="0"/>
      <dgm:spPr/>
    </dgm:pt>
    <dgm:pt modelId="{CA3EE9E2-CBF4-43E6-8DE6-EE9DAF07CEE0}" type="pres">
      <dgm:prSet presAssocID="{18D6ADEF-D6AB-42A1-BB39-A90A446EAA0C}" presName="composite" presStyleCnt="0"/>
      <dgm:spPr/>
    </dgm:pt>
    <dgm:pt modelId="{6CAFF1A9-0674-41C6-98EB-DD6DCB49F8F8}" type="pres">
      <dgm:prSet presAssocID="{18D6ADEF-D6AB-42A1-BB39-A90A446EAA0C}" presName="background" presStyleLbl="node0" presStyleIdx="2" presStyleCnt="3"/>
      <dgm:spPr/>
    </dgm:pt>
    <dgm:pt modelId="{9B2A9C51-E454-4C17-9E16-41BB61A53E0E}" type="pres">
      <dgm:prSet presAssocID="{18D6ADEF-D6AB-42A1-BB39-A90A446EAA0C}" presName="text" presStyleLbl="fgAcc0" presStyleIdx="2" presStyleCnt="3">
        <dgm:presLayoutVars>
          <dgm:chPref val="3"/>
        </dgm:presLayoutVars>
      </dgm:prSet>
      <dgm:spPr/>
    </dgm:pt>
    <dgm:pt modelId="{F77B110C-508A-4D54-AE1A-C7874DF14F1B}" type="pres">
      <dgm:prSet presAssocID="{18D6ADEF-D6AB-42A1-BB39-A90A446EAA0C}" presName="hierChild2" presStyleCnt="0"/>
      <dgm:spPr/>
    </dgm:pt>
  </dgm:ptLst>
  <dgm:cxnLst>
    <dgm:cxn modelId="{191EE81E-7F10-42F6-BC7C-2C593EEA863A}" srcId="{36FF3701-45DE-4332-85CE-F9AAAD7CD9AF}" destId="{5A59AFC8-6699-4791-8C2F-B7FA9D41E005}" srcOrd="0" destOrd="0" parTransId="{2325147D-06A1-430E-8597-E111E711F301}" sibTransId="{5763D4E9-1CF5-4905-8E16-E546996F07A8}"/>
    <dgm:cxn modelId="{30AB1D2C-20D8-4AE6-B69F-542335B9B485}" type="presOf" srcId="{18D6ADEF-D6AB-42A1-BB39-A90A446EAA0C}" destId="{9B2A9C51-E454-4C17-9E16-41BB61A53E0E}" srcOrd="0" destOrd="0" presId="urn:microsoft.com/office/officeart/2005/8/layout/hierarchy1"/>
    <dgm:cxn modelId="{5CFB4E4A-D86A-457A-888D-8116E2668E36}" srcId="{36FF3701-45DE-4332-85CE-F9AAAD7CD9AF}" destId="{6DE2D6FA-ACED-4DD5-8758-4F65DFFAD282}" srcOrd="1" destOrd="0" parTransId="{1D5A7600-DBD6-43BC-B94D-3FD31A4AC460}" sibTransId="{B043B846-413F-4CD1-B0E5-5F9F144EEC26}"/>
    <dgm:cxn modelId="{D54C344F-F80C-4794-BA55-B63FF626D0F5}" type="presOf" srcId="{36FF3701-45DE-4332-85CE-F9AAAD7CD9AF}" destId="{3D582306-406A-4688-8FE0-5B22D99776E3}" srcOrd="0" destOrd="0" presId="urn:microsoft.com/office/officeart/2005/8/layout/hierarchy1"/>
    <dgm:cxn modelId="{DFD3A89D-E3ED-4FC6-BB12-EF4034BF61B7}" type="presOf" srcId="{5A59AFC8-6699-4791-8C2F-B7FA9D41E005}" destId="{DD6ED2D3-287F-4F0A-B231-DA877C50F933}" srcOrd="0" destOrd="0" presId="urn:microsoft.com/office/officeart/2005/8/layout/hierarchy1"/>
    <dgm:cxn modelId="{FFF011ED-DE25-4E89-A73A-A37C497A0C9D}" type="presOf" srcId="{6DE2D6FA-ACED-4DD5-8758-4F65DFFAD282}" destId="{4048A0B6-0051-40AC-98C9-1318C17D0FD5}" srcOrd="0" destOrd="0" presId="urn:microsoft.com/office/officeart/2005/8/layout/hierarchy1"/>
    <dgm:cxn modelId="{454A77ED-9065-40FF-9CED-868E575E6EF3}" srcId="{36FF3701-45DE-4332-85CE-F9AAAD7CD9AF}" destId="{18D6ADEF-D6AB-42A1-BB39-A90A446EAA0C}" srcOrd="2" destOrd="0" parTransId="{0210C5A9-0638-414F-ABED-9409B76CC4C1}" sibTransId="{5C1C6139-9D97-431D-B442-4388C9EFD49D}"/>
    <dgm:cxn modelId="{32528189-13F9-4C30-9A8A-319B69F5F79E}" type="presParOf" srcId="{3D582306-406A-4688-8FE0-5B22D99776E3}" destId="{B0511DC8-99C6-4DAC-96FF-E669BCABCB9E}" srcOrd="0" destOrd="0" presId="urn:microsoft.com/office/officeart/2005/8/layout/hierarchy1"/>
    <dgm:cxn modelId="{3567021D-8FA6-4DCD-B4E6-3EE6CE5F95D7}" type="presParOf" srcId="{B0511DC8-99C6-4DAC-96FF-E669BCABCB9E}" destId="{E95061CA-2CAA-4202-90FE-DA282C18D7F8}" srcOrd="0" destOrd="0" presId="urn:microsoft.com/office/officeart/2005/8/layout/hierarchy1"/>
    <dgm:cxn modelId="{1EA1DA41-3C68-4148-ADDF-8A6F78B9F19F}" type="presParOf" srcId="{E95061CA-2CAA-4202-90FE-DA282C18D7F8}" destId="{26122A1E-4B78-4EAE-B426-DE9975110259}" srcOrd="0" destOrd="0" presId="urn:microsoft.com/office/officeart/2005/8/layout/hierarchy1"/>
    <dgm:cxn modelId="{1F704145-3DD1-4642-99E1-4A1491B14360}" type="presParOf" srcId="{E95061CA-2CAA-4202-90FE-DA282C18D7F8}" destId="{DD6ED2D3-287F-4F0A-B231-DA877C50F933}" srcOrd="1" destOrd="0" presId="urn:microsoft.com/office/officeart/2005/8/layout/hierarchy1"/>
    <dgm:cxn modelId="{01D134C3-369A-4EE6-BDF3-57D266E1083D}" type="presParOf" srcId="{B0511DC8-99C6-4DAC-96FF-E669BCABCB9E}" destId="{78C09AA5-0CBC-40C6-ADF0-EA928C8E87EB}" srcOrd="1" destOrd="0" presId="urn:microsoft.com/office/officeart/2005/8/layout/hierarchy1"/>
    <dgm:cxn modelId="{2613AAC4-A3C5-4F62-A0AB-D9B7C2884BDE}" type="presParOf" srcId="{3D582306-406A-4688-8FE0-5B22D99776E3}" destId="{17CE2374-6A5C-479D-B44D-8D785AB53852}" srcOrd="1" destOrd="0" presId="urn:microsoft.com/office/officeart/2005/8/layout/hierarchy1"/>
    <dgm:cxn modelId="{70ADC9B2-E822-4172-B4FB-C8E9DBA0571A}" type="presParOf" srcId="{17CE2374-6A5C-479D-B44D-8D785AB53852}" destId="{C0AF88F7-B051-4EFD-AFCB-B973F09529BA}" srcOrd="0" destOrd="0" presId="urn:microsoft.com/office/officeart/2005/8/layout/hierarchy1"/>
    <dgm:cxn modelId="{3DF68FA6-0686-4451-81D8-3907170C0D8D}" type="presParOf" srcId="{C0AF88F7-B051-4EFD-AFCB-B973F09529BA}" destId="{E71E7F66-E1D1-420F-B147-D2D207BE2F83}" srcOrd="0" destOrd="0" presId="urn:microsoft.com/office/officeart/2005/8/layout/hierarchy1"/>
    <dgm:cxn modelId="{AF75FECF-6B8F-468D-88C5-F7A240FE42B7}" type="presParOf" srcId="{C0AF88F7-B051-4EFD-AFCB-B973F09529BA}" destId="{4048A0B6-0051-40AC-98C9-1318C17D0FD5}" srcOrd="1" destOrd="0" presId="urn:microsoft.com/office/officeart/2005/8/layout/hierarchy1"/>
    <dgm:cxn modelId="{ADCA9150-4F77-4BE0-AAB6-9C0B2DDE940F}" type="presParOf" srcId="{17CE2374-6A5C-479D-B44D-8D785AB53852}" destId="{B824CC7A-E0C4-4EBB-B36F-D7CC5E87A3ED}" srcOrd="1" destOrd="0" presId="urn:microsoft.com/office/officeart/2005/8/layout/hierarchy1"/>
    <dgm:cxn modelId="{33EBEFE9-EDE5-4B11-829B-68DE2EF4DFD3}" type="presParOf" srcId="{3D582306-406A-4688-8FE0-5B22D99776E3}" destId="{C5747B4D-282D-4ACC-AE90-411421DA4A10}" srcOrd="2" destOrd="0" presId="urn:microsoft.com/office/officeart/2005/8/layout/hierarchy1"/>
    <dgm:cxn modelId="{B76D1C12-EF3D-4371-A885-D902982D3283}" type="presParOf" srcId="{C5747B4D-282D-4ACC-AE90-411421DA4A10}" destId="{CA3EE9E2-CBF4-43E6-8DE6-EE9DAF07CEE0}" srcOrd="0" destOrd="0" presId="urn:microsoft.com/office/officeart/2005/8/layout/hierarchy1"/>
    <dgm:cxn modelId="{CC9B1FC0-4922-492F-97CE-9A0F24DF323D}" type="presParOf" srcId="{CA3EE9E2-CBF4-43E6-8DE6-EE9DAF07CEE0}" destId="{6CAFF1A9-0674-41C6-98EB-DD6DCB49F8F8}" srcOrd="0" destOrd="0" presId="urn:microsoft.com/office/officeart/2005/8/layout/hierarchy1"/>
    <dgm:cxn modelId="{1D11312E-9369-4325-B9A9-BE540F064FC9}" type="presParOf" srcId="{CA3EE9E2-CBF4-43E6-8DE6-EE9DAF07CEE0}" destId="{9B2A9C51-E454-4C17-9E16-41BB61A53E0E}" srcOrd="1" destOrd="0" presId="urn:microsoft.com/office/officeart/2005/8/layout/hierarchy1"/>
    <dgm:cxn modelId="{D1399B88-800B-441F-817A-948A7121854C}" type="presParOf" srcId="{C5747B4D-282D-4ACC-AE90-411421DA4A10}" destId="{F77B110C-508A-4D54-AE1A-C7874DF14F1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A3DAC8-B125-4C32-924D-72DB447009D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461618B-C7CC-498A-A583-FE6616441ECC}">
      <dgm:prSet/>
      <dgm:spPr/>
      <dgm:t>
        <a:bodyPr/>
        <a:lstStyle/>
        <a:p>
          <a:r>
            <a:rPr lang="en-CA"/>
            <a:t>Establishes </a:t>
          </a:r>
          <a:r>
            <a:rPr lang="en-CA" b="1"/>
            <a:t>digital twin</a:t>
          </a:r>
          <a:r>
            <a:rPr lang="en-CA"/>
            <a:t> models for predictive cellular perturbation.</a:t>
          </a:r>
          <a:endParaRPr lang="en-US"/>
        </a:p>
      </dgm:t>
    </dgm:pt>
    <dgm:pt modelId="{3F9E3878-BE51-438B-A213-F1C51AADB811}" type="parTrans" cxnId="{912096D5-9AA4-4626-AAFC-C64178D81399}">
      <dgm:prSet/>
      <dgm:spPr/>
      <dgm:t>
        <a:bodyPr/>
        <a:lstStyle/>
        <a:p>
          <a:endParaRPr lang="en-US"/>
        </a:p>
      </dgm:t>
    </dgm:pt>
    <dgm:pt modelId="{F32DBA10-6844-4163-B847-827F85EA74B9}" type="sibTrans" cxnId="{912096D5-9AA4-4626-AAFC-C64178D81399}">
      <dgm:prSet/>
      <dgm:spPr/>
      <dgm:t>
        <a:bodyPr/>
        <a:lstStyle/>
        <a:p>
          <a:endParaRPr lang="en-US"/>
        </a:p>
      </dgm:t>
    </dgm:pt>
    <dgm:pt modelId="{D4FC6A99-6BEB-48AC-95CE-FD84AF85E040}">
      <dgm:prSet/>
      <dgm:spPr/>
      <dgm:t>
        <a:bodyPr/>
        <a:lstStyle/>
        <a:p>
          <a:r>
            <a:rPr lang="en-CA"/>
            <a:t>Bridges regression inference and policy optimization frameworks.</a:t>
          </a:r>
          <a:endParaRPr lang="en-US"/>
        </a:p>
      </dgm:t>
    </dgm:pt>
    <dgm:pt modelId="{24758EE2-E781-4EB5-A84D-766CB7C8BFCA}" type="parTrans" cxnId="{7A9735C9-A2C9-4223-897A-69255256EDA6}">
      <dgm:prSet/>
      <dgm:spPr/>
      <dgm:t>
        <a:bodyPr/>
        <a:lstStyle/>
        <a:p>
          <a:endParaRPr lang="en-US"/>
        </a:p>
      </dgm:t>
    </dgm:pt>
    <dgm:pt modelId="{5D869586-3656-46CB-8209-3C06784B81D2}" type="sibTrans" cxnId="{7A9735C9-A2C9-4223-897A-69255256EDA6}">
      <dgm:prSet/>
      <dgm:spPr/>
      <dgm:t>
        <a:bodyPr/>
        <a:lstStyle/>
        <a:p>
          <a:endParaRPr lang="en-US"/>
        </a:p>
      </dgm:t>
    </dgm:pt>
    <dgm:pt modelId="{0D2BEDF8-0F9A-4CA1-9C62-5FA953D3CDA6}">
      <dgm:prSet/>
      <dgm:spPr/>
      <dgm:t>
        <a:bodyPr/>
        <a:lstStyle/>
        <a:p>
          <a:r>
            <a:rPr lang="en-CA"/>
            <a:t>Facilitates future </a:t>
          </a:r>
          <a:r>
            <a:rPr lang="en-CA" b="1"/>
            <a:t>wet-lab validation</a:t>
          </a:r>
          <a:r>
            <a:rPr lang="en-CA"/>
            <a:t> of </a:t>
          </a:r>
          <a:r>
            <a:rPr lang="en-CA" i="1"/>
            <a:t>in silico</a:t>
          </a:r>
          <a:r>
            <a:rPr lang="en-CA"/>
            <a:t> predictions.</a:t>
          </a:r>
          <a:endParaRPr lang="en-US"/>
        </a:p>
      </dgm:t>
    </dgm:pt>
    <dgm:pt modelId="{B66D6702-DDCE-4400-BA4F-F9A7F62BF08D}" type="parTrans" cxnId="{A2C6FBFC-9390-4F34-8E57-2CF1AE479FE3}">
      <dgm:prSet/>
      <dgm:spPr/>
      <dgm:t>
        <a:bodyPr/>
        <a:lstStyle/>
        <a:p>
          <a:endParaRPr lang="en-US"/>
        </a:p>
      </dgm:t>
    </dgm:pt>
    <dgm:pt modelId="{FB03205B-ECAC-4944-809F-BE1C83743BA3}" type="sibTrans" cxnId="{A2C6FBFC-9390-4F34-8E57-2CF1AE479FE3}">
      <dgm:prSet/>
      <dgm:spPr/>
      <dgm:t>
        <a:bodyPr/>
        <a:lstStyle/>
        <a:p>
          <a:endParaRPr lang="en-US"/>
        </a:p>
      </dgm:t>
    </dgm:pt>
    <dgm:pt modelId="{E10F4281-1F89-4C81-AFE9-B5A744785824}">
      <dgm:prSet/>
      <dgm:spPr/>
      <dgm:t>
        <a:bodyPr/>
        <a:lstStyle/>
        <a:p>
          <a:r>
            <a:rPr lang="en-CA"/>
            <a:t>Supports regenerative medicine and therapeutic design via perturbation-aware modeling.</a:t>
          </a:r>
          <a:endParaRPr lang="en-US"/>
        </a:p>
      </dgm:t>
    </dgm:pt>
    <dgm:pt modelId="{44A70FF4-6D55-4655-B833-4F7C00DA66B2}" type="parTrans" cxnId="{74217F88-9C55-4D6D-AE79-A044DEF9B2FA}">
      <dgm:prSet/>
      <dgm:spPr/>
      <dgm:t>
        <a:bodyPr/>
        <a:lstStyle/>
        <a:p>
          <a:endParaRPr lang="en-US"/>
        </a:p>
      </dgm:t>
    </dgm:pt>
    <dgm:pt modelId="{90F91C33-CDAF-432C-A18A-4FE78C447088}" type="sibTrans" cxnId="{74217F88-9C55-4D6D-AE79-A044DEF9B2FA}">
      <dgm:prSet/>
      <dgm:spPr/>
      <dgm:t>
        <a:bodyPr/>
        <a:lstStyle/>
        <a:p>
          <a:endParaRPr lang="en-US"/>
        </a:p>
      </dgm:t>
    </dgm:pt>
    <dgm:pt modelId="{51F3E89B-C2B1-4BFA-B5D7-B671E53FDD47}" type="pres">
      <dgm:prSet presAssocID="{6EA3DAC8-B125-4C32-924D-72DB447009DA}" presName="root" presStyleCnt="0">
        <dgm:presLayoutVars>
          <dgm:dir/>
          <dgm:resizeHandles val="exact"/>
        </dgm:presLayoutVars>
      </dgm:prSet>
      <dgm:spPr/>
    </dgm:pt>
    <dgm:pt modelId="{5FD8ACA7-DC79-4738-AB24-EDE55CA4264F}" type="pres">
      <dgm:prSet presAssocID="{8461618B-C7CC-498A-A583-FE6616441ECC}" presName="compNode" presStyleCnt="0"/>
      <dgm:spPr/>
    </dgm:pt>
    <dgm:pt modelId="{DAC192B4-004C-44D7-9FC8-4C161BA277EF}" type="pres">
      <dgm:prSet presAssocID="{8461618B-C7CC-498A-A583-FE6616441EC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rvous Face Outline"/>
        </a:ext>
      </dgm:extLst>
    </dgm:pt>
    <dgm:pt modelId="{6FD45210-81D1-4F23-A002-B91255821248}" type="pres">
      <dgm:prSet presAssocID="{8461618B-C7CC-498A-A583-FE6616441ECC}" presName="spaceRect" presStyleCnt="0"/>
      <dgm:spPr/>
    </dgm:pt>
    <dgm:pt modelId="{7E5E989E-9F77-42AC-B361-7BD391FCA46E}" type="pres">
      <dgm:prSet presAssocID="{8461618B-C7CC-498A-A583-FE6616441ECC}" presName="textRect" presStyleLbl="revTx" presStyleIdx="0" presStyleCnt="4">
        <dgm:presLayoutVars>
          <dgm:chMax val="1"/>
          <dgm:chPref val="1"/>
        </dgm:presLayoutVars>
      </dgm:prSet>
      <dgm:spPr/>
    </dgm:pt>
    <dgm:pt modelId="{F27A3A3E-EBA3-4784-B0F8-23C7C2A5C7AF}" type="pres">
      <dgm:prSet presAssocID="{F32DBA10-6844-4163-B847-827F85EA74B9}" presName="sibTrans" presStyleCnt="0"/>
      <dgm:spPr/>
    </dgm:pt>
    <dgm:pt modelId="{03EC9167-3294-4460-B2D9-E03897AD3D5F}" type="pres">
      <dgm:prSet presAssocID="{D4FC6A99-6BEB-48AC-95CE-FD84AF85E040}" presName="compNode" presStyleCnt="0"/>
      <dgm:spPr/>
    </dgm:pt>
    <dgm:pt modelId="{20E55158-48D3-43BE-B377-FB5AE9D8DC74}" type="pres">
      <dgm:prSet presAssocID="{D4FC6A99-6BEB-48AC-95CE-FD84AF85E04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850F78B7-C2E4-476C-AB01-83D6F64DDAA7}" type="pres">
      <dgm:prSet presAssocID="{D4FC6A99-6BEB-48AC-95CE-FD84AF85E040}" presName="spaceRect" presStyleCnt="0"/>
      <dgm:spPr/>
    </dgm:pt>
    <dgm:pt modelId="{29BAE0AE-C9CA-4FD7-83D5-D5C5981106ED}" type="pres">
      <dgm:prSet presAssocID="{D4FC6A99-6BEB-48AC-95CE-FD84AF85E040}" presName="textRect" presStyleLbl="revTx" presStyleIdx="1" presStyleCnt="4">
        <dgm:presLayoutVars>
          <dgm:chMax val="1"/>
          <dgm:chPref val="1"/>
        </dgm:presLayoutVars>
      </dgm:prSet>
      <dgm:spPr/>
    </dgm:pt>
    <dgm:pt modelId="{5705D9E8-6843-4A5E-BEAD-9B3D8E0625F5}" type="pres">
      <dgm:prSet presAssocID="{5D869586-3656-46CB-8209-3C06784B81D2}" presName="sibTrans" presStyleCnt="0"/>
      <dgm:spPr/>
    </dgm:pt>
    <dgm:pt modelId="{6B421497-0402-44A6-9D75-4120DE47ED4A}" type="pres">
      <dgm:prSet presAssocID="{0D2BEDF8-0F9A-4CA1-9C62-5FA953D3CDA6}" presName="compNode" presStyleCnt="0"/>
      <dgm:spPr/>
    </dgm:pt>
    <dgm:pt modelId="{20EA6B0D-6FD5-4E26-92EE-72EEB43A4C0A}" type="pres">
      <dgm:prSet presAssocID="{0D2BEDF8-0F9A-4CA1-9C62-5FA953D3CDA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inbow"/>
        </a:ext>
      </dgm:extLst>
    </dgm:pt>
    <dgm:pt modelId="{D2AD75AC-F600-49FA-B464-C66A06980A5D}" type="pres">
      <dgm:prSet presAssocID="{0D2BEDF8-0F9A-4CA1-9C62-5FA953D3CDA6}" presName="spaceRect" presStyleCnt="0"/>
      <dgm:spPr/>
    </dgm:pt>
    <dgm:pt modelId="{35E58805-0CCF-47B6-BC47-5121C1AA37D2}" type="pres">
      <dgm:prSet presAssocID="{0D2BEDF8-0F9A-4CA1-9C62-5FA953D3CDA6}" presName="textRect" presStyleLbl="revTx" presStyleIdx="2" presStyleCnt="4">
        <dgm:presLayoutVars>
          <dgm:chMax val="1"/>
          <dgm:chPref val="1"/>
        </dgm:presLayoutVars>
      </dgm:prSet>
      <dgm:spPr/>
    </dgm:pt>
    <dgm:pt modelId="{2AE0FDD7-3BED-4080-AA3A-B33B76077D91}" type="pres">
      <dgm:prSet presAssocID="{FB03205B-ECAC-4944-809F-BE1C83743BA3}" presName="sibTrans" presStyleCnt="0"/>
      <dgm:spPr/>
    </dgm:pt>
    <dgm:pt modelId="{DD1E3980-0CAE-4ACB-ADBC-6929FA3406A8}" type="pres">
      <dgm:prSet presAssocID="{E10F4281-1F89-4C81-AFE9-B5A744785824}" presName="compNode" presStyleCnt="0"/>
      <dgm:spPr/>
    </dgm:pt>
    <dgm:pt modelId="{D27FBF9E-BBA9-4B33-AEF7-9C03B7B6947B}" type="pres">
      <dgm:prSet presAssocID="{E10F4281-1F89-4C81-AFE9-B5A74478582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ientist"/>
        </a:ext>
      </dgm:extLst>
    </dgm:pt>
    <dgm:pt modelId="{8F67FEEB-29AC-4947-87C0-6311051A41C5}" type="pres">
      <dgm:prSet presAssocID="{E10F4281-1F89-4C81-AFE9-B5A744785824}" presName="spaceRect" presStyleCnt="0"/>
      <dgm:spPr/>
    </dgm:pt>
    <dgm:pt modelId="{EA07B93D-305F-4510-AB1D-9AF565AF7E30}" type="pres">
      <dgm:prSet presAssocID="{E10F4281-1F89-4C81-AFE9-B5A744785824}" presName="textRect" presStyleLbl="revTx" presStyleIdx="3" presStyleCnt="4">
        <dgm:presLayoutVars>
          <dgm:chMax val="1"/>
          <dgm:chPref val="1"/>
        </dgm:presLayoutVars>
      </dgm:prSet>
      <dgm:spPr/>
    </dgm:pt>
  </dgm:ptLst>
  <dgm:cxnLst>
    <dgm:cxn modelId="{C1D9A70A-463B-4511-9699-1224496BBD9F}" type="presOf" srcId="{8461618B-C7CC-498A-A583-FE6616441ECC}" destId="{7E5E989E-9F77-42AC-B361-7BD391FCA46E}" srcOrd="0" destOrd="0" presId="urn:microsoft.com/office/officeart/2018/2/layout/IconLabelList"/>
    <dgm:cxn modelId="{2744EE2A-2C2B-4EFD-94FF-C2E51C3E00D0}" type="presOf" srcId="{0D2BEDF8-0F9A-4CA1-9C62-5FA953D3CDA6}" destId="{35E58805-0CCF-47B6-BC47-5121C1AA37D2}" srcOrd="0" destOrd="0" presId="urn:microsoft.com/office/officeart/2018/2/layout/IconLabelList"/>
    <dgm:cxn modelId="{BD390D42-D4AA-4D48-A064-9CDFAAF0ED0A}" type="presOf" srcId="{D4FC6A99-6BEB-48AC-95CE-FD84AF85E040}" destId="{29BAE0AE-C9CA-4FD7-83D5-D5C5981106ED}" srcOrd="0" destOrd="0" presId="urn:microsoft.com/office/officeart/2018/2/layout/IconLabelList"/>
    <dgm:cxn modelId="{1364B74F-67C2-4BD0-A653-2E6291F68D46}" type="presOf" srcId="{6EA3DAC8-B125-4C32-924D-72DB447009DA}" destId="{51F3E89B-C2B1-4BFA-B5D7-B671E53FDD47}" srcOrd="0" destOrd="0" presId="urn:microsoft.com/office/officeart/2018/2/layout/IconLabelList"/>
    <dgm:cxn modelId="{74217F88-9C55-4D6D-AE79-A044DEF9B2FA}" srcId="{6EA3DAC8-B125-4C32-924D-72DB447009DA}" destId="{E10F4281-1F89-4C81-AFE9-B5A744785824}" srcOrd="3" destOrd="0" parTransId="{44A70FF4-6D55-4655-B833-4F7C00DA66B2}" sibTransId="{90F91C33-CDAF-432C-A18A-4FE78C447088}"/>
    <dgm:cxn modelId="{7A9735C9-A2C9-4223-897A-69255256EDA6}" srcId="{6EA3DAC8-B125-4C32-924D-72DB447009DA}" destId="{D4FC6A99-6BEB-48AC-95CE-FD84AF85E040}" srcOrd="1" destOrd="0" parTransId="{24758EE2-E781-4EB5-A84D-766CB7C8BFCA}" sibTransId="{5D869586-3656-46CB-8209-3C06784B81D2}"/>
    <dgm:cxn modelId="{0BB39DCC-88D4-4FFF-B6F4-36D0CA6BD6FA}" type="presOf" srcId="{E10F4281-1F89-4C81-AFE9-B5A744785824}" destId="{EA07B93D-305F-4510-AB1D-9AF565AF7E30}" srcOrd="0" destOrd="0" presId="urn:microsoft.com/office/officeart/2018/2/layout/IconLabelList"/>
    <dgm:cxn modelId="{912096D5-9AA4-4626-AAFC-C64178D81399}" srcId="{6EA3DAC8-B125-4C32-924D-72DB447009DA}" destId="{8461618B-C7CC-498A-A583-FE6616441ECC}" srcOrd="0" destOrd="0" parTransId="{3F9E3878-BE51-438B-A213-F1C51AADB811}" sibTransId="{F32DBA10-6844-4163-B847-827F85EA74B9}"/>
    <dgm:cxn modelId="{A2C6FBFC-9390-4F34-8E57-2CF1AE479FE3}" srcId="{6EA3DAC8-B125-4C32-924D-72DB447009DA}" destId="{0D2BEDF8-0F9A-4CA1-9C62-5FA953D3CDA6}" srcOrd="2" destOrd="0" parTransId="{B66D6702-DDCE-4400-BA4F-F9A7F62BF08D}" sibTransId="{FB03205B-ECAC-4944-809F-BE1C83743BA3}"/>
    <dgm:cxn modelId="{C8EDFD81-E66C-431A-8801-A51E9856DA08}" type="presParOf" srcId="{51F3E89B-C2B1-4BFA-B5D7-B671E53FDD47}" destId="{5FD8ACA7-DC79-4738-AB24-EDE55CA4264F}" srcOrd="0" destOrd="0" presId="urn:microsoft.com/office/officeart/2018/2/layout/IconLabelList"/>
    <dgm:cxn modelId="{4B4A2784-A754-432D-ADE5-4C6558030DA1}" type="presParOf" srcId="{5FD8ACA7-DC79-4738-AB24-EDE55CA4264F}" destId="{DAC192B4-004C-44D7-9FC8-4C161BA277EF}" srcOrd="0" destOrd="0" presId="urn:microsoft.com/office/officeart/2018/2/layout/IconLabelList"/>
    <dgm:cxn modelId="{A41B7083-1321-4557-BBCE-5B22D7E15C9D}" type="presParOf" srcId="{5FD8ACA7-DC79-4738-AB24-EDE55CA4264F}" destId="{6FD45210-81D1-4F23-A002-B91255821248}" srcOrd="1" destOrd="0" presId="urn:microsoft.com/office/officeart/2018/2/layout/IconLabelList"/>
    <dgm:cxn modelId="{8DF629D1-A751-4147-95C6-06CD0ACAFE8B}" type="presParOf" srcId="{5FD8ACA7-DC79-4738-AB24-EDE55CA4264F}" destId="{7E5E989E-9F77-42AC-B361-7BD391FCA46E}" srcOrd="2" destOrd="0" presId="urn:microsoft.com/office/officeart/2018/2/layout/IconLabelList"/>
    <dgm:cxn modelId="{77F02842-0513-477F-BF85-611873E58301}" type="presParOf" srcId="{51F3E89B-C2B1-4BFA-B5D7-B671E53FDD47}" destId="{F27A3A3E-EBA3-4784-B0F8-23C7C2A5C7AF}" srcOrd="1" destOrd="0" presId="urn:microsoft.com/office/officeart/2018/2/layout/IconLabelList"/>
    <dgm:cxn modelId="{DEE50489-EC46-4BAE-8F20-E14C781E3F90}" type="presParOf" srcId="{51F3E89B-C2B1-4BFA-B5D7-B671E53FDD47}" destId="{03EC9167-3294-4460-B2D9-E03897AD3D5F}" srcOrd="2" destOrd="0" presId="urn:microsoft.com/office/officeart/2018/2/layout/IconLabelList"/>
    <dgm:cxn modelId="{031E846E-5C00-4AAD-BB11-FE1BEE68EC2A}" type="presParOf" srcId="{03EC9167-3294-4460-B2D9-E03897AD3D5F}" destId="{20E55158-48D3-43BE-B377-FB5AE9D8DC74}" srcOrd="0" destOrd="0" presId="urn:microsoft.com/office/officeart/2018/2/layout/IconLabelList"/>
    <dgm:cxn modelId="{940D2B0D-1222-47F6-BC6F-BCC3956E8551}" type="presParOf" srcId="{03EC9167-3294-4460-B2D9-E03897AD3D5F}" destId="{850F78B7-C2E4-476C-AB01-83D6F64DDAA7}" srcOrd="1" destOrd="0" presId="urn:microsoft.com/office/officeart/2018/2/layout/IconLabelList"/>
    <dgm:cxn modelId="{3BD9E003-5B2F-4D9E-8EB9-EA1F9B163F38}" type="presParOf" srcId="{03EC9167-3294-4460-B2D9-E03897AD3D5F}" destId="{29BAE0AE-C9CA-4FD7-83D5-D5C5981106ED}" srcOrd="2" destOrd="0" presId="urn:microsoft.com/office/officeart/2018/2/layout/IconLabelList"/>
    <dgm:cxn modelId="{89725625-FAB2-4BE7-B0FA-31259DC1F402}" type="presParOf" srcId="{51F3E89B-C2B1-4BFA-B5D7-B671E53FDD47}" destId="{5705D9E8-6843-4A5E-BEAD-9B3D8E0625F5}" srcOrd="3" destOrd="0" presId="urn:microsoft.com/office/officeart/2018/2/layout/IconLabelList"/>
    <dgm:cxn modelId="{A4672320-A2F1-4DDF-A8DE-44EF86D8A736}" type="presParOf" srcId="{51F3E89B-C2B1-4BFA-B5D7-B671E53FDD47}" destId="{6B421497-0402-44A6-9D75-4120DE47ED4A}" srcOrd="4" destOrd="0" presId="urn:microsoft.com/office/officeart/2018/2/layout/IconLabelList"/>
    <dgm:cxn modelId="{E4C60A79-7D61-466D-8A86-FF69267F7D7B}" type="presParOf" srcId="{6B421497-0402-44A6-9D75-4120DE47ED4A}" destId="{20EA6B0D-6FD5-4E26-92EE-72EEB43A4C0A}" srcOrd="0" destOrd="0" presId="urn:microsoft.com/office/officeart/2018/2/layout/IconLabelList"/>
    <dgm:cxn modelId="{25A7A776-A5CC-495D-95C6-E557D2DD76BE}" type="presParOf" srcId="{6B421497-0402-44A6-9D75-4120DE47ED4A}" destId="{D2AD75AC-F600-49FA-B464-C66A06980A5D}" srcOrd="1" destOrd="0" presId="urn:microsoft.com/office/officeart/2018/2/layout/IconLabelList"/>
    <dgm:cxn modelId="{FB7DC982-A6C0-45DC-9323-2B6FF7DAE872}" type="presParOf" srcId="{6B421497-0402-44A6-9D75-4120DE47ED4A}" destId="{35E58805-0CCF-47B6-BC47-5121C1AA37D2}" srcOrd="2" destOrd="0" presId="urn:microsoft.com/office/officeart/2018/2/layout/IconLabelList"/>
    <dgm:cxn modelId="{27AC3B99-86EF-4F83-A640-240EA407FC32}" type="presParOf" srcId="{51F3E89B-C2B1-4BFA-B5D7-B671E53FDD47}" destId="{2AE0FDD7-3BED-4080-AA3A-B33B76077D91}" srcOrd="5" destOrd="0" presId="urn:microsoft.com/office/officeart/2018/2/layout/IconLabelList"/>
    <dgm:cxn modelId="{1AF1CBAA-D2B9-4B6A-81C9-D7A8F011435C}" type="presParOf" srcId="{51F3E89B-C2B1-4BFA-B5D7-B671E53FDD47}" destId="{DD1E3980-0CAE-4ACB-ADBC-6929FA3406A8}" srcOrd="6" destOrd="0" presId="urn:microsoft.com/office/officeart/2018/2/layout/IconLabelList"/>
    <dgm:cxn modelId="{216A1869-D3E7-4E58-ACEF-DB4A701FFD7A}" type="presParOf" srcId="{DD1E3980-0CAE-4ACB-ADBC-6929FA3406A8}" destId="{D27FBF9E-BBA9-4B33-AEF7-9C03B7B6947B}" srcOrd="0" destOrd="0" presId="urn:microsoft.com/office/officeart/2018/2/layout/IconLabelList"/>
    <dgm:cxn modelId="{0AD82075-E24B-4F62-81EB-05C9508659DE}" type="presParOf" srcId="{DD1E3980-0CAE-4ACB-ADBC-6929FA3406A8}" destId="{8F67FEEB-29AC-4947-87C0-6311051A41C5}" srcOrd="1" destOrd="0" presId="urn:microsoft.com/office/officeart/2018/2/layout/IconLabelList"/>
    <dgm:cxn modelId="{A75D0472-DF64-4D43-BDEC-B7DCD9E50B6D}" type="presParOf" srcId="{DD1E3980-0CAE-4ACB-ADBC-6929FA3406A8}" destId="{EA07B93D-305F-4510-AB1D-9AF565AF7E3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2A1E-4B78-4EAE-B426-DE9975110259}">
      <dsp:nvSpPr>
        <dsp:cNvPr id="0" name=""/>
        <dsp:cNvSpPr/>
      </dsp:nvSpPr>
      <dsp:spPr>
        <a:xfrm>
          <a:off x="0"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6ED2D3-287F-4F0A-B231-DA877C50F933}">
      <dsp:nvSpPr>
        <dsp:cNvPr id="0" name=""/>
        <dsp:cNvSpPr/>
      </dsp:nvSpPr>
      <dsp:spPr>
        <a:xfrm>
          <a:off x="324326"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a:t>Perturb-seq / </a:t>
          </a:r>
          <a:r>
            <a:rPr lang="en-US" sz="2100" b="1" i="0" kern="1200" baseline="0" dirty="0" err="1"/>
            <a:t>Mixscape</a:t>
          </a:r>
          <a:r>
            <a:rPr lang="en-US" sz="2100" b="0" i="0" kern="1200" baseline="0" dirty="0"/>
            <a:t> – CRISPR perturbations with transcriptomic readouts for </a:t>
          </a:r>
          <a:r>
            <a:rPr lang="en-US" sz="2100" b="1" i="0" kern="1200" baseline="0" dirty="0"/>
            <a:t>validation.</a:t>
          </a:r>
          <a:endParaRPr lang="en-US" sz="2100" b="1" kern="1200" dirty="0"/>
        </a:p>
      </dsp:txBody>
      <dsp:txXfrm>
        <a:off x="378614" y="886531"/>
        <a:ext cx="2810360" cy="1744948"/>
      </dsp:txXfrm>
    </dsp:sp>
    <dsp:sp modelId="{E71E7F66-E1D1-420F-B147-D2D207BE2F83}">
      <dsp:nvSpPr>
        <dsp:cNvPr id="0" name=""/>
        <dsp:cNvSpPr/>
      </dsp:nvSpPr>
      <dsp:spPr>
        <a:xfrm>
          <a:off x="3567588"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48A0B6-0051-40AC-98C9-1318C17D0FD5}">
      <dsp:nvSpPr>
        <dsp:cNvPr id="0" name=""/>
        <dsp:cNvSpPr/>
      </dsp:nvSpPr>
      <dsp:spPr>
        <a:xfrm>
          <a:off x="3891915"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a:t>scRNA-seq / scATAC-seq / CITE-seq</a:t>
          </a:r>
          <a:r>
            <a:rPr lang="en-US" sz="2100" b="0" i="0" kern="1200" baseline="0"/>
            <a:t> – Multi-omic single-cell data.</a:t>
          </a:r>
          <a:endParaRPr lang="en-US" sz="2100" kern="1200"/>
        </a:p>
      </dsp:txBody>
      <dsp:txXfrm>
        <a:off x="3946203" y="886531"/>
        <a:ext cx="2810360" cy="1744948"/>
      </dsp:txXfrm>
    </dsp:sp>
    <dsp:sp modelId="{6CAFF1A9-0674-41C6-98EB-DD6DCB49F8F8}">
      <dsp:nvSpPr>
        <dsp:cNvPr id="0" name=""/>
        <dsp:cNvSpPr/>
      </dsp:nvSpPr>
      <dsp:spPr>
        <a:xfrm>
          <a:off x="7135177" y="524133"/>
          <a:ext cx="2918936" cy="1853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A9C51-E454-4C17-9E16-41BB61A53E0E}">
      <dsp:nvSpPr>
        <dsp:cNvPr id="0" name=""/>
        <dsp:cNvSpPr/>
      </dsp:nvSpPr>
      <dsp:spPr>
        <a:xfrm>
          <a:off x="7459503" y="832243"/>
          <a:ext cx="2918936" cy="18535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i="0" kern="1200" baseline="0" dirty="0"/>
            <a:t>Simulated GRNs</a:t>
          </a:r>
          <a:r>
            <a:rPr lang="en-US" sz="2100" b="0" i="0" kern="1200" baseline="0" dirty="0"/>
            <a:t> – In-silico perturbation environments for </a:t>
          </a:r>
          <a:r>
            <a:rPr lang="en-US" sz="2100" b="1" i="0" kern="1200" baseline="0" dirty="0"/>
            <a:t>model training.</a:t>
          </a:r>
          <a:endParaRPr lang="en-US" sz="2100" b="1" kern="1200" dirty="0"/>
        </a:p>
      </dsp:txBody>
      <dsp:txXfrm>
        <a:off x="7513791" y="886531"/>
        <a:ext cx="2810360" cy="1744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C192B4-004C-44D7-9FC8-4C161BA277EF}">
      <dsp:nvSpPr>
        <dsp:cNvPr id="0" name=""/>
        <dsp:cNvSpPr/>
      </dsp:nvSpPr>
      <dsp:spPr>
        <a:xfrm>
          <a:off x="1078918" y="633965"/>
          <a:ext cx="930634" cy="9306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5E989E-9F77-42AC-B361-7BD391FCA46E}">
      <dsp:nvSpPr>
        <dsp:cNvPr id="0" name=""/>
        <dsp:cNvSpPr/>
      </dsp:nvSpPr>
      <dsp:spPr>
        <a:xfrm>
          <a:off x="51019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Establishes </a:t>
          </a:r>
          <a:r>
            <a:rPr lang="en-CA" sz="1200" b="1" kern="1200"/>
            <a:t>digital twin</a:t>
          </a:r>
          <a:r>
            <a:rPr lang="en-CA" sz="1200" kern="1200"/>
            <a:t> models for predictive cellular perturbation.</a:t>
          </a:r>
          <a:endParaRPr lang="en-US" sz="1200" kern="1200"/>
        </a:p>
      </dsp:txBody>
      <dsp:txXfrm>
        <a:off x="510197" y="1855936"/>
        <a:ext cx="2068076" cy="720000"/>
      </dsp:txXfrm>
    </dsp:sp>
    <dsp:sp modelId="{20E55158-48D3-43BE-B377-FB5AE9D8DC74}">
      <dsp:nvSpPr>
        <dsp:cNvPr id="0" name=""/>
        <dsp:cNvSpPr/>
      </dsp:nvSpPr>
      <dsp:spPr>
        <a:xfrm>
          <a:off x="3508908" y="633965"/>
          <a:ext cx="930634" cy="9306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BAE0AE-C9CA-4FD7-83D5-D5C5981106ED}">
      <dsp:nvSpPr>
        <dsp:cNvPr id="0" name=""/>
        <dsp:cNvSpPr/>
      </dsp:nvSpPr>
      <dsp:spPr>
        <a:xfrm>
          <a:off x="2940187"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Bridges regression inference and policy optimization frameworks.</a:t>
          </a:r>
          <a:endParaRPr lang="en-US" sz="1200" kern="1200"/>
        </a:p>
      </dsp:txBody>
      <dsp:txXfrm>
        <a:off x="2940187" y="1855936"/>
        <a:ext cx="2068076" cy="720000"/>
      </dsp:txXfrm>
    </dsp:sp>
    <dsp:sp modelId="{20EA6B0D-6FD5-4E26-92EE-72EEB43A4C0A}">
      <dsp:nvSpPr>
        <dsp:cNvPr id="0" name=""/>
        <dsp:cNvSpPr/>
      </dsp:nvSpPr>
      <dsp:spPr>
        <a:xfrm>
          <a:off x="5938897" y="633965"/>
          <a:ext cx="930634" cy="9306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E58805-0CCF-47B6-BC47-5121C1AA37D2}">
      <dsp:nvSpPr>
        <dsp:cNvPr id="0" name=""/>
        <dsp:cNvSpPr/>
      </dsp:nvSpPr>
      <dsp:spPr>
        <a:xfrm>
          <a:off x="537017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Facilitates future </a:t>
          </a:r>
          <a:r>
            <a:rPr lang="en-CA" sz="1200" b="1" kern="1200"/>
            <a:t>wet-lab validation</a:t>
          </a:r>
          <a:r>
            <a:rPr lang="en-CA" sz="1200" kern="1200"/>
            <a:t> of </a:t>
          </a:r>
          <a:r>
            <a:rPr lang="en-CA" sz="1200" i="1" kern="1200"/>
            <a:t>in silico</a:t>
          </a:r>
          <a:r>
            <a:rPr lang="en-CA" sz="1200" kern="1200"/>
            <a:t> predictions.</a:t>
          </a:r>
          <a:endParaRPr lang="en-US" sz="1200" kern="1200"/>
        </a:p>
      </dsp:txBody>
      <dsp:txXfrm>
        <a:off x="5370176" y="1855936"/>
        <a:ext cx="2068076" cy="720000"/>
      </dsp:txXfrm>
    </dsp:sp>
    <dsp:sp modelId="{D27FBF9E-BBA9-4B33-AEF7-9C03B7B6947B}">
      <dsp:nvSpPr>
        <dsp:cNvPr id="0" name=""/>
        <dsp:cNvSpPr/>
      </dsp:nvSpPr>
      <dsp:spPr>
        <a:xfrm>
          <a:off x="8368887" y="633965"/>
          <a:ext cx="930634" cy="9306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7B93D-305F-4510-AB1D-9AF565AF7E30}">
      <dsp:nvSpPr>
        <dsp:cNvPr id="0" name=""/>
        <dsp:cNvSpPr/>
      </dsp:nvSpPr>
      <dsp:spPr>
        <a:xfrm>
          <a:off x="7800166" y="1855936"/>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CA" sz="1200" kern="1200"/>
            <a:t>Supports regenerative medicine and therapeutic design via perturbation-aware modeling.</a:t>
          </a:r>
          <a:endParaRPr lang="en-US" sz="1200" kern="1200"/>
        </a:p>
      </dsp:txBody>
      <dsp:txXfrm>
        <a:off x="7800166" y="1855936"/>
        <a:ext cx="2068076"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A98A8E-17BA-4637-BE34-16BBE5AD305E}" type="datetimeFigureOut">
              <a:rPr lang="en-CA" smtClean="0"/>
              <a:t>2025-11-14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CFF4B-0A5E-4A04-A84E-9F2917B495C3}" type="slidenum">
              <a:rPr lang="en-CA" smtClean="0"/>
              <a:t>‹#›</a:t>
            </a:fld>
            <a:endParaRPr lang="en-CA"/>
          </a:p>
        </p:txBody>
      </p:sp>
    </p:spTree>
    <p:extLst>
      <p:ext uri="{BB962C8B-B14F-4D97-AF65-F5344CB8AC3E}">
        <p14:creationId xmlns:p14="http://schemas.microsoft.com/office/powerpoint/2010/main" val="363688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0ECFF4B-0A5E-4A04-A84E-9F2917B495C3}" type="slidenum">
              <a:rPr lang="en-CA" smtClean="0"/>
              <a:t>8</a:t>
            </a:fld>
            <a:endParaRPr lang="en-CA"/>
          </a:p>
        </p:txBody>
      </p:sp>
    </p:spTree>
    <p:extLst>
      <p:ext uri="{BB962C8B-B14F-4D97-AF65-F5344CB8AC3E}">
        <p14:creationId xmlns:p14="http://schemas.microsoft.com/office/powerpoint/2010/main" val="591426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56949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3062842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6DBE6-5F48-46C6-8054-E594AA8CC26E}" type="datetimeFigureOut">
              <a:rPr lang="en-CA" smtClean="0"/>
              <a:t>2025-11-14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995713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A6DBE6-5F48-46C6-8054-E594AA8CC26E}" type="datetimeFigureOut">
              <a:rPr lang="en-CA" smtClean="0"/>
              <a:t>2025-11-14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07850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A6DBE6-5F48-46C6-8054-E594AA8CC26E}" type="datetimeFigureOut">
              <a:rPr lang="en-CA" smtClean="0"/>
              <a:t>2025-11-14</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48124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A6DBE6-5F48-46C6-8054-E594AA8CC26E}" type="datetimeFigureOut">
              <a:rPr lang="en-CA" smtClean="0"/>
              <a:t>2025-11-14</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79692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A6DBE6-5F48-46C6-8054-E594AA8CC26E}" type="datetimeFigureOut">
              <a:rPr lang="en-CA" smtClean="0"/>
              <a:t>2025-11-14</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17625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A6DBE6-5F48-46C6-8054-E594AA8CC26E}" type="datetimeFigureOut">
              <a:rPr lang="en-CA" smtClean="0"/>
              <a:t>2025-11-14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69362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A6DBE6-5F48-46C6-8054-E594AA8CC26E}" type="datetimeFigureOut">
              <a:rPr lang="en-CA" smtClean="0"/>
              <a:t>2025-11-14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285566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1990156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A6DBE6-5F48-46C6-8054-E594AA8CC26E}" type="datetimeFigureOut">
              <a:rPr lang="en-CA" smtClean="0"/>
              <a:t>2025-11-14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BC18F39-34A3-4DBF-8CFA-F51A088158DC}" type="slidenum">
              <a:rPr lang="en-CA" smtClean="0"/>
              <a:t>‹#›</a:t>
            </a:fld>
            <a:endParaRPr lang="en-CA"/>
          </a:p>
        </p:txBody>
      </p:sp>
    </p:spTree>
    <p:extLst>
      <p:ext uri="{BB962C8B-B14F-4D97-AF65-F5344CB8AC3E}">
        <p14:creationId xmlns:p14="http://schemas.microsoft.com/office/powerpoint/2010/main" val="2261678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6DBE6-5F48-46C6-8054-E594AA8CC26E}" type="datetimeFigureOut">
              <a:rPr lang="en-CA" smtClean="0"/>
              <a:t>2025-11-14</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C18F39-34A3-4DBF-8CFA-F51A088158DC}" type="slidenum">
              <a:rPr lang="en-CA" smtClean="0"/>
              <a:t>‹#›</a:t>
            </a:fld>
            <a:endParaRPr lang="en-CA"/>
          </a:p>
        </p:txBody>
      </p:sp>
    </p:spTree>
    <p:extLst>
      <p:ext uri="{BB962C8B-B14F-4D97-AF65-F5344CB8AC3E}">
        <p14:creationId xmlns:p14="http://schemas.microsoft.com/office/powerpoint/2010/main" val="1402202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www.perturbase.cn/"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D5E0-AEC8-43A0-11DE-D49CABF1A8AA}"/>
              </a:ext>
            </a:extLst>
          </p:cNvPr>
          <p:cNvSpPr>
            <a:spLocks noGrp="1"/>
          </p:cNvSpPr>
          <p:nvPr>
            <p:ph type="ctrTitle"/>
          </p:nvPr>
        </p:nvSpPr>
        <p:spPr>
          <a:xfrm>
            <a:off x="1524000" y="868362"/>
            <a:ext cx="9942576" cy="2387600"/>
          </a:xfrm>
        </p:spPr>
        <p:txBody>
          <a:bodyPr>
            <a:normAutofit/>
          </a:bodyPr>
          <a:lstStyle/>
          <a:p>
            <a:r>
              <a:rPr lang="en-CA" sz="4000" b="1" dirty="0">
                <a:latin typeface="Times New Roman" panose="02020603050405020304" pitchFamily="18" charset="0"/>
                <a:cs typeface="Times New Roman" panose="02020603050405020304" pitchFamily="18" charset="0"/>
              </a:rPr>
              <a:t>Single-Cell </a:t>
            </a:r>
            <a:r>
              <a:rPr lang="en-US" sz="4000" b="1" dirty="0">
                <a:latin typeface="Times New Roman" panose="02020603050405020304" pitchFamily="18" charset="0"/>
                <a:cs typeface="Times New Roman" panose="02020603050405020304" pitchFamily="18" charset="0"/>
              </a:rPr>
              <a:t>Perturbation </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Analysis Using Machine Learning</a:t>
            </a:r>
            <a:endParaRPr lang="en-CA"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9E30310-84A1-E499-89E2-05B3CB5EB181}"/>
              </a:ext>
            </a:extLst>
          </p:cNvPr>
          <p:cNvSpPr>
            <a:spLocks noGrp="1"/>
          </p:cNvSpPr>
          <p:nvPr>
            <p:ph type="subTitle" idx="1"/>
          </p:nvPr>
        </p:nvSpPr>
        <p:spPr/>
        <p:txBody>
          <a:bodyPr/>
          <a:lstStyle/>
          <a:p>
            <a:r>
              <a:rPr lang="en-US" dirty="0"/>
              <a:t>Francis Boabang</a:t>
            </a:r>
            <a:endParaRPr lang="en-CA" dirty="0"/>
          </a:p>
        </p:txBody>
      </p:sp>
    </p:spTree>
    <p:extLst>
      <p:ext uri="{BB962C8B-B14F-4D97-AF65-F5344CB8AC3E}">
        <p14:creationId xmlns:p14="http://schemas.microsoft.com/office/powerpoint/2010/main" val="1264684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084BF-EBD6-F3B5-3FF1-F7B7E6E5EF06}"/>
              </a:ext>
            </a:extLst>
          </p:cNvPr>
          <p:cNvSpPr>
            <a:spLocks noGrp="1"/>
          </p:cNvSpPr>
          <p:nvPr>
            <p:ph type="title"/>
          </p:nvPr>
        </p:nvSpPr>
        <p:spPr>
          <a:xfrm>
            <a:off x="761803" y="350196"/>
            <a:ext cx="4646904" cy="1624520"/>
          </a:xfrm>
        </p:spPr>
        <p:txBody>
          <a:bodyPr anchor="ctr">
            <a:normAutofit/>
          </a:bodyPr>
          <a:lstStyle/>
          <a:p>
            <a:r>
              <a:rPr lang="en-US" sz="4000">
                <a:latin typeface="Times New Roman" panose="02020603050405020304" pitchFamily="18" charset="0"/>
                <a:cs typeface="Times New Roman" panose="02020603050405020304" pitchFamily="18" charset="0"/>
              </a:rPr>
              <a:t>Background</a:t>
            </a:r>
            <a:endParaRPr lang="en-CA" sz="400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B2FE822-36C7-AB8D-1723-B026A9E3BA01}"/>
              </a:ext>
            </a:extLst>
          </p:cNvPr>
          <p:cNvSpPr>
            <a:spLocks noGrp="1" noChangeArrowheads="1"/>
          </p:cNvSpPr>
          <p:nvPr>
            <p:ph idx="1"/>
          </p:nvPr>
        </p:nvSpPr>
        <p:spPr bwMode="auto">
          <a:xfrm>
            <a:off x="768628" y="2285999"/>
            <a:ext cx="5327371" cy="36131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92500" lnSpcReduction="10000"/>
          </a:bodyPr>
          <a:lstStyle/>
          <a:p>
            <a:pPr eaLnBrk="0" fontAlgn="base" hangingPunct="0">
              <a:spcBef>
                <a:spcPct val="0"/>
              </a:spcBef>
              <a:spcAft>
                <a:spcPts val="600"/>
              </a:spcAf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Predicting the outcome of genetic perturbations (e.g., CRISPR knockouts) is key to understanding cell differentiation and disease response.</a:t>
            </a:r>
            <a:endParaRPr lang="en-US" altLang="en-US" sz="1600" dirty="0">
              <a:latin typeface="Times New Roman" panose="02020603050405020304" pitchFamily="18" charset="0"/>
              <a:cs typeface="Times New Roman" panose="02020603050405020304" pitchFamily="18" charset="0"/>
            </a:endParaRPr>
          </a:p>
          <a:p>
            <a:pPr marL="0" indent="0" eaLnBrk="0" fontAlgn="base" hangingPunct="0">
              <a:spcBef>
                <a:spcPct val="0"/>
              </a:spcBef>
              <a:spcAft>
                <a:spcPts val="600"/>
              </a:spcAft>
              <a:buNone/>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Perturbation datasets (Perturb-seq, </a:t>
            </a:r>
            <a:r>
              <a:rPr kumimoji="0" lang="en-US" altLang="en-US" sz="1600" b="0" i="0" u="none" strike="noStrike" cap="none" normalizeH="0" baseline="0" dirty="0" err="1">
                <a:ln>
                  <a:noFill/>
                </a:ln>
                <a:effectLst/>
                <a:latin typeface="Times New Roman" panose="02020603050405020304" pitchFamily="18" charset="0"/>
                <a:cs typeface="Times New Roman" panose="02020603050405020304" pitchFamily="18" charset="0"/>
              </a:rPr>
              <a:t>Mixscape</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a:t>
            </a:r>
          </a:p>
          <a:p>
            <a:pPr marL="0" marR="0" lvl="0" indent="0" defTabSz="914400" rtl="0" eaLnBrk="0" fontAlgn="base" latinLnBrk="0" hangingPunct="0">
              <a:spcBef>
                <a:spcPct val="0"/>
              </a:spcBef>
              <a:spcAft>
                <a:spcPts val="600"/>
              </a:spcAft>
              <a:buClrTx/>
              <a:buSzTx/>
              <a:buNone/>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enable modeling the causal mapping between perturbations and transcriptional outcomes.</a:t>
            </a:r>
          </a:p>
          <a:p>
            <a:pPr marL="0" marR="0" lvl="0" indent="0" defTabSz="914400" rtl="0" eaLnBrk="0" fontAlgn="base" latinLnBrk="0" hangingPunct="0">
              <a:spcBef>
                <a:spcPct val="0"/>
              </a:spcBef>
              <a:spcAft>
                <a:spcPts val="600"/>
              </a:spcAft>
              <a:buClrTx/>
              <a:buSzTx/>
              <a:buNone/>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lang="en-US" altLang="en-US" sz="1600" dirty="0">
                <a:latin typeface="Times New Roman" panose="02020603050405020304" pitchFamily="18" charset="0"/>
                <a:cs typeface="Times New Roman" panose="02020603050405020304" pitchFamily="18" charset="0"/>
              </a:rPr>
              <a:t>C</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urrent regression-based models for single cell perturbation analysis often assume linearity or Nonlinearity, missing complex regulatory dynamics.</a:t>
            </a:r>
          </a:p>
          <a:p>
            <a:pPr eaLnBrk="0" fontAlgn="base" hangingPunct="0">
              <a:spcBef>
                <a:spcPct val="0"/>
              </a:spcBef>
              <a:spcAft>
                <a:spcPts val="600"/>
              </a:spcAft>
            </a:pPr>
            <a:endParaRPr lang="en-US" altLang="en-US" sz="1600" dirty="0">
              <a:latin typeface="Times New Roman" panose="02020603050405020304" pitchFamily="18" charset="0"/>
              <a:cs typeface="Times New Roman" panose="02020603050405020304" pitchFamily="18" charset="0"/>
            </a:endParaRPr>
          </a:p>
          <a:p>
            <a:pPr eaLnBrk="0" fontAlgn="base" hangingPunct="0">
              <a:spcBef>
                <a:spcPct val="0"/>
              </a:spcBef>
              <a:spcAft>
                <a:spcPts val="600"/>
              </a:spcAft>
            </a:pPr>
            <a:r>
              <a:rPr lang="en-CA" sz="1600" dirty="0">
                <a:latin typeface="Times New Roman" panose="02020603050405020304" pitchFamily="18" charset="0"/>
                <a:cs typeface="Times New Roman" panose="02020603050405020304" pitchFamily="18" charset="0"/>
              </a:rPr>
              <a:t>Also, most existing models rely exclusively on either </a:t>
            </a:r>
            <a:r>
              <a:rPr lang="en-CA" sz="1600" i="1" dirty="0">
                <a:latin typeface="Times New Roman" panose="02020603050405020304" pitchFamily="18" charset="0"/>
                <a:cs typeface="Times New Roman" panose="02020603050405020304" pitchFamily="18" charset="0"/>
              </a:rPr>
              <a:t>in silico</a:t>
            </a:r>
            <a:r>
              <a:rPr lang="en-CA" sz="1600" dirty="0">
                <a:latin typeface="Times New Roman" panose="02020603050405020304" pitchFamily="18" charset="0"/>
                <a:cs typeface="Times New Roman" panose="02020603050405020304" pitchFamily="18" charset="0"/>
              </a:rPr>
              <a:t> perturbation data or experimental perturbation data, but rarely integrate both limiting their ability to generalize and validate predictions across simulated and real biological contexts.</a:t>
            </a: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6" name="Picture 5" descr="Molecular DNA structure">
            <a:extLst>
              <a:ext uri="{FF2B5EF4-FFF2-40B4-BE49-F238E27FC236}">
                <a16:creationId xmlns:a16="http://schemas.microsoft.com/office/drawing/2014/main" id="{B9AB2687-9BAF-0D02-AB6C-C7518FE5B8B5}"/>
              </a:ext>
            </a:extLst>
          </p:cNvPr>
          <p:cNvPicPr>
            <a:picLocks noChangeAspect="1"/>
          </p:cNvPicPr>
          <p:nvPr/>
        </p:nvPicPr>
        <p:blipFill>
          <a:blip r:embed="rId2"/>
          <a:srcRect l="15498" r="25102" b="-2"/>
          <a:stretch>
            <a:fillRect/>
          </a:stretch>
        </p:blipFill>
        <p:spPr>
          <a:xfrm>
            <a:off x="6096000" y="1"/>
            <a:ext cx="6102825" cy="6858000"/>
          </a:xfrm>
          <a:prstGeom prst="rect">
            <a:avLst/>
          </a:prstGeom>
        </p:spPr>
      </p:pic>
    </p:spTree>
    <p:extLst>
      <p:ext uri="{BB962C8B-B14F-4D97-AF65-F5344CB8AC3E}">
        <p14:creationId xmlns:p14="http://schemas.microsoft.com/office/powerpoint/2010/main" val="771050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F919A-C12D-30A2-69D8-6B05403E1494}"/>
              </a:ext>
            </a:extLst>
          </p:cNvPr>
          <p:cNvSpPr>
            <a:spLocks noGrp="1"/>
          </p:cNvSpPr>
          <p:nvPr>
            <p:ph type="title"/>
          </p:nvPr>
        </p:nvSpPr>
        <p:spPr>
          <a:xfrm>
            <a:off x="502920" y="529717"/>
            <a:ext cx="10183368" cy="851027"/>
          </a:xfrm>
        </p:spPr>
        <p:txBody>
          <a:bodyPr>
            <a:normAutofit/>
          </a:bodyPr>
          <a:lstStyle/>
          <a:p>
            <a:r>
              <a:rPr lang="en-US" sz="2000" dirty="0">
                <a:latin typeface="Times New Roman" panose="02020603050405020304" pitchFamily="18" charset="0"/>
                <a:cs typeface="Times New Roman" panose="02020603050405020304" pitchFamily="18" charset="0"/>
              </a:rPr>
              <a:t>Gaps in the Research</a:t>
            </a:r>
            <a:endParaRPr lang="en-CA"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56CA37-BF2C-969E-D177-9518FD57166F}"/>
              </a:ext>
            </a:extLst>
          </p:cNvPr>
          <p:cNvSpPr>
            <a:spLocks noGrp="1"/>
          </p:cNvSpPr>
          <p:nvPr>
            <p:ph idx="1"/>
          </p:nvPr>
        </p:nvSpPr>
        <p:spPr>
          <a:xfrm>
            <a:off x="838200" y="1253331"/>
            <a:ext cx="10850880" cy="4351338"/>
          </a:xfrm>
        </p:spPr>
        <p:txBody>
          <a:bodyPr>
            <a:noAutofit/>
          </a:bodyPr>
          <a:lstStyle/>
          <a:p>
            <a:pPr marL="0" indent="0">
              <a:buNone/>
            </a:pPr>
            <a:r>
              <a:rPr lang="en-CA" sz="1400" b="1" dirty="0">
                <a:latin typeface="Times New Roman" panose="02020603050405020304" pitchFamily="18" charset="0"/>
                <a:cs typeface="Times New Roman" panose="02020603050405020304" pitchFamily="18" charset="0"/>
              </a:rPr>
              <a:t>Known:</a:t>
            </a:r>
            <a:endParaRPr lang="en-CA" sz="1400" dirty="0">
              <a:latin typeface="Times New Roman" panose="02020603050405020304" pitchFamily="18" charset="0"/>
              <a:cs typeface="Times New Roman" panose="02020603050405020304" pitchFamily="18" charset="0"/>
            </a:endParaRPr>
          </a:p>
          <a:p>
            <a:r>
              <a:rPr lang="en-CA" sz="1400" dirty="0">
                <a:latin typeface="Times New Roman" panose="02020603050405020304" pitchFamily="18" charset="0"/>
                <a:cs typeface="Times New Roman" panose="02020603050405020304" pitchFamily="18" charset="0"/>
              </a:rPr>
              <a:t>Linear models (LASSO, Elastic Net) identify sparse gene–gene dependencies. Linear models can  fail to capture nonlinear gene–gene or protein to protein dependencies or combinatorial perturbations.</a:t>
            </a:r>
          </a:p>
          <a:p>
            <a:r>
              <a:rPr lang="en-CA" sz="1400" dirty="0">
                <a:latin typeface="Times New Roman" panose="02020603050405020304" pitchFamily="18" charset="0"/>
                <a:cs typeface="Times New Roman" panose="02020603050405020304" pitchFamily="18" charset="0"/>
              </a:rPr>
              <a:t>Gaussian Process Regression captures limited nonlinearity.</a:t>
            </a:r>
          </a:p>
          <a:p>
            <a:r>
              <a:rPr lang="en-CA" sz="1400" dirty="0">
                <a:latin typeface="Times New Roman" panose="02020603050405020304" pitchFamily="18" charset="0"/>
                <a:cs typeface="Times New Roman" panose="02020603050405020304" pitchFamily="18" charset="0"/>
              </a:rPr>
              <a:t>Reinforcement learning (RL) shows promise for modeling dynamic perturbation sequences </a:t>
            </a:r>
          </a:p>
          <a:p>
            <a:endParaRPr lang="en-CA" sz="1400" b="1" dirty="0">
              <a:latin typeface="Times New Roman" panose="02020603050405020304" pitchFamily="18" charset="0"/>
              <a:cs typeface="Times New Roman" panose="02020603050405020304" pitchFamily="18" charset="0"/>
            </a:endParaRPr>
          </a:p>
          <a:p>
            <a:r>
              <a:rPr lang="en-CA" sz="1400" b="1" dirty="0">
                <a:latin typeface="Times New Roman" panose="02020603050405020304" pitchFamily="18" charset="0"/>
                <a:cs typeface="Times New Roman" panose="02020603050405020304" pitchFamily="18" charset="0"/>
              </a:rPr>
              <a:t>Unknown:</a:t>
            </a:r>
            <a:endParaRPr lang="en-CA" sz="1400" dirty="0">
              <a:latin typeface="Times New Roman" panose="02020603050405020304" pitchFamily="18" charset="0"/>
              <a:cs typeface="Times New Roman" panose="02020603050405020304" pitchFamily="18" charset="0"/>
            </a:endParaRPr>
          </a:p>
          <a:p>
            <a:r>
              <a:rPr lang="en-CA" sz="1400" dirty="0">
                <a:latin typeface="Times New Roman" panose="02020603050405020304" pitchFamily="18" charset="0"/>
                <a:cs typeface="Times New Roman" panose="02020603050405020304" pitchFamily="18" charset="0"/>
              </a:rPr>
              <a:t>The nonlinear extensions such as Gaussian Process regression, graph neural networks, or reinforcement learning frameworks that better represent biological complexity and adaptive perturbation effects however they often get stuck in local optima in the Waddington landscape.</a:t>
            </a:r>
          </a:p>
          <a:p>
            <a:r>
              <a:rPr lang="en-CA" sz="1400" dirty="0">
                <a:latin typeface="Times New Roman" panose="02020603050405020304" pitchFamily="18" charset="0"/>
                <a:cs typeface="Times New Roman" panose="02020603050405020304" pitchFamily="18" charset="0"/>
              </a:rPr>
              <a:t>Most existing models rely exclusively on either </a:t>
            </a:r>
            <a:r>
              <a:rPr lang="en-CA" sz="1400" i="1" dirty="0">
                <a:latin typeface="Times New Roman" panose="02020603050405020304" pitchFamily="18" charset="0"/>
                <a:cs typeface="Times New Roman" panose="02020603050405020304" pitchFamily="18" charset="0"/>
              </a:rPr>
              <a:t>in silico</a:t>
            </a:r>
            <a:r>
              <a:rPr lang="en-CA" sz="1400" dirty="0">
                <a:latin typeface="Times New Roman" panose="02020603050405020304" pitchFamily="18" charset="0"/>
                <a:cs typeface="Times New Roman" panose="02020603050405020304" pitchFamily="18" charset="0"/>
              </a:rPr>
              <a:t> perturbation data or experimental perturbation data but rarely integrate both limiting their ability to generalize and validate predictions across simulated and real biological contexts.</a:t>
            </a:r>
            <a:r>
              <a:rPr lang="en-CA" sz="1400" b="1" dirty="0">
                <a:latin typeface="Times New Roman" panose="02020603050405020304" pitchFamily="18" charset="0"/>
                <a:cs typeface="Times New Roman" panose="02020603050405020304" pitchFamily="18" charset="0"/>
              </a:rPr>
              <a:t> Hence, g</a:t>
            </a:r>
            <a:r>
              <a:rPr lang="en-CA" sz="1400" dirty="0">
                <a:latin typeface="Times New Roman" panose="02020603050405020304" pitchFamily="18" charset="0"/>
                <a:cs typeface="Times New Roman" panose="02020603050405020304" pitchFamily="18" charset="0"/>
              </a:rPr>
              <a:t>eneralization to </a:t>
            </a:r>
            <a:r>
              <a:rPr lang="en-CA" sz="1400" i="1" dirty="0">
                <a:latin typeface="Times New Roman" panose="02020603050405020304" pitchFamily="18" charset="0"/>
                <a:cs typeface="Times New Roman" panose="02020603050405020304" pitchFamily="18" charset="0"/>
              </a:rPr>
              <a:t>out-of-sample</a:t>
            </a:r>
            <a:r>
              <a:rPr lang="en-CA" sz="1400" dirty="0">
                <a:latin typeface="Times New Roman" panose="02020603050405020304" pitchFamily="18" charset="0"/>
                <a:cs typeface="Times New Roman" panose="02020603050405020304" pitchFamily="18" charset="0"/>
              </a:rPr>
              <a:t> experimental perturbations.</a:t>
            </a:r>
          </a:p>
          <a:p>
            <a:r>
              <a:rPr lang="en-CA" sz="1400" dirty="0">
                <a:latin typeface="Times New Roman" panose="02020603050405020304" pitchFamily="18" charset="0"/>
                <a:cs typeface="Times New Roman" panose="02020603050405020304" pitchFamily="18" charset="0"/>
              </a:rPr>
              <a:t>Interpretability of perturbation effects across multi-omics layers (RNA, ATAC, ADT) with experimental Validation.</a:t>
            </a:r>
          </a:p>
          <a:p>
            <a:pPr marL="0" indent="0">
              <a:buNone/>
            </a:pPr>
            <a:r>
              <a:rPr lang="en-CA" sz="1400" b="1" dirty="0">
                <a:latin typeface="Times New Roman" panose="02020603050405020304" pitchFamily="18" charset="0"/>
                <a:cs typeface="Times New Roman" panose="02020603050405020304" pitchFamily="18" charset="0"/>
              </a:rPr>
              <a:t>References:</a:t>
            </a:r>
            <a:endParaRPr lang="en-CA" sz="14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Huynh-Thu, V. A., </a:t>
            </a:r>
            <a:r>
              <a:rPr lang="en-US" altLang="en-US" sz="1200" dirty="0" err="1">
                <a:latin typeface="Times New Roman" panose="02020603050405020304" pitchFamily="18" charset="0"/>
                <a:cs typeface="Times New Roman" panose="02020603050405020304" pitchFamily="18" charset="0"/>
              </a:rPr>
              <a:t>Irrthum</a:t>
            </a:r>
            <a:r>
              <a:rPr lang="en-US" altLang="en-US" sz="1200" dirty="0">
                <a:latin typeface="Times New Roman" panose="02020603050405020304" pitchFamily="18" charset="0"/>
                <a:cs typeface="Times New Roman" panose="02020603050405020304" pitchFamily="18" charset="0"/>
              </a:rPr>
              <a:t>, A., </a:t>
            </a:r>
            <a:r>
              <a:rPr lang="en-US" altLang="en-US" sz="1200" dirty="0" err="1">
                <a:latin typeface="Times New Roman" panose="02020603050405020304" pitchFamily="18" charset="0"/>
                <a:cs typeface="Times New Roman" panose="02020603050405020304" pitchFamily="18" charset="0"/>
              </a:rPr>
              <a:t>Wehenkel</a:t>
            </a:r>
            <a:r>
              <a:rPr lang="en-US" altLang="en-US" sz="1200" dirty="0">
                <a:latin typeface="Times New Roman" panose="02020603050405020304" pitchFamily="18" charset="0"/>
                <a:cs typeface="Times New Roman" panose="02020603050405020304" pitchFamily="18" charset="0"/>
              </a:rPr>
              <a:t>, L., &amp; Geurts, P. (2010). </a:t>
            </a:r>
            <a:r>
              <a:rPr lang="en-US" altLang="en-US" sz="1200" b="1" i="1" dirty="0">
                <a:latin typeface="Times New Roman" panose="02020603050405020304" pitchFamily="18" charset="0"/>
                <a:cs typeface="Times New Roman" panose="02020603050405020304" pitchFamily="18" charset="0"/>
              </a:rPr>
              <a:t>Inferring regulatory networks from expression data using tree-based methods</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PLoS</a:t>
            </a:r>
            <a:r>
              <a:rPr lang="en-US" altLang="en-US" sz="1200" dirty="0">
                <a:latin typeface="Times New Roman" panose="02020603050405020304" pitchFamily="18" charset="0"/>
                <a:cs typeface="Times New Roman" panose="02020603050405020304" pitchFamily="18" charset="0"/>
              </a:rPr>
              <a:t> ONE, 5(9): e12776.</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Marbach, D., Costello, J. C., Küffner, R., Vega, N. M., Prill, R. J., Camacho, D. M., ... &amp; Kellis, M. (2012). </a:t>
            </a:r>
            <a:r>
              <a:rPr lang="en-US" altLang="en-US" sz="1200" b="1" i="1" dirty="0">
                <a:latin typeface="Times New Roman" panose="02020603050405020304" pitchFamily="18" charset="0"/>
                <a:cs typeface="Times New Roman" panose="02020603050405020304" pitchFamily="18" charset="0"/>
              </a:rPr>
              <a:t>Wisdom of crowds for robust gene network inference</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Nature Methods, 9(8): 796–804.</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Xing, H., &amp; Yau, C. (2025). </a:t>
            </a:r>
            <a:r>
              <a:rPr lang="en-US" altLang="en-US" sz="1200" b="1" i="1" dirty="0">
                <a:latin typeface="Times New Roman" panose="02020603050405020304" pitchFamily="18" charset="0"/>
                <a:cs typeface="Times New Roman" panose="02020603050405020304" pitchFamily="18" charset="0"/>
              </a:rPr>
              <a:t>GPerturb: Gaussian Process Modelling of Single-Cell Perturbation Data</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Nature Communications, 16(1): 5423.</a:t>
            </a:r>
          </a:p>
          <a:p>
            <a:pPr marL="0" lvl="0" indent="0" eaLnBrk="0" fontAlgn="base" hangingPunct="0">
              <a:lnSpc>
                <a:spcPct val="100000"/>
              </a:lnSpc>
              <a:spcBef>
                <a:spcPct val="0"/>
              </a:spcBef>
              <a:spcAft>
                <a:spcPct val="0"/>
              </a:spcAft>
              <a:buNone/>
            </a:pPr>
            <a:r>
              <a:rPr lang="en-US" altLang="en-US" sz="1200" dirty="0">
                <a:latin typeface="Times New Roman" panose="02020603050405020304" pitchFamily="18" charset="0"/>
                <a:cs typeface="Times New Roman" panose="02020603050405020304" pitchFamily="18" charset="0"/>
              </a:rPr>
              <a:t>Gavriilidis, G. I., et al. (2024). </a:t>
            </a:r>
            <a:r>
              <a:rPr lang="en-US" altLang="en-US" sz="1200" b="1" i="1" dirty="0">
                <a:latin typeface="Times New Roman" panose="02020603050405020304" pitchFamily="18" charset="0"/>
                <a:cs typeface="Times New Roman" panose="02020603050405020304" pitchFamily="18" charset="0"/>
              </a:rPr>
              <a:t>A Mini-review on Perturbation Modelling Across Single-Cell </a:t>
            </a:r>
            <a:r>
              <a:rPr lang="en-US" altLang="en-US" sz="1200" b="1" i="1" dirty="0" err="1">
                <a:latin typeface="Times New Roman" panose="02020603050405020304" pitchFamily="18" charset="0"/>
                <a:cs typeface="Times New Roman" panose="02020603050405020304" pitchFamily="18" charset="0"/>
              </a:rPr>
              <a:t>Omic</a:t>
            </a:r>
            <a:r>
              <a:rPr lang="en-US" altLang="en-US" sz="1200" b="1" i="1" dirty="0">
                <a:latin typeface="Times New Roman" panose="02020603050405020304" pitchFamily="18" charset="0"/>
                <a:cs typeface="Times New Roman" panose="02020603050405020304" pitchFamily="18" charset="0"/>
              </a:rPr>
              <a:t> Modalities</a:t>
            </a:r>
            <a:r>
              <a:rPr lang="en-US" altLang="en-US" sz="1200" i="1" dirty="0">
                <a:latin typeface="Times New Roman" panose="02020603050405020304" pitchFamily="18" charset="0"/>
                <a:cs typeface="Times New Roman" panose="02020603050405020304" pitchFamily="18" charset="0"/>
              </a:rPr>
              <a:t>.</a:t>
            </a:r>
            <a:r>
              <a:rPr lang="en-US" altLang="en-US" sz="1200" dirty="0">
                <a:latin typeface="Times New Roman" panose="02020603050405020304" pitchFamily="18" charset="0"/>
                <a:cs typeface="Times New Roman" panose="02020603050405020304" pitchFamily="18" charset="0"/>
              </a:rPr>
              <a:t> Computational and Structural Biotechnology Journal, 23: 1886–1895</a:t>
            </a:r>
            <a:r>
              <a:rPr lang="en-US" altLang="en-US" sz="1000" dirty="0">
                <a:latin typeface="Times New Roman" panose="02020603050405020304" pitchFamily="18" charset="0"/>
                <a:cs typeface="Times New Roman" panose="02020603050405020304" pitchFamily="18" charset="0"/>
              </a:rPr>
              <a:t>.</a:t>
            </a:r>
          </a:p>
          <a:p>
            <a:endParaRPr lang="en-CA"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9541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D688C2-0936-3136-9D06-726FED71A049}"/>
              </a:ext>
            </a:extLst>
          </p:cNvPr>
          <p:cNvSpPr>
            <a:spLocks noGrp="1"/>
          </p:cNvSpPr>
          <p:nvPr>
            <p:ph type="title"/>
          </p:nvPr>
        </p:nvSpPr>
        <p:spPr>
          <a:xfrm>
            <a:off x="1043631" y="809898"/>
            <a:ext cx="10173010" cy="1554480"/>
          </a:xfrm>
        </p:spPr>
        <p:txBody>
          <a:bodyPr anchor="ctr">
            <a:normAutofit/>
          </a:bodyPr>
          <a:lstStyle/>
          <a:p>
            <a:r>
              <a:rPr lang="en-US" sz="2400" dirty="0">
                <a:latin typeface="Times New Roman" panose="02020603050405020304" pitchFamily="18" charset="0"/>
                <a:cs typeface="Times New Roman" panose="02020603050405020304" pitchFamily="18" charset="0"/>
              </a:rPr>
              <a:t>Datasets</a:t>
            </a:r>
            <a:endParaRPr lang="en-CA" sz="2400" dirty="0">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709A6F6B-96D8-E2AA-5D1A-1A3D4E8C31DA}"/>
              </a:ext>
            </a:extLst>
          </p:cNvPr>
          <p:cNvGraphicFramePr>
            <a:graphicFrameLocks noGrp="1"/>
          </p:cNvGraphicFramePr>
          <p:nvPr>
            <p:ph idx="1"/>
            <p:extLst>
              <p:ext uri="{D42A27DB-BD31-4B8C-83A1-F6EECF244321}">
                <p14:modId xmlns:p14="http://schemas.microsoft.com/office/powerpoint/2010/main" val="1916742222"/>
              </p:ext>
            </p:extLst>
          </p:nvPr>
        </p:nvGraphicFramePr>
        <p:xfrm>
          <a:off x="975360" y="2364378"/>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665BEE4-4CBE-826C-2EFA-81C0FF83C5FC}"/>
              </a:ext>
            </a:extLst>
          </p:cNvPr>
          <p:cNvSpPr txBox="1"/>
          <p:nvPr/>
        </p:nvSpPr>
        <p:spPr>
          <a:xfrm>
            <a:off x="975360" y="5418291"/>
            <a:ext cx="6094476" cy="923330"/>
          </a:xfrm>
          <a:prstGeom prst="rect">
            <a:avLst/>
          </a:prstGeom>
          <a:noFill/>
        </p:spPr>
        <p:txBody>
          <a:bodyPr wrap="square">
            <a:spAutoFit/>
          </a:bodyPr>
          <a:lstStyle/>
          <a:p>
            <a:r>
              <a:rPr lang="en-CA" b="0" i="0" u="sng" dirty="0">
                <a:solidFill>
                  <a:srgbClr val="0969DA"/>
                </a:solidFill>
                <a:effectLst/>
                <a:latin typeface="-apple-system"/>
                <a:hlinkClick r:id="rId7"/>
              </a:rPr>
              <a:t>http://www.perturbase.cn/</a:t>
            </a:r>
            <a:endParaRPr lang="en-CA" b="0" i="0" u="sng" dirty="0">
              <a:solidFill>
                <a:srgbClr val="0969DA"/>
              </a:solidFill>
              <a:effectLst/>
              <a:latin typeface="-apple-system"/>
            </a:endParaRPr>
          </a:p>
          <a:p>
            <a:endParaRPr lang="en-CA" u="sng" dirty="0">
              <a:solidFill>
                <a:srgbClr val="0969DA"/>
              </a:solidFill>
              <a:latin typeface="-apple-system"/>
            </a:endParaRPr>
          </a:p>
          <a:p>
            <a:r>
              <a:rPr lang="en-CA" dirty="0"/>
              <a:t>https://www.ncbi.nlm.nih.gov/bioproject/?term=cite</a:t>
            </a:r>
          </a:p>
        </p:txBody>
      </p:sp>
    </p:spTree>
    <p:extLst>
      <p:ext uri="{BB962C8B-B14F-4D97-AF65-F5344CB8AC3E}">
        <p14:creationId xmlns:p14="http://schemas.microsoft.com/office/powerpoint/2010/main" val="145104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A7AAC-FF58-834B-CBDF-6C2E17F3DD87}"/>
              </a:ext>
            </a:extLst>
          </p:cNvPr>
          <p:cNvSpPr>
            <a:spLocks noGrp="1"/>
          </p:cNvSpPr>
          <p:nvPr>
            <p:ph type="title"/>
          </p:nvPr>
        </p:nvSpPr>
        <p:spPr>
          <a:xfrm>
            <a:off x="163017" y="158592"/>
            <a:ext cx="10515600" cy="558035"/>
          </a:xfrm>
        </p:spPr>
        <p:txBody>
          <a:bodyPr>
            <a:normAutofit/>
          </a:bodyPr>
          <a:lstStyle/>
          <a:p>
            <a:r>
              <a:rPr lang="en-US" sz="2000" b="1" dirty="0"/>
              <a:t>Example</a:t>
            </a:r>
            <a:endParaRPr lang="en-CA" sz="2000" b="1" dirty="0"/>
          </a:p>
        </p:txBody>
      </p:sp>
      <p:sp>
        <p:nvSpPr>
          <p:cNvPr id="4" name="Rectangle 3">
            <a:extLst>
              <a:ext uri="{FF2B5EF4-FFF2-40B4-BE49-F238E27FC236}">
                <a16:creationId xmlns:a16="http://schemas.microsoft.com/office/drawing/2014/main" id="{57297EEA-A3FA-17DB-0F38-DF94A269B9A1}"/>
              </a:ext>
            </a:extLst>
          </p:cNvPr>
          <p:cNvSpPr/>
          <p:nvPr/>
        </p:nvSpPr>
        <p:spPr>
          <a:xfrm>
            <a:off x="1807845" y="980225"/>
            <a:ext cx="2688336" cy="4398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A1F8C08E-C5A6-84A3-B356-101C367696DF}"/>
              </a:ext>
            </a:extLst>
          </p:cNvPr>
          <p:cNvSpPr txBox="1"/>
          <p:nvPr/>
        </p:nvSpPr>
        <p:spPr>
          <a:xfrm>
            <a:off x="2018157" y="1050757"/>
            <a:ext cx="2114746" cy="369332"/>
          </a:xfrm>
          <a:prstGeom prst="rect">
            <a:avLst/>
          </a:prstGeom>
          <a:noFill/>
        </p:spPr>
        <p:txBody>
          <a:bodyPr wrap="none" rtlCol="0">
            <a:spAutoFit/>
          </a:bodyPr>
          <a:lstStyle/>
          <a:p>
            <a:r>
              <a:rPr lang="en-US" dirty="0"/>
              <a:t>GSE153056_RAW.tar</a:t>
            </a:r>
            <a:endParaRPr lang="en-CA" dirty="0"/>
          </a:p>
        </p:txBody>
      </p:sp>
      <p:sp>
        <p:nvSpPr>
          <p:cNvPr id="8" name="Rectangle 7">
            <a:extLst>
              <a:ext uri="{FF2B5EF4-FFF2-40B4-BE49-F238E27FC236}">
                <a16:creationId xmlns:a16="http://schemas.microsoft.com/office/drawing/2014/main" id="{1A9EE5CC-E954-FC70-1F72-0B743CF52368}"/>
              </a:ext>
            </a:extLst>
          </p:cNvPr>
          <p:cNvSpPr/>
          <p:nvPr/>
        </p:nvSpPr>
        <p:spPr>
          <a:xfrm>
            <a:off x="178970" y="2223967"/>
            <a:ext cx="2570325" cy="6463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406B3CC9-CDDA-C4D6-378A-44840C6B2B94}"/>
              </a:ext>
            </a:extLst>
          </p:cNvPr>
          <p:cNvSpPr/>
          <p:nvPr/>
        </p:nvSpPr>
        <p:spPr>
          <a:xfrm>
            <a:off x="3929164" y="2231543"/>
            <a:ext cx="2670225"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C6DA7CF7-BA19-5F4C-CBA6-2CDF42CA3036}"/>
              </a:ext>
            </a:extLst>
          </p:cNvPr>
          <p:cNvSpPr txBox="1"/>
          <p:nvPr/>
        </p:nvSpPr>
        <p:spPr>
          <a:xfrm>
            <a:off x="4067274" y="2231543"/>
            <a:ext cx="3151632" cy="646331"/>
          </a:xfrm>
          <a:prstGeom prst="rect">
            <a:avLst/>
          </a:prstGeom>
          <a:noFill/>
        </p:spPr>
        <p:txBody>
          <a:bodyPr wrap="square" rtlCol="0">
            <a:spAutoFit/>
          </a:bodyPr>
          <a:lstStyle/>
          <a:p>
            <a:r>
              <a:rPr lang="en-CA" dirty="0"/>
              <a:t>Expanded CRISPR-</a:t>
            </a:r>
          </a:p>
          <a:p>
            <a:r>
              <a:rPr lang="en-CA" dirty="0"/>
              <a:t>Compatible CITE-seq</a:t>
            </a:r>
          </a:p>
        </p:txBody>
      </p:sp>
      <p:sp>
        <p:nvSpPr>
          <p:cNvPr id="12" name="TextBox 11">
            <a:extLst>
              <a:ext uri="{FF2B5EF4-FFF2-40B4-BE49-F238E27FC236}">
                <a16:creationId xmlns:a16="http://schemas.microsoft.com/office/drawing/2014/main" id="{F89FE222-81A9-44D9-AA17-58A7A1FE527C}"/>
              </a:ext>
            </a:extLst>
          </p:cNvPr>
          <p:cNvSpPr txBox="1"/>
          <p:nvPr/>
        </p:nvSpPr>
        <p:spPr>
          <a:xfrm>
            <a:off x="625700" y="2362080"/>
            <a:ext cx="1575337" cy="369332"/>
          </a:xfrm>
          <a:prstGeom prst="rect">
            <a:avLst/>
          </a:prstGeom>
          <a:noFill/>
        </p:spPr>
        <p:txBody>
          <a:bodyPr wrap="square">
            <a:spAutoFit/>
          </a:bodyPr>
          <a:lstStyle/>
          <a:p>
            <a:r>
              <a:rPr lang="en-CA" dirty="0"/>
              <a:t>CITE-seq</a:t>
            </a:r>
          </a:p>
        </p:txBody>
      </p:sp>
      <p:cxnSp>
        <p:nvCxnSpPr>
          <p:cNvPr id="14" name="Straight Arrow Connector 13">
            <a:extLst>
              <a:ext uri="{FF2B5EF4-FFF2-40B4-BE49-F238E27FC236}">
                <a16:creationId xmlns:a16="http://schemas.microsoft.com/office/drawing/2014/main" id="{E8721AA7-C8BE-8B4D-151D-A8DA37129B65}"/>
              </a:ext>
            </a:extLst>
          </p:cNvPr>
          <p:cNvCxnSpPr>
            <a:stCxn id="7" idx="2"/>
          </p:cNvCxnSpPr>
          <p:nvPr/>
        </p:nvCxnSpPr>
        <p:spPr>
          <a:xfrm flipH="1">
            <a:off x="1807845" y="1420089"/>
            <a:ext cx="1267685" cy="803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D2A5673-06F6-B3B8-F132-AC94B7655FF8}"/>
              </a:ext>
            </a:extLst>
          </p:cNvPr>
          <p:cNvCxnSpPr>
            <a:cxnSpLocks/>
          </p:cNvCxnSpPr>
          <p:nvPr/>
        </p:nvCxnSpPr>
        <p:spPr>
          <a:xfrm>
            <a:off x="3075530" y="1420088"/>
            <a:ext cx="1566955" cy="803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8C7AA50-EB00-9C25-75CE-195B9D93A158}"/>
              </a:ext>
            </a:extLst>
          </p:cNvPr>
          <p:cNvCxnSpPr>
            <a:cxnSpLocks/>
          </p:cNvCxnSpPr>
          <p:nvPr/>
        </p:nvCxnSpPr>
        <p:spPr>
          <a:xfrm flipH="1">
            <a:off x="1496949" y="2870298"/>
            <a:ext cx="6096" cy="8906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5F56664F-D47F-502F-8D8E-4E39ACF332DB}"/>
              </a:ext>
            </a:extLst>
          </p:cNvPr>
          <p:cNvSpPr/>
          <p:nvPr/>
        </p:nvSpPr>
        <p:spPr>
          <a:xfrm>
            <a:off x="67055" y="3738887"/>
            <a:ext cx="2688336" cy="7026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TextBox 22">
            <a:extLst>
              <a:ext uri="{FF2B5EF4-FFF2-40B4-BE49-F238E27FC236}">
                <a16:creationId xmlns:a16="http://schemas.microsoft.com/office/drawing/2014/main" id="{47D68213-3AE4-19D4-4EF6-433012E7E2CD}"/>
              </a:ext>
            </a:extLst>
          </p:cNvPr>
          <p:cNvSpPr txBox="1"/>
          <p:nvPr/>
        </p:nvSpPr>
        <p:spPr>
          <a:xfrm>
            <a:off x="402803" y="3795232"/>
            <a:ext cx="2188291" cy="646331"/>
          </a:xfrm>
          <a:prstGeom prst="rect">
            <a:avLst/>
          </a:prstGeom>
          <a:noFill/>
        </p:spPr>
        <p:txBody>
          <a:bodyPr wrap="none" rtlCol="0">
            <a:spAutoFit/>
          </a:bodyPr>
          <a:lstStyle/>
          <a:p>
            <a:r>
              <a:rPr lang="en-US" dirty="0"/>
              <a:t>Training plus In-silico </a:t>
            </a:r>
          </a:p>
          <a:p>
            <a:r>
              <a:rPr lang="en-US" dirty="0"/>
              <a:t>Perturbation</a:t>
            </a:r>
            <a:endParaRPr lang="en-CA" dirty="0"/>
          </a:p>
        </p:txBody>
      </p:sp>
      <p:sp>
        <p:nvSpPr>
          <p:cNvPr id="24" name="Rectangle 23">
            <a:extLst>
              <a:ext uri="{FF2B5EF4-FFF2-40B4-BE49-F238E27FC236}">
                <a16:creationId xmlns:a16="http://schemas.microsoft.com/office/drawing/2014/main" id="{F53A0D4D-A4CB-79C8-9DBC-4E3F009EC561}"/>
              </a:ext>
            </a:extLst>
          </p:cNvPr>
          <p:cNvSpPr/>
          <p:nvPr/>
        </p:nvSpPr>
        <p:spPr>
          <a:xfrm>
            <a:off x="3929165" y="3738887"/>
            <a:ext cx="2688336" cy="7026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TextBox 24">
            <a:extLst>
              <a:ext uri="{FF2B5EF4-FFF2-40B4-BE49-F238E27FC236}">
                <a16:creationId xmlns:a16="http://schemas.microsoft.com/office/drawing/2014/main" id="{125CD366-5503-00F9-5008-ED6ACC9F8B75}"/>
              </a:ext>
            </a:extLst>
          </p:cNvPr>
          <p:cNvSpPr txBox="1"/>
          <p:nvPr/>
        </p:nvSpPr>
        <p:spPr>
          <a:xfrm>
            <a:off x="4132903" y="3880678"/>
            <a:ext cx="2415405" cy="369332"/>
          </a:xfrm>
          <a:prstGeom prst="rect">
            <a:avLst/>
          </a:prstGeom>
          <a:noFill/>
        </p:spPr>
        <p:txBody>
          <a:bodyPr wrap="none" rtlCol="0">
            <a:spAutoFit/>
          </a:bodyPr>
          <a:lstStyle/>
          <a:p>
            <a:r>
              <a:rPr lang="en-US" dirty="0"/>
              <a:t>Experimental Validation</a:t>
            </a:r>
            <a:endParaRPr lang="en-CA" dirty="0"/>
          </a:p>
        </p:txBody>
      </p:sp>
      <p:cxnSp>
        <p:nvCxnSpPr>
          <p:cNvPr id="26" name="Straight Arrow Connector 25">
            <a:extLst>
              <a:ext uri="{FF2B5EF4-FFF2-40B4-BE49-F238E27FC236}">
                <a16:creationId xmlns:a16="http://schemas.microsoft.com/office/drawing/2014/main" id="{5709A9A2-D288-4E2F-FE54-BAE0FF4B9A3E}"/>
              </a:ext>
            </a:extLst>
          </p:cNvPr>
          <p:cNvCxnSpPr/>
          <p:nvPr/>
        </p:nvCxnSpPr>
        <p:spPr>
          <a:xfrm flipH="1">
            <a:off x="5273333" y="2859579"/>
            <a:ext cx="6096" cy="8906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BA0A7FB8-080C-ABAF-8519-6B721E656C7E}"/>
              </a:ext>
            </a:extLst>
          </p:cNvPr>
          <p:cNvPicPr>
            <a:picLocks noChangeAspect="1"/>
          </p:cNvPicPr>
          <p:nvPr/>
        </p:nvPicPr>
        <p:blipFill>
          <a:blip r:embed="rId2"/>
          <a:stretch>
            <a:fillRect/>
          </a:stretch>
        </p:blipFill>
        <p:spPr>
          <a:xfrm>
            <a:off x="6898619" y="306730"/>
            <a:ext cx="5226326" cy="5892902"/>
          </a:xfrm>
          <a:prstGeom prst="rect">
            <a:avLst/>
          </a:prstGeom>
        </p:spPr>
      </p:pic>
      <p:sp>
        <p:nvSpPr>
          <p:cNvPr id="32" name="TextBox 31">
            <a:extLst>
              <a:ext uri="{FF2B5EF4-FFF2-40B4-BE49-F238E27FC236}">
                <a16:creationId xmlns:a16="http://schemas.microsoft.com/office/drawing/2014/main" id="{DD763A5E-71D8-B5EE-70DD-A11FB200E25F}"/>
              </a:ext>
            </a:extLst>
          </p:cNvPr>
          <p:cNvSpPr txBox="1"/>
          <p:nvPr/>
        </p:nvSpPr>
        <p:spPr>
          <a:xfrm>
            <a:off x="163017" y="6330076"/>
            <a:ext cx="8684514" cy="369332"/>
          </a:xfrm>
          <a:prstGeom prst="rect">
            <a:avLst/>
          </a:prstGeom>
          <a:noFill/>
        </p:spPr>
        <p:txBody>
          <a:bodyPr wrap="square">
            <a:spAutoFit/>
          </a:bodyPr>
          <a:lstStyle/>
          <a:p>
            <a:r>
              <a:rPr lang="en-CA" dirty="0"/>
              <a:t>https://drive.google.com/file/d/1kj6sNfe_Tib92T1__a-CkNkFFudfbhOt/view?usp=sharing</a:t>
            </a:r>
          </a:p>
        </p:txBody>
      </p:sp>
      <p:sp>
        <p:nvSpPr>
          <p:cNvPr id="3" name="TextBox 2">
            <a:extLst>
              <a:ext uri="{FF2B5EF4-FFF2-40B4-BE49-F238E27FC236}">
                <a16:creationId xmlns:a16="http://schemas.microsoft.com/office/drawing/2014/main" id="{1A8EBD76-772A-1740-0170-CFE98C7CDDB7}"/>
              </a:ext>
            </a:extLst>
          </p:cNvPr>
          <p:cNvSpPr txBox="1"/>
          <p:nvPr/>
        </p:nvSpPr>
        <p:spPr>
          <a:xfrm>
            <a:off x="67055" y="4664989"/>
            <a:ext cx="6603154" cy="1200329"/>
          </a:xfrm>
          <a:prstGeom prst="rect">
            <a:avLst/>
          </a:prstGeom>
          <a:noFill/>
        </p:spPr>
        <p:txBody>
          <a:bodyPr wrap="none" rtlCol="0">
            <a:spAutoFit/>
          </a:bodyPr>
          <a:lstStyle/>
          <a:p>
            <a:r>
              <a:rPr lang="en-CA" b="1" dirty="0" err="1"/>
              <a:t>barcodes.tsv</a:t>
            </a:r>
            <a:r>
              <a:rPr lang="en-CA" b="1" dirty="0"/>
              <a:t>, </a:t>
            </a:r>
            <a:r>
              <a:rPr lang="en-CA" b="1" dirty="0" err="1"/>
              <a:t>features.tsv</a:t>
            </a:r>
            <a:r>
              <a:rPr lang="en-CA" b="1" dirty="0"/>
              <a:t> and </a:t>
            </a:r>
            <a:r>
              <a:rPr lang="en-CA" b="1" dirty="0" err="1"/>
              <a:t>matrix.mtx</a:t>
            </a:r>
            <a:r>
              <a:rPr lang="en-CA" b="1" dirty="0"/>
              <a:t> </a:t>
            </a:r>
            <a:r>
              <a:rPr lang="en-CA" dirty="0"/>
              <a:t>as input</a:t>
            </a:r>
          </a:p>
          <a:p>
            <a:endParaRPr lang="en-CA" dirty="0"/>
          </a:p>
          <a:p>
            <a:r>
              <a:rPr lang="en-CA" b="1" dirty="0">
                <a:latin typeface="Times New Roman" panose="02020603050405020304" pitchFamily="18" charset="0"/>
                <a:cs typeface="Times New Roman" panose="02020603050405020304" pitchFamily="18" charset="0"/>
              </a:rPr>
              <a:t>barcode and the count matrix</a:t>
            </a:r>
            <a:r>
              <a:rPr lang="en-CA" dirty="0">
                <a:latin typeface="Times New Roman" panose="02020603050405020304" pitchFamily="18" charset="0"/>
                <a:cs typeface="Times New Roman" panose="02020603050405020304" pitchFamily="18" charset="0"/>
              </a:rPr>
              <a:t>, but only if the counts are included in</a:t>
            </a:r>
          </a:p>
          <a:p>
            <a:r>
              <a:rPr lang="en-CA" dirty="0">
                <a:latin typeface="Times New Roman" panose="02020603050405020304" pitchFamily="18" charset="0"/>
                <a:cs typeface="Times New Roman" panose="02020603050405020304" pitchFamily="18" charset="0"/>
              </a:rPr>
              <a:t> the count matrix (as a feature)</a:t>
            </a:r>
          </a:p>
        </p:txBody>
      </p:sp>
    </p:spTree>
    <p:extLst>
      <p:ext uri="{BB962C8B-B14F-4D97-AF65-F5344CB8AC3E}">
        <p14:creationId xmlns:p14="http://schemas.microsoft.com/office/powerpoint/2010/main" val="3369813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C3AF6-67CE-A2F4-D8AB-9BCD2466C373}"/>
              </a:ext>
            </a:extLst>
          </p:cNvPr>
          <p:cNvSpPr>
            <a:spLocks noGrp="1"/>
          </p:cNvSpPr>
          <p:nvPr>
            <p:ph type="title"/>
          </p:nvPr>
        </p:nvSpPr>
        <p:spPr/>
        <p:txBody>
          <a:bodyPr>
            <a:normAutofit/>
          </a:bodyPr>
          <a:lstStyle/>
          <a:p>
            <a:r>
              <a:rPr lang="en-CA" sz="2200" b="1" dirty="0">
                <a:latin typeface="Times New Roman" panose="02020603050405020304" pitchFamily="18" charset="0"/>
                <a:cs typeface="Times New Roman" panose="02020603050405020304" pitchFamily="18" charset="0"/>
              </a:rPr>
              <a:t>Using Initialization Strategies to Address Nonlinearity in Developmental Biology</a:t>
            </a:r>
            <a:br>
              <a:rPr lang="en-CA" b="1" dirty="0"/>
            </a:br>
            <a:endParaRPr lang="en-CA" dirty="0"/>
          </a:p>
        </p:txBody>
      </p:sp>
      <p:sp>
        <p:nvSpPr>
          <p:cNvPr id="3" name="Content Placeholder 2">
            <a:extLst>
              <a:ext uri="{FF2B5EF4-FFF2-40B4-BE49-F238E27FC236}">
                <a16:creationId xmlns:a16="http://schemas.microsoft.com/office/drawing/2014/main" id="{C57357E8-7CC3-7D10-E04D-DD8F72BC8A57}"/>
              </a:ext>
            </a:extLst>
          </p:cNvPr>
          <p:cNvSpPr>
            <a:spLocks noGrp="1"/>
          </p:cNvSpPr>
          <p:nvPr>
            <p:ph idx="1"/>
          </p:nvPr>
        </p:nvSpPr>
        <p:spPr>
          <a:xfrm>
            <a:off x="947928" y="1459865"/>
            <a:ext cx="10515600" cy="4351338"/>
          </a:xfrm>
        </p:spPr>
        <p:txBody>
          <a:bodyPr>
            <a:normAutofit/>
          </a:bodyPr>
          <a:lstStyle/>
          <a:p>
            <a:r>
              <a:rPr lang="en-CA" sz="1600" dirty="0">
                <a:latin typeface="Times New Roman" panose="02020603050405020304" pitchFamily="18" charset="0"/>
                <a:cs typeface="Times New Roman" panose="02020603050405020304" pitchFamily="18" charset="0"/>
              </a:rPr>
              <a:t>We leverage machine-learning initialization strategies to overcome the inherent nonlinearity in developmental biology, improving the modeling of cell-differentiation trajectories.</a:t>
            </a:r>
          </a:p>
          <a:p>
            <a:endParaRPr lang="en-CA" sz="1600" dirty="0">
              <a:latin typeface="Times New Roman" panose="02020603050405020304" pitchFamily="18" charset="0"/>
              <a:cs typeface="Times New Roman" panose="02020603050405020304" pitchFamily="18" charset="0"/>
            </a:endParaRPr>
          </a:p>
          <a:p>
            <a:r>
              <a:rPr lang="en-CA" sz="1600" dirty="0">
                <a:latin typeface="Times New Roman" panose="02020603050405020304" pitchFamily="18" charset="0"/>
                <a:cs typeface="Times New Roman" panose="02020603050405020304" pitchFamily="18" charset="0"/>
              </a:rPr>
              <a:t>Concept: Convex or structured initializations (e.g., sparse regression, trust-region, or pre-trained convex embeddings) provide stable starting points for highly nonlinear optimization landscapes in biological systems.</a:t>
            </a:r>
          </a:p>
          <a:p>
            <a:endParaRPr lang="en-CA" sz="1600" dirty="0">
              <a:latin typeface="Times New Roman" panose="02020603050405020304" pitchFamily="18" charset="0"/>
              <a:cs typeface="Times New Roman" panose="02020603050405020304" pitchFamily="18" charset="0"/>
            </a:endParaRPr>
          </a:p>
          <a:p>
            <a:r>
              <a:rPr lang="en-CA" sz="1600" dirty="0">
                <a:latin typeface="Times New Roman" panose="02020603050405020304" pitchFamily="18" charset="0"/>
                <a:cs typeface="Times New Roman" panose="02020603050405020304" pitchFamily="18" charset="0"/>
              </a:rPr>
              <a:t>Goal: To ensure that nonlinear models such as deep or reinforcement-learning frameworks converge toward biologically meaningful minima rather than arbitrary local optima.</a:t>
            </a:r>
          </a:p>
          <a:p>
            <a:endParaRPr lang="en-CA" sz="1600" dirty="0">
              <a:latin typeface="Times New Roman" panose="02020603050405020304" pitchFamily="18" charset="0"/>
              <a:cs typeface="Times New Roman" panose="02020603050405020304" pitchFamily="18" charset="0"/>
            </a:endParaRPr>
          </a:p>
          <a:p>
            <a:r>
              <a:rPr lang="en-CA" sz="1600" dirty="0">
                <a:latin typeface="Times New Roman" panose="02020603050405020304" pitchFamily="18" charset="0"/>
                <a:cs typeface="Times New Roman" panose="02020603050405020304" pitchFamily="18" charset="0"/>
              </a:rPr>
              <a:t>Impact: Enhances the fidelity of cell-fate prediction and differentiation modeling, leading to more accurate simulations of lineage commitment and reprogramming dynamics.</a:t>
            </a:r>
          </a:p>
          <a:p>
            <a:endParaRPr lang="en-CA" sz="1600" dirty="0">
              <a:latin typeface="Times New Roman" panose="02020603050405020304" pitchFamily="18" charset="0"/>
              <a:cs typeface="Times New Roman" panose="02020603050405020304" pitchFamily="18" charset="0"/>
            </a:endParaRPr>
          </a:p>
          <a:p>
            <a:r>
              <a:rPr lang="en-CA" sz="1600" dirty="0">
                <a:latin typeface="Times New Roman" panose="02020603050405020304" pitchFamily="18" charset="0"/>
                <a:cs typeface="Times New Roman" panose="02020603050405020304" pitchFamily="18" charset="0"/>
              </a:rPr>
              <a:t>Outcome: A unified approach where machine-domain initialization bridges computational optimization and biological interpretability, improving predictive performance in cell differentiation and regenerative modeling.</a:t>
            </a:r>
          </a:p>
          <a:p>
            <a:endParaRPr lang="en-CA"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7604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07F0A-3138-797A-FD19-F132FDDFB16F}"/>
              </a:ext>
            </a:extLst>
          </p:cNvPr>
          <p:cNvSpPr>
            <a:spLocks noGrp="1"/>
          </p:cNvSpPr>
          <p:nvPr>
            <p:ph type="title"/>
          </p:nvPr>
        </p:nvSpPr>
        <p:spPr/>
        <p:txBody>
          <a:bodyPr>
            <a:normAutofit/>
          </a:bodyPr>
          <a:lstStyle/>
          <a:p>
            <a:r>
              <a:rPr lang="en-CA" sz="2000" b="1" dirty="0">
                <a:latin typeface="Times New Roman" panose="02020603050405020304" pitchFamily="18" charset="0"/>
                <a:cs typeface="Times New Roman" panose="02020603050405020304" pitchFamily="18" charset="0"/>
              </a:rPr>
              <a:t>Proposed Idea 1: Escaping Local Optima in the Waddington Landscape: A Multi-Stage TRPO-PPO Approach for Single-Cell Perturbation Analysis</a:t>
            </a:r>
            <a:br>
              <a:rPr lang="en-CA" sz="2400" dirty="0">
                <a:latin typeface="Times New Roman" panose="02020603050405020304" pitchFamily="18" charset="0"/>
                <a:cs typeface="Times New Roman" panose="02020603050405020304" pitchFamily="18" charset="0"/>
              </a:rPr>
            </a:br>
            <a:endParaRPr lang="en-CA"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FAAE30-6B09-18D9-C24B-38FDD0E4DA86}"/>
              </a:ext>
            </a:extLst>
          </p:cNvPr>
          <p:cNvSpPr>
            <a:spLocks noGrp="1"/>
          </p:cNvSpPr>
          <p:nvPr>
            <p:ph idx="1"/>
          </p:nvPr>
        </p:nvSpPr>
        <p:spPr/>
        <p:txBody>
          <a:bodyPr>
            <a:normAutofit/>
          </a:bodyPr>
          <a:lstStyle/>
          <a:p>
            <a:pPr marL="0" indent="0" fontAlgn="base">
              <a:buNone/>
            </a:pPr>
            <a:r>
              <a:rPr lang="en-CA" sz="1600" dirty="0">
                <a:latin typeface="Times New Roman" panose="02020603050405020304" pitchFamily="18" charset="0"/>
                <a:cs typeface="Times New Roman" panose="02020603050405020304" pitchFamily="18" charset="0"/>
              </a:rPr>
              <a:t>Boabang, Francis, and Samuel Asante </a:t>
            </a:r>
            <a:r>
              <a:rPr lang="en-CA" sz="1600" dirty="0" err="1">
                <a:latin typeface="Times New Roman" panose="02020603050405020304" pitchFamily="18" charset="0"/>
                <a:cs typeface="Times New Roman" panose="02020603050405020304" pitchFamily="18" charset="0"/>
              </a:rPr>
              <a:t>Gyamerah</a:t>
            </a:r>
            <a:r>
              <a:rPr lang="en-CA" sz="1600" dirty="0">
                <a:latin typeface="Times New Roman" panose="02020603050405020304" pitchFamily="18" charset="0"/>
                <a:cs typeface="Times New Roman" panose="02020603050405020304" pitchFamily="18" charset="0"/>
              </a:rPr>
              <a:t>. "Escaping Local Optima in the Waddington Landscape: A Multi-Stage TRPO-PPO Approach for Single-Cell Perturbation Analysis." </a:t>
            </a:r>
            <a:r>
              <a:rPr lang="en-CA" sz="1600" i="1" dirty="0" err="1">
                <a:latin typeface="Times New Roman" panose="02020603050405020304" pitchFamily="18" charset="0"/>
                <a:cs typeface="Times New Roman" panose="02020603050405020304" pitchFamily="18" charset="0"/>
              </a:rPr>
              <a:t>arXiv</a:t>
            </a:r>
            <a:r>
              <a:rPr lang="en-CA" sz="1600" i="1" dirty="0">
                <a:latin typeface="Times New Roman" panose="02020603050405020304" pitchFamily="18" charset="0"/>
                <a:cs typeface="Times New Roman" panose="02020603050405020304" pitchFamily="18" charset="0"/>
              </a:rPr>
              <a:t> preprint arXiv:2510.13018</a:t>
            </a:r>
            <a:r>
              <a:rPr lang="en-CA" sz="1600" dirty="0">
                <a:latin typeface="Times New Roman" panose="02020603050405020304" pitchFamily="18" charset="0"/>
                <a:cs typeface="Times New Roman" panose="02020603050405020304" pitchFamily="18" charset="0"/>
              </a:rPr>
              <a:t> (2025).</a:t>
            </a:r>
          </a:p>
          <a:p>
            <a:endParaRPr lang="en-CA" sz="1800" dirty="0"/>
          </a:p>
        </p:txBody>
      </p:sp>
    </p:spTree>
    <p:extLst>
      <p:ext uri="{BB962C8B-B14F-4D97-AF65-F5344CB8AC3E}">
        <p14:creationId xmlns:p14="http://schemas.microsoft.com/office/powerpoint/2010/main" val="1561357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47AC3-36EE-EE88-DC7E-D3EF44BE43AB}"/>
              </a:ext>
            </a:extLst>
          </p:cNvPr>
          <p:cNvSpPr>
            <a:spLocks noGrp="1"/>
          </p:cNvSpPr>
          <p:nvPr>
            <p:ph type="title"/>
          </p:nvPr>
        </p:nvSpPr>
        <p:spPr>
          <a:xfrm>
            <a:off x="1060704" y="365125"/>
            <a:ext cx="10293096" cy="485267"/>
          </a:xfrm>
        </p:spPr>
        <p:txBody>
          <a:bodyPr>
            <a:normAutofit fontScale="90000"/>
          </a:bodyPr>
          <a:lstStyle/>
          <a:p>
            <a:r>
              <a:rPr lang="en-CA" sz="2200" b="1" dirty="0">
                <a:latin typeface="Times New Roman" panose="02020603050405020304" pitchFamily="18" charset="0"/>
                <a:cs typeface="Times New Roman" panose="02020603050405020304" pitchFamily="18" charset="0"/>
              </a:rPr>
              <a:t>Proposed Idea 2: Convex-Initialized Regression for Nonlinear Gene-Regulatory Modeling</a:t>
            </a:r>
            <a:br>
              <a:rPr lang="en-CA" sz="2400" b="1" dirty="0"/>
            </a:br>
            <a:endParaRPr lang="en-CA" sz="2400" dirty="0"/>
          </a:p>
        </p:txBody>
      </p:sp>
      <p:sp>
        <p:nvSpPr>
          <p:cNvPr id="3" name="Content Placeholder 2">
            <a:extLst>
              <a:ext uri="{FF2B5EF4-FFF2-40B4-BE49-F238E27FC236}">
                <a16:creationId xmlns:a16="http://schemas.microsoft.com/office/drawing/2014/main" id="{31E6F48F-C8A8-9C67-6A7E-D49A75B0B9C2}"/>
              </a:ext>
            </a:extLst>
          </p:cNvPr>
          <p:cNvSpPr>
            <a:spLocks noGrp="1"/>
          </p:cNvSpPr>
          <p:nvPr>
            <p:ph idx="1"/>
          </p:nvPr>
        </p:nvSpPr>
        <p:spPr>
          <a:xfrm>
            <a:off x="128016" y="850392"/>
            <a:ext cx="11161776" cy="4351338"/>
          </a:xfrm>
        </p:spPr>
        <p:txBody>
          <a:bodyPr>
            <a:noAutofit/>
          </a:bodyPr>
          <a:lstStyle/>
          <a:p>
            <a:pPr marL="0" indent="0" fontAlgn="base">
              <a:buNone/>
            </a:pPr>
            <a:r>
              <a:rPr lang="en-US" sz="1600" b="1" dirty="0">
                <a:latin typeface="Times New Roman" panose="02020603050405020304" pitchFamily="18" charset="0"/>
                <a:cs typeface="Times New Roman" panose="02020603050405020304" pitchFamily="18" charset="0"/>
              </a:rPr>
              <a:t>References from Machine Learning Domain</a:t>
            </a:r>
          </a:p>
          <a:p>
            <a:pPr marL="0" indent="0" fontAlgn="base">
              <a:buNone/>
            </a:pPr>
            <a:r>
              <a:rPr lang="en-CA" sz="1600" dirty="0">
                <a:latin typeface="Times New Roman" panose="02020603050405020304" pitchFamily="18" charset="0"/>
                <a:cs typeface="Times New Roman" panose="02020603050405020304" pitchFamily="18" charset="0"/>
              </a:rPr>
              <a:t>Selesnick, "Sparse Regularization via Convex Analysis," in </a:t>
            </a:r>
            <a:r>
              <a:rPr lang="en-CA" sz="1600" i="1" dirty="0">
                <a:latin typeface="Times New Roman" panose="02020603050405020304" pitchFamily="18" charset="0"/>
                <a:cs typeface="Times New Roman" panose="02020603050405020304" pitchFamily="18" charset="0"/>
              </a:rPr>
              <a:t>IEEE Transactions on Signal Processing</a:t>
            </a:r>
            <a:r>
              <a:rPr lang="en-CA" sz="1600" dirty="0">
                <a:latin typeface="Times New Roman" panose="02020603050405020304" pitchFamily="18" charset="0"/>
                <a:cs typeface="Times New Roman" panose="02020603050405020304" pitchFamily="18" charset="0"/>
              </a:rPr>
              <a:t>, vol. 65, no. 17, pp. 4481-4494, 1 Sept.1, 2017</a:t>
            </a:r>
          </a:p>
          <a:p>
            <a:pPr marL="0" indent="0" fontAlgn="base">
              <a:buNone/>
            </a:pPr>
            <a:r>
              <a:rPr lang="en-CA" sz="1600" dirty="0"/>
              <a:t>Boabang, Francis. </a:t>
            </a:r>
            <a:r>
              <a:rPr lang="en-CA" sz="1600" i="1" dirty="0"/>
              <a:t>Refining Optimization Methods for Training Machine Learning Models: A Case Study in Robotic Surgical Procedures</a:t>
            </a:r>
            <a:r>
              <a:rPr lang="en-CA" sz="1600" dirty="0"/>
              <a:t>. Diss. Concordia University, 2024.</a:t>
            </a:r>
            <a:endParaRPr lang="en-CA" sz="1600" dirty="0">
              <a:latin typeface="Times New Roman" panose="02020603050405020304" pitchFamily="18" charset="0"/>
              <a:cs typeface="Times New Roman" panose="02020603050405020304" pitchFamily="18" charset="0"/>
            </a:endParaRPr>
          </a:p>
          <a:p>
            <a:pPr marL="0" indent="0">
              <a:buNone/>
            </a:pPr>
            <a:endParaRPr lang="en-CA" sz="1600" b="1" dirty="0">
              <a:latin typeface="Times New Roman" panose="02020603050405020304" pitchFamily="18" charset="0"/>
              <a:cs typeface="Times New Roman" panose="02020603050405020304" pitchFamily="18" charset="0"/>
            </a:endParaRPr>
          </a:p>
          <a:p>
            <a:pPr marL="0" indent="0">
              <a:buNone/>
            </a:pPr>
            <a:r>
              <a:rPr lang="en-CA" sz="1600" b="1" dirty="0">
                <a:latin typeface="Times New Roman" panose="02020603050405020304" pitchFamily="18" charset="0"/>
                <a:cs typeface="Times New Roman" panose="02020603050405020304" pitchFamily="18" charset="0"/>
              </a:rPr>
              <a:t>Application to Perturbation Analysis: Convex-Initialized Regression for Nonlinear Gene-Regulatory Modeling</a:t>
            </a:r>
          </a:p>
          <a:p>
            <a:pPr marL="0" indent="0">
              <a:buNone/>
            </a:pPr>
            <a:r>
              <a:rPr lang="en-CA" sz="1600" dirty="0">
                <a:latin typeface="Times New Roman" panose="02020603050405020304" pitchFamily="18" charset="0"/>
                <a:cs typeface="Times New Roman" panose="02020603050405020304" pitchFamily="18" charset="0"/>
              </a:rPr>
              <a:t>Building on Selesnick’s </a:t>
            </a:r>
            <a:r>
              <a:rPr lang="en-CA" sz="1600" i="1" dirty="0">
                <a:latin typeface="Times New Roman" panose="02020603050405020304" pitchFamily="18" charset="0"/>
                <a:cs typeface="Times New Roman" panose="02020603050405020304" pitchFamily="18" charset="0"/>
              </a:rPr>
              <a:t>“Sparse Regularization via Convex Analysis”</a:t>
            </a:r>
            <a:r>
              <a:rPr lang="en-CA" sz="1600" dirty="0">
                <a:latin typeface="Times New Roman" panose="02020603050405020304" pitchFamily="18" charset="0"/>
                <a:cs typeface="Times New Roman" panose="02020603050405020304" pitchFamily="18" charset="0"/>
              </a:rPr>
              <a:t> (IEEE TSP, 2017) and Boabang et al. , this work can apply convex-analysis–based initialization to stabilize nonlinear gene-regulatory machine-learning models.</a:t>
            </a:r>
          </a:p>
          <a:p>
            <a:pPr marL="0" indent="0">
              <a:buNone/>
            </a:pPr>
            <a:r>
              <a:rPr lang="en-CA" sz="1600" b="1" dirty="0">
                <a:latin typeface="Times New Roman" panose="02020603050405020304" pitchFamily="18" charset="0"/>
                <a:cs typeface="Times New Roman" panose="02020603050405020304" pitchFamily="18" charset="0"/>
              </a:rPr>
              <a:t>Convex initialization:</a:t>
            </a:r>
            <a:r>
              <a:rPr lang="en-CA" sz="1600" dirty="0">
                <a:latin typeface="Times New Roman" panose="02020603050405020304" pitchFamily="18" charset="0"/>
                <a:cs typeface="Times New Roman" panose="02020603050405020304" pitchFamily="18" charset="0"/>
              </a:rPr>
              <a:t> Begin with a convex sparsity-inducing regression stage (e.g., Elastic Net or LASSO) to estimate key regulator–target dependencies. This yields a stable and interpretable sparse prior.</a:t>
            </a:r>
          </a:p>
          <a:p>
            <a:pPr marL="0" indent="0">
              <a:buNone/>
            </a:pPr>
            <a:r>
              <a:rPr lang="en-CA" sz="1600" b="1" dirty="0">
                <a:latin typeface="Times New Roman" panose="02020603050405020304" pitchFamily="18" charset="0"/>
                <a:cs typeface="Times New Roman" panose="02020603050405020304" pitchFamily="18" charset="0"/>
              </a:rPr>
              <a:t>Nonlinear refinement:</a:t>
            </a:r>
            <a:r>
              <a:rPr lang="en-CA" sz="1600" dirty="0">
                <a:latin typeface="Times New Roman" panose="02020603050405020304" pitchFamily="18" charset="0"/>
                <a:cs typeface="Times New Roman" panose="02020603050405020304" pitchFamily="18" charset="0"/>
              </a:rPr>
              <a:t> The convex solution seeds subsequent nonlinear learners such as Gaussian-process regressors or neural networks capturing higher-order, context-dependent regulatory effects.</a:t>
            </a:r>
          </a:p>
          <a:p>
            <a:pPr marL="0" indent="0">
              <a:buNone/>
            </a:pPr>
            <a:endParaRPr lang="en-CA" sz="1600" dirty="0">
              <a:latin typeface="Times New Roman" panose="02020603050405020304" pitchFamily="18" charset="0"/>
              <a:cs typeface="Times New Roman" panose="02020603050405020304" pitchFamily="18" charset="0"/>
            </a:endParaRPr>
          </a:p>
          <a:p>
            <a:pPr marL="0" indent="0">
              <a:buNone/>
            </a:pPr>
            <a:r>
              <a:rPr lang="en-CA" sz="1600" dirty="0">
                <a:latin typeface="Times New Roman" panose="02020603050405020304" pitchFamily="18" charset="0"/>
                <a:cs typeface="Times New Roman" panose="02020603050405020304" pitchFamily="18" charset="0"/>
              </a:rPr>
              <a:t>Convex Stage Method: </a:t>
            </a:r>
            <a:r>
              <a:rPr lang="en-CA" sz="1600" dirty="0" err="1">
                <a:latin typeface="Times New Roman" panose="02020603050405020304" pitchFamily="18" charset="0"/>
                <a:cs typeface="Times New Roman" panose="02020603050405020304" pitchFamily="18" charset="0"/>
              </a:rPr>
              <a:t>Omranian</a:t>
            </a:r>
            <a:r>
              <a:rPr lang="en-CA" sz="1600" dirty="0">
                <a:latin typeface="Times New Roman" panose="02020603050405020304" pitchFamily="18" charset="0"/>
                <a:cs typeface="Times New Roman" panose="02020603050405020304" pitchFamily="18" charset="0"/>
              </a:rPr>
              <a:t>, N., Eloundou-</a:t>
            </a:r>
            <a:r>
              <a:rPr lang="en-CA" sz="1600" dirty="0" err="1">
                <a:latin typeface="Times New Roman" panose="02020603050405020304" pitchFamily="18" charset="0"/>
                <a:cs typeface="Times New Roman" panose="02020603050405020304" pitchFamily="18" charset="0"/>
              </a:rPr>
              <a:t>Mbebi</a:t>
            </a:r>
            <a:r>
              <a:rPr lang="en-CA" sz="1600" dirty="0">
                <a:latin typeface="Times New Roman" panose="02020603050405020304" pitchFamily="18" charset="0"/>
                <a:cs typeface="Times New Roman" panose="02020603050405020304" pitchFamily="18" charset="0"/>
              </a:rPr>
              <a:t>, J., Mueller-Roeber, B. </a:t>
            </a:r>
            <a:r>
              <a:rPr lang="en-CA" sz="1600" i="1" dirty="0">
                <a:latin typeface="Times New Roman" panose="02020603050405020304" pitchFamily="18" charset="0"/>
                <a:cs typeface="Times New Roman" panose="02020603050405020304" pitchFamily="18" charset="0"/>
              </a:rPr>
              <a:t>et al.</a:t>
            </a:r>
            <a:r>
              <a:rPr lang="en-CA" sz="1600" b="1" dirty="0">
                <a:latin typeface="Times New Roman" panose="02020603050405020304" pitchFamily="18" charset="0"/>
                <a:cs typeface="Times New Roman" panose="02020603050405020304" pitchFamily="18" charset="0"/>
              </a:rPr>
              <a:t> Gene regulatory network inference using fused LASSO on multiple data sets, </a:t>
            </a:r>
            <a:r>
              <a:rPr lang="en-CA" sz="1600" i="1" dirty="0">
                <a:latin typeface="Times New Roman" panose="02020603050405020304" pitchFamily="18" charset="0"/>
                <a:cs typeface="Times New Roman" panose="02020603050405020304" pitchFamily="18" charset="0"/>
              </a:rPr>
              <a:t>Sci Rep</a:t>
            </a:r>
            <a:r>
              <a:rPr lang="en-CA" sz="1600" dirty="0">
                <a:latin typeface="Times New Roman" panose="02020603050405020304" pitchFamily="18" charset="0"/>
                <a:cs typeface="Times New Roman" panose="02020603050405020304" pitchFamily="18" charset="0"/>
              </a:rPr>
              <a:t> </a:t>
            </a:r>
            <a:r>
              <a:rPr lang="en-CA" sz="1600" b="1" dirty="0">
                <a:latin typeface="Times New Roman" panose="02020603050405020304" pitchFamily="18" charset="0"/>
                <a:cs typeface="Times New Roman" panose="02020603050405020304" pitchFamily="18" charset="0"/>
              </a:rPr>
              <a:t>6</a:t>
            </a:r>
            <a:r>
              <a:rPr lang="en-CA" sz="1600" dirty="0">
                <a:latin typeface="Times New Roman" panose="02020603050405020304" pitchFamily="18" charset="0"/>
                <a:cs typeface="Times New Roman" panose="02020603050405020304" pitchFamily="18" charset="0"/>
              </a:rPr>
              <a:t>, 20533 (2016).</a:t>
            </a:r>
            <a:endParaRPr lang="en-CA" sz="1600" b="1" dirty="0">
              <a:latin typeface="Times New Roman" panose="02020603050405020304" pitchFamily="18" charset="0"/>
              <a:cs typeface="Times New Roman" panose="02020603050405020304" pitchFamily="18" charset="0"/>
            </a:endParaRPr>
          </a:p>
          <a:p>
            <a:pPr marL="0" indent="0">
              <a:buNone/>
            </a:pPr>
            <a:r>
              <a:rPr lang="en-CA" sz="1600" dirty="0" err="1">
                <a:latin typeface="Times New Roman" panose="02020603050405020304" pitchFamily="18" charset="0"/>
                <a:cs typeface="Times New Roman" panose="02020603050405020304" pitchFamily="18" charset="0"/>
              </a:rPr>
              <a:t>NonConvex</a:t>
            </a:r>
            <a:r>
              <a:rPr lang="en-CA" sz="1600" dirty="0">
                <a:latin typeface="Times New Roman" panose="02020603050405020304" pitchFamily="18" charset="0"/>
                <a:cs typeface="Times New Roman" panose="02020603050405020304" pitchFamily="18" charset="0"/>
              </a:rPr>
              <a:t> Stage method :</a:t>
            </a:r>
            <a:r>
              <a:rPr lang="en-US" altLang="en-US" sz="1600" dirty="0">
                <a:latin typeface="Times New Roman" panose="02020603050405020304" pitchFamily="18" charset="0"/>
                <a:cs typeface="Times New Roman" panose="02020603050405020304" pitchFamily="18" charset="0"/>
              </a:rPr>
              <a:t>Xing, H., &amp; Yau, C. (2025). </a:t>
            </a:r>
            <a:r>
              <a:rPr lang="en-US" altLang="en-US" sz="1600" b="1" i="1" dirty="0">
                <a:latin typeface="Times New Roman" panose="02020603050405020304" pitchFamily="18" charset="0"/>
                <a:cs typeface="Times New Roman" panose="02020603050405020304" pitchFamily="18" charset="0"/>
              </a:rPr>
              <a:t>GPerturb: Gaussian Process Modelling of Single-Cell Perturbation Data</a:t>
            </a:r>
            <a:r>
              <a:rPr lang="en-US" altLang="en-US" sz="1600" i="1"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Nature Communications, 16(1): 5423.</a:t>
            </a:r>
          </a:p>
          <a:p>
            <a:pPr marL="0" indent="0">
              <a:buNone/>
            </a:pPr>
            <a:endParaRPr lang="en-CA" sz="1400" dirty="0">
              <a:latin typeface="Times New Roman" panose="02020603050405020304" pitchFamily="18" charset="0"/>
              <a:cs typeface="Times New Roman" panose="02020603050405020304" pitchFamily="18" charset="0"/>
            </a:endParaRPr>
          </a:p>
          <a:p>
            <a:pPr marL="0" indent="0" fontAlgn="base">
              <a:buNone/>
            </a:pPr>
            <a:endParaRPr lang="en-US" sz="1400" dirty="0">
              <a:latin typeface="Times New Roman" panose="02020603050405020304" pitchFamily="18" charset="0"/>
              <a:cs typeface="Times New Roman" panose="02020603050405020304" pitchFamily="18" charset="0"/>
            </a:endParaRPr>
          </a:p>
          <a:p>
            <a:pPr marL="0" indent="0" fontAlgn="base">
              <a:buNone/>
            </a:pPr>
            <a:endParaRPr lang="en-US" sz="1400" dirty="0">
              <a:latin typeface="Times New Roman" panose="02020603050405020304" pitchFamily="18" charset="0"/>
              <a:cs typeface="Times New Roman" panose="02020603050405020304" pitchFamily="18" charset="0"/>
            </a:endParaRPr>
          </a:p>
          <a:p>
            <a:pPr marL="0" indent="0" fontAlgn="base">
              <a:buNone/>
            </a:pPr>
            <a:endParaRPr lang="en-US" sz="1400" dirty="0">
              <a:latin typeface="Times New Roman" panose="02020603050405020304" pitchFamily="18" charset="0"/>
              <a:cs typeface="Times New Roman" panose="02020603050405020304" pitchFamily="18" charset="0"/>
            </a:endParaRPr>
          </a:p>
          <a:p>
            <a:pPr marL="0" indent="0" fontAlgn="base">
              <a:buNone/>
            </a:pPr>
            <a:r>
              <a:rPr lang="en-US" sz="1400" dirty="0">
                <a:latin typeface="Times New Roman" panose="02020603050405020304" pitchFamily="18" charset="0"/>
                <a:cs typeface="Times New Roman" panose="02020603050405020304" pitchFamily="18" charset="0"/>
              </a:rPr>
              <a:t> </a:t>
            </a:r>
          </a:p>
          <a:p>
            <a:endParaRPr lang="en-CA"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679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6B9FC-0183-CBD4-137A-426724D9B6A8}"/>
              </a:ext>
            </a:extLst>
          </p:cNvPr>
          <p:cNvSpPr>
            <a:spLocks noGrp="1"/>
          </p:cNvSpPr>
          <p:nvPr>
            <p:ph type="title"/>
          </p:nvPr>
        </p:nvSpPr>
        <p:spPr/>
        <p:txBody>
          <a:bodyPr>
            <a:normAutofit/>
          </a:bodyPr>
          <a:lstStyle/>
          <a:p>
            <a:r>
              <a:rPr lang="en-US" sz="2000" b="1" dirty="0">
                <a:latin typeface="Times New Roman" panose="02020603050405020304" pitchFamily="18" charset="0"/>
                <a:cs typeface="Times New Roman" panose="02020603050405020304" pitchFamily="18" charset="0"/>
              </a:rPr>
              <a:t>Proposed Idea 3: Decision Tree-Guided Neural Initialization for Stable Modeling of Gene-Regulatory Networks to improve model generalization performance</a:t>
            </a:r>
            <a:endParaRPr lang="en-CA"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648A0A-21DD-812C-CA22-BC3ECE22C926}"/>
              </a:ext>
            </a:extLst>
          </p:cNvPr>
          <p:cNvSpPr>
            <a:spLocks noGrp="1"/>
          </p:cNvSpPr>
          <p:nvPr>
            <p:ph idx="1"/>
          </p:nvPr>
        </p:nvSpPr>
        <p:spPr/>
        <p:txBody>
          <a:bodyPr>
            <a:normAutofit/>
          </a:bodyPr>
          <a:lstStyle/>
          <a:p>
            <a:pPr marL="0" indent="0" fontAlgn="base">
              <a:buNone/>
            </a:pPr>
            <a:r>
              <a:rPr lang="en-US" sz="1600" b="1" dirty="0">
                <a:latin typeface="Times New Roman" panose="02020603050405020304" pitchFamily="18" charset="0"/>
                <a:cs typeface="Times New Roman" panose="02020603050405020304" pitchFamily="18" charset="0"/>
              </a:rPr>
              <a:t>Reference from Machine Learning Domain</a:t>
            </a:r>
          </a:p>
          <a:p>
            <a:pPr marL="0" indent="0" fontAlgn="base">
              <a:buNone/>
            </a:pPr>
            <a:r>
              <a:rPr lang="en-US" sz="1600" dirty="0">
                <a:latin typeface="Times New Roman" panose="02020603050405020304" pitchFamily="18" charset="0"/>
                <a:cs typeface="Times New Roman" panose="02020603050405020304" pitchFamily="18" charset="0"/>
              </a:rPr>
              <a:t>K. D. Humbird, J. L. Peterson and R. G. Mcclarren, "Deep Neural Network Initialization With Decision Trees," in </a:t>
            </a:r>
            <a:r>
              <a:rPr lang="en-US" sz="1600" i="1" dirty="0">
                <a:latin typeface="Times New Roman" panose="02020603050405020304" pitchFamily="18" charset="0"/>
                <a:cs typeface="Times New Roman" panose="02020603050405020304" pitchFamily="18" charset="0"/>
              </a:rPr>
              <a:t>IEEE Transactions on Neural Networks and Learning Systems</a:t>
            </a:r>
            <a:r>
              <a:rPr lang="en-US" sz="1600" dirty="0">
                <a:latin typeface="Times New Roman" panose="02020603050405020304" pitchFamily="18" charset="0"/>
                <a:cs typeface="Times New Roman" panose="02020603050405020304" pitchFamily="18" charset="0"/>
              </a:rPr>
              <a:t>, vol. 30, no. 5, pp. 1286-1295, May 2019, </a:t>
            </a:r>
            <a:r>
              <a:rPr lang="en-US" sz="1600" dirty="0" err="1">
                <a:latin typeface="Times New Roman" panose="02020603050405020304" pitchFamily="18" charset="0"/>
                <a:cs typeface="Times New Roman" panose="02020603050405020304" pitchFamily="18" charset="0"/>
              </a:rPr>
              <a:t>doi</a:t>
            </a:r>
            <a:r>
              <a:rPr lang="en-US" sz="1600" dirty="0">
                <a:latin typeface="Times New Roman" panose="02020603050405020304" pitchFamily="18" charset="0"/>
                <a:cs typeface="Times New Roman" panose="02020603050405020304" pitchFamily="18" charset="0"/>
              </a:rPr>
              <a:t>: 10.1109/TNNLS.2018.2869694. </a:t>
            </a:r>
          </a:p>
          <a:p>
            <a:pPr marL="0" indent="0" fontAlgn="base">
              <a:buNone/>
            </a:pPr>
            <a:endParaRPr lang="en-US" sz="1600" dirty="0">
              <a:latin typeface="Times New Roman" panose="02020603050405020304" pitchFamily="18" charset="0"/>
              <a:cs typeface="Times New Roman" panose="02020603050405020304" pitchFamily="18" charset="0"/>
            </a:endParaRPr>
          </a:p>
          <a:p>
            <a:pPr marL="0" indent="0" fontAlgn="base">
              <a:buNone/>
            </a:pPr>
            <a:r>
              <a:rPr lang="en-US" sz="1600" b="1" dirty="0">
                <a:latin typeface="Times New Roman" panose="02020603050405020304" pitchFamily="18" charset="0"/>
                <a:cs typeface="Times New Roman" panose="02020603050405020304" pitchFamily="18" charset="0"/>
              </a:rPr>
              <a:t>Application</a:t>
            </a:r>
            <a:r>
              <a:rPr lang="en-US" sz="1600" dirty="0">
                <a:latin typeface="Times New Roman" panose="02020603050405020304" pitchFamily="18" charset="0"/>
                <a:cs typeface="Times New Roman" panose="02020603050405020304" pitchFamily="18" charset="0"/>
              </a:rPr>
              <a:t>: Decision Tree-Guided Neural Initialization for Stable Modeling of Gene-Regulatory Networks to improve model generalization performance</a:t>
            </a:r>
          </a:p>
          <a:p>
            <a:pPr marL="0" indent="0" fontAlgn="base">
              <a:buNone/>
            </a:pPr>
            <a:endParaRPr lang="en-US" sz="1600" dirty="0">
              <a:latin typeface="Times New Roman" panose="02020603050405020304" pitchFamily="18" charset="0"/>
              <a:cs typeface="Times New Roman" panose="02020603050405020304" pitchFamily="18" charset="0"/>
            </a:endParaRPr>
          </a:p>
          <a:p>
            <a:pPr marL="0" indent="0" fontAlgn="base">
              <a:buNone/>
            </a:pPr>
            <a:r>
              <a:rPr lang="en-US" sz="1600" dirty="0">
                <a:latin typeface="Times New Roman" panose="02020603050405020304" pitchFamily="18" charset="0"/>
                <a:cs typeface="Times New Roman" panose="02020603050405020304" pitchFamily="18" charset="0"/>
              </a:rPr>
              <a:t>Convexity  Phase Method In Biological Domain: </a:t>
            </a:r>
            <a:r>
              <a:rPr lang="en-US" altLang="en-US" sz="1600" dirty="0">
                <a:latin typeface="Times New Roman" panose="02020603050405020304" pitchFamily="18" charset="0"/>
                <a:cs typeface="Times New Roman" panose="02020603050405020304" pitchFamily="18" charset="0"/>
              </a:rPr>
              <a:t>Huynh-Thu, V. A., </a:t>
            </a:r>
            <a:r>
              <a:rPr lang="en-US" altLang="en-US" sz="1600" dirty="0" err="1">
                <a:latin typeface="Times New Roman" panose="02020603050405020304" pitchFamily="18" charset="0"/>
                <a:cs typeface="Times New Roman" panose="02020603050405020304" pitchFamily="18" charset="0"/>
              </a:rPr>
              <a:t>Irrthum</a:t>
            </a:r>
            <a:r>
              <a:rPr lang="en-US" altLang="en-US" sz="1600" dirty="0">
                <a:latin typeface="Times New Roman" panose="02020603050405020304" pitchFamily="18" charset="0"/>
                <a:cs typeface="Times New Roman" panose="02020603050405020304" pitchFamily="18" charset="0"/>
              </a:rPr>
              <a:t>, A., </a:t>
            </a:r>
            <a:r>
              <a:rPr lang="en-US" altLang="en-US" sz="1600" dirty="0" err="1">
                <a:latin typeface="Times New Roman" panose="02020603050405020304" pitchFamily="18" charset="0"/>
                <a:cs typeface="Times New Roman" panose="02020603050405020304" pitchFamily="18" charset="0"/>
              </a:rPr>
              <a:t>Wehenkel</a:t>
            </a:r>
            <a:r>
              <a:rPr lang="en-US" altLang="en-US" sz="1600" dirty="0">
                <a:latin typeface="Times New Roman" panose="02020603050405020304" pitchFamily="18" charset="0"/>
                <a:cs typeface="Times New Roman" panose="02020603050405020304" pitchFamily="18" charset="0"/>
              </a:rPr>
              <a:t>, L., &amp; Geurts, P. (2010). </a:t>
            </a:r>
            <a:r>
              <a:rPr lang="en-US" altLang="en-US" sz="1600" b="1" i="1" dirty="0">
                <a:latin typeface="Times New Roman" panose="02020603050405020304" pitchFamily="18" charset="0"/>
                <a:cs typeface="Times New Roman" panose="02020603050405020304" pitchFamily="18" charset="0"/>
              </a:rPr>
              <a:t>Inferring regulatory networks from expression data using tree-based methods</a:t>
            </a:r>
            <a:r>
              <a:rPr lang="en-US" altLang="en-US" sz="1600" i="1"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PLoS</a:t>
            </a:r>
            <a:r>
              <a:rPr lang="en-US" altLang="en-US" sz="1600" dirty="0">
                <a:latin typeface="Times New Roman" panose="02020603050405020304" pitchFamily="18" charset="0"/>
                <a:cs typeface="Times New Roman" panose="02020603050405020304" pitchFamily="18" charset="0"/>
              </a:rPr>
              <a:t> ONE, 5(9): e12776.</a:t>
            </a:r>
          </a:p>
          <a:p>
            <a:pPr marL="0" indent="0" fontAlgn="base">
              <a:buNone/>
            </a:pPr>
            <a:endParaRPr lang="en-US" altLang="en-US" sz="1600" dirty="0">
              <a:latin typeface="Times New Roman" panose="02020603050405020304" pitchFamily="18" charset="0"/>
              <a:cs typeface="Times New Roman" panose="02020603050405020304" pitchFamily="18" charset="0"/>
            </a:endParaRPr>
          </a:p>
          <a:p>
            <a:pPr marL="0" indent="0" fontAlgn="base">
              <a:buNone/>
            </a:pPr>
            <a:r>
              <a:rPr lang="en-US" sz="1600" dirty="0">
                <a:latin typeface="Times New Roman" panose="02020603050405020304" pitchFamily="18" charset="0"/>
                <a:cs typeface="Times New Roman" panose="02020603050405020304" pitchFamily="18" charset="0"/>
              </a:rPr>
              <a:t>Nonconvexity Phase Method In Biological Domain: </a:t>
            </a:r>
            <a:r>
              <a:rPr lang="en-CA" sz="1600" dirty="0">
                <a:latin typeface="Times New Roman" panose="02020603050405020304" pitchFamily="18" charset="0"/>
                <a:cs typeface="Times New Roman" panose="02020603050405020304" pitchFamily="18" charset="0"/>
              </a:rPr>
              <a:t>Ahlmann-</a:t>
            </a:r>
            <a:r>
              <a:rPr lang="en-CA" sz="1600" dirty="0" err="1">
                <a:latin typeface="Times New Roman" panose="02020603050405020304" pitchFamily="18" charset="0"/>
                <a:cs typeface="Times New Roman" panose="02020603050405020304" pitchFamily="18" charset="0"/>
              </a:rPr>
              <a:t>Eltze</a:t>
            </a:r>
            <a:r>
              <a:rPr lang="en-CA" sz="1600" dirty="0">
                <a:latin typeface="Times New Roman" panose="02020603050405020304" pitchFamily="18" charset="0"/>
                <a:cs typeface="Times New Roman" panose="02020603050405020304" pitchFamily="18" charset="0"/>
              </a:rPr>
              <a:t>, C., Huber, W. &amp; Anders, S. </a:t>
            </a:r>
            <a:r>
              <a:rPr lang="en-CA" sz="1600" b="1" dirty="0">
                <a:latin typeface="Times New Roman" panose="02020603050405020304" pitchFamily="18" charset="0"/>
                <a:cs typeface="Times New Roman" panose="02020603050405020304" pitchFamily="18" charset="0"/>
              </a:rPr>
              <a:t>Deep-learning-based gene perturbation effect prediction does not yet outperform simple linear baselines</a:t>
            </a:r>
            <a:r>
              <a:rPr lang="en-CA" sz="1600" dirty="0">
                <a:latin typeface="Times New Roman" panose="02020603050405020304" pitchFamily="18" charset="0"/>
                <a:cs typeface="Times New Roman" panose="02020603050405020304" pitchFamily="18" charset="0"/>
              </a:rPr>
              <a:t>. </a:t>
            </a:r>
            <a:r>
              <a:rPr lang="en-CA" sz="1600" i="1" dirty="0">
                <a:latin typeface="Times New Roman" panose="02020603050405020304" pitchFamily="18" charset="0"/>
                <a:cs typeface="Times New Roman" panose="02020603050405020304" pitchFamily="18" charset="0"/>
              </a:rPr>
              <a:t>Nat Methods</a:t>
            </a:r>
            <a:r>
              <a:rPr lang="en-CA" sz="1600" dirty="0">
                <a:latin typeface="Times New Roman" panose="02020603050405020304" pitchFamily="18" charset="0"/>
                <a:cs typeface="Times New Roman" panose="02020603050405020304" pitchFamily="18" charset="0"/>
              </a:rPr>
              <a:t> </a:t>
            </a:r>
            <a:r>
              <a:rPr lang="en-CA" sz="1600" b="1" dirty="0">
                <a:latin typeface="Times New Roman" panose="02020603050405020304" pitchFamily="18" charset="0"/>
                <a:cs typeface="Times New Roman" panose="02020603050405020304" pitchFamily="18" charset="0"/>
              </a:rPr>
              <a:t>22</a:t>
            </a:r>
            <a:endParaRPr lang="en-US" altLang="en-US" sz="1600" dirty="0">
              <a:latin typeface="Times New Roman" panose="02020603050405020304" pitchFamily="18" charset="0"/>
              <a:cs typeface="Times New Roman" panose="02020603050405020304" pitchFamily="18" charset="0"/>
            </a:endParaRPr>
          </a:p>
          <a:p>
            <a:pPr marL="0" indent="0" fontAlgn="base">
              <a:buNone/>
            </a:pPr>
            <a:endParaRPr lang="en-US" sz="1600" dirty="0">
              <a:latin typeface="Times New Roman" panose="02020603050405020304" pitchFamily="18" charset="0"/>
              <a:cs typeface="Times New Roman" panose="02020603050405020304" pitchFamily="18" charset="0"/>
            </a:endParaRPr>
          </a:p>
          <a:p>
            <a:endParaRPr lang="en-CA" sz="1600" dirty="0"/>
          </a:p>
        </p:txBody>
      </p:sp>
    </p:spTree>
    <p:extLst>
      <p:ext uri="{BB962C8B-B14F-4D97-AF65-F5344CB8AC3E}">
        <p14:creationId xmlns:p14="http://schemas.microsoft.com/office/powerpoint/2010/main" val="1500399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F1000D-1C8E-2F1B-B07B-51EF429F518A}"/>
              </a:ext>
            </a:extLst>
          </p:cNvPr>
          <p:cNvSpPr>
            <a:spLocks noGrp="1"/>
          </p:cNvSpPr>
          <p:nvPr>
            <p:ph type="title"/>
          </p:nvPr>
        </p:nvSpPr>
        <p:spPr>
          <a:xfrm>
            <a:off x="1043631" y="809898"/>
            <a:ext cx="10173010" cy="1554480"/>
          </a:xfrm>
        </p:spPr>
        <p:txBody>
          <a:bodyPr anchor="ctr">
            <a:normAutofit/>
          </a:bodyPr>
          <a:lstStyle/>
          <a:p>
            <a:r>
              <a:rPr lang="en-CA" sz="4800" b="1">
                <a:latin typeface="Times New Roman" panose="02020603050405020304" pitchFamily="18" charset="0"/>
                <a:cs typeface="Times New Roman" panose="02020603050405020304" pitchFamily="18" charset="0"/>
              </a:rPr>
              <a:t>Expected Impact</a:t>
            </a:r>
            <a:br>
              <a:rPr lang="en-CA" sz="4800" b="1">
                <a:latin typeface="Times New Roman" panose="02020603050405020304" pitchFamily="18" charset="0"/>
                <a:cs typeface="Times New Roman" panose="02020603050405020304" pitchFamily="18" charset="0"/>
              </a:rPr>
            </a:br>
            <a:endParaRPr lang="en-CA" sz="4800">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B034FA6-CFEC-6BBB-BE60-D6D98D39226F}"/>
              </a:ext>
            </a:extLst>
          </p:cNvPr>
          <p:cNvGraphicFramePr>
            <a:graphicFrameLocks noGrp="1"/>
          </p:cNvGraphicFramePr>
          <p:nvPr>
            <p:ph idx="1"/>
            <p:extLst>
              <p:ext uri="{D42A27DB-BD31-4B8C-83A1-F6EECF244321}">
                <p14:modId xmlns:p14="http://schemas.microsoft.com/office/powerpoint/2010/main" val="2525633962"/>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2439710"/>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253</TotalTime>
  <Words>1239</Words>
  <Application>Microsoft Office PowerPoint</Application>
  <PresentationFormat>Widescreen</PresentationFormat>
  <Paragraphs>90</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-apple-system</vt:lpstr>
      <vt:lpstr>Aptos</vt:lpstr>
      <vt:lpstr>Arial</vt:lpstr>
      <vt:lpstr>Calibri</vt:lpstr>
      <vt:lpstr>Calibri Light</vt:lpstr>
      <vt:lpstr>Times New Roman</vt:lpstr>
      <vt:lpstr>Office 2013 - 2022 Theme</vt:lpstr>
      <vt:lpstr>Single-Cell Perturbation  Analysis Using Machine Learning</vt:lpstr>
      <vt:lpstr>Background</vt:lpstr>
      <vt:lpstr>Gaps in the Research</vt:lpstr>
      <vt:lpstr>Datasets</vt:lpstr>
      <vt:lpstr>Example</vt:lpstr>
      <vt:lpstr>Using Initialization Strategies to Address Nonlinearity in Developmental Biology </vt:lpstr>
      <vt:lpstr>Proposed Idea 1: Escaping Local Optima in the Waddington Landscape: A Multi-Stage TRPO-PPO Approach for Single-Cell Perturbation Analysis </vt:lpstr>
      <vt:lpstr>Proposed Idea 2: Convex-Initialized Regression for Nonlinear Gene-Regulatory Modeling </vt:lpstr>
      <vt:lpstr>Proposed Idea 3: Decision Tree-Guided Neural Initialization for Stable Modeling of Gene-Regulatory Networks to improve model generalization performance</vt:lpstr>
      <vt:lpstr>Expected Impact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 Boabang</dc:creator>
  <cp:lastModifiedBy>Francis Boabang</cp:lastModifiedBy>
  <cp:revision>14</cp:revision>
  <dcterms:created xsi:type="dcterms:W3CDTF">2025-11-12T22:28:05Z</dcterms:created>
  <dcterms:modified xsi:type="dcterms:W3CDTF">2025-11-14T15:39:34Z</dcterms:modified>
</cp:coreProperties>
</file>