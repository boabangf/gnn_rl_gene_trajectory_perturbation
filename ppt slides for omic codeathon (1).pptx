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2"/>
    <p:sldId id="261" r:id="rId3"/>
    <p:sldId id="258" r:id="rId4"/>
    <p:sldId id="257" r:id="rId5"/>
    <p:sldId id="267" r:id="rId6"/>
    <p:sldId id="263" r:id="rId7"/>
    <p:sldId id="268" r:id="rId8"/>
    <p:sldId id="269" r:id="rId9"/>
    <p:sldId id="270" r:id="rId10"/>
    <p:sldId id="271" r:id="rId11"/>
    <p:sldId id="274" r:id="rId12"/>
    <p:sldId id="273" r:id="rId13"/>
    <p:sldId id="276" r:id="rId14"/>
    <p:sldId id="278" r:id="rId15"/>
    <p:sldId id="275" r:id="rId16"/>
    <p:sldId id="277" r:id="rId17"/>
    <p:sldId id="259"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_rels/data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2025-11-22</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2025-11-22</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2025-11-22</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2025-11-22</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2025-11-22</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993648" y="945896"/>
            <a:ext cx="9942576" cy="2387600"/>
          </a:xfrm>
        </p:spPr>
        <p:txBody>
          <a:bodyPr>
            <a:normAutofit/>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endParaRPr lang="en-CA" sz="4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0849" y="4224528"/>
            <a:ext cx="3032760" cy="24871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7728" y="4412390"/>
            <a:ext cx="3032760" cy="2299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latin typeface="Times New Roman" panose="02020603050405020304" pitchFamily="18" charset="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517219" y="404801"/>
            <a:ext cx="10402824" cy="825478"/>
          </a:xfrm>
        </p:spPr>
        <p:txBody>
          <a:bodyPr>
            <a:normAutofit/>
          </a:bodyPr>
          <a:lstStyle/>
          <a:p>
            <a:r>
              <a:rPr lang="en-US" sz="2400" dirty="0"/>
              <a:t>Simulated Hardware and Software for Gene Perturbation Analysis</a:t>
            </a:r>
            <a:endParaRPr lang="en-CA" sz="2400"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25987" y="4162045"/>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63850" y="161624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679959"/>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719328" y="127381"/>
            <a:ext cx="10515600" cy="1325563"/>
          </a:xfrm>
        </p:spPr>
        <p:txBody>
          <a:bodyPr>
            <a:normAutofit/>
          </a:bodyPr>
          <a:lstStyle/>
          <a:p>
            <a:r>
              <a:rPr lang="en-US" sz="3200" dirty="0"/>
              <a:t>RNA Dataset Description</a:t>
            </a:r>
            <a:endParaRPr lang="en-CA" sz="3200"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p:txBody>
          <a:bodyPr>
            <a:normAutofit/>
          </a:bodyPr>
          <a:lstStyle/>
          <a:p>
            <a:r>
              <a:rPr lang="en-US" sz="2400" dirty="0"/>
              <a:t>Code link</a:t>
            </a:r>
            <a:endParaRPr lang="en-CA" sz="2400"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89558" y="244742"/>
            <a:ext cx="9258530" cy="1235225"/>
          </a:xfrm>
        </p:spPr>
        <p:txBody>
          <a:bodyPr vert="horz" lIns="91440" tIns="45720" rIns="91440" bIns="45720" rtlCol="0" anchor="ctr">
            <a:normAutofit/>
          </a:bodyPr>
          <a:lstStyle/>
          <a:p>
            <a:r>
              <a:rPr lang="en-US" sz="2400" kern="1200" dirty="0">
                <a:solidFill>
                  <a:schemeClr val="tx1"/>
                </a:solidFill>
                <a:latin typeface="+mj-lt"/>
                <a:ea typeface="+mj-ea"/>
                <a:cs typeface="+mj-cs"/>
              </a:rPr>
              <a:t>Results(Control sample/Perturbed sample) Multistep prediction</a:t>
            </a:r>
          </a:p>
        </p:txBody>
      </p:sp>
      <p:graphicFrame>
        <p:nvGraphicFramePr>
          <p:cNvPr id="3" name="Table 2">
            <a:extLst>
              <a:ext uri="{FF2B5EF4-FFF2-40B4-BE49-F238E27FC236}">
                <a16:creationId xmlns:a16="http://schemas.microsoft.com/office/drawing/2014/main" id="{598E35EE-DDDE-6868-AB01-7D35B5011805}"/>
              </a:ext>
            </a:extLst>
          </p:cNvPr>
          <p:cNvGraphicFramePr>
            <a:graphicFrameLocks noGrp="1"/>
          </p:cNvGraphicFramePr>
          <p:nvPr>
            <p:extLst>
              <p:ext uri="{D42A27DB-BD31-4B8C-83A1-F6EECF244321}">
                <p14:modId xmlns:p14="http://schemas.microsoft.com/office/powerpoint/2010/main" val="3203429112"/>
              </p:ext>
            </p:extLst>
          </p:nvPr>
        </p:nvGraphicFramePr>
        <p:xfrm>
          <a:off x="589558" y="1214340"/>
          <a:ext cx="10357568" cy="3844620"/>
        </p:xfrm>
        <a:graphic>
          <a:graphicData uri="http://schemas.openxmlformats.org/drawingml/2006/table">
            <a:tbl>
              <a:tblPr firstRow="1" bandRow="1"/>
              <a:tblGrid>
                <a:gridCol w="1053395">
                  <a:extLst>
                    <a:ext uri="{9D8B030D-6E8A-4147-A177-3AD203B41FA5}">
                      <a16:colId xmlns:a16="http://schemas.microsoft.com/office/drawing/2014/main" val="1019583549"/>
                    </a:ext>
                  </a:extLst>
                </a:gridCol>
                <a:gridCol w="1344515">
                  <a:extLst>
                    <a:ext uri="{9D8B030D-6E8A-4147-A177-3AD203B41FA5}">
                      <a16:colId xmlns:a16="http://schemas.microsoft.com/office/drawing/2014/main" val="4042137640"/>
                    </a:ext>
                  </a:extLst>
                </a:gridCol>
                <a:gridCol w="1682508">
                  <a:extLst>
                    <a:ext uri="{9D8B030D-6E8A-4147-A177-3AD203B41FA5}">
                      <a16:colId xmlns:a16="http://schemas.microsoft.com/office/drawing/2014/main" val="934818834"/>
                    </a:ext>
                  </a:extLst>
                </a:gridCol>
                <a:gridCol w="1607028">
                  <a:extLst>
                    <a:ext uri="{9D8B030D-6E8A-4147-A177-3AD203B41FA5}">
                      <a16:colId xmlns:a16="http://schemas.microsoft.com/office/drawing/2014/main" val="4253248227"/>
                    </a:ext>
                  </a:extLst>
                </a:gridCol>
                <a:gridCol w="1607028">
                  <a:extLst>
                    <a:ext uri="{9D8B030D-6E8A-4147-A177-3AD203B41FA5}">
                      <a16:colId xmlns:a16="http://schemas.microsoft.com/office/drawing/2014/main" val="1617347277"/>
                    </a:ext>
                  </a:extLst>
                </a:gridCol>
                <a:gridCol w="1531547">
                  <a:extLst>
                    <a:ext uri="{9D8B030D-6E8A-4147-A177-3AD203B41FA5}">
                      <a16:colId xmlns:a16="http://schemas.microsoft.com/office/drawing/2014/main" val="494018100"/>
                    </a:ext>
                  </a:extLst>
                </a:gridCol>
                <a:gridCol w="1531547">
                  <a:extLst>
                    <a:ext uri="{9D8B030D-6E8A-4147-A177-3AD203B41FA5}">
                      <a16:colId xmlns:a16="http://schemas.microsoft.com/office/drawing/2014/main" val="2789593751"/>
                    </a:ext>
                  </a:extLst>
                </a:gridCol>
              </a:tblGrid>
              <a:tr h="268980">
                <a:tc>
                  <a:txBody>
                    <a:bodyPr/>
                    <a:lstStyle/>
                    <a:p>
                      <a:pPr>
                        <a:buNone/>
                      </a:pPr>
                      <a:r>
                        <a:rPr lang="en-CA" sz="1200" b="1"/>
                        <a:t>System</a:t>
                      </a:r>
                      <a:endParaRPr lang="en-CA" sz="1200"/>
                    </a:p>
                  </a:txBody>
                  <a:tcPr marL="60494" marR="60494" marT="30247" marB="30247" anchor="ctr">
                    <a:lnL>
                      <a:noFill/>
                    </a:lnL>
                    <a:lnR>
                      <a:noFill/>
                    </a:lnR>
                    <a:lnT>
                      <a:noFill/>
                    </a:lnT>
                    <a:lnB>
                      <a:noFill/>
                    </a:lnB>
                    <a:noFill/>
                  </a:tcPr>
                </a:tc>
                <a:tc>
                  <a:txBody>
                    <a:bodyPr/>
                    <a:lstStyle/>
                    <a:p>
                      <a:pPr>
                        <a:buNone/>
                      </a:pPr>
                      <a:r>
                        <a:rPr lang="en-CA" sz="1200" b="1" dirty="0"/>
                        <a:t>Algorithm</a:t>
                      </a:r>
                      <a:endParaRPr lang="en-CA" sz="1200" dirty="0"/>
                    </a:p>
                  </a:txBody>
                  <a:tcPr marL="60494" marR="60494" marT="30247" marB="30247" anchor="ctr">
                    <a:lnL>
                      <a:noFill/>
                    </a:lnL>
                    <a:lnR>
                      <a:noFill/>
                    </a:lnR>
                    <a:lnT>
                      <a:noFill/>
                    </a:lnT>
                    <a:lnB>
                      <a:noFill/>
                    </a:lnB>
                    <a:noFill/>
                  </a:tcPr>
                </a:tc>
                <a:tc>
                  <a:txBody>
                    <a:bodyPr/>
                    <a:lstStyle/>
                    <a:p>
                      <a:pPr>
                        <a:buNone/>
                      </a:pPr>
                      <a:r>
                        <a:rPr lang="en-CA" sz="1200" b="1"/>
                        <a:t>MSE</a:t>
                      </a:r>
                      <a:endParaRPr lang="en-CA" sz="1200"/>
                    </a:p>
                  </a:txBody>
                  <a:tcPr marL="60494" marR="60494" marT="30247" marB="30247" anchor="ctr">
                    <a:lnL>
                      <a:noFill/>
                    </a:lnL>
                    <a:lnR>
                      <a:noFill/>
                    </a:lnR>
                    <a:lnT>
                      <a:noFill/>
                    </a:lnT>
                    <a:lnB>
                      <a:noFill/>
                    </a:lnB>
                    <a:noFill/>
                  </a:tcPr>
                </a:tc>
                <a:tc>
                  <a:txBody>
                    <a:bodyPr/>
                    <a:lstStyle/>
                    <a:p>
                      <a:pPr>
                        <a:buNone/>
                      </a:pPr>
                      <a:r>
                        <a:rPr lang="en-CA" sz="1200" b="1"/>
                        <a:t>RMSE</a:t>
                      </a:r>
                      <a:endParaRPr lang="en-CA" sz="1200"/>
                    </a:p>
                  </a:txBody>
                  <a:tcPr marL="60494" marR="60494" marT="30247" marB="30247" anchor="ctr">
                    <a:lnL>
                      <a:noFill/>
                    </a:lnL>
                    <a:lnR>
                      <a:noFill/>
                    </a:lnR>
                    <a:lnT>
                      <a:noFill/>
                    </a:lnT>
                    <a:lnB>
                      <a:noFill/>
                    </a:lnB>
                    <a:noFill/>
                  </a:tcPr>
                </a:tc>
                <a:tc>
                  <a:txBody>
                    <a:bodyPr/>
                    <a:lstStyle/>
                    <a:p>
                      <a:pPr>
                        <a:buNone/>
                      </a:pPr>
                      <a:r>
                        <a:rPr lang="en-CA" sz="1200" b="1"/>
                        <a:t>MAE</a:t>
                      </a:r>
                      <a:endParaRPr lang="en-CA" sz="1200"/>
                    </a:p>
                  </a:txBody>
                  <a:tcPr marL="60494" marR="60494" marT="30247" marB="30247" anchor="ctr">
                    <a:lnL>
                      <a:noFill/>
                    </a:lnL>
                    <a:lnR>
                      <a:noFill/>
                    </a:lnR>
                    <a:lnT>
                      <a:noFill/>
                    </a:lnT>
                    <a:lnB>
                      <a:noFill/>
                    </a:lnB>
                    <a:noFill/>
                  </a:tcPr>
                </a:tc>
                <a:tc>
                  <a:txBody>
                    <a:bodyPr/>
                    <a:lstStyle/>
                    <a:p>
                      <a:pPr>
                        <a:buNone/>
                      </a:pPr>
                      <a:r>
                        <a:rPr lang="en-CA" sz="1200" b="1"/>
                        <a:t>R²</a:t>
                      </a:r>
                      <a:endParaRPr lang="en-CA" sz="1200"/>
                    </a:p>
                  </a:txBody>
                  <a:tcPr marL="60494" marR="60494" marT="30247" marB="30247" anchor="ctr">
                    <a:lnL>
                      <a:noFill/>
                    </a:lnL>
                    <a:lnR>
                      <a:noFill/>
                    </a:lnR>
                    <a:lnT>
                      <a:noFill/>
                    </a:lnT>
                    <a:lnB>
                      <a:noFill/>
                    </a:lnB>
                    <a:noFill/>
                  </a:tcPr>
                </a:tc>
                <a:tc>
                  <a:txBody>
                    <a:bodyPr/>
                    <a:lstStyle/>
                    <a:p>
                      <a:pPr>
                        <a:buNone/>
                      </a:pPr>
                      <a:r>
                        <a:rPr lang="en-CA" sz="1200" b="1"/>
                        <a:t>Pearson</a:t>
                      </a:r>
                      <a:endParaRPr lang="en-CA" sz="1200"/>
                    </a:p>
                  </a:txBody>
                  <a:tcPr marL="60494" marR="60494" marT="30247" marB="30247" anchor="ctr">
                    <a:lnL>
                      <a:noFill/>
                    </a:lnL>
                    <a:lnR>
                      <a:noFill/>
                    </a:lnR>
                    <a:lnT>
                      <a:noFill/>
                    </a:lnT>
                    <a:lnB>
                      <a:noFill/>
                    </a:lnB>
                    <a:noFill/>
                  </a:tcPr>
                </a:tc>
                <a:extLst>
                  <a:ext uri="{0D108BD9-81ED-4DB2-BD59-A6C34878D82A}">
                    <a16:rowId xmlns:a16="http://schemas.microsoft.com/office/drawing/2014/main" val="1278196632"/>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0.07621537540750258</a:t>
                      </a:r>
                    </a:p>
                  </a:txBody>
                  <a:tcPr marL="60494" marR="60494" marT="30247" marB="30247" anchor="ctr">
                    <a:lnL>
                      <a:noFill/>
                    </a:lnL>
                    <a:lnR>
                      <a:noFill/>
                    </a:lnR>
                    <a:lnT>
                      <a:noFill/>
                    </a:lnT>
                    <a:lnB>
                      <a:noFill/>
                    </a:lnB>
                    <a:noFill/>
                  </a:tcPr>
                </a:tc>
                <a:tc>
                  <a:txBody>
                    <a:bodyPr/>
                    <a:lstStyle/>
                    <a:p>
                      <a:pPr>
                        <a:buNone/>
                      </a:pPr>
                      <a:r>
                        <a:rPr lang="en-CA" sz="1200"/>
                        <a:t>0.26510132526414987</a:t>
                      </a:r>
                    </a:p>
                  </a:txBody>
                  <a:tcPr marL="60494" marR="60494" marT="30247" marB="30247" anchor="ctr">
                    <a:lnL>
                      <a:noFill/>
                    </a:lnL>
                    <a:lnR>
                      <a:noFill/>
                    </a:lnR>
                    <a:lnT>
                      <a:noFill/>
                    </a:lnT>
                    <a:lnB>
                      <a:noFill/>
                    </a:lnB>
                    <a:noFill/>
                  </a:tcPr>
                </a:tc>
                <a:tc>
                  <a:txBody>
                    <a:bodyPr/>
                    <a:lstStyle/>
                    <a:p>
                      <a:pPr>
                        <a:buNone/>
                      </a:pPr>
                      <a:r>
                        <a:rPr lang="en-CA" sz="1200"/>
                        <a:t>0.23189670823771377</a:t>
                      </a:r>
                    </a:p>
                  </a:txBody>
                  <a:tcPr marL="60494" marR="60494" marT="30247" marB="30247" anchor="ctr">
                    <a:lnL>
                      <a:noFill/>
                    </a:lnL>
                    <a:lnR>
                      <a:noFill/>
                    </a:lnR>
                    <a:lnT>
                      <a:noFill/>
                    </a:lnT>
                    <a:lnB>
                      <a:noFill/>
                    </a:lnB>
                    <a:noFill/>
                  </a:tcPr>
                </a:tc>
                <a:tc>
                  <a:txBody>
                    <a:bodyPr/>
                    <a:lstStyle/>
                    <a:p>
                      <a:pPr>
                        <a:buNone/>
                      </a:pPr>
                      <a:r>
                        <a:rPr lang="en-CA" sz="1200"/>
                        <a:t>0.9183019091343058</a:t>
                      </a:r>
                    </a:p>
                  </a:txBody>
                  <a:tcPr marL="60494" marR="60494" marT="30247" marB="30247" anchor="ctr">
                    <a:lnL>
                      <a:noFill/>
                    </a:lnL>
                    <a:lnR>
                      <a:noFill/>
                    </a:lnR>
                    <a:lnT>
                      <a:noFill/>
                    </a:lnT>
                    <a:lnB>
                      <a:noFill/>
                    </a:lnB>
                    <a:noFill/>
                  </a:tcPr>
                </a:tc>
                <a:tc>
                  <a:txBody>
                    <a:bodyPr/>
                    <a:lstStyle/>
                    <a:p>
                      <a:pPr>
                        <a:buNone/>
                      </a:pPr>
                      <a:r>
                        <a:rPr lang="en-CA" sz="1200"/>
                        <a:t>0.9869762223628038</a:t>
                      </a:r>
                    </a:p>
                  </a:txBody>
                  <a:tcPr marL="60494" marR="60494" marT="30247" marB="30247" anchor="ctr">
                    <a:lnL>
                      <a:noFill/>
                    </a:lnL>
                    <a:lnR>
                      <a:noFill/>
                    </a:lnR>
                    <a:lnT>
                      <a:noFill/>
                    </a:lnT>
                    <a:lnB>
                      <a:noFill/>
                    </a:lnB>
                    <a:noFill/>
                  </a:tcPr>
                </a:tc>
                <a:extLst>
                  <a:ext uri="{0D108BD9-81ED-4DB2-BD59-A6C34878D82A}">
                    <a16:rowId xmlns:a16="http://schemas.microsoft.com/office/drawing/2014/main" val="2377649538"/>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(Train)</a:t>
                      </a:r>
                    </a:p>
                  </a:txBody>
                  <a:tcPr marL="60494" marR="60494" marT="30247" marB="30247" anchor="ctr">
                    <a:lnL>
                      <a:noFill/>
                    </a:lnL>
                    <a:lnR>
                      <a:noFill/>
                    </a:lnR>
                    <a:lnT>
                      <a:noFill/>
                    </a:lnT>
                    <a:lnB>
                      <a:noFill/>
                    </a:lnB>
                    <a:noFill/>
                  </a:tcPr>
                </a:tc>
                <a:tc>
                  <a:txBody>
                    <a:bodyPr/>
                    <a:lstStyle/>
                    <a:p>
                      <a:pPr>
                        <a:buNone/>
                      </a:pPr>
                      <a:r>
                        <a:rPr lang="en-CA" sz="1200"/>
                        <a:t>0.07655992747509274</a:t>
                      </a:r>
                    </a:p>
                  </a:txBody>
                  <a:tcPr marL="60494" marR="60494" marT="30247" marB="30247" anchor="ctr">
                    <a:lnL>
                      <a:noFill/>
                    </a:lnL>
                    <a:lnR>
                      <a:noFill/>
                    </a:lnR>
                    <a:lnT>
                      <a:noFill/>
                    </a:lnT>
                    <a:lnB>
                      <a:noFill/>
                    </a:lnB>
                    <a:noFill/>
                  </a:tcPr>
                </a:tc>
                <a:tc>
                  <a:txBody>
                    <a:bodyPr/>
                    <a:lstStyle/>
                    <a:p>
                      <a:pPr>
                        <a:buNone/>
                      </a:pPr>
                      <a:r>
                        <a:rPr lang="en-CA" sz="1200"/>
                        <a:t>0.26560311284950155</a:t>
                      </a:r>
                    </a:p>
                  </a:txBody>
                  <a:tcPr marL="60494" marR="60494" marT="30247" marB="30247" anchor="ctr">
                    <a:lnL>
                      <a:noFill/>
                    </a:lnL>
                    <a:lnR>
                      <a:noFill/>
                    </a:lnR>
                    <a:lnT>
                      <a:noFill/>
                    </a:lnT>
                    <a:lnB>
                      <a:noFill/>
                    </a:lnB>
                    <a:noFill/>
                  </a:tcPr>
                </a:tc>
                <a:tc>
                  <a:txBody>
                    <a:bodyPr/>
                    <a:lstStyle/>
                    <a:p>
                      <a:pPr>
                        <a:buNone/>
                      </a:pPr>
                      <a:r>
                        <a:rPr lang="en-CA" sz="1200"/>
                        <a:t>0.23263436491633283</a:t>
                      </a:r>
                    </a:p>
                  </a:txBody>
                  <a:tcPr marL="60494" marR="60494" marT="30247" marB="30247" anchor="ctr">
                    <a:lnL>
                      <a:noFill/>
                    </a:lnL>
                    <a:lnR>
                      <a:noFill/>
                    </a:lnR>
                    <a:lnT>
                      <a:noFill/>
                    </a:lnT>
                    <a:lnB>
                      <a:noFill/>
                    </a:lnB>
                    <a:noFill/>
                  </a:tcPr>
                </a:tc>
                <a:tc>
                  <a:txBody>
                    <a:bodyPr/>
                    <a:lstStyle/>
                    <a:p>
                      <a:pPr>
                        <a:buNone/>
                      </a:pPr>
                      <a:r>
                        <a:rPr lang="en-CA" sz="1200"/>
                        <a:t>0.9141653508975588</a:t>
                      </a:r>
                    </a:p>
                  </a:txBody>
                  <a:tcPr marL="60494" marR="60494" marT="30247" marB="30247" anchor="ctr">
                    <a:lnL>
                      <a:noFill/>
                    </a:lnL>
                    <a:lnR>
                      <a:noFill/>
                    </a:lnR>
                    <a:lnT>
                      <a:noFill/>
                    </a:lnT>
                    <a:lnB>
                      <a:noFill/>
                    </a:lnB>
                    <a:noFill/>
                  </a:tcPr>
                </a:tc>
                <a:tc>
                  <a:txBody>
                    <a:bodyPr/>
                    <a:lstStyle/>
                    <a:p>
                      <a:pPr>
                        <a:buNone/>
                      </a:pPr>
                      <a:r>
                        <a:rPr lang="en-CA" sz="1200"/>
                        <a:t>0.9863204138203998</a:t>
                      </a:r>
                    </a:p>
                  </a:txBody>
                  <a:tcPr marL="60494" marR="60494" marT="30247" marB="30247" anchor="ctr">
                    <a:lnL>
                      <a:noFill/>
                    </a:lnL>
                    <a:lnR>
                      <a:noFill/>
                    </a:lnR>
                    <a:lnT>
                      <a:noFill/>
                    </a:lnT>
                    <a:lnB>
                      <a:noFill/>
                    </a:lnB>
                    <a:noFill/>
                  </a:tcPr>
                </a:tc>
                <a:extLst>
                  <a:ext uri="{0D108BD9-81ED-4DB2-BD59-A6C34878D82A}">
                    <a16:rowId xmlns:a16="http://schemas.microsoft.com/office/drawing/2014/main" val="78110407"/>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0.006545579980191742</a:t>
                      </a:r>
                    </a:p>
                  </a:txBody>
                  <a:tcPr marL="60494" marR="60494" marT="30247" marB="30247" anchor="ctr">
                    <a:lnL>
                      <a:noFill/>
                    </a:lnL>
                    <a:lnR>
                      <a:noFill/>
                    </a:lnR>
                    <a:lnT>
                      <a:noFill/>
                    </a:lnT>
                    <a:lnB>
                      <a:noFill/>
                    </a:lnB>
                    <a:noFill/>
                  </a:tcPr>
                </a:tc>
                <a:tc>
                  <a:txBody>
                    <a:bodyPr/>
                    <a:lstStyle/>
                    <a:p>
                      <a:pPr>
                        <a:buNone/>
                      </a:pPr>
                      <a:r>
                        <a:rPr lang="en-CA" sz="1200" dirty="0"/>
                        <a:t>0.07270223816688927</a:t>
                      </a:r>
                    </a:p>
                  </a:txBody>
                  <a:tcPr marL="60494" marR="60494" marT="30247" marB="30247" anchor="ctr">
                    <a:lnL>
                      <a:noFill/>
                    </a:lnL>
                    <a:lnR>
                      <a:noFill/>
                    </a:lnR>
                    <a:lnT>
                      <a:noFill/>
                    </a:lnT>
                    <a:lnB>
                      <a:noFill/>
                    </a:lnB>
                    <a:noFill/>
                  </a:tcPr>
                </a:tc>
                <a:tc>
                  <a:txBody>
                    <a:bodyPr/>
                    <a:lstStyle/>
                    <a:p>
                      <a:pPr>
                        <a:buNone/>
                      </a:pPr>
                      <a:r>
                        <a:rPr lang="en-CA" sz="1200"/>
                        <a:t>0.05528135021249282</a:t>
                      </a:r>
                    </a:p>
                  </a:txBody>
                  <a:tcPr marL="60494" marR="60494" marT="30247" marB="30247" anchor="ctr">
                    <a:lnL>
                      <a:noFill/>
                    </a:lnL>
                    <a:lnR>
                      <a:noFill/>
                    </a:lnR>
                    <a:lnT>
                      <a:noFill/>
                    </a:lnT>
                    <a:lnB>
                      <a:noFill/>
                    </a:lnB>
                    <a:noFill/>
                  </a:tcPr>
                </a:tc>
                <a:tc>
                  <a:txBody>
                    <a:bodyPr/>
                    <a:lstStyle/>
                    <a:p>
                      <a:pPr>
                        <a:buNone/>
                      </a:pPr>
                      <a:r>
                        <a:rPr lang="en-CA" sz="1200"/>
                        <a:t>0.9932162093705145</a:t>
                      </a:r>
                    </a:p>
                  </a:txBody>
                  <a:tcPr marL="60494" marR="60494" marT="30247" marB="30247" anchor="ctr">
                    <a:lnL>
                      <a:noFill/>
                    </a:lnL>
                    <a:lnR>
                      <a:noFill/>
                    </a:lnR>
                    <a:lnT>
                      <a:noFill/>
                    </a:lnT>
                    <a:lnB>
                      <a:noFill/>
                    </a:lnB>
                    <a:noFill/>
                  </a:tcPr>
                </a:tc>
                <a:tc>
                  <a:txBody>
                    <a:bodyPr/>
                    <a:lstStyle/>
                    <a:p>
                      <a:pPr>
                        <a:buNone/>
                      </a:pPr>
                      <a:r>
                        <a:rPr lang="en-CA" sz="1200"/>
                        <a:t>0.9973747535338707</a:t>
                      </a:r>
                    </a:p>
                  </a:txBody>
                  <a:tcPr marL="60494" marR="60494" marT="30247" marB="30247" anchor="ctr">
                    <a:lnL>
                      <a:noFill/>
                    </a:lnL>
                    <a:lnR>
                      <a:noFill/>
                    </a:lnR>
                    <a:lnT>
                      <a:noFill/>
                    </a:lnT>
                    <a:lnB>
                      <a:noFill/>
                    </a:lnB>
                    <a:noFill/>
                  </a:tcPr>
                </a:tc>
                <a:extLst>
                  <a:ext uri="{0D108BD9-81ED-4DB2-BD59-A6C34878D82A}">
                    <a16:rowId xmlns:a16="http://schemas.microsoft.com/office/drawing/2014/main" val="2880987976"/>
                  </a:ext>
                </a:extLst>
              </a:tr>
              <a:tr h="446955">
                <a:tc>
                  <a:txBody>
                    <a:bodyPr/>
                    <a:lstStyle/>
                    <a:p>
                      <a:pPr>
                        <a:buNone/>
                      </a:pPr>
                      <a:r>
                        <a:rPr lang="en-CA" sz="1200" dirty="0"/>
                        <a:t>CTRL</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0.005986573956886724</a:t>
                      </a:r>
                    </a:p>
                  </a:txBody>
                  <a:tcPr marL="60494" marR="60494" marT="30247" marB="30247" anchor="ctr">
                    <a:lnL>
                      <a:noFill/>
                    </a:lnL>
                    <a:lnR>
                      <a:noFill/>
                    </a:lnR>
                    <a:lnT>
                      <a:noFill/>
                    </a:lnT>
                    <a:lnB>
                      <a:noFill/>
                    </a:lnB>
                    <a:noFill/>
                  </a:tcPr>
                </a:tc>
                <a:tc>
                  <a:txBody>
                    <a:bodyPr/>
                    <a:lstStyle/>
                    <a:p>
                      <a:pPr>
                        <a:buNone/>
                      </a:pPr>
                      <a:r>
                        <a:rPr lang="en-CA" sz="1200"/>
                        <a:t>0.06986042604142284</a:t>
                      </a:r>
                    </a:p>
                  </a:txBody>
                  <a:tcPr marL="60494" marR="60494" marT="30247" marB="30247" anchor="ctr">
                    <a:lnL>
                      <a:noFill/>
                    </a:lnL>
                    <a:lnR>
                      <a:noFill/>
                    </a:lnR>
                    <a:lnT>
                      <a:noFill/>
                    </a:lnT>
                    <a:lnB>
                      <a:noFill/>
                    </a:lnB>
                    <a:noFill/>
                  </a:tcPr>
                </a:tc>
                <a:tc>
                  <a:txBody>
                    <a:bodyPr/>
                    <a:lstStyle/>
                    <a:p>
                      <a:pPr>
                        <a:buNone/>
                      </a:pPr>
                      <a:r>
                        <a:rPr lang="en-CA" sz="1200"/>
                        <a:t>0.05376226621968993</a:t>
                      </a:r>
                    </a:p>
                  </a:txBody>
                  <a:tcPr marL="60494" marR="60494" marT="30247" marB="30247" anchor="ctr">
                    <a:lnL>
                      <a:noFill/>
                    </a:lnL>
                    <a:lnR>
                      <a:noFill/>
                    </a:lnR>
                    <a:lnT>
                      <a:noFill/>
                    </a:lnT>
                    <a:lnB>
                      <a:noFill/>
                    </a:lnB>
                    <a:noFill/>
                  </a:tcPr>
                </a:tc>
                <a:tc>
                  <a:txBody>
                    <a:bodyPr/>
                    <a:lstStyle/>
                    <a:p>
                      <a:pPr>
                        <a:buNone/>
                      </a:pPr>
                      <a:r>
                        <a:rPr lang="en-CA" sz="1200"/>
                        <a:t>0.9933130782226036</a:t>
                      </a:r>
                    </a:p>
                  </a:txBody>
                  <a:tcPr marL="60494" marR="60494" marT="30247" marB="30247" anchor="ctr">
                    <a:lnL>
                      <a:noFill/>
                    </a:lnL>
                    <a:lnR>
                      <a:noFill/>
                    </a:lnR>
                    <a:lnT>
                      <a:noFill/>
                    </a:lnT>
                    <a:lnB>
                      <a:noFill/>
                    </a:lnB>
                    <a:noFill/>
                  </a:tcPr>
                </a:tc>
                <a:tc>
                  <a:txBody>
                    <a:bodyPr/>
                    <a:lstStyle/>
                    <a:p>
                      <a:pPr>
                        <a:buNone/>
                      </a:pPr>
                      <a:r>
                        <a:rPr lang="en-CA" sz="1200"/>
                        <a:t>0.9973907777414155</a:t>
                      </a:r>
                    </a:p>
                  </a:txBody>
                  <a:tcPr marL="60494" marR="60494" marT="30247" marB="30247" anchor="ctr">
                    <a:lnL>
                      <a:noFill/>
                    </a:lnL>
                    <a:lnR>
                      <a:noFill/>
                    </a:lnR>
                    <a:lnT>
                      <a:noFill/>
                    </a:lnT>
                    <a:lnB>
                      <a:noFill/>
                    </a:lnB>
                    <a:noFill/>
                  </a:tcPr>
                </a:tc>
                <a:extLst>
                  <a:ext uri="{0D108BD9-81ED-4DB2-BD59-A6C34878D82A}">
                    <a16:rowId xmlns:a16="http://schemas.microsoft.com/office/drawing/2014/main" val="1509458932"/>
                  </a:ext>
                </a:extLst>
              </a:tr>
              <a:tr h="446955">
                <a:tc>
                  <a:txBody>
                    <a:bodyPr/>
                    <a:lstStyle/>
                    <a:p>
                      <a:pPr>
                        <a:buNone/>
                      </a:pPr>
                      <a:r>
                        <a:rPr lang="en-CA" sz="1200" dirty="0"/>
                        <a:t>PTPN2</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0.08415601347926362</a:t>
                      </a:r>
                    </a:p>
                  </a:txBody>
                  <a:tcPr marL="60494" marR="60494" marT="30247" marB="30247" anchor="ctr">
                    <a:lnL>
                      <a:noFill/>
                    </a:lnL>
                    <a:lnR>
                      <a:noFill/>
                    </a:lnR>
                    <a:lnT>
                      <a:noFill/>
                    </a:lnT>
                    <a:lnB>
                      <a:noFill/>
                    </a:lnB>
                    <a:noFill/>
                  </a:tcPr>
                </a:tc>
                <a:tc>
                  <a:txBody>
                    <a:bodyPr/>
                    <a:lstStyle/>
                    <a:p>
                      <a:pPr>
                        <a:buNone/>
                      </a:pPr>
                      <a:r>
                        <a:rPr lang="en-CA" sz="1200"/>
                        <a:t>0.27599469458382264</a:t>
                      </a:r>
                    </a:p>
                  </a:txBody>
                  <a:tcPr marL="60494" marR="60494" marT="30247" marB="30247" anchor="ctr">
                    <a:lnL>
                      <a:noFill/>
                    </a:lnL>
                    <a:lnR>
                      <a:noFill/>
                    </a:lnR>
                    <a:lnT>
                      <a:noFill/>
                    </a:lnT>
                    <a:lnB>
                      <a:noFill/>
                    </a:lnB>
                    <a:noFill/>
                  </a:tcPr>
                </a:tc>
                <a:tc>
                  <a:txBody>
                    <a:bodyPr/>
                    <a:lstStyle/>
                    <a:p>
                      <a:pPr>
                        <a:buNone/>
                      </a:pPr>
                      <a:r>
                        <a:rPr lang="en-CA" sz="1200"/>
                        <a:t>0.16415781746136732</a:t>
                      </a:r>
                    </a:p>
                  </a:txBody>
                  <a:tcPr marL="60494" marR="60494" marT="30247" marB="30247" anchor="ctr">
                    <a:lnL>
                      <a:noFill/>
                    </a:lnL>
                    <a:lnR>
                      <a:noFill/>
                    </a:lnR>
                    <a:lnT>
                      <a:noFill/>
                    </a:lnT>
                    <a:lnB>
                      <a:noFill/>
                    </a:lnB>
                    <a:noFill/>
                  </a:tcPr>
                </a:tc>
                <a:tc>
                  <a:txBody>
                    <a:bodyPr/>
                    <a:lstStyle/>
                    <a:p>
                      <a:pPr>
                        <a:buNone/>
                      </a:pPr>
                      <a:r>
                        <a:rPr lang="en-CA" sz="1200"/>
                        <a:t>0.9212132723167025</a:t>
                      </a:r>
                    </a:p>
                  </a:txBody>
                  <a:tcPr marL="60494" marR="60494" marT="30247" marB="30247" anchor="ctr">
                    <a:lnL>
                      <a:noFill/>
                    </a:lnL>
                    <a:lnR>
                      <a:noFill/>
                    </a:lnR>
                    <a:lnT>
                      <a:noFill/>
                    </a:lnT>
                    <a:lnB>
                      <a:noFill/>
                    </a:lnB>
                    <a:noFill/>
                  </a:tcPr>
                </a:tc>
                <a:tc>
                  <a:txBody>
                    <a:bodyPr/>
                    <a:lstStyle/>
                    <a:p>
                      <a:pPr>
                        <a:buNone/>
                      </a:pPr>
                      <a:r>
                        <a:rPr lang="en-CA" sz="1200"/>
                        <a:t>0.9647337591518942</a:t>
                      </a:r>
                    </a:p>
                  </a:txBody>
                  <a:tcPr marL="60494" marR="60494" marT="30247" marB="30247" anchor="ctr">
                    <a:lnL>
                      <a:noFill/>
                    </a:lnL>
                    <a:lnR>
                      <a:noFill/>
                    </a:lnR>
                    <a:lnT>
                      <a:noFill/>
                    </a:lnT>
                    <a:lnB>
                      <a:noFill/>
                    </a:lnB>
                    <a:noFill/>
                  </a:tcPr>
                </a:tc>
                <a:extLst>
                  <a:ext uri="{0D108BD9-81ED-4DB2-BD59-A6C34878D82A}">
                    <a16:rowId xmlns:a16="http://schemas.microsoft.com/office/drawing/2014/main" val="1457632432"/>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dirty="0"/>
                        <a:t>PPO (Train)</a:t>
                      </a:r>
                    </a:p>
                  </a:txBody>
                  <a:tcPr marL="60494" marR="60494" marT="30247" marB="30247" anchor="ctr">
                    <a:lnL>
                      <a:noFill/>
                    </a:lnL>
                    <a:lnR>
                      <a:noFill/>
                    </a:lnR>
                    <a:lnT>
                      <a:noFill/>
                    </a:lnT>
                    <a:lnB>
                      <a:noFill/>
                    </a:lnB>
                    <a:noFill/>
                  </a:tcPr>
                </a:tc>
                <a:tc>
                  <a:txBody>
                    <a:bodyPr/>
                    <a:lstStyle/>
                    <a:p>
                      <a:pPr>
                        <a:buNone/>
                      </a:pPr>
                      <a:r>
                        <a:rPr lang="en-CA" sz="1200"/>
                        <a:t>0.11324855781577785</a:t>
                      </a:r>
                    </a:p>
                  </a:txBody>
                  <a:tcPr marL="60494" marR="60494" marT="30247" marB="30247" anchor="ctr">
                    <a:lnL>
                      <a:noFill/>
                    </a:lnL>
                    <a:lnR>
                      <a:noFill/>
                    </a:lnR>
                    <a:lnT>
                      <a:noFill/>
                    </a:lnT>
                    <a:lnB>
                      <a:noFill/>
                    </a:lnB>
                    <a:noFill/>
                  </a:tcPr>
                </a:tc>
                <a:tc>
                  <a:txBody>
                    <a:bodyPr/>
                    <a:lstStyle/>
                    <a:p>
                      <a:pPr>
                        <a:buNone/>
                      </a:pPr>
                      <a:r>
                        <a:rPr lang="en-CA" sz="1200"/>
                        <a:t>0.3197073092444613</a:t>
                      </a:r>
                    </a:p>
                  </a:txBody>
                  <a:tcPr marL="60494" marR="60494" marT="30247" marB="30247" anchor="ctr">
                    <a:lnL>
                      <a:noFill/>
                    </a:lnL>
                    <a:lnR>
                      <a:noFill/>
                    </a:lnR>
                    <a:lnT>
                      <a:noFill/>
                    </a:lnT>
                    <a:lnB>
                      <a:noFill/>
                    </a:lnB>
                    <a:noFill/>
                  </a:tcPr>
                </a:tc>
                <a:tc>
                  <a:txBody>
                    <a:bodyPr/>
                    <a:lstStyle/>
                    <a:p>
                      <a:pPr>
                        <a:buNone/>
                      </a:pPr>
                      <a:r>
                        <a:rPr lang="en-CA" sz="1200"/>
                        <a:t>0.16034458577632904</a:t>
                      </a:r>
                    </a:p>
                  </a:txBody>
                  <a:tcPr marL="60494" marR="60494" marT="30247" marB="30247" anchor="ctr">
                    <a:lnL>
                      <a:noFill/>
                    </a:lnL>
                    <a:lnR>
                      <a:noFill/>
                    </a:lnR>
                    <a:lnT>
                      <a:noFill/>
                    </a:lnT>
                    <a:lnB>
                      <a:noFill/>
                    </a:lnB>
                    <a:noFill/>
                  </a:tcPr>
                </a:tc>
                <a:tc>
                  <a:txBody>
                    <a:bodyPr/>
                    <a:lstStyle/>
                    <a:p>
                      <a:pPr>
                        <a:buNone/>
                      </a:pPr>
                      <a:r>
                        <a:rPr lang="en-CA" sz="1200"/>
                        <a:t>0.9097731185370478</a:t>
                      </a:r>
                    </a:p>
                  </a:txBody>
                  <a:tcPr marL="60494" marR="60494" marT="30247" marB="30247" anchor="ctr">
                    <a:lnL>
                      <a:noFill/>
                    </a:lnL>
                    <a:lnR>
                      <a:noFill/>
                    </a:lnR>
                    <a:lnT>
                      <a:noFill/>
                    </a:lnT>
                    <a:lnB>
                      <a:noFill/>
                    </a:lnB>
                    <a:noFill/>
                  </a:tcPr>
                </a:tc>
                <a:tc>
                  <a:txBody>
                    <a:bodyPr/>
                    <a:lstStyle/>
                    <a:p>
                      <a:pPr>
                        <a:buNone/>
                      </a:pPr>
                      <a:r>
                        <a:rPr lang="en-CA" sz="1200"/>
                        <a:t>0.9584318552580068</a:t>
                      </a:r>
                    </a:p>
                  </a:txBody>
                  <a:tcPr marL="60494" marR="60494" marT="30247" marB="30247" anchor="ctr">
                    <a:lnL>
                      <a:noFill/>
                    </a:lnL>
                    <a:lnR>
                      <a:noFill/>
                    </a:lnR>
                    <a:lnT>
                      <a:noFill/>
                    </a:lnT>
                    <a:lnB>
                      <a:noFill/>
                    </a:lnB>
                    <a:noFill/>
                  </a:tcPr>
                </a:tc>
                <a:extLst>
                  <a:ext uri="{0D108BD9-81ED-4DB2-BD59-A6C34878D82A}">
                    <a16:rowId xmlns:a16="http://schemas.microsoft.com/office/drawing/2014/main" val="3351439613"/>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0.08934188078575094</a:t>
                      </a:r>
                    </a:p>
                  </a:txBody>
                  <a:tcPr marL="60494" marR="60494" marT="30247" marB="30247" anchor="ctr">
                    <a:lnL>
                      <a:noFill/>
                    </a:lnL>
                    <a:lnR>
                      <a:noFill/>
                    </a:lnR>
                    <a:lnT>
                      <a:noFill/>
                    </a:lnT>
                    <a:lnB>
                      <a:noFill/>
                    </a:lnB>
                    <a:noFill/>
                  </a:tcPr>
                </a:tc>
                <a:tc>
                  <a:txBody>
                    <a:bodyPr/>
                    <a:lstStyle/>
                    <a:p>
                      <a:pPr>
                        <a:buNone/>
                      </a:pPr>
                      <a:r>
                        <a:rPr lang="en-CA" sz="1200"/>
                        <a:t>0.28246176930900474</a:t>
                      </a:r>
                    </a:p>
                  </a:txBody>
                  <a:tcPr marL="60494" marR="60494" marT="30247" marB="30247" anchor="ctr">
                    <a:lnL>
                      <a:noFill/>
                    </a:lnL>
                    <a:lnR>
                      <a:noFill/>
                    </a:lnR>
                    <a:lnT>
                      <a:noFill/>
                    </a:lnT>
                    <a:lnB>
                      <a:noFill/>
                    </a:lnB>
                    <a:noFill/>
                  </a:tcPr>
                </a:tc>
                <a:tc>
                  <a:txBody>
                    <a:bodyPr/>
                    <a:lstStyle/>
                    <a:p>
                      <a:pPr>
                        <a:buNone/>
                      </a:pPr>
                      <a:r>
                        <a:rPr lang="en-CA" sz="1200"/>
                        <a:t>0.16750736393291374</a:t>
                      </a:r>
                    </a:p>
                  </a:txBody>
                  <a:tcPr marL="60494" marR="60494" marT="30247" marB="30247" anchor="ctr">
                    <a:lnL>
                      <a:noFill/>
                    </a:lnL>
                    <a:lnR>
                      <a:noFill/>
                    </a:lnR>
                    <a:lnT>
                      <a:noFill/>
                    </a:lnT>
                    <a:lnB>
                      <a:noFill/>
                    </a:lnB>
                    <a:noFill/>
                  </a:tcPr>
                </a:tc>
                <a:tc>
                  <a:txBody>
                    <a:bodyPr/>
                    <a:lstStyle/>
                    <a:p>
                      <a:pPr>
                        <a:buNone/>
                      </a:pPr>
                      <a:r>
                        <a:rPr lang="en-CA" sz="1200"/>
                        <a:t>0.9235682035314625</a:t>
                      </a:r>
                    </a:p>
                  </a:txBody>
                  <a:tcPr marL="60494" marR="60494" marT="30247" marB="30247" anchor="ctr">
                    <a:lnL>
                      <a:noFill/>
                    </a:lnL>
                    <a:lnR>
                      <a:noFill/>
                    </a:lnR>
                    <a:lnT>
                      <a:noFill/>
                    </a:lnT>
                    <a:lnB>
                      <a:noFill/>
                    </a:lnB>
                    <a:noFill/>
                  </a:tcPr>
                </a:tc>
                <a:tc>
                  <a:txBody>
                    <a:bodyPr/>
                    <a:lstStyle/>
                    <a:p>
                      <a:pPr>
                        <a:buNone/>
                      </a:pPr>
                      <a:r>
                        <a:rPr lang="en-CA" sz="1200"/>
                        <a:t>0.9658645719485868</a:t>
                      </a:r>
                    </a:p>
                  </a:txBody>
                  <a:tcPr marL="60494" marR="60494" marT="30247" marB="30247" anchor="ctr">
                    <a:lnL>
                      <a:noFill/>
                    </a:lnL>
                    <a:lnR>
                      <a:noFill/>
                    </a:lnR>
                    <a:lnT>
                      <a:noFill/>
                    </a:lnT>
                    <a:lnB>
                      <a:noFill/>
                    </a:lnB>
                    <a:noFill/>
                  </a:tcPr>
                </a:tc>
                <a:extLst>
                  <a:ext uri="{0D108BD9-81ED-4DB2-BD59-A6C34878D82A}">
                    <a16:rowId xmlns:a16="http://schemas.microsoft.com/office/drawing/2014/main" val="1157665939"/>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0.11469726720503692</a:t>
                      </a:r>
                    </a:p>
                  </a:txBody>
                  <a:tcPr marL="60494" marR="60494" marT="30247" marB="30247" anchor="ctr">
                    <a:lnL>
                      <a:noFill/>
                    </a:lnL>
                    <a:lnR>
                      <a:noFill/>
                    </a:lnR>
                    <a:lnT>
                      <a:noFill/>
                    </a:lnT>
                    <a:lnB>
                      <a:noFill/>
                    </a:lnB>
                    <a:noFill/>
                  </a:tcPr>
                </a:tc>
                <a:tc>
                  <a:txBody>
                    <a:bodyPr/>
                    <a:lstStyle/>
                    <a:p>
                      <a:pPr>
                        <a:buNone/>
                      </a:pPr>
                      <a:r>
                        <a:rPr lang="en-CA" sz="1200"/>
                        <a:t>0.324746063255925</a:t>
                      </a:r>
                    </a:p>
                  </a:txBody>
                  <a:tcPr marL="60494" marR="60494" marT="30247" marB="30247" anchor="ctr">
                    <a:lnL>
                      <a:noFill/>
                    </a:lnL>
                    <a:lnR>
                      <a:noFill/>
                    </a:lnR>
                    <a:lnT>
                      <a:noFill/>
                    </a:lnT>
                    <a:lnB>
                      <a:noFill/>
                    </a:lnB>
                    <a:noFill/>
                  </a:tcPr>
                </a:tc>
                <a:tc>
                  <a:txBody>
                    <a:bodyPr/>
                    <a:lstStyle/>
                    <a:p>
                      <a:pPr>
                        <a:buNone/>
                      </a:pPr>
                      <a:r>
                        <a:rPr lang="en-CA" sz="1200"/>
                        <a:t>0.1618666891650907</a:t>
                      </a:r>
                    </a:p>
                  </a:txBody>
                  <a:tcPr marL="60494" marR="60494" marT="30247" marB="30247" anchor="ctr">
                    <a:lnL>
                      <a:noFill/>
                    </a:lnL>
                    <a:lnR>
                      <a:noFill/>
                    </a:lnR>
                    <a:lnT>
                      <a:noFill/>
                    </a:lnT>
                    <a:lnB>
                      <a:noFill/>
                    </a:lnB>
                    <a:noFill/>
                  </a:tcPr>
                </a:tc>
                <a:tc>
                  <a:txBody>
                    <a:bodyPr/>
                    <a:lstStyle/>
                    <a:p>
                      <a:pPr>
                        <a:buNone/>
                      </a:pPr>
                      <a:r>
                        <a:rPr lang="en-CA" sz="1200"/>
                        <a:t>0.9097111821174622</a:t>
                      </a:r>
                    </a:p>
                  </a:txBody>
                  <a:tcPr marL="60494" marR="60494" marT="30247" marB="30247" anchor="ctr">
                    <a:lnL>
                      <a:noFill/>
                    </a:lnL>
                    <a:lnR>
                      <a:noFill/>
                    </a:lnR>
                    <a:lnT>
                      <a:noFill/>
                    </a:lnT>
                    <a:lnB>
                      <a:noFill/>
                    </a:lnB>
                    <a:noFill/>
                  </a:tcPr>
                </a:tc>
                <a:tc>
                  <a:txBody>
                    <a:bodyPr/>
                    <a:lstStyle/>
                    <a:p>
                      <a:pPr>
                        <a:buNone/>
                      </a:pPr>
                      <a:r>
                        <a:rPr lang="en-CA" sz="1200" dirty="0"/>
                        <a:t>0.9574728767252815</a:t>
                      </a:r>
                    </a:p>
                  </a:txBody>
                  <a:tcPr marL="60494" marR="60494" marT="30247" marB="30247" anchor="ctr">
                    <a:lnL>
                      <a:noFill/>
                    </a:lnL>
                    <a:lnR>
                      <a:noFill/>
                    </a:lnR>
                    <a:lnT>
                      <a:noFill/>
                    </a:lnT>
                    <a:lnB>
                      <a:noFill/>
                    </a:lnB>
                    <a:noFill/>
                  </a:tcPr>
                </a:tc>
                <a:extLst>
                  <a:ext uri="{0D108BD9-81ED-4DB2-BD59-A6C34878D82A}">
                    <a16:rowId xmlns:a16="http://schemas.microsoft.com/office/drawing/2014/main" val="2939198355"/>
                  </a:ext>
                </a:extLst>
              </a:tr>
            </a:tbl>
          </a:graphicData>
        </a:graphic>
      </p:graphicFrame>
      <p:sp>
        <p:nvSpPr>
          <p:cNvPr id="4" name="TextBox 3">
            <a:extLst>
              <a:ext uri="{FF2B5EF4-FFF2-40B4-BE49-F238E27FC236}">
                <a16:creationId xmlns:a16="http://schemas.microsoft.com/office/drawing/2014/main" id="{F1BB7669-37AA-B4A5-7FA5-BA63F2687B15}"/>
              </a:ext>
            </a:extLst>
          </p:cNvPr>
          <p:cNvSpPr txBox="1"/>
          <p:nvPr/>
        </p:nvSpPr>
        <p:spPr>
          <a:xfrm>
            <a:off x="247680" y="5488470"/>
            <a:ext cx="5848318" cy="1569660"/>
          </a:xfrm>
          <a:prstGeom prst="rect">
            <a:avLst/>
          </a:prstGeom>
          <a:noFill/>
        </p:spPr>
        <p:txBody>
          <a:bodyPr wrap="square" rtlCol="0">
            <a:spAutoFit/>
          </a:bodyPr>
          <a:lstStyle/>
          <a:p>
            <a:r>
              <a:rPr lang="en-US" sz="1600" dirty="0"/>
              <a:t>CTRL: Control Sample</a:t>
            </a:r>
          </a:p>
          <a:p>
            <a:r>
              <a:rPr lang="en-US" sz="1600" dirty="0"/>
              <a:t>PTPN2: Perturb Sample</a:t>
            </a:r>
          </a:p>
          <a:p>
            <a:r>
              <a:rPr lang="en-US" sz="1600" dirty="0"/>
              <a:t>Trust region policy optimization</a:t>
            </a:r>
          </a:p>
          <a:p>
            <a:r>
              <a:rPr lang="en-US" sz="1600" dirty="0"/>
              <a:t>PPO: Proximal policy  optimization</a:t>
            </a:r>
          </a:p>
          <a:p>
            <a:r>
              <a:rPr lang="en-CA" sz="1600" dirty="0"/>
              <a:t>HORIZON    = 2   multi-step prediction length for both systems</a:t>
            </a:r>
          </a:p>
          <a:p>
            <a:endParaRPr lang="en-CA" sz="1600" dirty="0"/>
          </a:p>
        </p:txBody>
      </p:sp>
    </p:spTree>
    <p:extLst>
      <p:ext uri="{BB962C8B-B14F-4D97-AF65-F5344CB8AC3E}">
        <p14:creationId xmlns:p14="http://schemas.microsoft.com/office/powerpoint/2010/main" val="16738869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much smaller performance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1026" name="Picture 2">
            <a:extLst>
              <a:ext uri="{FF2B5EF4-FFF2-40B4-BE49-F238E27FC236}">
                <a16:creationId xmlns:a16="http://schemas.microsoft.com/office/drawing/2014/main" id="{06A1FA2F-FE4E-ED0B-56E1-85DFF6C5D6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7370" y="2107691"/>
            <a:ext cx="9457260" cy="4248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dirty="0"/>
              <a:t>Insights</a:t>
            </a:r>
            <a:endParaRPr lang="en-CA" sz="2400"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1325563"/>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14" name="Table 13">
            <a:extLst>
              <a:ext uri="{FF2B5EF4-FFF2-40B4-BE49-F238E27FC236}">
                <a16:creationId xmlns:a16="http://schemas.microsoft.com/office/drawing/2014/main" id="{5451294D-75F5-16D6-182A-E8C7E6424637}"/>
              </a:ext>
            </a:extLst>
          </p:cNvPr>
          <p:cNvGraphicFramePr>
            <a:graphicFrameLocks noGrp="1"/>
          </p:cNvGraphicFramePr>
          <p:nvPr>
            <p:extLst>
              <p:ext uri="{D42A27DB-BD31-4B8C-83A1-F6EECF244321}">
                <p14:modId xmlns:p14="http://schemas.microsoft.com/office/powerpoint/2010/main" val="364346857"/>
              </p:ext>
            </p:extLst>
          </p:nvPr>
        </p:nvGraphicFramePr>
        <p:xfrm>
          <a:off x="838200" y="1327292"/>
          <a:ext cx="10515600" cy="1828800"/>
        </p:xfrm>
        <a:graphic>
          <a:graphicData uri="http://schemas.openxmlformats.org/drawingml/2006/table">
            <a:tbl>
              <a:tblPr/>
              <a:tblGrid>
                <a:gridCol w="2628900">
                  <a:extLst>
                    <a:ext uri="{9D8B030D-6E8A-4147-A177-3AD203B41FA5}">
                      <a16:colId xmlns:a16="http://schemas.microsoft.com/office/drawing/2014/main" val="1356210393"/>
                    </a:ext>
                  </a:extLst>
                </a:gridCol>
                <a:gridCol w="2628900">
                  <a:extLst>
                    <a:ext uri="{9D8B030D-6E8A-4147-A177-3AD203B41FA5}">
                      <a16:colId xmlns:a16="http://schemas.microsoft.com/office/drawing/2014/main" val="260120249"/>
                    </a:ext>
                  </a:extLst>
                </a:gridCol>
                <a:gridCol w="2628900">
                  <a:extLst>
                    <a:ext uri="{9D8B030D-6E8A-4147-A177-3AD203B41FA5}">
                      <a16:colId xmlns:a16="http://schemas.microsoft.com/office/drawing/2014/main" val="263537650"/>
                    </a:ext>
                  </a:extLst>
                </a:gridCol>
                <a:gridCol w="2628900">
                  <a:extLst>
                    <a:ext uri="{9D8B030D-6E8A-4147-A177-3AD203B41FA5}">
                      <a16:colId xmlns:a16="http://schemas.microsoft.com/office/drawing/2014/main" val="1989654857"/>
                    </a:ext>
                  </a:extLst>
                </a:gridCol>
              </a:tblGrid>
              <a:tr h="0">
                <a:tc>
                  <a:txBody>
                    <a:bodyPr/>
                    <a:lstStyle/>
                    <a:p>
                      <a:pPr>
                        <a:buNone/>
                      </a:pPr>
                      <a:r>
                        <a:rPr lang="en-CA" b="1" dirty="0"/>
                        <a:t>System</a:t>
                      </a:r>
                      <a:endParaRPr lang="en-CA" dirty="0"/>
                    </a:p>
                  </a:txBody>
                  <a:tcPr anchor="ctr">
                    <a:lnL>
                      <a:noFill/>
                    </a:lnL>
                    <a:lnR>
                      <a:noFill/>
                    </a:lnR>
                    <a:lnT>
                      <a:noFill/>
                    </a:lnT>
                    <a:lnB>
                      <a:noFill/>
                    </a:lnB>
                    <a:noFill/>
                  </a:tcPr>
                </a:tc>
                <a:tc>
                  <a:txBody>
                    <a:bodyPr/>
                    <a:lstStyle/>
                    <a:p>
                      <a:pPr>
                        <a:buNone/>
                      </a:pPr>
                      <a:r>
                        <a:rPr lang="en-CA" b="1"/>
                        <a:t>Algorithm</a:t>
                      </a:r>
                      <a:endParaRPr lang="en-CA"/>
                    </a:p>
                  </a:txBody>
                  <a:tcPr anchor="ctr">
                    <a:lnL>
                      <a:noFill/>
                    </a:lnL>
                    <a:lnR>
                      <a:noFill/>
                    </a:lnR>
                    <a:lnT>
                      <a:noFill/>
                    </a:lnT>
                    <a:lnB>
                      <a:noFill/>
                    </a:lnB>
                    <a:noFill/>
                  </a:tcPr>
                </a:tc>
                <a:tc>
                  <a:txBody>
                    <a:bodyPr/>
                    <a:lstStyle/>
                    <a:p>
                      <a:pPr>
                        <a:buNone/>
                      </a:pPr>
                      <a:r>
                        <a:rPr lang="en-CA" b="1"/>
                        <a:t>DTW</a:t>
                      </a:r>
                      <a:endParaRPr lang="en-CA"/>
                    </a:p>
                  </a:txBody>
                  <a:tcPr anchor="ctr">
                    <a:lnL>
                      <a:noFill/>
                    </a:lnL>
                    <a:lnR>
                      <a:noFill/>
                    </a:lnR>
                    <a:lnT>
                      <a:noFill/>
                    </a:lnT>
                    <a:lnB>
                      <a:noFill/>
                    </a:lnB>
                    <a:noFill/>
                  </a:tcPr>
                </a:tc>
                <a:tc>
                  <a:txBody>
                    <a:bodyPr/>
                    <a:lstStyle/>
                    <a:p>
                      <a:pPr>
                        <a:buNone/>
                      </a:pPr>
                      <a:r>
                        <a:rPr lang="en-CA" b="1"/>
                        <a:t>Wasserstein</a:t>
                      </a:r>
                      <a:endParaRPr lang="en-CA"/>
                    </a:p>
                  </a:txBody>
                  <a:tcPr anchor="ctr">
                    <a:lnL>
                      <a:noFill/>
                    </a:lnL>
                    <a:lnR>
                      <a:noFill/>
                    </a:lnR>
                    <a:lnT>
                      <a:noFill/>
                    </a:lnT>
                    <a:lnB>
                      <a:noFill/>
                    </a:lnB>
                    <a:noFill/>
                  </a:tcPr>
                </a:tc>
                <a:extLst>
                  <a:ext uri="{0D108BD9-81ED-4DB2-BD59-A6C34878D82A}">
                    <a16:rowId xmlns:a16="http://schemas.microsoft.com/office/drawing/2014/main" val="88951850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2.2417448443954746</a:t>
                      </a:r>
                    </a:p>
                  </a:txBody>
                  <a:tcPr anchor="ctr">
                    <a:lnL>
                      <a:noFill/>
                    </a:lnL>
                    <a:lnR>
                      <a:noFill/>
                    </a:lnR>
                    <a:lnT>
                      <a:noFill/>
                    </a:lnT>
                    <a:lnB>
                      <a:noFill/>
                    </a:lnB>
                    <a:noFill/>
                  </a:tcPr>
                </a:tc>
                <a:tc>
                  <a:txBody>
                    <a:bodyPr/>
                    <a:lstStyle/>
                    <a:p>
                      <a:pPr>
                        <a:buNone/>
                      </a:pPr>
                      <a:r>
                        <a:rPr lang="en-CA"/>
                        <a:t>0.6897473707928954</a:t>
                      </a:r>
                    </a:p>
                  </a:txBody>
                  <a:tcPr anchor="ctr">
                    <a:lnL>
                      <a:noFill/>
                    </a:lnL>
                    <a:lnR>
                      <a:noFill/>
                    </a:lnR>
                    <a:lnT>
                      <a:noFill/>
                    </a:lnT>
                    <a:lnB>
                      <a:noFill/>
                    </a:lnB>
                    <a:noFill/>
                  </a:tcPr>
                </a:tc>
                <a:extLst>
                  <a:ext uri="{0D108BD9-81ED-4DB2-BD59-A6C34878D82A}">
                    <a16:rowId xmlns:a16="http://schemas.microsoft.com/office/drawing/2014/main" val="237994192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2.2252822500525107</a:t>
                      </a:r>
                    </a:p>
                  </a:txBody>
                  <a:tcPr anchor="ctr">
                    <a:lnL>
                      <a:noFill/>
                    </a:lnL>
                    <a:lnR>
                      <a:noFill/>
                    </a:lnR>
                    <a:lnT>
                      <a:noFill/>
                    </a:lnT>
                    <a:lnB>
                      <a:noFill/>
                    </a:lnB>
                    <a:noFill/>
                  </a:tcPr>
                </a:tc>
                <a:tc>
                  <a:txBody>
                    <a:bodyPr/>
                    <a:lstStyle/>
                    <a:p>
                      <a:pPr>
                        <a:buNone/>
                      </a:pPr>
                      <a:r>
                        <a:rPr lang="en-CA"/>
                        <a:t>0.7365394084628715</a:t>
                      </a:r>
                    </a:p>
                  </a:txBody>
                  <a:tcPr anchor="ctr">
                    <a:lnL>
                      <a:noFill/>
                    </a:lnL>
                    <a:lnR>
                      <a:noFill/>
                    </a:lnR>
                    <a:lnT>
                      <a:noFill/>
                    </a:lnT>
                    <a:lnB>
                      <a:noFill/>
                    </a:lnB>
                    <a:noFill/>
                  </a:tcPr>
                </a:tc>
                <a:extLst>
                  <a:ext uri="{0D108BD9-81ED-4DB2-BD59-A6C34878D82A}">
                    <a16:rowId xmlns:a16="http://schemas.microsoft.com/office/drawing/2014/main" val="1904253240"/>
                  </a:ext>
                </a:extLst>
              </a:tr>
              <a:tr h="0">
                <a:tc>
                  <a:txBody>
                    <a:bodyPr/>
                    <a:lstStyle/>
                    <a:p>
                      <a:pPr>
                        <a:buNone/>
                      </a:pPr>
                      <a:r>
                        <a:rPr lang="en-CA" dirty="0"/>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2.2261882266912867</a:t>
                      </a:r>
                    </a:p>
                  </a:txBody>
                  <a:tcPr anchor="ctr">
                    <a:lnL>
                      <a:noFill/>
                    </a:lnL>
                    <a:lnR>
                      <a:noFill/>
                    </a:lnR>
                    <a:lnT>
                      <a:noFill/>
                    </a:lnT>
                    <a:lnB>
                      <a:noFill/>
                    </a:lnB>
                    <a:noFill/>
                  </a:tcPr>
                </a:tc>
                <a:tc>
                  <a:txBody>
                    <a:bodyPr/>
                    <a:lstStyle/>
                    <a:p>
                      <a:pPr>
                        <a:buNone/>
                      </a:pPr>
                      <a:r>
                        <a:rPr lang="en-CA"/>
                        <a:t>0.736403440904065</a:t>
                      </a:r>
                    </a:p>
                  </a:txBody>
                  <a:tcPr anchor="ctr">
                    <a:lnL>
                      <a:noFill/>
                    </a:lnL>
                    <a:lnR>
                      <a:noFill/>
                    </a:lnR>
                    <a:lnT>
                      <a:noFill/>
                    </a:lnT>
                    <a:lnB>
                      <a:noFill/>
                    </a:lnB>
                    <a:noFill/>
                  </a:tcPr>
                </a:tc>
                <a:extLst>
                  <a:ext uri="{0D108BD9-81ED-4DB2-BD59-A6C34878D82A}">
                    <a16:rowId xmlns:a16="http://schemas.microsoft.com/office/drawing/2014/main" val="31780260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2.219890011883951</a:t>
                      </a:r>
                    </a:p>
                  </a:txBody>
                  <a:tcPr anchor="ctr">
                    <a:lnL>
                      <a:noFill/>
                    </a:lnL>
                    <a:lnR>
                      <a:noFill/>
                    </a:lnR>
                    <a:lnT>
                      <a:noFill/>
                    </a:lnT>
                    <a:lnB>
                      <a:noFill/>
                    </a:lnB>
                    <a:noFill/>
                  </a:tcPr>
                </a:tc>
                <a:tc>
                  <a:txBody>
                    <a:bodyPr/>
                    <a:lstStyle/>
                    <a:p>
                      <a:pPr>
                        <a:buNone/>
                      </a:pPr>
                      <a:r>
                        <a:rPr lang="en-CA" dirty="0"/>
                        <a:t>0.73483451898745</a:t>
                      </a:r>
                    </a:p>
                  </a:txBody>
                  <a:tcPr anchor="ctr">
                    <a:lnL>
                      <a:noFill/>
                    </a:lnL>
                    <a:lnR>
                      <a:noFill/>
                    </a:lnR>
                    <a:lnT>
                      <a:noFill/>
                    </a:lnT>
                    <a:lnB>
                      <a:noFill/>
                    </a:lnB>
                    <a:noFill/>
                  </a:tcPr>
                </a:tc>
                <a:extLst>
                  <a:ext uri="{0D108BD9-81ED-4DB2-BD59-A6C34878D82A}">
                    <a16:rowId xmlns:a16="http://schemas.microsoft.com/office/drawing/2014/main" val="180824992"/>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dirty="0"/>
              <a:t>Results</a:t>
            </a:r>
            <a:endParaRPr lang="en-CA" sz="2400" dirty="0"/>
          </a:p>
        </p:txBody>
      </p:sp>
      <p:pic>
        <p:nvPicPr>
          <p:cNvPr id="2050" name="Picture 2">
            <a:extLst>
              <a:ext uri="{FF2B5EF4-FFF2-40B4-BE49-F238E27FC236}">
                <a16:creationId xmlns:a16="http://schemas.microsoft.com/office/drawing/2014/main" id="{B321BE11-2657-F109-B5F0-2E3DDB6B26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552" y="1280161"/>
            <a:ext cx="6616613" cy="5011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dirty="0"/>
              <a:t>Insights</a:t>
            </a:r>
            <a:endParaRPr lang="en-CA" sz="2400"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665</TotalTime>
  <Words>2064</Words>
  <Application>Microsoft Office PowerPoint</Application>
  <PresentationFormat>Widescreen</PresentationFormat>
  <Paragraphs>197</Paragraphs>
  <Slides>17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-apple-system</vt:lpstr>
      <vt:lpstr>Aptos</vt:lpstr>
      <vt:lpstr>Arial</vt:lpstr>
      <vt:lpstr>Calibri</vt:lpstr>
      <vt:lpstr>Calibri Light</vt:lpstr>
      <vt:lpstr>Times New Roman</vt:lpstr>
      <vt:lpstr>Office 2013 - 2022 Theme</vt:lpstr>
      <vt:lpstr>Escaping Local Optima in the Waddington Landscape: A Multi-Stage TRPO-PPO Approach for Single-Cell Gene Perturbation Analysis</vt:lpstr>
      <vt:lpstr>Background</vt:lpstr>
      <vt:lpstr>Gaps in the Research</vt:lpstr>
      <vt:lpstr>Datasets</vt:lpstr>
      <vt:lpstr>Crispr Knockout</vt:lpstr>
      <vt:lpstr>Using Initialization Strategies to Address Nonlinearity in Developmental Biology </vt:lpstr>
      <vt:lpstr>Simulated Hardware and Software for Gene Perturbation Analysis</vt:lpstr>
      <vt:lpstr>RNA Dataset Description</vt:lpstr>
      <vt:lpstr>Code link</vt:lpstr>
      <vt:lpstr>Results(Control sample/Perturbed sample) Multistep prediction</vt:lpstr>
      <vt:lpstr>Results(Insights)</vt:lpstr>
      <vt:lpstr>Results(Trajectories Comparision hardware and Software)</vt:lpstr>
      <vt:lpstr>Insights</vt:lpstr>
      <vt:lpstr>Results(Trajectories Comparision hardware and Software)</vt:lpstr>
      <vt:lpstr>Results</vt:lpstr>
      <vt:lpstr>Insights</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28</cp:revision>
  <dcterms:created xsi:type="dcterms:W3CDTF">2025-11-12T22:28:05Z</dcterms:created>
  <dcterms:modified xsi:type="dcterms:W3CDTF">2025-11-22T23:49:27Z</dcterms:modified>
</cp:coreProperties>
</file>