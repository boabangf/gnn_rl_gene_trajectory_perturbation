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61" r:id="rId3"/>
    <p:sldId id="258" r:id="rId4"/>
    <p:sldId id="257" r:id="rId5"/>
    <p:sldId id="267" r:id="rId6"/>
    <p:sldId id="263" r:id="rId7"/>
    <p:sldId id="268" r:id="rId8"/>
    <p:sldId id="269" r:id="rId9"/>
    <p:sldId id="270" r:id="rId10"/>
    <p:sldId id="271" r:id="rId11"/>
    <p:sldId id="274" r:id="rId12"/>
    <p:sldId id="273" r:id="rId13"/>
    <p:sldId id="276" r:id="rId14"/>
    <p:sldId id="278" r:id="rId15"/>
    <p:sldId id="275" r:id="rId16"/>
    <p:sldId id="277" r:id="rId17"/>
    <p:sldId id="25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FF3701-45DE-4332-85CE-F9AAAD7CD9AF}"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5A59AFC8-6699-4791-8C2F-B7FA9D41E005}">
      <dgm:prSet/>
      <dgm:spPr/>
      <dgm:t>
        <a:bodyPr/>
        <a:lstStyle/>
        <a:p>
          <a:r>
            <a:rPr lang="en-US" b="1" i="0" baseline="0" dirty="0"/>
            <a:t>Perturb-seq / </a:t>
          </a:r>
          <a:r>
            <a:rPr lang="en-US" b="1" i="0" baseline="0" dirty="0" err="1"/>
            <a:t>Mixscape</a:t>
          </a:r>
          <a:r>
            <a:rPr lang="en-US" b="0" i="0" baseline="0" dirty="0"/>
            <a:t> – CRISPR perturbations with transcriptomic readouts for </a:t>
          </a:r>
          <a:r>
            <a:rPr lang="en-US" b="1" i="0" baseline="0" dirty="0"/>
            <a:t>validation.</a:t>
          </a:r>
          <a:endParaRPr lang="en-US" b="1" dirty="0"/>
        </a:p>
      </dgm:t>
    </dgm:pt>
    <dgm:pt modelId="{2325147D-06A1-430E-8597-E111E711F301}" type="parTrans" cxnId="{191EE81E-7F10-42F6-BC7C-2C593EEA863A}">
      <dgm:prSet/>
      <dgm:spPr/>
      <dgm:t>
        <a:bodyPr/>
        <a:lstStyle/>
        <a:p>
          <a:endParaRPr lang="en-US"/>
        </a:p>
      </dgm:t>
    </dgm:pt>
    <dgm:pt modelId="{5763D4E9-1CF5-4905-8E16-E546996F07A8}" type="sibTrans" cxnId="{191EE81E-7F10-42F6-BC7C-2C593EEA863A}">
      <dgm:prSet/>
      <dgm:spPr/>
      <dgm:t>
        <a:bodyPr/>
        <a:lstStyle/>
        <a:p>
          <a:endParaRPr lang="en-US"/>
        </a:p>
      </dgm:t>
    </dgm:pt>
    <dgm:pt modelId="{6DE2D6FA-ACED-4DD5-8758-4F65DFFAD282}">
      <dgm:prSet/>
      <dgm:spPr/>
      <dgm:t>
        <a:bodyPr/>
        <a:lstStyle/>
        <a:p>
          <a:r>
            <a:rPr lang="en-US" b="1" i="0" baseline="0" dirty="0" err="1"/>
            <a:t>scRNA</a:t>
          </a:r>
          <a:r>
            <a:rPr lang="en-US" b="1" i="0" baseline="0" dirty="0"/>
            <a:t>-seq </a:t>
          </a:r>
          <a:r>
            <a:rPr lang="en-US" b="0" i="0" baseline="0" dirty="0"/>
            <a:t>– Multi-</a:t>
          </a:r>
          <a:r>
            <a:rPr lang="en-US" b="0" i="0" baseline="0" dirty="0" err="1"/>
            <a:t>omic</a:t>
          </a:r>
          <a:r>
            <a:rPr lang="en-US" b="0" i="0" baseline="0" dirty="0"/>
            <a:t> single-cell data.</a:t>
          </a:r>
          <a:endParaRPr lang="en-US" dirty="0"/>
        </a:p>
      </dgm:t>
    </dgm:pt>
    <dgm:pt modelId="{1D5A7600-DBD6-43BC-B94D-3FD31A4AC460}" type="parTrans" cxnId="{5CFB4E4A-D86A-457A-888D-8116E2668E36}">
      <dgm:prSet/>
      <dgm:spPr/>
      <dgm:t>
        <a:bodyPr/>
        <a:lstStyle/>
        <a:p>
          <a:endParaRPr lang="en-US"/>
        </a:p>
      </dgm:t>
    </dgm:pt>
    <dgm:pt modelId="{B043B846-413F-4CD1-B0E5-5F9F144EEC26}" type="sibTrans" cxnId="{5CFB4E4A-D86A-457A-888D-8116E2668E36}">
      <dgm:prSet/>
      <dgm:spPr/>
      <dgm:t>
        <a:bodyPr/>
        <a:lstStyle/>
        <a:p>
          <a:endParaRPr lang="en-US"/>
        </a:p>
      </dgm:t>
    </dgm:pt>
    <dgm:pt modelId="{18D6ADEF-D6AB-42A1-BB39-A90A446EAA0C}">
      <dgm:prSet/>
      <dgm:spPr/>
      <dgm:t>
        <a:bodyPr/>
        <a:lstStyle/>
        <a:p>
          <a:r>
            <a:rPr lang="en-US" b="1" i="0" baseline="0" dirty="0"/>
            <a:t>Simulated GRNs</a:t>
          </a:r>
          <a:r>
            <a:rPr lang="en-US" b="0" i="0" baseline="0" dirty="0"/>
            <a:t> – In-silico perturbation environments for </a:t>
          </a:r>
          <a:r>
            <a:rPr lang="en-US" b="1" i="0" baseline="0" dirty="0"/>
            <a:t>model training.</a:t>
          </a:r>
          <a:endParaRPr lang="en-US" b="1" dirty="0"/>
        </a:p>
      </dgm:t>
    </dgm:pt>
    <dgm:pt modelId="{0210C5A9-0638-414F-ABED-9409B76CC4C1}" type="parTrans" cxnId="{454A77ED-9065-40FF-9CED-868E575E6EF3}">
      <dgm:prSet/>
      <dgm:spPr/>
      <dgm:t>
        <a:bodyPr/>
        <a:lstStyle/>
        <a:p>
          <a:endParaRPr lang="en-US"/>
        </a:p>
      </dgm:t>
    </dgm:pt>
    <dgm:pt modelId="{5C1C6139-9D97-431D-B442-4388C9EFD49D}" type="sibTrans" cxnId="{454A77ED-9065-40FF-9CED-868E575E6EF3}">
      <dgm:prSet/>
      <dgm:spPr/>
      <dgm:t>
        <a:bodyPr/>
        <a:lstStyle/>
        <a:p>
          <a:endParaRPr lang="en-US"/>
        </a:p>
      </dgm:t>
    </dgm:pt>
    <dgm:pt modelId="{3D582306-406A-4688-8FE0-5B22D99776E3}" type="pres">
      <dgm:prSet presAssocID="{36FF3701-45DE-4332-85CE-F9AAAD7CD9AF}" presName="hierChild1" presStyleCnt="0">
        <dgm:presLayoutVars>
          <dgm:chPref val="1"/>
          <dgm:dir/>
          <dgm:animOne val="branch"/>
          <dgm:animLvl val="lvl"/>
          <dgm:resizeHandles/>
        </dgm:presLayoutVars>
      </dgm:prSet>
      <dgm:spPr/>
    </dgm:pt>
    <dgm:pt modelId="{B0511DC8-99C6-4DAC-96FF-E669BCABCB9E}" type="pres">
      <dgm:prSet presAssocID="{5A59AFC8-6699-4791-8C2F-B7FA9D41E005}" presName="hierRoot1" presStyleCnt="0"/>
      <dgm:spPr/>
    </dgm:pt>
    <dgm:pt modelId="{E95061CA-2CAA-4202-90FE-DA282C18D7F8}" type="pres">
      <dgm:prSet presAssocID="{5A59AFC8-6699-4791-8C2F-B7FA9D41E005}" presName="composite" presStyleCnt="0"/>
      <dgm:spPr/>
    </dgm:pt>
    <dgm:pt modelId="{26122A1E-4B78-4EAE-B426-DE9975110259}" type="pres">
      <dgm:prSet presAssocID="{5A59AFC8-6699-4791-8C2F-B7FA9D41E005}" presName="background" presStyleLbl="node0" presStyleIdx="0" presStyleCnt="3"/>
      <dgm:spPr/>
    </dgm:pt>
    <dgm:pt modelId="{DD6ED2D3-287F-4F0A-B231-DA877C50F933}" type="pres">
      <dgm:prSet presAssocID="{5A59AFC8-6699-4791-8C2F-B7FA9D41E005}" presName="text" presStyleLbl="fgAcc0" presStyleIdx="0" presStyleCnt="3">
        <dgm:presLayoutVars>
          <dgm:chPref val="3"/>
        </dgm:presLayoutVars>
      </dgm:prSet>
      <dgm:spPr/>
    </dgm:pt>
    <dgm:pt modelId="{78C09AA5-0CBC-40C6-ADF0-EA928C8E87EB}" type="pres">
      <dgm:prSet presAssocID="{5A59AFC8-6699-4791-8C2F-B7FA9D41E005}" presName="hierChild2" presStyleCnt="0"/>
      <dgm:spPr/>
    </dgm:pt>
    <dgm:pt modelId="{17CE2374-6A5C-479D-B44D-8D785AB53852}" type="pres">
      <dgm:prSet presAssocID="{6DE2D6FA-ACED-4DD5-8758-4F65DFFAD282}" presName="hierRoot1" presStyleCnt="0"/>
      <dgm:spPr/>
    </dgm:pt>
    <dgm:pt modelId="{C0AF88F7-B051-4EFD-AFCB-B973F09529BA}" type="pres">
      <dgm:prSet presAssocID="{6DE2D6FA-ACED-4DD5-8758-4F65DFFAD282}" presName="composite" presStyleCnt="0"/>
      <dgm:spPr/>
    </dgm:pt>
    <dgm:pt modelId="{E71E7F66-E1D1-420F-B147-D2D207BE2F83}" type="pres">
      <dgm:prSet presAssocID="{6DE2D6FA-ACED-4DD5-8758-4F65DFFAD282}" presName="background" presStyleLbl="node0" presStyleIdx="1" presStyleCnt="3"/>
      <dgm:spPr/>
    </dgm:pt>
    <dgm:pt modelId="{4048A0B6-0051-40AC-98C9-1318C17D0FD5}" type="pres">
      <dgm:prSet presAssocID="{6DE2D6FA-ACED-4DD5-8758-4F65DFFAD282}" presName="text" presStyleLbl="fgAcc0" presStyleIdx="1" presStyleCnt="3">
        <dgm:presLayoutVars>
          <dgm:chPref val="3"/>
        </dgm:presLayoutVars>
      </dgm:prSet>
      <dgm:spPr/>
    </dgm:pt>
    <dgm:pt modelId="{B824CC7A-E0C4-4EBB-B36F-D7CC5E87A3ED}" type="pres">
      <dgm:prSet presAssocID="{6DE2D6FA-ACED-4DD5-8758-4F65DFFAD282}" presName="hierChild2" presStyleCnt="0"/>
      <dgm:spPr/>
    </dgm:pt>
    <dgm:pt modelId="{C5747B4D-282D-4ACC-AE90-411421DA4A10}" type="pres">
      <dgm:prSet presAssocID="{18D6ADEF-D6AB-42A1-BB39-A90A446EAA0C}" presName="hierRoot1" presStyleCnt="0"/>
      <dgm:spPr/>
    </dgm:pt>
    <dgm:pt modelId="{CA3EE9E2-CBF4-43E6-8DE6-EE9DAF07CEE0}" type="pres">
      <dgm:prSet presAssocID="{18D6ADEF-D6AB-42A1-BB39-A90A446EAA0C}" presName="composite" presStyleCnt="0"/>
      <dgm:spPr/>
    </dgm:pt>
    <dgm:pt modelId="{6CAFF1A9-0674-41C6-98EB-DD6DCB49F8F8}" type="pres">
      <dgm:prSet presAssocID="{18D6ADEF-D6AB-42A1-BB39-A90A446EAA0C}" presName="background" presStyleLbl="node0" presStyleIdx="2" presStyleCnt="3"/>
      <dgm:spPr/>
    </dgm:pt>
    <dgm:pt modelId="{9B2A9C51-E454-4C17-9E16-41BB61A53E0E}" type="pres">
      <dgm:prSet presAssocID="{18D6ADEF-D6AB-42A1-BB39-A90A446EAA0C}" presName="text" presStyleLbl="fgAcc0" presStyleIdx="2" presStyleCnt="3">
        <dgm:presLayoutVars>
          <dgm:chPref val="3"/>
        </dgm:presLayoutVars>
      </dgm:prSet>
      <dgm:spPr/>
    </dgm:pt>
    <dgm:pt modelId="{F77B110C-508A-4D54-AE1A-C7874DF14F1B}" type="pres">
      <dgm:prSet presAssocID="{18D6ADEF-D6AB-42A1-BB39-A90A446EAA0C}" presName="hierChild2" presStyleCnt="0"/>
      <dgm:spPr/>
    </dgm:pt>
  </dgm:ptLst>
  <dgm:cxnLst>
    <dgm:cxn modelId="{191EE81E-7F10-42F6-BC7C-2C593EEA863A}" srcId="{36FF3701-45DE-4332-85CE-F9AAAD7CD9AF}" destId="{5A59AFC8-6699-4791-8C2F-B7FA9D41E005}" srcOrd="0" destOrd="0" parTransId="{2325147D-06A1-430E-8597-E111E711F301}" sibTransId="{5763D4E9-1CF5-4905-8E16-E546996F07A8}"/>
    <dgm:cxn modelId="{30AB1D2C-20D8-4AE6-B69F-542335B9B485}" type="presOf" srcId="{18D6ADEF-D6AB-42A1-BB39-A90A446EAA0C}" destId="{9B2A9C51-E454-4C17-9E16-41BB61A53E0E}" srcOrd="0" destOrd="0" presId="urn:microsoft.com/office/officeart/2005/8/layout/hierarchy1"/>
    <dgm:cxn modelId="{5CFB4E4A-D86A-457A-888D-8116E2668E36}" srcId="{36FF3701-45DE-4332-85CE-F9AAAD7CD9AF}" destId="{6DE2D6FA-ACED-4DD5-8758-4F65DFFAD282}" srcOrd="1" destOrd="0" parTransId="{1D5A7600-DBD6-43BC-B94D-3FD31A4AC460}" sibTransId="{B043B846-413F-4CD1-B0E5-5F9F144EEC26}"/>
    <dgm:cxn modelId="{D54C344F-F80C-4794-BA55-B63FF626D0F5}" type="presOf" srcId="{36FF3701-45DE-4332-85CE-F9AAAD7CD9AF}" destId="{3D582306-406A-4688-8FE0-5B22D99776E3}" srcOrd="0" destOrd="0" presId="urn:microsoft.com/office/officeart/2005/8/layout/hierarchy1"/>
    <dgm:cxn modelId="{DFD3A89D-E3ED-4FC6-BB12-EF4034BF61B7}" type="presOf" srcId="{5A59AFC8-6699-4791-8C2F-B7FA9D41E005}" destId="{DD6ED2D3-287F-4F0A-B231-DA877C50F933}" srcOrd="0" destOrd="0" presId="urn:microsoft.com/office/officeart/2005/8/layout/hierarchy1"/>
    <dgm:cxn modelId="{FFF011ED-DE25-4E89-A73A-A37C497A0C9D}" type="presOf" srcId="{6DE2D6FA-ACED-4DD5-8758-4F65DFFAD282}" destId="{4048A0B6-0051-40AC-98C9-1318C17D0FD5}" srcOrd="0" destOrd="0" presId="urn:microsoft.com/office/officeart/2005/8/layout/hierarchy1"/>
    <dgm:cxn modelId="{454A77ED-9065-40FF-9CED-868E575E6EF3}" srcId="{36FF3701-45DE-4332-85CE-F9AAAD7CD9AF}" destId="{18D6ADEF-D6AB-42A1-BB39-A90A446EAA0C}" srcOrd="2" destOrd="0" parTransId="{0210C5A9-0638-414F-ABED-9409B76CC4C1}" sibTransId="{5C1C6139-9D97-431D-B442-4388C9EFD49D}"/>
    <dgm:cxn modelId="{32528189-13F9-4C30-9A8A-319B69F5F79E}" type="presParOf" srcId="{3D582306-406A-4688-8FE0-5B22D99776E3}" destId="{B0511DC8-99C6-4DAC-96FF-E669BCABCB9E}" srcOrd="0" destOrd="0" presId="urn:microsoft.com/office/officeart/2005/8/layout/hierarchy1"/>
    <dgm:cxn modelId="{3567021D-8FA6-4DCD-B4E6-3EE6CE5F95D7}" type="presParOf" srcId="{B0511DC8-99C6-4DAC-96FF-E669BCABCB9E}" destId="{E95061CA-2CAA-4202-90FE-DA282C18D7F8}" srcOrd="0" destOrd="0" presId="urn:microsoft.com/office/officeart/2005/8/layout/hierarchy1"/>
    <dgm:cxn modelId="{1EA1DA41-3C68-4148-ADDF-8A6F78B9F19F}" type="presParOf" srcId="{E95061CA-2CAA-4202-90FE-DA282C18D7F8}" destId="{26122A1E-4B78-4EAE-B426-DE9975110259}" srcOrd="0" destOrd="0" presId="urn:microsoft.com/office/officeart/2005/8/layout/hierarchy1"/>
    <dgm:cxn modelId="{1F704145-3DD1-4642-99E1-4A1491B14360}" type="presParOf" srcId="{E95061CA-2CAA-4202-90FE-DA282C18D7F8}" destId="{DD6ED2D3-287F-4F0A-B231-DA877C50F933}" srcOrd="1" destOrd="0" presId="urn:microsoft.com/office/officeart/2005/8/layout/hierarchy1"/>
    <dgm:cxn modelId="{01D134C3-369A-4EE6-BDF3-57D266E1083D}" type="presParOf" srcId="{B0511DC8-99C6-4DAC-96FF-E669BCABCB9E}" destId="{78C09AA5-0CBC-40C6-ADF0-EA928C8E87EB}" srcOrd="1" destOrd="0" presId="urn:microsoft.com/office/officeart/2005/8/layout/hierarchy1"/>
    <dgm:cxn modelId="{2613AAC4-A3C5-4F62-A0AB-D9B7C2884BDE}" type="presParOf" srcId="{3D582306-406A-4688-8FE0-5B22D99776E3}" destId="{17CE2374-6A5C-479D-B44D-8D785AB53852}" srcOrd="1" destOrd="0" presId="urn:microsoft.com/office/officeart/2005/8/layout/hierarchy1"/>
    <dgm:cxn modelId="{70ADC9B2-E822-4172-B4FB-C8E9DBA0571A}" type="presParOf" srcId="{17CE2374-6A5C-479D-B44D-8D785AB53852}" destId="{C0AF88F7-B051-4EFD-AFCB-B973F09529BA}" srcOrd="0" destOrd="0" presId="urn:microsoft.com/office/officeart/2005/8/layout/hierarchy1"/>
    <dgm:cxn modelId="{3DF68FA6-0686-4451-81D8-3907170C0D8D}" type="presParOf" srcId="{C0AF88F7-B051-4EFD-AFCB-B973F09529BA}" destId="{E71E7F66-E1D1-420F-B147-D2D207BE2F83}" srcOrd="0" destOrd="0" presId="urn:microsoft.com/office/officeart/2005/8/layout/hierarchy1"/>
    <dgm:cxn modelId="{AF75FECF-6B8F-468D-88C5-F7A240FE42B7}" type="presParOf" srcId="{C0AF88F7-B051-4EFD-AFCB-B973F09529BA}" destId="{4048A0B6-0051-40AC-98C9-1318C17D0FD5}" srcOrd="1" destOrd="0" presId="urn:microsoft.com/office/officeart/2005/8/layout/hierarchy1"/>
    <dgm:cxn modelId="{ADCA9150-4F77-4BE0-AAB6-9C0B2DDE940F}" type="presParOf" srcId="{17CE2374-6A5C-479D-B44D-8D785AB53852}" destId="{B824CC7A-E0C4-4EBB-B36F-D7CC5E87A3ED}" srcOrd="1" destOrd="0" presId="urn:microsoft.com/office/officeart/2005/8/layout/hierarchy1"/>
    <dgm:cxn modelId="{33EBEFE9-EDE5-4B11-829B-68DE2EF4DFD3}" type="presParOf" srcId="{3D582306-406A-4688-8FE0-5B22D99776E3}" destId="{C5747B4D-282D-4ACC-AE90-411421DA4A10}" srcOrd="2" destOrd="0" presId="urn:microsoft.com/office/officeart/2005/8/layout/hierarchy1"/>
    <dgm:cxn modelId="{B76D1C12-EF3D-4371-A885-D902982D3283}" type="presParOf" srcId="{C5747B4D-282D-4ACC-AE90-411421DA4A10}" destId="{CA3EE9E2-CBF4-43E6-8DE6-EE9DAF07CEE0}" srcOrd="0" destOrd="0" presId="urn:microsoft.com/office/officeart/2005/8/layout/hierarchy1"/>
    <dgm:cxn modelId="{CC9B1FC0-4922-492F-97CE-9A0F24DF323D}" type="presParOf" srcId="{CA3EE9E2-CBF4-43E6-8DE6-EE9DAF07CEE0}" destId="{6CAFF1A9-0674-41C6-98EB-DD6DCB49F8F8}" srcOrd="0" destOrd="0" presId="urn:microsoft.com/office/officeart/2005/8/layout/hierarchy1"/>
    <dgm:cxn modelId="{1D11312E-9369-4325-B9A9-BE540F064FC9}" type="presParOf" srcId="{CA3EE9E2-CBF4-43E6-8DE6-EE9DAF07CEE0}" destId="{9B2A9C51-E454-4C17-9E16-41BB61A53E0E}" srcOrd="1" destOrd="0" presId="urn:microsoft.com/office/officeart/2005/8/layout/hierarchy1"/>
    <dgm:cxn modelId="{D1399B88-800B-441F-817A-948A7121854C}" type="presParOf" srcId="{C5747B4D-282D-4ACC-AE90-411421DA4A10}" destId="{F77B110C-508A-4D54-AE1A-C7874DF14F1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A3DAC8-B125-4C32-924D-72DB447009D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461618B-C7CC-498A-A583-FE6616441ECC}">
      <dgm:prSet/>
      <dgm:spPr/>
      <dgm:t>
        <a:bodyPr/>
        <a:lstStyle/>
        <a:p>
          <a:r>
            <a:rPr lang="en-CA"/>
            <a:t>Establishes </a:t>
          </a:r>
          <a:r>
            <a:rPr lang="en-CA" b="1"/>
            <a:t>digital twin</a:t>
          </a:r>
          <a:r>
            <a:rPr lang="en-CA"/>
            <a:t> models for predictive cellular perturbation.</a:t>
          </a:r>
          <a:endParaRPr lang="en-US"/>
        </a:p>
      </dgm:t>
    </dgm:pt>
    <dgm:pt modelId="{3F9E3878-BE51-438B-A213-F1C51AADB811}" type="parTrans" cxnId="{912096D5-9AA4-4626-AAFC-C64178D81399}">
      <dgm:prSet/>
      <dgm:spPr/>
      <dgm:t>
        <a:bodyPr/>
        <a:lstStyle/>
        <a:p>
          <a:endParaRPr lang="en-US"/>
        </a:p>
      </dgm:t>
    </dgm:pt>
    <dgm:pt modelId="{F32DBA10-6844-4163-B847-827F85EA74B9}" type="sibTrans" cxnId="{912096D5-9AA4-4626-AAFC-C64178D81399}">
      <dgm:prSet/>
      <dgm:spPr/>
      <dgm:t>
        <a:bodyPr/>
        <a:lstStyle/>
        <a:p>
          <a:endParaRPr lang="en-US"/>
        </a:p>
      </dgm:t>
    </dgm:pt>
    <dgm:pt modelId="{D4FC6A99-6BEB-48AC-95CE-FD84AF85E040}">
      <dgm:prSet/>
      <dgm:spPr/>
      <dgm:t>
        <a:bodyPr/>
        <a:lstStyle/>
        <a:p>
          <a:r>
            <a:rPr lang="en-CA"/>
            <a:t>Bridges regression inference and policy optimization frameworks.</a:t>
          </a:r>
          <a:endParaRPr lang="en-US"/>
        </a:p>
      </dgm:t>
    </dgm:pt>
    <dgm:pt modelId="{24758EE2-E781-4EB5-A84D-766CB7C8BFCA}" type="parTrans" cxnId="{7A9735C9-A2C9-4223-897A-69255256EDA6}">
      <dgm:prSet/>
      <dgm:spPr/>
      <dgm:t>
        <a:bodyPr/>
        <a:lstStyle/>
        <a:p>
          <a:endParaRPr lang="en-US"/>
        </a:p>
      </dgm:t>
    </dgm:pt>
    <dgm:pt modelId="{5D869586-3656-46CB-8209-3C06784B81D2}" type="sibTrans" cxnId="{7A9735C9-A2C9-4223-897A-69255256EDA6}">
      <dgm:prSet/>
      <dgm:spPr/>
      <dgm:t>
        <a:bodyPr/>
        <a:lstStyle/>
        <a:p>
          <a:endParaRPr lang="en-US"/>
        </a:p>
      </dgm:t>
    </dgm:pt>
    <dgm:pt modelId="{0D2BEDF8-0F9A-4CA1-9C62-5FA953D3CDA6}">
      <dgm:prSet/>
      <dgm:spPr/>
      <dgm:t>
        <a:bodyPr/>
        <a:lstStyle/>
        <a:p>
          <a:r>
            <a:rPr lang="en-CA"/>
            <a:t>Facilitates future </a:t>
          </a:r>
          <a:r>
            <a:rPr lang="en-CA" b="1"/>
            <a:t>wet-lab validation</a:t>
          </a:r>
          <a:r>
            <a:rPr lang="en-CA"/>
            <a:t> of </a:t>
          </a:r>
          <a:r>
            <a:rPr lang="en-CA" i="1"/>
            <a:t>in silico</a:t>
          </a:r>
          <a:r>
            <a:rPr lang="en-CA"/>
            <a:t> predictions.</a:t>
          </a:r>
          <a:endParaRPr lang="en-US"/>
        </a:p>
      </dgm:t>
    </dgm:pt>
    <dgm:pt modelId="{B66D6702-DDCE-4400-BA4F-F9A7F62BF08D}" type="parTrans" cxnId="{A2C6FBFC-9390-4F34-8E57-2CF1AE479FE3}">
      <dgm:prSet/>
      <dgm:spPr/>
      <dgm:t>
        <a:bodyPr/>
        <a:lstStyle/>
        <a:p>
          <a:endParaRPr lang="en-US"/>
        </a:p>
      </dgm:t>
    </dgm:pt>
    <dgm:pt modelId="{FB03205B-ECAC-4944-809F-BE1C83743BA3}" type="sibTrans" cxnId="{A2C6FBFC-9390-4F34-8E57-2CF1AE479FE3}">
      <dgm:prSet/>
      <dgm:spPr/>
      <dgm:t>
        <a:bodyPr/>
        <a:lstStyle/>
        <a:p>
          <a:endParaRPr lang="en-US"/>
        </a:p>
      </dgm:t>
    </dgm:pt>
    <dgm:pt modelId="{E10F4281-1F89-4C81-AFE9-B5A744785824}">
      <dgm:prSet/>
      <dgm:spPr/>
      <dgm:t>
        <a:bodyPr/>
        <a:lstStyle/>
        <a:p>
          <a:r>
            <a:rPr lang="en-CA"/>
            <a:t>Supports regenerative medicine and therapeutic design via perturbation-aware modeling.</a:t>
          </a:r>
          <a:endParaRPr lang="en-US"/>
        </a:p>
      </dgm:t>
    </dgm:pt>
    <dgm:pt modelId="{44A70FF4-6D55-4655-B833-4F7C00DA66B2}" type="parTrans" cxnId="{74217F88-9C55-4D6D-AE79-A044DEF9B2FA}">
      <dgm:prSet/>
      <dgm:spPr/>
      <dgm:t>
        <a:bodyPr/>
        <a:lstStyle/>
        <a:p>
          <a:endParaRPr lang="en-US"/>
        </a:p>
      </dgm:t>
    </dgm:pt>
    <dgm:pt modelId="{90F91C33-CDAF-432C-A18A-4FE78C447088}" type="sibTrans" cxnId="{74217F88-9C55-4D6D-AE79-A044DEF9B2FA}">
      <dgm:prSet/>
      <dgm:spPr/>
      <dgm:t>
        <a:bodyPr/>
        <a:lstStyle/>
        <a:p>
          <a:endParaRPr lang="en-US"/>
        </a:p>
      </dgm:t>
    </dgm:pt>
    <dgm:pt modelId="{51F3E89B-C2B1-4BFA-B5D7-B671E53FDD47}" type="pres">
      <dgm:prSet presAssocID="{6EA3DAC8-B125-4C32-924D-72DB447009DA}" presName="root" presStyleCnt="0">
        <dgm:presLayoutVars>
          <dgm:dir/>
          <dgm:resizeHandles val="exact"/>
        </dgm:presLayoutVars>
      </dgm:prSet>
      <dgm:spPr/>
    </dgm:pt>
    <dgm:pt modelId="{5FD8ACA7-DC79-4738-AB24-EDE55CA4264F}" type="pres">
      <dgm:prSet presAssocID="{8461618B-C7CC-498A-A583-FE6616441ECC}" presName="compNode" presStyleCnt="0"/>
      <dgm:spPr/>
    </dgm:pt>
    <dgm:pt modelId="{DAC192B4-004C-44D7-9FC8-4C161BA277EF}" type="pres">
      <dgm:prSet presAssocID="{8461618B-C7CC-498A-A583-FE6616441EC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rvous Face Outline"/>
        </a:ext>
      </dgm:extLst>
    </dgm:pt>
    <dgm:pt modelId="{6FD45210-81D1-4F23-A002-B91255821248}" type="pres">
      <dgm:prSet presAssocID="{8461618B-C7CC-498A-A583-FE6616441ECC}" presName="spaceRect" presStyleCnt="0"/>
      <dgm:spPr/>
    </dgm:pt>
    <dgm:pt modelId="{7E5E989E-9F77-42AC-B361-7BD391FCA46E}" type="pres">
      <dgm:prSet presAssocID="{8461618B-C7CC-498A-A583-FE6616441ECC}" presName="textRect" presStyleLbl="revTx" presStyleIdx="0" presStyleCnt="4">
        <dgm:presLayoutVars>
          <dgm:chMax val="1"/>
          <dgm:chPref val="1"/>
        </dgm:presLayoutVars>
      </dgm:prSet>
      <dgm:spPr/>
    </dgm:pt>
    <dgm:pt modelId="{F27A3A3E-EBA3-4784-B0F8-23C7C2A5C7AF}" type="pres">
      <dgm:prSet presAssocID="{F32DBA10-6844-4163-B847-827F85EA74B9}" presName="sibTrans" presStyleCnt="0"/>
      <dgm:spPr/>
    </dgm:pt>
    <dgm:pt modelId="{03EC9167-3294-4460-B2D9-E03897AD3D5F}" type="pres">
      <dgm:prSet presAssocID="{D4FC6A99-6BEB-48AC-95CE-FD84AF85E040}" presName="compNode" presStyleCnt="0"/>
      <dgm:spPr/>
    </dgm:pt>
    <dgm:pt modelId="{20E55158-48D3-43BE-B377-FB5AE9D8DC74}" type="pres">
      <dgm:prSet presAssocID="{D4FC6A99-6BEB-48AC-95CE-FD84AF85E04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850F78B7-C2E4-476C-AB01-83D6F64DDAA7}" type="pres">
      <dgm:prSet presAssocID="{D4FC6A99-6BEB-48AC-95CE-FD84AF85E040}" presName="spaceRect" presStyleCnt="0"/>
      <dgm:spPr/>
    </dgm:pt>
    <dgm:pt modelId="{29BAE0AE-C9CA-4FD7-83D5-D5C5981106ED}" type="pres">
      <dgm:prSet presAssocID="{D4FC6A99-6BEB-48AC-95CE-FD84AF85E040}" presName="textRect" presStyleLbl="revTx" presStyleIdx="1" presStyleCnt="4">
        <dgm:presLayoutVars>
          <dgm:chMax val="1"/>
          <dgm:chPref val="1"/>
        </dgm:presLayoutVars>
      </dgm:prSet>
      <dgm:spPr/>
    </dgm:pt>
    <dgm:pt modelId="{5705D9E8-6843-4A5E-BEAD-9B3D8E0625F5}" type="pres">
      <dgm:prSet presAssocID="{5D869586-3656-46CB-8209-3C06784B81D2}" presName="sibTrans" presStyleCnt="0"/>
      <dgm:spPr/>
    </dgm:pt>
    <dgm:pt modelId="{6B421497-0402-44A6-9D75-4120DE47ED4A}" type="pres">
      <dgm:prSet presAssocID="{0D2BEDF8-0F9A-4CA1-9C62-5FA953D3CDA6}" presName="compNode" presStyleCnt="0"/>
      <dgm:spPr/>
    </dgm:pt>
    <dgm:pt modelId="{20EA6B0D-6FD5-4E26-92EE-72EEB43A4C0A}" type="pres">
      <dgm:prSet presAssocID="{0D2BEDF8-0F9A-4CA1-9C62-5FA953D3CDA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inbow"/>
        </a:ext>
      </dgm:extLst>
    </dgm:pt>
    <dgm:pt modelId="{D2AD75AC-F600-49FA-B464-C66A06980A5D}" type="pres">
      <dgm:prSet presAssocID="{0D2BEDF8-0F9A-4CA1-9C62-5FA953D3CDA6}" presName="spaceRect" presStyleCnt="0"/>
      <dgm:spPr/>
    </dgm:pt>
    <dgm:pt modelId="{35E58805-0CCF-47B6-BC47-5121C1AA37D2}" type="pres">
      <dgm:prSet presAssocID="{0D2BEDF8-0F9A-4CA1-9C62-5FA953D3CDA6}" presName="textRect" presStyleLbl="revTx" presStyleIdx="2" presStyleCnt="4">
        <dgm:presLayoutVars>
          <dgm:chMax val="1"/>
          <dgm:chPref val="1"/>
        </dgm:presLayoutVars>
      </dgm:prSet>
      <dgm:spPr/>
    </dgm:pt>
    <dgm:pt modelId="{2AE0FDD7-3BED-4080-AA3A-B33B76077D91}" type="pres">
      <dgm:prSet presAssocID="{FB03205B-ECAC-4944-809F-BE1C83743BA3}" presName="sibTrans" presStyleCnt="0"/>
      <dgm:spPr/>
    </dgm:pt>
    <dgm:pt modelId="{DD1E3980-0CAE-4ACB-ADBC-6929FA3406A8}" type="pres">
      <dgm:prSet presAssocID="{E10F4281-1F89-4C81-AFE9-B5A744785824}" presName="compNode" presStyleCnt="0"/>
      <dgm:spPr/>
    </dgm:pt>
    <dgm:pt modelId="{D27FBF9E-BBA9-4B33-AEF7-9C03B7B6947B}" type="pres">
      <dgm:prSet presAssocID="{E10F4281-1F89-4C81-AFE9-B5A74478582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ientist"/>
        </a:ext>
      </dgm:extLst>
    </dgm:pt>
    <dgm:pt modelId="{8F67FEEB-29AC-4947-87C0-6311051A41C5}" type="pres">
      <dgm:prSet presAssocID="{E10F4281-1F89-4C81-AFE9-B5A744785824}" presName="spaceRect" presStyleCnt="0"/>
      <dgm:spPr/>
    </dgm:pt>
    <dgm:pt modelId="{EA07B93D-305F-4510-AB1D-9AF565AF7E30}" type="pres">
      <dgm:prSet presAssocID="{E10F4281-1F89-4C81-AFE9-B5A744785824}" presName="textRect" presStyleLbl="revTx" presStyleIdx="3" presStyleCnt="4">
        <dgm:presLayoutVars>
          <dgm:chMax val="1"/>
          <dgm:chPref val="1"/>
        </dgm:presLayoutVars>
      </dgm:prSet>
      <dgm:spPr/>
    </dgm:pt>
  </dgm:ptLst>
  <dgm:cxnLst>
    <dgm:cxn modelId="{C1D9A70A-463B-4511-9699-1224496BBD9F}" type="presOf" srcId="{8461618B-C7CC-498A-A583-FE6616441ECC}" destId="{7E5E989E-9F77-42AC-B361-7BD391FCA46E}" srcOrd="0" destOrd="0" presId="urn:microsoft.com/office/officeart/2018/2/layout/IconLabelList"/>
    <dgm:cxn modelId="{2744EE2A-2C2B-4EFD-94FF-C2E51C3E00D0}" type="presOf" srcId="{0D2BEDF8-0F9A-4CA1-9C62-5FA953D3CDA6}" destId="{35E58805-0CCF-47B6-BC47-5121C1AA37D2}" srcOrd="0" destOrd="0" presId="urn:microsoft.com/office/officeart/2018/2/layout/IconLabelList"/>
    <dgm:cxn modelId="{BD390D42-D4AA-4D48-A064-9CDFAAF0ED0A}" type="presOf" srcId="{D4FC6A99-6BEB-48AC-95CE-FD84AF85E040}" destId="{29BAE0AE-C9CA-4FD7-83D5-D5C5981106ED}" srcOrd="0" destOrd="0" presId="urn:microsoft.com/office/officeart/2018/2/layout/IconLabelList"/>
    <dgm:cxn modelId="{1364B74F-67C2-4BD0-A653-2E6291F68D46}" type="presOf" srcId="{6EA3DAC8-B125-4C32-924D-72DB447009DA}" destId="{51F3E89B-C2B1-4BFA-B5D7-B671E53FDD47}" srcOrd="0" destOrd="0" presId="urn:microsoft.com/office/officeart/2018/2/layout/IconLabelList"/>
    <dgm:cxn modelId="{74217F88-9C55-4D6D-AE79-A044DEF9B2FA}" srcId="{6EA3DAC8-B125-4C32-924D-72DB447009DA}" destId="{E10F4281-1F89-4C81-AFE9-B5A744785824}" srcOrd="3" destOrd="0" parTransId="{44A70FF4-6D55-4655-B833-4F7C00DA66B2}" sibTransId="{90F91C33-CDAF-432C-A18A-4FE78C447088}"/>
    <dgm:cxn modelId="{7A9735C9-A2C9-4223-897A-69255256EDA6}" srcId="{6EA3DAC8-B125-4C32-924D-72DB447009DA}" destId="{D4FC6A99-6BEB-48AC-95CE-FD84AF85E040}" srcOrd="1" destOrd="0" parTransId="{24758EE2-E781-4EB5-A84D-766CB7C8BFCA}" sibTransId="{5D869586-3656-46CB-8209-3C06784B81D2}"/>
    <dgm:cxn modelId="{0BB39DCC-88D4-4FFF-B6F4-36D0CA6BD6FA}" type="presOf" srcId="{E10F4281-1F89-4C81-AFE9-B5A744785824}" destId="{EA07B93D-305F-4510-AB1D-9AF565AF7E30}" srcOrd="0" destOrd="0" presId="urn:microsoft.com/office/officeart/2018/2/layout/IconLabelList"/>
    <dgm:cxn modelId="{912096D5-9AA4-4626-AAFC-C64178D81399}" srcId="{6EA3DAC8-B125-4C32-924D-72DB447009DA}" destId="{8461618B-C7CC-498A-A583-FE6616441ECC}" srcOrd="0" destOrd="0" parTransId="{3F9E3878-BE51-438B-A213-F1C51AADB811}" sibTransId="{F32DBA10-6844-4163-B847-827F85EA74B9}"/>
    <dgm:cxn modelId="{A2C6FBFC-9390-4F34-8E57-2CF1AE479FE3}" srcId="{6EA3DAC8-B125-4C32-924D-72DB447009DA}" destId="{0D2BEDF8-0F9A-4CA1-9C62-5FA953D3CDA6}" srcOrd="2" destOrd="0" parTransId="{B66D6702-DDCE-4400-BA4F-F9A7F62BF08D}" sibTransId="{FB03205B-ECAC-4944-809F-BE1C83743BA3}"/>
    <dgm:cxn modelId="{C8EDFD81-E66C-431A-8801-A51E9856DA08}" type="presParOf" srcId="{51F3E89B-C2B1-4BFA-B5D7-B671E53FDD47}" destId="{5FD8ACA7-DC79-4738-AB24-EDE55CA4264F}" srcOrd="0" destOrd="0" presId="urn:microsoft.com/office/officeart/2018/2/layout/IconLabelList"/>
    <dgm:cxn modelId="{4B4A2784-A754-432D-ADE5-4C6558030DA1}" type="presParOf" srcId="{5FD8ACA7-DC79-4738-AB24-EDE55CA4264F}" destId="{DAC192B4-004C-44D7-9FC8-4C161BA277EF}" srcOrd="0" destOrd="0" presId="urn:microsoft.com/office/officeart/2018/2/layout/IconLabelList"/>
    <dgm:cxn modelId="{A41B7083-1321-4557-BBCE-5B22D7E15C9D}" type="presParOf" srcId="{5FD8ACA7-DC79-4738-AB24-EDE55CA4264F}" destId="{6FD45210-81D1-4F23-A002-B91255821248}" srcOrd="1" destOrd="0" presId="urn:microsoft.com/office/officeart/2018/2/layout/IconLabelList"/>
    <dgm:cxn modelId="{8DF629D1-A751-4147-95C6-06CD0ACAFE8B}" type="presParOf" srcId="{5FD8ACA7-DC79-4738-AB24-EDE55CA4264F}" destId="{7E5E989E-9F77-42AC-B361-7BD391FCA46E}" srcOrd="2" destOrd="0" presId="urn:microsoft.com/office/officeart/2018/2/layout/IconLabelList"/>
    <dgm:cxn modelId="{77F02842-0513-477F-BF85-611873E58301}" type="presParOf" srcId="{51F3E89B-C2B1-4BFA-B5D7-B671E53FDD47}" destId="{F27A3A3E-EBA3-4784-B0F8-23C7C2A5C7AF}" srcOrd="1" destOrd="0" presId="urn:microsoft.com/office/officeart/2018/2/layout/IconLabelList"/>
    <dgm:cxn modelId="{DEE50489-EC46-4BAE-8F20-E14C781E3F90}" type="presParOf" srcId="{51F3E89B-C2B1-4BFA-B5D7-B671E53FDD47}" destId="{03EC9167-3294-4460-B2D9-E03897AD3D5F}" srcOrd="2" destOrd="0" presId="urn:microsoft.com/office/officeart/2018/2/layout/IconLabelList"/>
    <dgm:cxn modelId="{031E846E-5C00-4AAD-BB11-FE1BEE68EC2A}" type="presParOf" srcId="{03EC9167-3294-4460-B2D9-E03897AD3D5F}" destId="{20E55158-48D3-43BE-B377-FB5AE9D8DC74}" srcOrd="0" destOrd="0" presId="urn:microsoft.com/office/officeart/2018/2/layout/IconLabelList"/>
    <dgm:cxn modelId="{940D2B0D-1222-47F6-BC6F-BCC3956E8551}" type="presParOf" srcId="{03EC9167-3294-4460-B2D9-E03897AD3D5F}" destId="{850F78B7-C2E4-476C-AB01-83D6F64DDAA7}" srcOrd="1" destOrd="0" presId="urn:microsoft.com/office/officeart/2018/2/layout/IconLabelList"/>
    <dgm:cxn modelId="{3BD9E003-5B2F-4D9E-8EB9-EA1F9B163F38}" type="presParOf" srcId="{03EC9167-3294-4460-B2D9-E03897AD3D5F}" destId="{29BAE0AE-C9CA-4FD7-83D5-D5C5981106ED}" srcOrd="2" destOrd="0" presId="urn:microsoft.com/office/officeart/2018/2/layout/IconLabelList"/>
    <dgm:cxn modelId="{89725625-FAB2-4BE7-B0FA-31259DC1F402}" type="presParOf" srcId="{51F3E89B-C2B1-4BFA-B5D7-B671E53FDD47}" destId="{5705D9E8-6843-4A5E-BEAD-9B3D8E0625F5}" srcOrd="3" destOrd="0" presId="urn:microsoft.com/office/officeart/2018/2/layout/IconLabelList"/>
    <dgm:cxn modelId="{A4672320-A2F1-4DDF-A8DE-44EF86D8A736}" type="presParOf" srcId="{51F3E89B-C2B1-4BFA-B5D7-B671E53FDD47}" destId="{6B421497-0402-44A6-9D75-4120DE47ED4A}" srcOrd="4" destOrd="0" presId="urn:microsoft.com/office/officeart/2018/2/layout/IconLabelList"/>
    <dgm:cxn modelId="{E4C60A79-7D61-466D-8A86-FF69267F7D7B}" type="presParOf" srcId="{6B421497-0402-44A6-9D75-4120DE47ED4A}" destId="{20EA6B0D-6FD5-4E26-92EE-72EEB43A4C0A}" srcOrd="0" destOrd="0" presId="urn:microsoft.com/office/officeart/2018/2/layout/IconLabelList"/>
    <dgm:cxn modelId="{25A7A776-A5CC-495D-95C6-E557D2DD76BE}" type="presParOf" srcId="{6B421497-0402-44A6-9D75-4120DE47ED4A}" destId="{D2AD75AC-F600-49FA-B464-C66A06980A5D}" srcOrd="1" destOrd="0" presId="urn:microsoft.com/office/officeart/2018/2/layout/IconLabelList"/>
    <dgm:cxn modelId="{FB7DC982-A6C0-45DC-9323-2B6FF7DAE872}" type="presParOf" srcId="{6B421497-0402-44A6-9D75-4120DE47ED4A}" destId="{35E58805-0CCF-47B6-BC47-5121C1AA37D2}" srcOrd="2" destOrd="0" presId="urn:microsoft.com/office/officeart/2018/2/layout/IconLabelList"/>
    <dgm:cxn modelId="{27AC3B99-86EF-4F83-A640-240EA407FC32}" type="presParOf" srcId="{51F3E89B-C2B1-4BFA-B5D7-B671E53FDD47}" destId="{2AE0FDD7-3BED-4080-AA3A-B33B76077D91}" srcOrd="5" destOrd="0" presId="urn:microsoft.com/office/officeart/2018/2/layout/IconLabelList"/>
    <dgm:cxn modelId="{1AF1CBAA-D2B9-4B6A-81C9-D7A8F011435C}" type="presParOf" srcId="{51F3E89B-C2B1-4BFA-B5D7-B671E53FDD47}" destId="{DD1E3980-0CAE-4ACB-ADBC-6929FA3406A8}" srcOrd="6" destOrd="0" presId="urn:microsoft.com/office/officeart/2018/2/layout/IconLabelList"/>
    <dgm:cxn modelId="{216A1869-D3E7-4E58-ACEF-DB4A701FFD7A}" type="presParOf" srcId="{DD1E3980-0CAE-4ACB-ADBC-6929FA3406A8}" destId="{D27FBF9E-BBA9-4B33-AEF7-9C03B7B6947B}" srcOrd="0" destOrd="0" presId="urn:microsoft.com/office/officeart/2018/2/layout/IconLabelList"/>
    <dgm:cxn modelId="{0AD82075-E24B-4F62-81EB-05C9508659DE}" type="presParOf" srcId="{DD1E3980-0CAE-4ACB-ADBC-6929FA3406A8}" destId="{8F67FEEB-29AC-4947-87C0-6311051A41C5}" srcOrd="1" destOrd="0" presId="urn:microsoft.com/office/officeart/2018/2/layout/IconLabelList"/>
    <dgm:cxn modelId="{A75D0472-DF64-4D43-BDEC-B7DCD9E50B6D}" type="presParOf" srcId="{DD1E3980-0CAE-4ACB-ADBC-6929FA3406A8}" destId="{EA07B93D-305F-4510-AB1D-9AF565AF7E3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22A1E-4B78-4EAE-B426-DE9975110259}">
      <dsp:nvSpPr>
        <dsp:cNvPr id="0" name=""/>
        <dsp:cNvSpPr/>
      </dsp:nvSpPr>
      <dsp:spPr>
        <a:xfrm>
          <a:off x="0"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6ED2D3-287F-4F0A-B231-DA877C50F933}">
      <dsp:nvSpPr>
        <dsp:cNvPr id="0" name=""/>
        <dsp:cNvSpPr/>
      </dsp:nvSpPr>
      <dsp:spPr>
        <a:xfrm>
          <a:off x="324326"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dirty="0"/>
            <a:t>Perturb-seq / </a:t>
          </a:r>
          <a:r>
            <a:rPr lang="en-US" sz="2100" b="1" i="0" kern="1200" baseline="0" dirty="0" err="1"/>
            <a:t>Mixscape</a:t>
          </a:r>
          <a:r>
            <a:rPr lang="en-US" sz="2100" b="0" i="0" kern="1200" baseline="0" dirty="0"/>
            <a:t> – CRISPR perturbations with transcriptomic readouts for </a:t>
          </a:r>
          <a:r>
            <a:rPr lang="en-US" sz="2100" b="1" i="0" kern="1200" baseline="0" dirty="0"/>
            <a:t>validation.</a:t>
          </a:r>
          <a:endParaRPr lang="en-US" sz="2100" b="1" kern="1200" dirty="0"/>
        </a:p>
      </dsp:txBody>
      <dsp:txXfrm>
        <a:off x="378614" y="886531"/>
        <a:ext cx="2810360" cy="1744948"/>
      </dsp:txXfrm>
    </dsp:sp>
    <dsp:sp modelId="{E71E7F66-E1D1-420F-B147-D2D207BE2F83}">
      <dsp:nvSpPr>
        <dsp:cNvPr id="0" name=""/>
        <dsp:cNvSpPr/>
      </dsp:nvSpPr>
      <dsp:spPr>
        <a:xfrm>
          <a:off x="3567588"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48A0B6-0051-40AC-98C9-1318C17D0FD5}">
      <dsp:nvSpPr>
        <dsp:cNvPr id="0" name=""/>
        <dsp:cNvSpPr/>
      </dsp:nvSpPr>
      <dsp:spPr>
        <a:xfrm>
          <a:off x="3891915"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dirty="0" err="1"/>
            <a:t>scRNA</a:t>
          </a:r>
          <a:r>
            <a:rPr lang="en-US" sz="2100" b="1" i="0" kern="1200" baseline="0" dirty="0"/>
            <a:t>-seq </a:t>
          </a:r>
          <a:r>
            <a:rPr lang="en-US" sz="2100" b="0" i="0" kern="1200" baseline="0" dirty="0"/>
            <a:t>– Multi-</a:t>
          </a:r>
          <a:r>
            <a:rPr lang="en-US" sz="2100" b="0" i="0" kern="1200" baseline="0" dirty="0" err="1"/>
            <a:t>omic</a:t>
          </a:r>
          <a:r>
            <a:rPr lang="en-US" sz="2100" b="0" i="0" kern="1200" baseline="0" dirty="0"/>
            <a:t> single-cell data.</a:t>
          </a:r>
          <a:endParaRPr lang="en-US" sz="2100" kern="1200" dirty="0"/>
        </a:p>
      </dsp:txBody>
      <dsp:txXfrm>
        <a:off x="3946203" y="886531"/>
        <a:ext cx="2810360" cy="1744948"/>
      </dsp:txXfrm>
    </dsp:sp>
    <dsp:sp modelId="{6CAFF1A9-0674-41C6-98EB-DD6DCB49F8F8}">
      <dsp:nvSpPr>
        <dsp:cNvPr id="0" name=""/>
        <dsp:cNvSpPr/>
      </dsp:nvSpPr>
      <dsp:spPr>
        <a:xfrm>
          <a:off x="7135177"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2A9C51-E454-4C17-9E16-41BB61A53E0E}">
      <dsp:nvSpPr>
        <dsp:cNvPr id="0" name=""/>
        <dsp:cNvSpPr/>
      </dsp:nvSpPr>
      <dsp:spPr>
        <a:xfrm>
          <a:off x="7459503"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dirty="0"/>
            <a:t>Simulated GRNs</a:t>
          </a:r>
          <a:r>
            <a:rPr lang="en-US" sz="2100" b="0" i="0" kern="1200" baseline="0" dirty="0"/>
            <a:t> – In-silico perturbation environments for </a:t>
          </a:r>
          <a:r>
            <a:rPr lang="en-US" sz="2100" b="1" i="0" kern="1200" baseline="0" dirty="0"/>
            <a:t>model training.</a:t>
          </a:r>
          <a:endParaRPr lang="en-US" sz="2100" b="1" kern="1200" dirty="0"/>
        </a:p>
      </dsp:txBody>
      <dsp:txXfrm>
        <a:off x="7513791" y="886531"/>
        <a:ext cx="2810360" cy="1744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C192B4-004C-44D7-9FC8-4C161BA277EF}">
      <dsp:nvSpPr>
        <dsp:cNvPr id="0" name=""/>
        <dsp:cNvSpPr/>
      </dsp:nvSpPr>
      <dsp:spPr>
        <a:xfrm>
          <a:off x="1078918" y="633965"/>
          <a:ext cx="930634" cy="9306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5E989E-9F77-42AC-B361-7BD391FCA46E}">
      <dsp:nvSpPr>
        <dsp:cNvPr id="0" name=""/>
        <dsp:cNvSpPr/>
      </dsp:nvSpPr>
      <dsp:spPr>
        <a:xfrm>
          <a:off x="510197"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Establishes </a:t>
          </a:r>
          <a:r>
            <a:rPr lang="en-CA" sz="1200" b="1" kern="1200"/>
            <a:t>digital twin</a:t>
          </a:r>
          <a:r>
            <a:rPr lang="en-CA" sz="1200" kern="1200"/>
            <a:t> models for predictive cellular perturbation.</a:t>
          </a:r>
          <a:endParaRPr lang="en-US" sz="1200" kern="1200"/>
        </a:p>
      </dsp:txBody>
      <dsp:txXfrm>
        <a:off x="510197" y="1855936"/>
        <a:ext cx="2068076" cy="720000"/>
      </dsp:txXfrm>
    </dsp:sp>
    <dsp:sp modelId="{20E55158-48D3-43BE-B377-FB5AE9D8DC74}">
      <dsp:nvSpPr>
        <dsp:cNvPr id="0" name=""/>
        <dsp:cNvSpPr/>
      </dsp:nvSpPr>
      <dsp:spPr>
        <a:xfrm>
          <a:off x="3508908" y="633965"/>
          <a:ext cx="930634" cy="9306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BAE0AE-C9CA-4FD7-83D5-D5C5981106ED}">
      <dsp:nvSpPr>
        <dsp:cNvPr id="0" name=""/>
        <dsp:cNvSpPr/>
      </dsp:nvSpPr>
      <dsp:spPr>
        <a:xfrm>
          <a:off x="2940187"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Bridges regression inference and policy optimization frameworks.</a:t>
          </a:r>
          <a:endParaRPr lang="en-US" sz="1200" kern="1200"/>
        </a:p>
      </dsp:txBody>
      <dsp:txXfrm>
        <a:off x="2940187" y="1855936"/>
        <a:ext cx="2068076" cy="720000"/>
      </dsp:txXfrm>
    </dsp:sp>
    <dsp:sp modelId="{20EA6B0D-6FD5-4E26-92EE-72EEB43A4C0A}">
      <dsp:nvSpPr>
        <dsp:cNvPr id="0" name=""/>
        <dsp:cNvSpPr/>
      </dsp:nvSpPr>
      <dsp:spPr>
        <a:xfrm>
          <a:off x="5938897" y="633965"/>
          <a:ext cx="930634" cy="9306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E58805-0CCF-47B6-BC47-5121C1AA37D2}">
      <dsp:nvSpPr>
        <dsp:cNvPr id="0" name=""/>
        <dsp:cNvSpPr/>
      </dsp:nvSpPr>
      <dsp:spPr>
        <a:xfrm>
          <a:off x="5370176"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Facilitates future </a:t>
          </a:r>
          <a:r>
            <a:rPr lang="en-CA" sz="1200" b="1" kern="1200"/>
            <a:t>wet-lab validation</a:t>
          </a:r>
          <a:r>
            <a:rPr lang="en-CA" sz="1200" kern="1200"/>
            <a:t> of </a:t>
          </a:r>
          <a:r>
            <a:rPr lang="en-CA" sz="1200" i="1" kern="1200"/>
            <a:t>in silico</a:t>
          </a:r>
          <a:r>
            <a:rPr lang="en-CA" sz="1200" kern="1200"/>
            <a:t> predictions.</a:t>
          </a:r>
          <a:endParaRPr lang="en-US" sz="1200" kern="1200"/>
        </a:p>
      </dsp:txBody>
      <dsp:txXfrm>
        <a:off x="5370176" y="1855936"/>
        <a:ext cx="2068076" cy="720000"/>
      </dsp:txXfrm>
    </dsp:sp>
    <dsp:sp modelId="{D27FBF9E-BBA9-4B33-AEF7-9C03B7B6947B}">
      <dsp:nvSpPr>
        <dsp:cNvPr id="0" name=""/>
        <dsp:cNvSpPr/>
      </dsp:nvSpPr>
      <dsp:spPr>
        <a:xfrm>
          <a:off x="8368887" y="633965"/>
          <a:ext cx="930634" cy="9306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07B93D-305F-4510-AB1D-9AF565AF7E30}">
      <dsp:nvSpPr>
        <dsp:cNvPr id="0" name=""/>
        <dsp:cNvSpPr/>
      </dsp:nvSpPr>
      <dsp:spPr>
        <a:xfrm>
          <a:off x="7800166"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Supports regenerative medicine and therapeutic design via perturbation-aware modeling.</a:t>
          </a:r>
          <a:endParaRPr lang="en-US" sz="1200" kern="1200"/>
        </a:p>
      </dsp:txBody>
      <dsp:txXfrm>
        <a:off x="7800166" y="1855936"/>
        <a:ext cx="2068076"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A98A8E-17BA-4637-BE34-16BBE5AD305E}" type="datetimeFigureOut">
              <a:rPr lang="en-CA" smtClean="0"/>
              <a:t>2025-11-22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CFF4B-0A5E-4A04-A84E-9F2917B495C3}" type="slidenum">
              <a:rPr lang="en-CA" smtClean="0"/>
              <a:t>‹#›</a:t>
            </a:fld>
            <a:endParaRPr lang="en-CA"/>
          </a:p>
        </p:txBody>
      </p:sp>
    </p:spTree>
    <p:extLst>
      <p:ext uri="{BB962C8B-B14F-4D97-AF65-F5344CB8AC3E}">
        <p14:creationId xmlns:p14="http://schemas.microsoft.com/office/powerpoint/2010/main" val="3636882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56949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3062842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6DBE6-5F48-46C6-8054-E594AA8CC26E}" type="datetimeFigureOut">
              <a:rPr lang="en-CA" smtClean="0"/>
              <a:t>2025-11-22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995713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A6DBE6-5F48-46C6-8054-E594AA8CC26E}" type="datetimeFigureOut">
              <a:rPr lang="en-CA" smtClean="0"/>
              <a:t>2025-11-22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07850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A6DBE6-5F48-46C6-8054-E594AA8CC26E}" type="datetimeFigureOut">
              <a:rPr lang="en-CA" smtClean="0"/>
              <a:t>2025-11-22</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48124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A6DBE6-5F48-46C6-8054-E594AA8CC26E}" type="datetimeFigureOut">
              <a:rPr lang="en-CA" smtClean="0"/>
              <a:t>2025-11-22</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79692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A6DBE6-5F48-46C6-8054-E594AA8CC26E}" type="datetimeFigureOut">
              <a:rPr lang="en-CA" smtClean="0"/>
              <a:t>2025-11-22</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17625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A6DBE6-5F48-46C6-8054-E594AA8CC26E}" type="datetimeFigureOut">
              <a:rPr lang="en-CA" smtClean="0"/>
              <a:t>2025-11-22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69362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A6DBE6-5F48-46C6-8054-E594AA8CC26E}" type="datetimeFigureOut">
              <a:rPr lang="en-CA" smtClean="0"/>
              <a:t>2025-11-22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285566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90156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261678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6DBE6-5F48-46C6-8054-E594AA8CC26E}" type="datetimeFigureOut">
              <a:rPr lang="en-CA" smtClean="0"/>
              <a:t>2025-11-22</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C18F39-34A3-4DBF-8CFA-F51A088158DC}" type="slidenum">
              <a:rPr lang="en-CA" smtClean="0"/>
              <a:t>‹#›</a:t>
            </a:fld>
            <a:endParaRPr lang="en-CA"/>
          </a:p>
        </p:txBody>
      </p:sp>
    </p:spTree>
    <p:extLst>
      <p:ext uri="{BB962C8B-B14F-4D97-AF65-F5344CB8AC3E}">
        <p14:creationId xmlns:p14="http://schemas.microsoft.com/office/powerpoint/2010/main" val="1402202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www.perturbase.cn/" TargetMode="Externa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drive/folders/1AAI4KU9G-UHoKo72Ne6iGAaCgFPADIW3?usp=drive_link" TargetMode="External"/><Relationship Id="rId2" Type="http://schemas.openxmlformats.org/officeDocument/2006/relationships/hyperlink" Target="https://www.ncbi.nlm.nih.gov/geo/query/acc.cgi?acc=GSE134139"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colab.research.google.com/drive/1pJJpmq2cz5iY0ctqEYmCx7U8p4kUNRa-?usp=shari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D5E0-AEC8-43A0-11DE-D49CABF1A8AA}"/>
              </a:ext>
            </a:extLst>
          </p:cNvPr>
          <p:cNvSpPr>
            <a:spLocks noGrp="1"/>
          </p:cNvSpPr>
          <p:nvPr>
            <p:ph type="ctrTitle"/>
          </p:nvPr>
        </p:nvSpPr>
        <p:spPr>
          <a:xfrm>
            <a:off x="1524000" y="406400"/>
            <a:ext cx="9942576" cy="2387600"/>
          </a:xfrm>
        </p:spPr>
        <p:txBody>
          <a:bodyPr>
            <a:normAutofit/>
          </a:bodyPr>
          <a:lstStyle/>
          <a:p>
            <a:r>
              <a:rPr lang="en-CA" sz="4000" b="1" dirty="0">
                <a:latin typeface="Times New Roman" panose="02020603050405020304" pitchFamily="18" charset="0"/>
                <a:cs typeface="Times New Roman" panose="02020603050405020304" pitchFamily="18" charset="0"/>
              </a:rPr>
              <a:t>Single-Cell Gene </a:t>
            </a:r>
            <a:r>
              <a:rPr lang="en-US" sz="4000" b="1" dirty="0">
                <a:latin typeface="Times New Roman" panose="02020603050405020304" pitchFamily="18" charset="0"/>
                <a:cs typeface="Times New Roman" panose="02020603050405020304" pitchFamily="18" charset="0"/>
              </a:rPr>
              <a:t>Perturbation </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Analysis Using Machine Learning</a:t>
            </a:r>
            <a:endParaRPr lang="en-CA" sz="4000" b="1" dirty="0">
              <a:latin typeface="Times New Roman" panose="02020603050405020304" pitchFamily="18" charset="0"/>
              <a:cs typeface="Times New Roman" panose="02020603050405020304" pitchFamily="18" charset="0"/>
            </a:endParaRPr>
          </a:p>
        </p:txBody>
      </p:sp>
      <p:pic>
        <p:nvPicPr>
          <p:cNvPr id="1026" name="Picture 2" descr="ASBCB – African Society for Bioinformatics and Computational Biology">
            <a:extLst>
              <a:ext uri="{FF2B5EF4-FFF2-40B4-BE49-F238E27FC236}">
                <a16:creationId xmlns:a16="http://schemas.microsoft.com/office/drawing/2014/main" id="{76CD4587-B77C-4731-95A5-EB35327851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4871" y="4714142"/>
            <a:ext cx="2078737" cy="17217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ational Institutes of Health - MEpedia">
            <a:extLst>
              <a:ext uri="{FF2B5EF4-FFF2-40B4-BE49-F238E27FC236}">
                <a16:creationId xmlns:a16="http://schemas.microsoft.com/office/drawing/2014/main" id="{9196C3A8-9248-5165-0CE1-BA43FDFB8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368" y="4714142"/>
            <a:ext cx="1975104" cy="1737458"/>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4">
            <a:extLst>
              <a:ext uri="{FF2B5EF4-FFF2-40B4-BE49-F238E27FC236}">
                <a16:creationId xmlns:a16="http://schemas.microsoft.com/office/drawing/2014/main" id="{C5513740-481B-8D15-CBA5-845D32332D49}"/>
              </a:ext>
            </a:extLst>
          </p:cNvPr>
          <p:cNvSpPr>
            <a:spLocks noGrp="1"/>
          </p:cNvSpPr>
          <p:nvPr>
            <p:ph type="subTitle" idx="1"/>
          </p:nvPr>
        </p:nvSpPr>
        <p:spPr>
          <a:xfrm>
            <a:off x="1450848" y="3153982"/>
            <a:ext cx="9144000" cy="1655762"/>
          </a:xfrm>
        </p:spPr>
        <p:txBody>
          <a:bodyPr/>
          <a:lstStyle/>
          <a:p>
            <a:r>
              <a:rPr lang="en-US" dirty="0"/>
              <a:t>Francis Boabang</a:t>
            </a:r>
            <a:endParaRPr lang="en-CA" dirty="0"/>
          </a:p>
        </p:txBody>
      </p:sp>
    </p:spTree>
    <p:extLst>
      <p:ext uri="{BB962C8B-B14F-4D97-AF65-F5344CB8AC3E}">
        <p14:creationId xmlns:p14="http://schemas.microsoft.com/office/powerpoint/2010/main" val="1264684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084BF-EBD6-F3B5-3FF1-F7B7E6E5EF06}"/>
              </a:ext>
            </a:extLst>
          </p:cNvPr>
          <p:cNvSpPr>
            <a:spLocks noGrp="1"/>
          </p:cNvSpPr>
          <p:nvPr>
            <p:ph type="title"/>
          </p:nvPr>
        </p:nvSpPr>
        <p:spPr>
          <a:xfrm>
            <a:off x="761803" y="350196"/>
            <a:ext cx="4646904" cy="1624520"/>
          </a:xfrm>
        </p:spPr>
        <p:txBody>
          <a:bodyPr anchor="ctr">
            <a:normAutofit/>
          </a:bodyPr>
          <a:lstStyle/>
          <a:p>
            <a:r>
              <a:rPr lang="en-US" sz="4000">
                <a:latin typeface="Times New Roman" panose="02020603050405020304" pitchFamily="18" charset="0"/>
                <a:cs typeface="Times New Roman" panose="02020603050405020304" pitchFamily="18" charset="0"/>
              </a:rPr>
              <a:t>Background</a:t>
            </a:r>
            <a:endParaRPr lang="en-CA" sz="400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B2FE822-36C7-AB8D-1723-B026A9E3BA01}"/>
              </a:ext>
            </a:extLst>
          </p:cNvPr>
          <p:cNvSpPr>
            <a:spLocks noGrp="1" noChangeArrowheads="1"/>
          </p:cNvSpPr>
          <p:nvPr>
            <p:ph idx="1"/>
          </p:nvPr>
        </p:nvSpPr>
        <p:spPr bwMode="auto">
          <a:xfrm>
            <a:off x="613180" y="1974715"/>
            <a:ext cx="5327371" cy="36131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Predicting the outcome of genetic perturbations (e.g., CRISPR knockouts) is key to understanding cell differentiation and disease response.</a:t>
            </a:r>
            <a:endParaRPr lang="en-US" altLang="en-US" sz="1600" dirty="0">
              <a:latin typeface="Times New Roman" panose="02020603050405020304" pitchFamily="18" charset="0"/>
              <a:cs typeface="Times New Roman" panose="02020603050405020304" pitchFamily="18" charset="0"/>
            </a:endParaRPr>
          </a:p>
          <a:p>
            <a:pPr marL="0" indent="0" eaLnBrk="0" fontAlgn="base" hangingPunct="0">
              <a:spcBef>
                <a:spcPct val="0"/>
              </a:spcBef>
              <a:spcAft>
                <a:spcPts val="600"/>
              </a:spcAft>
              <a:buNone/>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Perturbation datasets (Perturb-seq,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Mixscape</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spcBef>
                <a:spcPct val="0"/>
              </a:spcBef>
              <a:spcAft>
                <a:spcPts val="600"/>
              </a:spcAft>
              <a:buClrTx/>
              <a:buSzTx/>
              <a:buNone/>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enable modeling the causal mapping between perturbations and transcriptional outcomes.</a:t>
            </a:r>
          </a:p>
          <a:p>
            <a:pPr marL="0" marR="0" lvl="0" indent="0" defTabSz="914400" rtl="0" eaLnBrk="0" fontAlgn="base" latinLnBrk="0" hangingPunct="0">
              <a:spcBef>
                <a:spcPct val="0"/>
              </a:spcBef>
              <a:spcAft>
                <a:spcPts val="600"/>
              </a:spcAft>
              <a:buClrTx/>
              <a:buSzTx/>
              <a:buNone/>
              <a:tabLst/>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6" name="Picture 5" descr="Molecular DNA structure">
            <a:extLst>
              <a:ext uri="{FF2B5EF4-FFF2-40B4-BE49-F238E27FC236}">
                <a16:creationId xmlns:a16="http://schemas.microsoft.com/office/drawing/2014/main" id="{B9AB2687-9BAF-0D02-AB6C-C7518FE5B8B5}"/>
              </a:ext>
            </a:extLst>
          </p:cNvPr>
          <p:cNvPicPr>
            <a:picLocks noChangeAspect="1"/>
          </p:cNvPicPr>
          <p:nvPr/>
        </p:nvPicPr>
        <p:blipFill>
          <a:blip r:embed="rId2"/>
          <a:srcRect l="15498" r="25102" b="-2"/>
          <a:stretch>
            <a:fillRect/>
          </a:stretch>
        </p:blipFill>
        <p:spPr>
          <a:xfrm>
            <a:off x="6096000" y="1"/>
            <a:ext cx="6102825" cy="6858000"/>
          </a:xfrm>
          <a:prstGeom prst="rect">
            <a:avLst/>
          </a:prstGeom>
        </p:spPr>
      </p:pic>
    </p:spTree>
    <p:extLst>
      <p:ext uri="{BB962C8B-B14F-4D97-AF65-F5344CB8AC3E}">
        <p14:creationId xmlns:p14="http://schemas.microsoft.com/office/powerpoint/2010/main" val="771050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F919A-C12D-30A2-69D8-6B05403E1494}"/>
              </a:ext>
            </a:extLst>
          </p:cNvPr>
          <p:cNvSpPr>
            <a:spLocks noGrp="1"/>
          </p:cNvSpPr>
          <p:nvPr>
            <p:ph type="title"/>
          </p:nvPr>
        </p:nvSpPr>
        <p:spPr>
          <a:xfrm>
            <a:off x="502920" y="529717"/>
            <a:ext cx="10183368" cy="851027"/>
          </a:xfrm>
        </p:spPr>
        <p:txBody>
          <a:bodyPr>
            <a:normAutofit/>
          </a:bodyPr>
          <a:lstStyle/>
          <a:p>
            <a:r>
              <a:rPr lang="en-US" sz="2000" dirty="0">
                <a:latin typeface="Times New Roman" panose="02020603050405020304" pitchFamily="18" charset="0"/>
                <a:cs typeface="Times New Roman" panose="02020603050405020304" pitchFamily="18" charset="0"/>
              </a:rPr>
              <a:t>Gaps in the Research</a:t>
            </a:r>
            <a:endParaRPr lang="en-CA"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56CA37-BF2C-969E-D177-9518FD57166F}"/>
              </a:ext>
            </a:extLst>
          </p:cNvPr>
          <p:cNvSpPr>
            <a:spLocks noGrp="1"/>
          </p:cNvSpPr>
          <p:nvPr>
            <p:ph idx="1"/>
          </p:nvPr>
        </p:nvSpPr>
        <p:spPr>
          <a:xfrm>
            <a:off x="838200" y="1253331"/>
            <a:ext cx="10850880" cy="4351338"/>
          </a:xfrm>
        </p:spPr>
        <p:txBody>
          <a:bodyPr>
            <a:noAutofit/>
          </a:bodyPr>
          <a:lstStyle/>
          <a:p>
            <a:pPr marL="0" indent="0">
              <a:buNone/>
            </a:pPr>
            <a:r>
              <a:rPr lang="en-CA" sz="1400" b="1" dirty="0">
                <a:latin typeface="Times New Roman" panose="02020603050405020304" pitchFamily="18" charset="0"/>
                <a:cs typeface="Times New Roman" panose="02020603050405020304" pitchFamily="18" charset="0"/>
              </a:rPr>
              <a:t>Known:</a:t>
            </a:r>
            <a:endParaRPr lang="en-CA" sz="1400" dirty="0">
              <a:latin typeface="Times New Roman" panose="02020603050405020304" pitchFamily="18" charset="0"/>
              <a:cs typeface="Times New Roman" panose="02020603050405020304" pitchFamily="18" charset="0"/>
            </a:endParaRPr>
          </a:p>
          <a:p>
            <a:r>
              <a:rPr lang="en-CA" sz="1400" dirty="0">
                <a:latin typeface="Times New Roman" panose="02020603050405020304" pitchFamily="18" charset="0"/>
                <a:cs typeface="Times New Roman" panose="02020603050405020304" pitchFamily="18" charset="0"/>
              </a:rPr>
              <a:t>Linear models (LASSO, Elastic Net) identify sparse gene–gene dependencies. Linear models can  fail to capture nonlinear gene–gene or protein to protein dependencies or combinatorial perturbations.</a:t>
            </a:r>
          </a:p>
          <a:p>
            <a:r>
              <a:rPr lang="en-CA" sz="1400" dirty="0">
                <a:latin typeface="Times New Roman" panose="02020603050405020304" pitchFamily="18" charset="0"/>
                <a:cs typeface="Times New Roman" panose="02020603050405020304" pitchFamily="18" charset="0"/>
              </a:rPr>
              <a:t>Gaussian Process Regression captures limited nonlinearity.</a:t>
            </a:r>
          </a:p>
          <a:p>
            <a:r>
              <a:rPr lang="en-CA" sz="1400" dirty="0">
                <a:latin typeface="Times New Roman" panose="02020603050405020304" pitchFamily="18" charset="0"/>
                <a:cs typeface="Times New Roman" panose="02020603050405020304" pitchFamily="18" charset="0"/>
              </a:rPr>
              <a:t>Reinforcement learning (RL) shows promise for modeling dynamic perturbation sequences </a:t>
            </a:r>
          </a:p>
          <a:p>
            <a:endParaRPr lang="en-CA" sz="1400" b="1" dirty="0">
              <a:latin typeface="Times New Roman" panose="02020603050405020304" pitchFamily="18" charset="0"/>
              <a:cs typeface="Times New Roman" panose="02020603050405020304" pitchFamily="18" charset="0"/>
            </a:endParaRPr>
          </a:p>
          <a:p>
            <a:r>
              <a:rPr lang="en-CA" sz="1400" b="1" dirty="0">
                <a:latin typeface="Times New Roman" panose="02020603050405020304" pitchFamily="18" charset="0"/>
                <a:cs typeface="Times New Roman" panose="02020603050405020304" pitchFamily="18" charset="0"/>
              </a:rPr>
              <a:t>Unknown:</a:t>
            </a:r>
            <a:endParaRPr lang="en-CA" sz="1400" dirty="0">
              <a:latin typeface="Times New Roman" panose="02020603050405020304" pitchFamily="18" charset="0"/>
              <a:cs typeface="Times New Roman" panose="02020603050405020304" pitchFamily="18" charset="0"/>
            </a:endParaRPr>
          </a:p>
          <a:p>
            <a:r>
              <a:rPr lang="en-CA" sz="1400" dirty="0">
                <a:latin typeface="Times New Roman" panose="02020603050405020304" pitchFamily="18" charset="0"/>
                <a:cs typeface="Times New Roman" panose="02020603050405020304" pitchFamily="18" charset="0"/>
              </a:rPr>
              <a:t>The nonlinear extensions such as Gaussian Process regression, graph neural networks, or reinforcement learning frameworks that better represent biological complexity and adaptive perturbation effects however they often get stuck in local optima in the Waddington landscape.</a:t>
            </a:r>
          </a:p>
          <a:p>
            <a:r>
              <a:rPr lang="en-CA" sz="1400" dirty="0">
                <a:latin typeface="Times New Roman" panose="02020603050405020304" pitchFamily="18" charset="0"/>
                <a:cs typeface="Times New Roman" panose="02020603050405020304" pitchFamily="18" charset="0"/>
              </a:rPr>
              <a:t>Most existing models rely exclusively on either </a:t>
            </a:r>
            <a:r>
              <a:rPr lang="en-CA" sz="1400" i="1" dirty="0">
                <a:latin typeface="Times New Roman" panose="02020603050405020304" pitchFamily="18" charset="0"/>
                <a:cs typeface="Times New Roman" panose="02020603050405020304" pitchFamily="18" charset="0"/>
              </a:rPr>
              <a:t>in silico</a:t>
            </a:r>
            <a:r>
              <a:rPr lang="en-CA" sz="1400" dirty="0">
                <a:latin typeface="Times New Roman" panose="02020603050405020304" pitchFamily="18" charset="0"/>
                <a:cs typeface="Times New Roman" panose="02020603050405020304" pitchFamily="18" charset="0"/>
              </a:rPr>
              <a:t> perturbation data or experimental perturbation data but rarely integrate both limiting their ability to generalize and validate predictions across simulated and real biological contexts.</a:t>
            </a:r>
            <a:r>
              <a:rPr lang="en-CA" sz="1400" b="1" dirty="0">
                <a:latin typeface="Times New Roman" panose="02020603050405020304" pitchFamily="18" charset="0"/>
                <a:cs typeface="Times New Roman" panose="02020603050405020304" pitchFamily="18" charset="0"/>
              </a:rPr>
              <a:t> Hence, g</a:t>
            </a:r>
            <a:r>
              <a:rPr lang="en-CA" sz="1400" dirty="0">
                <a:latin typeface="Times New Roman" panose="02020603050405020304" pitchFamily="18" charset="0"/>
                <a:cs typeface="Times New Roman" panose="02020603050405020304" pitchFamily="18" charset="0"/>
              </a:rPr>
              <a:t>eneralization to </a:t>
            </a:r>
            <a:r>
              <a:rPr lang="en-CA" sz="1400" i="1" dirty="0">
                <a:latin typeface="Times New Roman" panose="02020603050405020304" pitchFamily="18" charset="0"/>
                <a:cs typeface="Times New Roman" panose="02020603050405020304" pitchFamily="18" charset="0"/>
              </a:rPr>
              <a:t>out-of-sample</a:t>
            </a:r>
            <a:r>
              <a:rPr lang="en-CA" sz="1400" dirty="0">
                <a:latin typeface="Times New Roman" panose="02020603050405020304" pitchFamily="18" charset="0"/>
                <a:cs typeface="Times New Roman" panose="02020603050405020304" pitchFamily="18" charset="0"/>
              </a:rPr>
              <a:t> experimental perturbations.</a:t>
            </a:r>
          </a:p>
          <a:p>
            <a:r>
              <a:rPr lang="en-CA" sz="1400" dirty="0">
                <a:latin typeface="Times New Roman" panose="02020603050405020304" pitchFamily="18" charset="0"/>
                <a:cs typeface="Times New Roman" panose="02020603050405020304" pitchFamily="18" charset="0"/>
              </a:rPr>
              <a:t>Interpretability of perturbation effects across multi-omics layers (RNA, ATAC, ADT) with experimental Validation.</a:t>
            </a:r>
          </a:p>
          <a:p>
            <a:pPr marL="0" indent="0">
              <a:buNone/>
            </a:pPr>
            <a:r>
              <a:rPr lang="en-CA" sz="1400" b="1" dirty="0">
                <a:latin typeface="Times New Roman" panose="02020603050405020304" pitchFamily="18" charset="0"/>
                <a:cs typeface="Times New Roman" panose="02020603050405020304" pitchFamily="18" charset="0"/>
              </a:rPr>
              <a:t>References:</a:t>
            </a:r>
            <a:endParaRPr lang="en-CA" sz="14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Huynh-Thu, V. A., </a:t>
            </a:r>
            <a:r>
              <a:rPr lang="en-US" altLang="en-US" sz="1200" dirty="0" err="1">
                <a:latin typeface="Times New Roman" panose="02020603050405020304" pitchFamily="18" charset="0"/>
                <a:cs typeface="Times New Roman" panose="02020603050405020304" pitchFamily="18" charset="0"/>
              </a:rPr>
              <a:t>Irrthum</a:t>
            </a:r>
            <a:r>
              <a:rPr lang="en-US" altLang="en-US" sz="1200" dirty="0">
                <a:latin typeface="Times New Roman" panose="02020603050405020304" pitchFamily="18" charset="0"/>
                <a:cs typeface="Times New Roman" panose="02020603050405020304" pitchFamily="18" charset="0"/>
              </a:rPr>
              <a:t>, A., </a:t>
            </a:r>
            <a:r>
              <a:rPr lang="en-US" altLang="en-US" sz="1200" dirty="0" err="1">
                <a:latin typeface="Times New Roman" panose="02020603050405020304" pitchFamily="18" charset="0"/>
                <a:cs typeface="Times New Roman" panose="02020603050405020304" pitchFamily="18" charset="0"/>
              </a:rPr>
              <a:t>Wehenkel</a:t>
            </a:r>
            <a:r>
              <a:rPr lang="en-US" altLang="en-US" sz="1200" dirty="0">
                <a:latin typeface="Times New Roman" panose="02020603050405020304" pitchFamily="18" charset="0"/>
                <a:cs typeface="Times New Roman" panose="02020603050405020304" pitchFamily="18" charset="0"/>
              </a:rPr>
              <a:t>, L., &amp; Geurts, P. (2010). </a:t>
            </a:r>
            <a:r>
              <a:rPr lang="en-US" altLang="en-US" sz="1200" b="1" i="1" dirty="0">
                <a:latin typeface="Times New Roman" panose="02020603050405020304" pitchFamily="18" charset="0"/>
                <a:cs typeface="Times New Roman" panose="02020603050405020304" pitchFamily="18" charset="0"/>
              </a:rPr>
              <a:t>Inferring regulatory networks from expression data using tree-based methods</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PLoS</a:t>
            </a:r>
            <a:r>
              <a:rPr lang="en-US" altLang="en-US" sz="1200" dirty="0">
                <a:latin typeface="Times New Roman" panose="02020603050405020304" pitchFamily="18" charset="0"/>
                <a:cs typeface="Times New Roman" panose="02020603050405020304" pitchFamily="18" charset="0"/>
              </a:rPr>
              <a:t> ONE, 5(9): e12776.</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Marbach, D., Costello, J. C., Küffner, R., Vega, N. M., Prill, R. J., Camacho, D. M., ... &amp; Kellis, M. (2012). </a:t>
            </a:r>
            <a:r>
              <a:rPr lang="en-US" altLang="en-US" sz="1200" b="1" i="1" dirty="0">
                <a:latin typeface="Times New Roman" panose="02020603050405020304" pitchFamily="18" charset="0"/>
                <a:cs typeface="Times New Roman" panose="02020603050405020304" pitchFamily="18" charset="0"/>
              </a:rPr>
              <a:t>Wisdom of crowds for robust gene network inference</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Nature Methods, 9(8): 796–804.</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Xing, H., &amp; Yau, C. (2025). </a:t>
            </a:r>
            <a:r>
              <a:rPr lang="en-US" altLang="en-US" sz="1200" b="1" i="1" dirty="0">
                <a:latin typeface="Times New Roman" panose="02020603050405020304" pitchFamily="18" charset="0"/>
                <a:cs typeface="Times New Roman" panose="02020603050405020304" pitchFamily="18" charset="0"/>
              </a:rPr>
              <a:t>GPerturb: Gaussian Process Modelling of Single-Cell Perturbation Data</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Nature Communications, 16(1): 5423.</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Gavriilidis, G. I., et al. (2024). </a:t>
            </a:r>
            <a:r>
              <a:rPr lang="en-US" altLang="en-US" sz="1200" b="1" i="1" dirty="0">
                <a:latin typeface="Times New Roman" panose="02020603050405020304" pitchFamily="18" charset="0"/>
                <a:cs typeface="Times New Roman" panose="02020603050405020304" pitchFamily="18" charset="0"/>
              </a:rPr>
              <a:t>A Mini-review on Perturbation Modelling Across Single-Cell </a:t>
            </a:r>
            <a:r>
              <a:rPr lang="en-US" altLang="en-US" sz="1200" b="1" i="1" dirty="0" err="1">
                <a:latin typeface="Times New Roman" panose="02020603050405020304" pitchFamily="18" charset="0"/>
                <a:cs typeface="Times New Roman" panose="02020603050405020304" pitchFamily="18" charset="0"/>
              </a:rPr>
              <a:t>Omic</a:t>
            </a:r>
            <a:r>
              <a:rPr lang="en-US" altLang="en-US" sz="1200" b="1" i="1" dirty="0">
                <a:latin typeface="Times New Roman" panose="02020603050405020304" pitchFamily="18" charset="0"/>
                <a:cs typeface="Times New Roman" panose="02020603050405020304" pitchFamily="18" charset="0"/>
              </a:rPr>
              <a:t> Modalities</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Computational and Structural Biotechnology Journal, 23: 1886–1895</a:t>
            </a:r>
            <a:r>
              <a:rPr lang="en-US" altLang="en-US" sz="1000" dirty="0">
                <a:latin typeface="Times New Roman" panose="02020603050405020304" pitchFamily="18" charset="0"/>
                <a:cs typeface="Times New Roman" panose="02020603050405020304" pitchFamily="18" charset="0"/>
              </a:rPr>
              <a:t>.</a:t>
            </a:r>
          </a:p>
          <a:p>
            <a:endParaRPr lang="en-CA"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9541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D688C2-0936-3136-9D06-726FED71A049}"/>
              </a:ext>
            </a:extLst>
          </p:cNvPr>
          <p:cNvSpPr>
            <a:spLocks noGrp="1"/>
          </p:cNvSpPr>
          <p:nvPr>
            <p:ph type="title"/>
          </p:nvPr>
        </p:nvSpPr>
        <p:spPr>
          <a:xfrm>
            <a:off x="1043631" y="809898"/>
            <a:ext cx="10173010" cy="1554480"/>
          </a:xfrm>
        </p:spPr>
        <p:txBody>
          <a:bodyPr anchor="ctr">
            <a:normAutofit/>
          </a:bodyPr>
          <a:lstStyle/>
          <a:p>
            <a:r>
              <a:rPr lang="en-US" sz="2400" dirty="0">
                <a:latin typeface="Times New Roman" panose="02020603050405020304" pitchFamily="18" charset="0"/>
                <a:cs typeface="Times New Roman" panose="02020603050405020304" pitchFamily="18" charset="0"/>
              </a:rPr>
              <a:t>Datasets</a:t>
            </a:r>
            <a:endParaRPr lang="en-CA" sz="2400" dirty="0">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709A6F6B-96D8-E2AA-5D1A-1A3D4E8C31DA}"/>
              </a:ext>
            </a:extLst>
          </p:cNvPr>
          <p:cNvGraphicFramePr>
            <a:graphicFrameLocks noGrp="1"/>
          </p:cNvGraphicFramePr>
          <p:nvPr>
            <p:ph idx="1"/>
            <p:extLst>
              <p:ext uri="{D42A27DB-BD31-4B8C-83A1-F6EECF244321}">
                <p14:modId xmlns:p14="http://schemas.microsoft.com/office/powerpoint/2010/main" val="228715565"/>
              </p:ext>
            </p:extLst>
          </p:nvPr>
        </p:nvGraphicFramePr>
        <p:xfrm>
          <a:off x="975360" y="2364378"/>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665BEE4-4CBE-826C-2EFA-81C0FF83C5FC}"/>
              </a:ext>
            </a:extLst>
          </p:cNvPr>
          <p:cNvSpPr txBox="1"/>
          <p:nvPr/>
        </p:nvSpPr>
        <p:spPr>
          <a:xfrm>
            <a:off x="975360" y="5418291"/>
            <a:ext cx="6094476" cy="923330"/>
          </a:xfrm>
          <a:prstGeom prst="rect">
            <a:avLst/>
          </a:prstGeom>
          <a:noFill/>
        </p:spPr>
        <p:txBody>
          <a:bodyPr wrap="square">
            <a:spAutoFit/>
          </a:bodyPr>
          <a:lstStyle/>
          <a:p>
            <a:r>
              <a:rPr lang="en-CA" b="0" i="0" u="sng" dirty="0">
                <a:solidFill>
                  <a:srgbClr val="0969DA"/>
                </a:solidFill>
                <a:effectLst/>
                <a:latin typeface="-apple-system"/>
                <a:hlinkClick r:id="rId7"/>
              </a:rPr>
              <a:t>http://www.perturbase.cn/</a:t>
            </a:r>
            <a:endParaRPr lang="en-CA" b="0" i="0" u="sng" dirty="0">
              <a:solidFill>
                <a:srgbClr val="0969DA"/>
              </a:solidFill>
              <a:effectLst/>
              <a:latin typeface="-apple-system"/>
            </a:endParaRPr>
          </a:p>
          <a:p>
            <a:endParaRPr lang="en-CA" u="sng" dirty="0">
              <a:solidFill>
                <a:srgbClr val="0969DA"/>
              </a:solidFill>
              <a:latin typeface="-apple-system"/>
            </a:endParaRPr>
          </a:p>
          <a:p>
            <a:r>
              <a:rPr lang="en-CA" dirty="0"/>
              <a:t>https://www.ncbi.nlm.nih.gov/bioproject/?term=cite</a:t>
            </a:r>
          </a:p>
        </p:txBody>
      </p:sp>
    </p:spTree>
    <p:extLst>
      <p:ext uri="{BB962C8B-B14F-4D97-AF65-F5344CB8AC3E}">
        <p14:creationId xmlns:p14="http://schemas.microsoft.com/office/powerpoint/2010/main" val="145104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318FC-B8B4-6DC6-27B2-A905C899CE22}"/>
              </a:ext>
            </a:extLst>
          </p:cNvPr>
          <p:cNvSpPr>
            <a:spLocks noGrp="1"/>
          </p:cNvSpPr>
          <p:nvPr>
            <p:ph type="title"/>
          </p:nvPr>
        </p:nvSpPr>
        <p:spPr/>
        <p:txBody>
          <a:bodyPr>
            <a:normAutofit/>
          </a:bodyPr>
          <a:lstStyle/>
          <a:p>
            <a:r>
              <a:rPr lang="en-US" sz="2000" b="1" dirty="0">
                <a:latin typeface="Times New Roman" panose="02020603050405020304" pitchFamily="18" charset="0"/>
                <a:cs typeface="Times New Roman" panose="02020603050405020304" pitchFamily="18" charset="0"/>
              </a:rPr>
              <a:t>Crispr Knockout</a:t>
            </a:r>
            <a:endParaRPr lang="en-CA"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BCD918-5356-F693-7CC9-A8665A375746}"/>
              </a:ext>
            </a:extLst>
          </p:cNvPr>
          <p:cNvSpPr>
            <a:spLocks noGrp="1"/>
          </p:cNvSpPr>
          <p:nvPr>
            <p:ph idx="1"/>
          </p:nvPr>
        </p:nvSpPr>
        <p:spPr>
          <a:xfrm>
            <a:off x="765048" y="1533017"/>
            <a:ext cx="10515600" cy="4351338"/>
          </a:xfrm>
        </p:spPr>
        <p:txBody>
          <a:bodyPr>
            <a:normAutofit/>
          </a:bodyPr>
          <a:lstStyle/>
          <a:p>
            <a:pPr marL="0" indent="0">
              <a:buNone/>
            </a:pPr>
            <a:r>
              <a:rPr lang="en-CA" sz="1800" b="1" dirty="0" err="1">
                <a:latin typeface="Times New Roman" panose="02020603050405020304" pitchFamily="18" charset="0"/>
                <a:cs typeface="Times New Roman" panose="02020603050405020304" pitchFamily="18" charset="0"/>
              </a:rPr>
              <a:t>Unperturb</a:t>
            </a:r>
            <a:r>
              <a:rPr lang="en-CA" sz="1800" b="1" dirty="0">
                <a:latin typeface="Times New Roman" panose="02020603050405020304" pitchFamily="18" charset="0"/>
                <a:cs typeface="Times New Roman" panose="02020603050405020304" pitchFamily="18" charset="0"/>
              </a:rPr>
              <a:t> data (Control Sample) and Perturb data with CRISPRKO</a:t>
            </a:r>
          </a:p>
          <a:p>
            <a:pPr marL="0" indent="0">
              <a:buNone/>
            </a:pPr>
            <a:endParaRPr lang="en-CA" sz="1800" dirty="0">
              <a:latin typeface="Times New Roman" panose="02020603050405020304" pitchFamily="18" charset="0"/>
              <a:cs typeface="Times New Roman" panose="02020603050405020304" pitchFamily="18" charset="0"/>
            </a:endParaRPr>
          </a:p>
          <a:p>
            <a:pPr marL="0" indent="0">
              <a:buNone/>
            </a:pPr>
            <a:r>
              <a:rPr lang="en-CA" sz="1800" dirty="0">
                <a:latin typeface="Times New Roman" panose="02020603050405020304" pitchFamily="18" charset="0"/>
                <a:cs typeface="Times New Roman" panose="02020603050405020304" pitchFamily="18" charset="0"/>
              </a:rPr>
              <a:t>https://www.ncbi.nlm.nih.gov/geo/query/acc.cgi?acc=GSE134139</a:t>
            </a:r>
          </a:p>
          <a:p>
            <a:pPr marL="0" indent="0">
              <a:buNone/>
            </a:pPr>
            <a:endParaRPr lang="en-CA" sz="1800" dirty="0">
              <a:latin typeface="Times New Roman" panose="02020603050405020304" pitchFamily="18" charset="0"/>
              <a:cs typeface="Times New Roman" panose="02020603050405020304" pitchFamily="18" charset="0"/>
            </a:endParaRPr>
          </a:p>
          <a:p>
            <a:pPr marL="0" indent="0">
              <a:buNone/>
            </a:pPr>
            <a:r>
              <a:rPr lang="en-CA" sz="1800" dirty="0">
                <a:latin typeface="Times New Roman" panose="02020603050405020304" pitchFamily="18" charset="0"/>
                <a:cs typeface="Times New Roman" panose="02020603050405020304" pitchFamily="18" charset="0"/>
              </a:rPr>
              <a:t>https://www.ncbi.nlm.nih.gov/geo/query/acc.cgi?acc=GSE156478</a:t>
            </a:r>
          </a:p>
          <a:p>
            <a:pPr marL="0" indent="0">
              <a:buNone/>
            </a:pPr>
            <a:endParaRPr lang="en-CA" sz="1800" dirty="0">
              <a:latin typeface="Times New Roman" panose="02020603050405020304" pitchFamily="18" charset="0"/>
              <a:cs typeface="Times New Roman" panose="02020603050405020304" pitchFamily="18" charset="0"/>
            </a:endParaRPr>
          </a:p>
          <a:p>
            <a:pPr marL="0" indent="0">
              <a:buNone/>
            </a:pPr>
            <a:r>
              <a:rPr lang="en-CA" sz="1800" dirty="0">
                <a:latin typeface="Times New Roman" panose="02020603050405020304" pitchFamily="18" charset="0"/>
                <a:cs typeface="Times New Roman" panose="02020603050405020304" pitchFamily="18" charset="0"/>
              </a:rPr>
              <a:t>https://www.ncbi.nlm.nih.gov/geo/query/acc.cgi?acc=GSE126310</a:t>
            </a:r>
          </a:p>
        </p:txBody>
      </p:sp>
    </p:spTree>
    <p:extLst>
      <p:ext uri="{BB962C8B-B14F-4D97-AF65-F5344CB8AC3E}">
        <p14:creationId xmlns:p14="http://schemas.microsoft.com/office/powerpoint/2010/main" val="2998759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C3AF6-67CE-A2F4-D8AB-9BCD2466C373}"/>
              </a:ext>
            </a:extLst>
          </p:cNvPr>
          <p:cNvSpPr>
            <a:spLocks noGrp="1"/>
          </p:cNvSpPr>
          <p:nvPr>
            <p:ph type="title"/>
          </p:nvPr>
        </p:nvSpPr>
        <p:spPr/>
        <p:txBody>
          <a:bodyPr>
            <a:normAutofit/>
          </a:bodyPr>
          <a:lstStyle/>
          <a:p>
            <a:r>
              <a:rPr lang="en-CA" sz="2200" b="1" dirty="0">
                <a:latin typeface="Times New Roman" panose="02020603050405020304" pitchFamily="18" charset="0"/>
                <a:cs typeface="Times New Roman" panose="02020603050405020304" pitchFamily="18" charset="0"/>
              </a:rPr>
              <a:t>Using Initialization Strategies to Address Nonlinearity in Developmental Biology</a:t>
            </a:r>
            <a:br>
              <a:rPr lang="en-CA" b="1" dirty="0"/>
            </a:br>
            <a:endParaRPr lang="en-CA" dirty="0"/>
          </a:p>
        </p:txBody>
      </p:sp>
      <p:sp>
        <p:nvSpPr>
          <p:cNvPr id="3" name="Content Placeholder 2">
            <a:extLst>
              <a:ext uri="{FF2B5EF4-FFF2-40B4-BE49-F238E27FC236}">
                <a16:creationId xmlns:a16="http://schemas.microsoft.com/office/drawing/2014/main" id="{C57357E8-7CC3-7D10-E04D-DD8F72BC8A57}"/>
              </a:ext>
            </a:extLst>
          </p:cNvPr>
          <p:cNvSpPr>
            <a:spLocks noGrp="1"/>
          </p:cNvSpPr>
          <p:nvPr>
            <p:ph idx="1"/>
          </p:nvPr>
        </p:nvSpPr>
        <p:spPr>
          <a:xfrm>
            <a:off x="947928" y="1459865"/>
            <a:ext cx="10515600" cy="4351338"/>
          </a:xfrm>
        </p:spPr>
        <p:txBody>
          <a:bodyPr>
            <a:normAutofit/>
          </a:bodyPr>
          <a:lstStyle/>
          <a:p>
            <a:r>
              <a:rPr lang="en-CA" sz="1600" dirty="0">
                <a:cs typeface="Times New Roman" panose="02020603050405020304" pitchFamily="18" charset="0"/>
              </a:rPr>
              <a:t>We leverage machine-learning initialization strategies to overcome the inherent nonlinearity in developmental biology, improving the modeling of cell-differentiation trajectories.</a:t>
            </a:r>
          </a:p>
          <a:p>
            <a:endParaRPr lang="en-CA" sz="1600" dirty="0">
              <a:cs typeface="Times New Roman" panose="02020603050405020304" pitchFamily="18" charset="0"/>
            </a:endParaRPr>
          </a:p>
          <a:p>
            <a:r>
              <a:rPr lang="en-CA" sz="1600" dirty="0">
                <a:cs typeface="Times New Roman" panose="02020603050405020304" pitchFamily="18" charset="0"/>
              </a:rPr>
              <a:t>Concept: Convex or structured initializations (e.g., sparse regression, trust-region, or pre-trained convex embeddings) provide stable starting points for highly nonlinear optimization landscapes in biological systems.</a:t>
            </a:r>
          </a:p>
          <a:p>
            <a:endParaRPr lang="en-CA" sz="1600" dirty="0">
              <a:cs typeface="Times New Roman" panose="02020603050405020304" pitchFamily="18" charset="0"/>
            </a:endParaRPr>
          </a:p>
          <a:p>
            <a:r>
              <a:rPr lang="en-CA" sz="1600" dirty="0">
                <a:cs typeface="Times New Roman" panose="02020603050405020304" pitchFamily="18" charset="0"/>
              </a:rPr>
              <a:t>Goal: To ensure that nonlinear models such as deep or reinforcement-learning frameworks converge toward biologically meaningful minima rather than arbitrary local optima.</a:t>
            </a:r>
          </a:p>
          <a:p>
            <a:endParaRPr lang="en-CA" sz="1600" dirty="0">
              <a:cs typeface="Times New Roman" panose="02020603050405020304" pitchFamily="18" charset="0"/>
            </a:endParaRPr>
          </a:p>
          <a:p>
            <a:r>
              <a:rPr lang="en-CA" sz="1600" dirty="0">
                <a:cs typeface="Times New Roman" panose="02020603050405020304" pitchFamily="18" charset="0"/>
              </a:rPr>
              <a:t>Impact: Enhances the fidelity of cell-fate prediction and differentiation modeling, leading to more accurate simulations of lineage commitment and reprogramming dynamics.</a:t>
            </a:r>
          </a:p>
          <a:p>
            <a:endParaRPr lang="en-CA" sz="1600" dirty="0">
              <a:cs typeface="Times New Roman" panose="02020603050405020304" pitchFamily="18" charset="0"/>
            </a:endParaRPr>
          </a:p>
          <a:p>
            <a:r>
              <a:rPr lang="en-CA" sz="1600" dirty="0">
                <a:cs typeface="Times New Roman" panose="02020603050405020304" pitchFamily="18" charset="0"/>
              </a:rPr>
              <a:t>Outcome: A unified approach where machine-domain initialization bridges computational optimization and biological interpretability, improving predictive performance in cell differentiation and regenerative modeling.</a:t>
            </a:r>
          </a:p>
          <a:p>
            <a:endParaRPr lang="en-CA"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33196A9-B4A4-8450-7095-5825D67800FA}"/>
              </a:ext>
            </a:extLst>
          </p:cNvPr>
          <p:cNvSpPr txBox="1"/>
          <p:nvPr/>
        </p:nvSpPr>
        <p:spPr>
          <a:xfrm>
            <a:off x="374904" y="5919508"/>
            <a:ext cx="12252960" cy="461665"/>
          </a:xfrm>
          <a:prstGeom prst="rect">
            <a:avLst/>
          </a:prstGeom>
          <a:noFill/>
        </p:spPr>
        <p:txBody>
          <a:bodyPr wrap="square">
            <a:spAutoFit/>
          </a:bodyPr>
          <a:lstStyle/>
          <a:p>
            <a:pPr marL="0" indent="0" fontAlgn="base">
              <a:buNone/>
            </a:pPr>
            <a:r>
              <a:rPr lang="en-CA" sz="1200" dirty="0">
                <a:latin typeface="Times New Roman" panose="02020603050405020304" pitchFamily="18" charset="0"/>
                <a:cs typeface="Times New Roman" panose="02020603050405020304" pitchFamily="18" charset="0"/>
              </a:rPr>
              <a:t>Boabang, Francis, and Samuel Asante </a:t>
            </a:r>
            <a:r>
              <a:rPr lang="en-CA" sz="1200" dirty="0" err="1">
                <a:latin typeface="Times New Roman" panose="02020603050405020304" pitchFamily="18" charset="0"/>
                <a:cs typeface="Times New Roman" panose="02020603050405020304" pitchFamily="18" charset="0"/>
              </a:rPr>
              <a:t>Gyamerah</a:t>
            </a:r>
            <a:r>
              <a:rPr lang="en-CA" sz="1200" dirty="0">
                <a:latin typeface="Times New Roman" panose="02020603050405020304" pitchFamily="18" charset="0"/>
                <a:cs typeface="Times New Roman" panose="02020603050405020304" pitchFamily="18" charset="0"/>
              </a:rPr>
              <a:t>. "Escaping Local Optima in the Waddington Landscape: A Multi-Stage TRPO-PPO Approach for Single-Cell Perturbation Analysis." </a:t>
            </a:r>
            <a:r>
              <a:rPr lang="en-CA" sz="1200" i="1" dirty="0" err="1">
                <a:latin typeface="Times New Roman" panose="02020603050405020304" pitchFamily="18" charset="0"/>
                <a:cs typeface="Times New Roman" panose="02020603050405020304" pitchFamily="18" charset="0"/>
              </a:rPr>
              <a:t>arXiv</a:t>
            </a:r>
            <a:r>
              <a:rPr lang="en-CA" sz="1200" i="1" dirty="0">
                <a:latin typeface="Times New Roman" panose="02020603050405020304" pitchFamily="18" charset="0"/>
                <a:cs typeface="Times New Roman" panose="02020603050405020304" pitchFamily="18" charset="0"/>
              </a:rPr>
              <a:t> preprint arXiv:2510.13018</a:t>
            </a:r>
            <a:r>
              <a:rPr lang="en-CA" sz="1200" dirty="0">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2087604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BD0FC-6B46-23D1-7796-5F2C4025231B}"/>
              </a:ext>
            </a:extLst>
          </p:cNvPr>
          <p:cNvSpPr>
            <a:spLocks noGrp="1"/>
          </p:cNvSpPr>
          <p:nvPr>
            <p:ph type="title"/>
          </p:nvPr>
        </p:nvSpPr>
        <p:spPr/>
        <p:txBody>
          <a:bodyPr/>
          <a:lstStyle/>
          <a:p>
            <a:r>
              <a:rPr lang="en-US" dirty="0"/>
              <a:t>Simulated Hardware and Software for Gene Perturbation Analysis</a:t>
            </a:r>
            <a:endParaRPr lang="en-CA" dirty="0"/>
          </a:p>
        </p:txBody>
      </p:sp>
      <p:sp>
        <p:nvSpPr>
          <p:cNvPr id="4" name="Rectangle 3">
            <a:extLst>
              <a:ext uri="{FF2B5EF4-FFF2-40B4-BE49-F238E27FC236}">
                <a16:creationId xmlns:a16="http://schemas.microsoft.com/office/drawing/2014/main" id="{C82D2189-7EA5-7C37-6E9C-7BC930AAE325}"/>
              </a:ext>
            </a:extLst>
          </p:cNvPr>
          <p:cNvSpPr/>
          <p:nvPr/>
        </p:nvSpPr>
        <p:spPr>
          <a:xfrm>
            <a:off x="3392016" y="2349583"/>
            <a:ext cx="3971925" cy="852497"/>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6DBF1004-C1A6-5974-38B0-CF32ACCF9402}"/>
              </a:ext>
            </a:extLst>
          </p:cNvPr>
          <p:cNvSpPr/>
          <p:nvPr/>
        </p:nvSpPr>
        <p:spPr>
          <a:xfrm>
            <a:off x="3357695" y="4864386"/>
            <a:ext cx="3971925" cy="936885"/>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054ACAFB-1941-0BF3-1B5D-40F8F99B4AE0}"/>
              </a:ext>
            </a:extLst>
          </p:cNvPr>
          <p:cNvSpPr txBox="1"/>
          <p:nvPr/>
        </p:nvSpPr>
        <p:spPr>
          <a:xfrm>
            <a:off x="3523118" y="2418987"/>
            <a:ext cx="3393621" cy="646331"/>
          </a:xfrm>
          <a:prstGeom prst="rect">
            <a:avLst/>
          </a:prstGeom>
          <a:noFill/>
        </p:spPr>
        <p:txBody>
          <a:bodyPr wrap="none" rtlCol="0">
            <a:spAutoFit/>
          </a:bodyPr>
          <a:lstStyle/>
          <a:p>
            <a:r>
              <a:rPr lang="en-US" dirty="0"/>
              <a:t>Simulated Trajectories with Model</a:t>
            </a:r>
          </a:p>
          <a:p>
            <a:r>
              <a:rPr lang="en-US" dirty="0"/>
              <a:t>Free Reinforcement Learning</a:t>
            </a:r>
            <a:endParaRPr lang="en-CA" dirty="0"/>
          </a:p>
        </p:txBody>
      </p:sp>
      <p:sp>
        <p:nvSpPr>
          <p:cNvPr id="7" name="TextBox 6">
            <a:extLst>
              <a:ext uri="{FF2B5EF4-FFF2-40B4-BE49-F238E27FC236}">
                <a16:creationId xmlns:a16="http://schemas.microsoft.com/office/drawing/2014/main" id="{0457194C-FB31-1E1C-BAAC-B2F96D3BCF5D}"/>
              </a:ext>
            </a:extLst>
          </p:cNvPr>
          <p:cNvSpPr txBox="1"/>
          <p:nvPr/>
        </p:nvSpPr>
        <p:spPr>
          <a:xfrm>
            <a:off x="3496324" y="4942126"/>
            <a:ext cx="3694666" cy="646331"/>
          </a:xfrm>
          <a:prstGeom prst="rect">
            <a:avLst/>
          </a:prstGeom>
          <a:noFill/>
        </p:spPr>
        <p:txBody>
          <a:bodyPr wrap="none" rtlCol="0">
            <a:spAutoFit/>
          </a:bodyPr>
          <a:lstStyle/>
          <a:p>
            <a:r>
              <a:rPr lang="en-US" dirty="0"/>
              <a:t>Experimental Trajectories with Model</a:t>
            </a:r>
          </a:p>
          <a:p>
            <a:r>
              <a:rPr lang="en-US" dirty="0"/>
              <a:t>Based  Reinforcement Learning</a:t>
            </a:r>
            <a:endParaRPr lang="en-CA" dirty="0"/>
          </a:p>
        </p:txBody>
      </p:sp>
      <p:cxnSp>
        <p:nvCxnSpPr>
          <p:cNvPr id="9" name="Straight Arrow Connector 8">
            <a:extLst>
              <a:ext uri="{FF2B5EF4-FFF2-40B4-BE49-F238E27FC236}">
                <a16:creationId xmlns:a16="http://schemas.microsoft.com/office/drawing/2014/main" id="{19AF38C3-8696-FD31-527E-DC41FD4959B7}"/>
              </a:ext>
            </a:extLst>
          </p:cNvPr>
          <p:cNvCxnSpPr/>
          <p:nvPr/>
        </p:nvCxnSpPr>
        <p:spPr>
          <a:xfrm>
            <a:off x="2141574" y="2852296"/>
            <a:ext cx="125044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E098B30-E28B-3F9A-C33A-34984234C365}"/>
              </a:ext>
            </a:extLst>
          </p:cNvPr>
          <p:cNvCxnSpPr/>
          <p:nvPr/>
        </p:nvCxnSpPr>
        <p:spPr>
          <a:xfrm>
            <a:off x="2121408" y="5284311"/>
            <a:ext cx="125044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109A4B3-276A-13F2-C203-25595A5F34FC}"/>
              </a:ext>
            </a:extLst>
          </p:cNvPr>
          <p:cNvCxnSpPr/>
          <p:nvPr/>
        </p:nvCxnSpPr>
        <p:spPr>
          <a:xfrm>
            <a:off x="7343775" y="2832942"/>
            <a:ext cx="125044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DC80677-9F01-BF36-85CA-C26E5F2695B1}"/>
              </a:ext>
            </a:extLst>
          </p:cNvPr>
          <p:cNvCxnSpPr/>
          <p:nvPr/>
        </p:nvCxnSpPr>
        <p:spPr>
          <a:xfrm>
            <a:off x="7343775" y="5284311"/>
            <a:ext cx="125044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20E23A8-ED60-4D3F-7C50-B1EEE38D5F4D}"/>
              </a:ext>
            </a:extLst>
          </p:cNvPr>
          <p:cNvSpPr txBox="1"/>
          <p:nvPr/>
        </p:nvSpPr>
        <p:spPr>
          <a:xfrm>
            <a:off x="473537" y="2394528"/>
            <a:ext cx="1762598" cy="923330"/>
          </a:xfrm>
          <a:prstGeom prst="rect">
            <a:avLst/>
          </a:prstGeom>
          <a:noFill/>
        </p:spPr>
        <p:txBody>
          <a:bodyPr wrap="none" rtlCol="0">
            <a:spAutoFit/>
          </a:bodyPr>
          <a:lstStyle/>
          <a:p>
            <a:r>
              <a:rPr lang="en-US" dirty="0" err="1"/>
              <a:t>UnPerturb</a:t>
            </a:r>
            <a:r>
              <a:rPr lang="en-US" dirty="0"/>
              <a:t> RNA</a:t>
            </a:r>
          </a:p>
          <a:p>
            <a:r>
              <a:rPr lang="en-US" dirty="0"/>
              <a:t> Sequence</a:t>
            </a:r>
          </a:p>
          <a:p>
            <a:r>
              <a:rPr lang="en-US" dirty="0"/>
              <a:t>(Control Sample)</a:t>
            </a:r>
            <a:endParaRPr lang="en-CA" dirty="0"/>
          </a:p>
        </p:txBody>
      </p:sp>
      <p:sp>
        <p:nvSpPr>
          <p:cNvPr id="14" name="TextBox 13">
            <a:extLst>
              <a:ext uri="{FF2B5EF4-FFF2-40B4-BE49-F238E27FC236}">
                <a16:creationId xmlns:a16="http://schemas.microsoft.com/office/drawing/2014/main" id="{8E467C4C-5451-56B7-16FA-57D59B3C60B1}"/>
              </a:ext>
            </a:extLst>
          </p:cNvPr>
          <p:cNvSpPr txBox="1"/>
          <p:nvPr/>
        </p:nvSpPr>
        <p:spPr>
          <a:xfrm>
            <a:off x="621780" y="4961145"/>
            <a:ext cx="1355051" cy="646331"/>
          </a:xfrm>
          <a:prstGeom prst="rect">
            <a:avLst/>
          </a:prstGeom>
          <a:noFill/>
        </p:spPr>
        <p:txBody>
          <a:bodyPr wrap="none" rtlCol="0">
            <a:spAutoFit/>
          </a:bodyPr>
          <a:lstStyle/>
          <a:p>
            <a:r>
              <a:rPr lang="en-US" dirty="0"/>
              <a:t>Perturb RNA</a:t>
            </a:r>
          </a:p>
          <a:p>
            <a:r>
              <a:rPr lang="en-US" dirty="0"/>
              <a:t> Sequence</a:t>
            </a:r>
            <a:endParaRPr lang="en-CA" dirty="0"/>
          </a:p>
        </p:txBody>
      </p:sp>
      <p:sp>
        <p:nvSpPr>
          <p:cNvPr id="15" name="TextBox 14">
            <a:extLst>
              <a:ext uri="{FF2B5EF4-FFF2-40B4-BE49-F238E27FC236}">
                <a16:creationId xmlns:a16="http://schemas.microsoft.com/office/drawing/2014/main" id="{EA97A9C0-79C3-58D6-8659-1651C70C1B2C}"/>
              </a:ext>
            </a:extLst>
          </p:cNvPr>
          <p:cNvSpPr txBox="1"/>
          <p:nvPr/>
        </p:nvSpPr>
        <p:spPr>
          <a:xfrm>
            <a:off x="8594217" y="2591074"/>
            <a:ext cx="1917384" cy="646331"/>
          </a:xfrm>
          <a:prstGeom prst="rect">
            <a:avLst/>
          </a:prstGeom>
          <a:noFill/>
        </p:spPr>
        <p:txBody>
          <a:bodyPr wrap="none" rtlCol="0">
            <a:spAutoFit/>
          </a:bodyPr>
          <a:lstStyle/>
          <a:p>
            <a:r>
              <a:rPr lang="en-US" dirty="0"/>
              <a:t>Saved Simulated</a:t>
            </a:r>
          </a:p>
          <a:p>
            <a:r>
              <a:rPr lang="en-US" dirty="0"/>
              <a:t> Evolved Dynamics</a:t>
            </a:r>
            <a:endParaRPr lang="en-CA" dirty="0"/>
          </a:p>
        </p:txBody>
      </p:sp>
      <p:sp>
        <p:nvSpPr>
          <p:cNvPr id="16" name="TextBox 15">
            <a:extLst>
              <a:ext uri="{FF2B5EF4-FFF2-40B4-BE49-F238E27FC236}">
                <a16:creationId xmlns:a16="http://schemas.microsoft.com/office/drawing/2014/main" id="{D8334FD4-FC8B-0AA9-F328-D7F47E79203E}"/>
              </a:ext>
            </a:extLst>
          </p:cNvPr>
          <p:cNvSpPr txBox="1"/>
          <p:nvPr/>
        </p:nvSpPr>
        <p:spPr>
          <a:xfrm>
            <a:off x="8738794" y="5021066"/>
            <a:ext cx="2380652" cy="646331"/>
          </a:xfrm>
          <a:prstGeom prst="rect">
            <a:avLst/>
          </a:prstGeom>
          <a:noFill/>
        </p:spPr>
        <p:txBody>
          <a:bodyPr wrap="none" rtlCol="0">
            <a:spAutoFit/>
          </a:bodyPr>
          <a:lstStyle/>
          <a:p>
            <a:r>
              <a:rPr lang="en-US" dirty="0"/>
              <a:t>Saved Evolved </a:t>
            </a:r>
          </a:p>
          <a:p>
            <a:r>
              <a:rPr lang="en-US" dirty="0"/>
              <a:t>Experimental Dynamics</a:t>
            </a:r>
            <a:endParaRPr lang="en-CA" dirty="0"/>
          </a:p>
        </p:txBody>
      </p:sp>
      <p:sp>
        <p:nvSpPr>
          <p:cNvPr id="17" name="Rectangle: Rounded Corners 16">
            <a:extLst>
              <a:ext uri="{FF2B5EF4-FFF2-40B4-BE49-F238E27FC236}">
                <a16:creationId xmlns:a16="http://schemas.microsoft.com/office/drawing/2014/main" id="{60A491DA-B0A6-9C58-6C85-F531945E7899}"/>
              </a:ext>
            </a:extLst>
          </p:cNvPr>
          <p:cNvSpPr/>
          <p:nvPr/>
        </p:nvSpPr>
        <p:spPr>
          <a:xfrm>
            <a:off x="8114369" y="3555183"/>
            <a:ext cx="3653959" cy="919112"/>
          </a:xfrm>
          <a:prstGeom prst="roundRec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en-CA"/>
          </a:p>
        </p:txBody>
      </p:sp>
      <p:sp>
        <p:nvSpPr>
          <p:cNvPr id="18" name="Rectangle 17">
            <a:extLst>
              <a:ext uri="{FF2B5EF4-FFF2-40B4-BE49-F238E27FC236}">
                <a16:creationId xmlns:a16="http://schemas.microsoft.com/office/drawing/2014/main" id="{8E94E4B7-A2C8-5DB9-7ADB-19939E86217D}"/>
              </a:ext>
            </a:extLst>
          </p:cNvPr>
          <p:cNvSpPr/>
          <p:nvPr/>
        </p:nvSpPr>
        <p:spPr>
          <a:xfrm>
            <a:off x="8594217" y="2460818"/>
            <a:ext cx="2525229" cy="852497"/>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05E3E047-D111-3323-629F-64D072F3CA4A}"/>
              </a:ext>
            </a:extLst>
          </p:cNvPr>
          <p:cNvSpPr/>
          <p:nvPr/>
        </p:nvSpPr>
        <p:spPr>
          <a:xfrm>
            <a:off x="8594217" y="4858061"/>
            <a:ext cx="2525229" cy="852497"/>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cxnSp>
        <p:nvCxnSpPr>
          <p:cNvPr id="20" name="Straight Arrow Connector 19">
            <a:extLst>
              <a:ext uri="{FF2B5EF4-FFF2-40B4-BE49-F238E27FC236}">
                <a16:creationId xmlns:a16="http://schemas.microsoft.com/office/drawing/2014/main" id="{DF2E8F25-CE5B-9D90-3A74-4B5CFB29BEF1}"/>
              </a:ext>
            </a:extLst>
          </p:cNvPr>
          <p:cNvCxnSpPr>
            <a:cxnSpLocks/>
          </p:cNvCxnSpPr>
          <p:nvPr/>
        </p:nvCxnSpPr>
        <p:spPr>
          <a:xfrm>
            <a:off x="9747104" y="3313315"/>
            <a:ext cx="0" cy="2272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8F22ED7-CA66-60D1-B560-17F696237F94}"/>
              </a:ext>
            </a:extLst>
          </p:cNvPr>
          <p:cNvCxnSpPr>
            <a:cxnSpLocks/>
          </p:cNvCxnSpPr>
          <p:nvPr/>
        </p:nvCxnSpPr>
        <p:spPr>
          <a:xfrm flipV="1">
            <a:off x="9747104" y="4517456"/>
            <a:ext cx="0" cy="3326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4D8AF69-61AA-094B-D867-B54B822402F5}"/>
              </a:ext>
            </a:extLst>
          </p:cNvPr>
          <p:cNvSpPr txBox="1"/>
          <p:nvPr/>
        </p:nvSpPr>
        <p:spPr>
          <a:xfrm>
            <a:off x="8255826" y="3597072"/>
            <a:ext cx="4511549" cy="1200329"/>
          </a:xfrm>
          <a:prstGeom prst="rect">
            <a:avLst/>
          </a:prstGeom>
          <a:noFill/>
        </p:spPr>
        <p:txBody>
          <a:bodyPr wrap="square" rtlCol="0">
            <a:spAutoFit/>
          </a:bodyPr>
          <a:lstStyle/>
          <a:p>
            <a:r>
              <a:rPr lang="en-US" dirty="0"/>
              <a:t>Align the Trajectories and Compare</a:t>
            </a:r>
          </a:p>
          <a:p>
            <a:r>
              <a:rPr lang="en-US" dirty="0"/>
              <a:t> </a:t>
            </a:r>
            <a:r>
              <a:rPr lang="en-CA" dirty="0"/>
              <a:t>Similarity </a:t>
            </a:r>
            <a:r>
              <a:rPr lang="en-US" dirty="0"/>
              <a:t>via DTW and </a:t>
            </a:r>
            <a:r>
              <a:rPr lang="en-CA" dirty="0"/>
              <a:t>Wasserstein</a:t>
            </a:r>
          </a:p>
          <a:p>
            <a:r>
              <a:rPr lang="en-CA" dirty="0"/>
              <a:t> Distance</a:t>
            </a:r>
          </a:p>
          <a:p>
            <a:endParaRPr lang="en-CA" dirty="0"/>
          </a:p>
        </p:txBody>
      </p:sp>
      <p:sp>
        <p:nvSpPr>
          <p:cNvPr id="32" name="Rectangle 31">
            <a:extLst>
              <a:ext uri="{FF2B5EF4-FFF2-40B4-BE49-F238E27FC236}">
                <a16:creationId xmlns:a16="http://schemas.microsoft.com/office/drawing/2014/main" id="{D345548A-CF2B-6E4B-9029-7C1F0E7FDCC7}"/>
              </a:ext>
            </a:extLst>
          </p:cNvPr>
          <p:cNvSpPr/>
          <p:nvPr/>
        </p:nvSpPr>
        <p:spPr>
          <a:xfrm>
            <a:off x="517219" y="2451391"/>
            <a:ext cx="1624355" cy="80181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Rectangle 32">
            <a:extLst>
              <a:ext uri="{FF2B5EF4-FFF2-40B4-BE49-F238E27FC236}">
                <a16:creationId xmlns:a16="http://schemas.microsoft.com/office/drawing/2014/main" id="{C6DD0DCA-2D7B-270A-BB92-EDA2766A32EB}"/>
              </a:ext>
            </a:extLst>
          </p:cNvPr>
          <p:cNvSpPr/>
          <p:nvPr/>
        </p:nvSpPr>
        <p:spPr>
          <a:xfrm>
            <a:off x="473537" y="4864387"/>
            <a:ext cx="1624355" cy="80181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TextBox 33">
            <a:extLst>
              <a:ext uri="{FF2B5EF4-FFF2-40B4-BE49-F238E27FC236}">
                <a16:creationId xmlns:a16="http://schemas.microsoft.com/office/drawing/2014/main" id="{FABA5E9A-B6F0-4631-5303-F6C95FE8DF5B}"/>
              </a:ext>
            </a:extLst>
          </p:cNvPr>
          <p:cNvSpPr txBox="1"/>
          <p:nvPr/>
        </p:nvSpPr>
        <p:spPr>
          <a:xfrm>
            <a:off x="4016842" y="4591813"/>
            <a:ext cx="2137124" cy="369332"/>
          </a:xfrm>
          <a:prstGeom prst="rect">
            <a:avLst/>
          </a:prstGeom>
          <a:noFill/>
        </p:spPr>
        <p:txBody>
          <a:bodyPr wrap="none" rtlCol="0">
            <a:spAutoFit/>
          </a:bodyPr>
          <a:lstStyle/>
          <a:p>
            <a:r>
              <a:rPr lang="en-US" b="1" dirty="0"/>
              <a:t>Simulated Hardware</a:t>
            </a:r>
            <a:endParaRPr lang="en-CA" b="1" dirty="0"/>
          </a:p>
        </p:txBody>
      </p:sp>
      <p:sp>
        <p:nvSpPr>
          <p:cNvPr id="35" name="TextBox 34">
            <a:extLst>
              <a:ext uri="{FF2B5EF4-FFF2-40B4-BE49-F238E27FC236}">
                <a16:creationId xmlns:a16="http://schemas.microsoft.com/office/drawing/2014/main" id="{FE18A0EC-8E9F-3EAF-B9B4-4D979E625C51}"/>
              </a:ext>
            </a:extLst>
          </p:cNvPr>
          <p:cNvSpPr txBox="1"/>
          <p:nvPr/>
        </p:nvSpPr>
        <p:spPr>
          <a:xfrm>
            <a:off x="4054705" y="2046016"/>
            <a:ext cx="2061398" cy="369332"/>
          </a:xfrm>
          <a:prstGeom prst="rect">
            <a:avLst/>
          </a:prstGeom>
          <a:noFill/>
        </p:spPr>
        <p:txBody>
          <a:bodyPr wrap="none" rtlCol="0">
            <a:spAutoFit/>
          </a:bodyPr>
          <a:lstStyle/>
          <a:p>
            <a:r>
              <a:rPr lang="en-US" b="1" dirty="0"/>
              <a:t>Simulated Software</a:t>
            </a:r>
            <a:endParaRPr lang="en-CA" b="1" dirty="0"/>
          </a:p>
        </p:txBody>
      </p:sp>
      <p:sp>
        <p:nvSpPr>
          <p:cNvPr id="38" name="Rectangle: Rounded Corners 37">
            <a:extLst>
              <a:ext uri="{FF2B5EF4-FFF2-40B4-BE49-F238E27FC236}">
                <a16:creationId xmlns:a16="http://schemas.microsoft.com/office/drawing/2014/main" id="{6B042967-54A7-99A8-DF6F-9ACE852C6A80}"/>
              </a:ext>
            </a:extLst>
          </p:cNvPr>
          <p:cNvSpPr/>
          <p:nvPr/>
        </p:nvSpPr>
        <p:spPr>
          <a:xfrm>
            <a:off x="265176" y="2109727"/>
            <a:ext cx="11088620" cy="143390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Rectangle: Rounded Corners 38">
            <a:extLst>
              <a:ext uri="{FF2B5EF4-FFF2-40B4-BE49-F238E27FC236}">
                <a16:creationId xmlns:a16="http://schemas.microsoft.com/office/drawing/2014/main" id="{98D2F60B-3919-F5B0-48DC-7ED88BB20676}"/>
              </a:ext>
            </a:extLst>
          </p:cNvPr>
          <p:cNvSpPr/>
          <p:nvPr/>
        </p:nvSpPr>
        <p:spPr>
          <a:xfrm>
            <a:off x="265176" y="4517456"/>
            <a:ext cx="11087930" cy="15230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0">
            <a:extLst>
              <a:ext uri="{FF2B5EF4-FFF2-40B4-BE49-F238E27FC236}">
                <a16:creationId xmlns:a16="http://schemas.microsoft.com/office/drawing/2014/main" id="{854652FB-106A-7A6C-3AE1-2C55FC9AE507}"/>
              </a:ext>
            </a:extLst>
          </p:cNvPr>
          <p:cNvSpPr txBox="1"/>
          <p:nvPr/>
        </p:nvSpPr>
        <p:spPr>
          <a:xfrm>
            <a:off x="384752" y="4520519"/>
            <a:ext cx="2676695" cy="369332"/>
          </a:xfrm>
          <a:prstGeom prst="rect">
            <a:avLst/>
          </a:prstGeom>
          <a:noFill/>
        </p:spPr>
        <p:txBody>
          <a:bodyPr wrap="none" rtlCol="0">
            <a:spAutoFit/>
          </a:bodyPr>
          <a:lstStyle/>
          <a:p>
            <a:r>
              <a:rPr lang="en-US" dirty="0"/>
              <a:t>Experimental perturbation</a:t>
            </a:r>
            <a:endParaRPr lang="en-CA" dirty="0"/>
          </a:p>
        </p:txBody>
      </p:sp>
      <p:sp>
        <p:nvSpPr>
          <p:cNvPr id="22" name="TextBox 21">
            <a:extLst>
              <a:ext uri="{FF2B5EF4-FFF2-40B4-BE49-F238E27FC236}">
                <a16:creationId xmlns:a16="http://schemas.microsoft.com/office/drawing/2014/main" id="{2C40566B-3098-01FB-BF83-FD44658FD47F}"/>
              </a:ext>
            </a:extLst>
          </p:cNvPr>
          <p:cNvSpPr txBox="1"/>
          <p:nvPr/>
        </p:nvSpPr>
        <p:spPr>
          <a:xfrm>
            <a:off x="3963092" y="3171240"/>
            <a:ext cx="2083391" cy="369332"/>
          </a:xfrm>
          <a:prstGeom prst="rect">
            <a:avLst/>
          </a:prstGeom>
          <a:noFill/>
        </p:spPr>
        <p:txBody>
          <a:bodyPr wrap="none" rtlCol="0">
            <a:spAutoFit/>
          </a:bodyPr>
          <a:lstStyle/>
          <a:p>
            <a:r>
              <a:rPr lang="en-US" dirty="0" err="1"/>
              <a:t>Insilico</a:t>
            </a:r>
            <a:r>
              <a:rPr lang="en-US" dirty="0"/>
              <a:t> perturbation</a:t>
            </a:r>
            <a:endParaRPr lang="en-CA" dirty="0"/>
          </a:p>
        </p:txBody>
      </p:sp>
    </p:spTree>
    <p:extLst>
      <p:ext uri="{BB962C8B-B14F-4D97-AF65-F5344CB8AC3E}">
        <p14:creationId xmlns:p14="http://schemas.microsoft.com/office/powerpoint/2010/main" val="1159057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CB6EF-D17E-D3AB-1F70-4A6C250E10A4}"/>
              </a:ext>
            </a:extLst>
          </p:cNvPr>
          <p:cNvSpPr>
            <a:spLocks noGrp="1"/>
          </p:cNvSpPr>
          <p:nvPr>
            <p:ph type="title"/>
          </p:nvPr>
        </p:nvSpPr>
        <p:spPr>
          <a:xfrm>
            <a:off x="719328" y="127381"/>
            <a:ext cx="10515600" cy="1325563"/>
          </a:xfrm>
        </p:spPr>
        <p:txBody>
          <a:bodyPr>
            <a:normAutofit/>
          </a:bodyPr>
          <a:lstStyle/>
          <a:p>
            <a:r>
              <a:rPr lang="en-US" sz="3200" dirty="0"/>
              <a:t>RNA dataset Description</a:t>
            </a:r>
            <a:endParaRPr lang="en-CA" sz="3200" dirty="0"/>
          </a:p>
        </p:txBody>
      </p:sp>
      <p:sp>
        <p:nvSpPr>
          <p:cNvPr id="3" name="Content Placeholder 2">
            <a:extLst>
              <a:ext uri="{FF2B5EF4-FFF2-40B4-BE49-F238E27FC236}">
                <a16:creationId xmlns:a16="http://schemas.microsoft.com/office/drawing/2014/main" id="{07A2110F-0A5E-FFE7-6B44-F77B743F1AEF}"/>
              </a:ext>
            </a:extLst>
          </p:cNvPr>
          <p:cNvSpPr>
            <a:spLocks noGrp="1"/>
          </p:cNvSpPr>
          <p:nvPr>
            <p:ph idx="1"/>
          </p:nvPr>
        </p:nvSpPr>
        <p:spPr>
          <a:xfrm>
            <a:off x="719328" y="1350137"/>
            <a:ext cx="10515600" cy="4351338"/>
          </a:xfrm>
        </p:spPr>
        <p:txBody>
          <a:bodyPr>
            <a:normAutofit fontScale="92500" lnSpcReduction="10000"/>
          </a:bodyPr>
          <a:lstStyle/>
          <a:p>
            <a:pPr marL="0" indent="0">
              <a:buNone/>
            </a:pPr>
            <a:r>
              <a:rPr lang="en-US" sz="1600" dirty="0">
                <a:latin typeface="Times New Roman" panose="02020603050405020304" pitchFamily="18" charset="0"/>
                <a:cs typeface="Times New Roman" panose="02020603050405020304" pitchFamily="18" charset="0"/>
              </a:rPr>
              <a:t>Organism: Mus musculus</a:t>
            </a:r>
          </a:p>
          <a:p>
            <a:pPr marL="0" indent="0">
              <a:buNone/>
            </a:pPr>
            <a:r>
              <a:rPr lang="en-US" sz="1600" dirty="0">
                <a:latin typeface="Times New Roman" panose="02020603050405020304" pitchFamily="18" charset="0"/>
                <a:cs typeface="Times New Roman" panose="02020603050405020304" pitchFamily="18" charset="0"/>
              </a:rPr>
              <a:t>RNA sequence</a:t>
            </a:r>
          </a:p>
          <a:p>
            <a:pPr marL="0" indent="0">
              <a:buNone/>
            </a:pPr>
            <a:r>
              <a:rPr lang="en-US" sz="1600" dirty="0">
                <a:latin typeface="Times New Roman" panose="02020603050405020304" pitchFamily="18" charset="0"/>
                <a:cs typeface="Times New Roman" panose="02020603050405020304" pitchFamily="18" charset="0"/>
              </a:rPr>
              <a:t>Perturbation: Crisper Knockout: </a:t>
            </a:r>
            <a:r>
              <a:rPr lang="en-US" sz="1600" dirty="0" err="1">
                <a:latin typeface="Times New Roman" panose="02020603050405020304" pitchFamily="18" charset="0"/>
                <a:cs typeface="Times New Roman" panose="02020603050405020304" pitchFamily="18" charset="0"/>
              </a:rPr>
              <a:t>Crisprko</a:t>
            </a: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CA" sz="1600" dirty="0" err="1">
                <a:latin typeface="Times New Roman" panose="02020603050405020304" pitchFamily="18" charset="0"/>
                <a:cs typeface="Times New Roman" panose="02020603050405020304" pitchFamily="18" charset="0"/>
              </a:rPr>
              <a:t>Unperturb</a:t>
            </a:r>
            <a:r>
              <a:rPr lang="en-CA" sz="1600" dirty="0">
                <a:latin typeface="Times New Roman" panose="02020603050405020304" pitchFamily="18" charset="0"/>
                <a:cs typeface="Times New Roman" panose="02020603050405020304" pitchFamily="18" charset="0"/>
              </a:rPr>
              <a:t> data (Control Sample) –</a:t>
            </a:r>
            <a:r>
              <a:rPr lang="en-CA" sz="1600" dirty="0" err="1">
                <a:latin typeface="Times New Roman" panose="02020603050405020304" pitchFamily="18" charset="0"/>
                <a:cs typeface="Times New Roman" panose="02020603050405020304" pitchFamily="18" charset="0"/>
              </a:rPr>
              <a:t>CTRL_data</a:t>
            </a:r>
            <a:endParaRPr lang="en-CA" sz="1600" dirty="0">
              <a:latin typeface="Times New Roman" panose="02020603050405020304" pitchFamily="18" charset="0"/>
              <a:cs typeface="Times New Roman" panose="02020603050405020304" pitchFamily="18" charset="0"/>
            </a:endParaRPr>
          </a:p>
          <a:p>
            <a:pPr marL="0" indent="0">
              <a:buNone/>
            </a:pPr>
            <a:endParaRPr lang="en-CA" sz="1600" dirty="0">
              <a:latin typeface="Times New Roman" panose="02020603050405020304" pitchFamily="18" charset="0"/>
              <a:cs typeface="Times New Roman" panose="02020603050405020304" pitchFamily="18" charset="0"/>
            </a:endParaRPr>
          </a:p>
          <a:p>
            <a:pPr marL="0" indent="0">
              <a:buNone/>
            </a:pPr>
            <a:r>
              <a:rPr lang="en-CA" sz="1600" dirty="0">
                <a:latin typeface="Times New Roman" panose="02020603050405020304" pitchFamily="18" charset="0"/>
                <a:cs typeface="Times New Roman" panose="02020603050405020304" pitchFamily="18" charset="0"/>
              </a:rPr>
              <a:t>Perturb data with CRISPRKO-PTPN2 data</a:t>
            </a:r>
            <a:endParaRPr lang="en-US" sz="1600"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r>
              <a:rPr lang="en-US" sz="1400" dirty="0">
                <a:hlinkClick r:id="rId2"/>
              </a:rPr>
              <a:t>https://www.ncbi.nlm.nih.gov/geo/query/acc.cgi?acc=GSE134139</a:t>
            </a:r>
            <a:endParaRPr lang="en-US" sz="1400" dirty="0"/>
          </a:p>
          <a:p>
            <a:pPr marL="0" indent="0">
              <a:buNone/>
            </a:pPr>
            <a:endParaRPr lang="en-US" sz="1400" dirty="0"/>
          </a:p>
          <a:p>
            <a:pPr marL="0" indent="0">
              <a:buNone/>
            </a:pPr>
            <a:r>
              <a:rPr lang="en-CA" sz="1500" u="sng" dirty="0">
                <a:hlinkClick r:id="rId3"/>
              </a:rPr>
              <a:t>https://drive.google.com/drive/folders/1AAI4KU9G-UHoKo72Ne6iGAaCgFPADIW3?usp=drive_link</a:t>
            </a:r>
            <a:endParaRPr lang="en-US" sz="1500" dirty="0"/>
          </a:p>
          <a:p>
            <a:pPr marL="0" indent="0">
              <a:buNone/>
            </a:pPr>
            <a:endParaRPr lang="en-CA" sz="1500" dirty="0">
              <a:latin typeface="Times New Roman" panose="02020603050405020304" pitchFamily="18" charset="0"/>
              <a:cs typeface="Times New Roman" panose="02020603050405020304" pitchFamily="18" charset="0"/>
            </a:endParaRPr>
          </a:p>
          <a:p>
            <a:pPr marL="0" indent="0">
              <a:buNone/>
            </a:pPr>
            <a:r>
              <a:rPr lang="en-CA" sz="1500" dirty="0">
                <a:latin typeface="Times New Roman" panose="02020603050405020304" pitchFamily="18" charset="0"/>
                <a:cs typeface="Times New Roman" panose="02020603050405020304" pitchFamily="18" charset="0"/>
              </a:rPr>
              <a:t>LaFleur MW, Nguyen TH, Coxe MA, Miller BC et al. PTPN2 regulates the generation of exhausted CD8(+) T cell subpopulations and restrains tumor immunity. </a:t>
            </a:r>
            <a:r>
              <a:rPr lang="en-CA" sz="1500" i="1" dirty="0">
                <a:latin typeface="Times New Roman" panose="02020603050405020304" pitchFamily="18" charset="0"/>
                <a:cs typeface="Times New Roman" panose="02020603050405020304" pitchFamily="18" charset="0"/>
              </a:rPr>
              <a:t>Nat Immunol</a:t>
            </a:r>
            <a:r>
              <a:rPr lang="en-CA" sz="1500" dirty="0">
                <a:latin typeface="Times New Roman" panose="02020603050405020304" pitchFamily="18" charset="0"/>
                <a:cs typeface="Times New Roman" panose="02020603050405020304" pitchFamily="18" charset="0"/>
              </a:rPr>
              <a:t> 2019 Oct;20(10):1335-1347.</a:t>
            </a:r>
          </a:p>
        </p:txBody>
      </p:sp>
    </p:spTree>
    <p:extLst>
      <p:ext uri="{BB962C8B-B14F-4D97-AF65-F5344CB8AC3E}">
        <p14:creationId xmlns:p14="http://schemas.microsoft.com/office/powerpoint/2010/main" val="3080982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2321-2A5B-B755-0C3A-78C2C1EC7A2A}"/>
              </a:ext>
            </a:extLst>
          </p:cNvPr>
          <p:cNvSpPr>
            <a:spLocks noGrp="1"/>
          </p:cNvSpPr>
          <p:nvPr>
            <p:ph type="title"/>
          </p:nvPr>
        </p:nvSpPr>
        <p:spPr/>
        <p:txBody>
          <a:bodyPr/>
          <a:lstStyle/>
          <a:p>
            <a:r>
              <a:rPr lang="en-US" dirty="0"/>
              <a:t>Code link</a:t>
            </a:r>
            <a:endParaRPr lang="en-CA" dirty="0"/>
          </a:p>
        </p:txBody>
      </p:sp>
      <p:sp>
        <p:nvSpPr>
          <p:cNvPr id="5" name="Content Placeholder 4">
            <a:extLst>
              <a:ext uri="{FF2B5EF4-FFF2-40B4-BE49-F238E27FC236}">
                <a16:creationId xmlns:a16="http://schemas.microsoft.com/office/drawing/2014/main" id="{CFB92AA3-E3F6-A422-2035-B116844849DF}"/>
              </a:ext>
            </a:extLst>
          </p:cNvPr>
          <p:cNvSpPr>
            <a:spLocks noGrp="1"/>
          </p:cNvSpPr>
          <p:nvPr>
            <p:ph idx="1"/>
          </p:nvPr>
        </p:nvSpPr>
        <p:spPr/>
        <p:txBody>
          <a:bodyPr/>
          <a:lstStyle/>
          <a:p>
            <a:r>
              <a:rPr lang="en-US" dirty="0"/>
              <a:t>Colab:</a:t>
            </a:r>
          </a:p>
          <a:p>
            <a:pPr marL="0" indent="0">
              <a:buNone/>
            </a:pPr>
            <a:r>
              <a:rPr lang="en-CA" dirty="0">
                <a:hlinkClick r:id="rId2"/>
              </a:rPr>
              <a:t>https://colab.research.google.com/drive/1pJJpmq2cz5iY0ctqEYmCx7U8p4kUNRa-?usp=sharing</a:t>
            </a:r>
            <a:endParaRPr lang="en-CA" dirty="0"/>
          </a:p>
          <a:p>
            <a:pPr marL="0" indent="0">
              <a:buNone/>
            </a:pPr>
            <a:endParaRPr lang="en-CA" dirty="0"/>
          </a:p>
          <a:p>
            <a:pPr marL="0" indent="0">
              <a:buNone/>
            </a:pPr>
            <a:r>
              <a:rPr lang="en-CA" dirty="0" err="1"/>
              <a:t>Github</a:t>
            </a:r>
            <a:r>
              <a:rPr lang="en-CA" dirty="0"/>
              <a:t>: https://github.com/boabangf/GNN_RL_gene_trajectory_perturbation/tree/main/RNA_seq_CTRL_Perturb</a:t>
            </a:r>
          </a:p>
        </p:txBody>
      </p:sp>
    </p:spTree>
    <p:extLst>
      <p:ext uri="{BB962C8B-B14F-4D97-AF65-F5344CB8AC3E}">
        <p14:creationId xmlns:p14="http://schemas.microsoft.com/office/powerpoint/2010/main" val="1697290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E4654A-7F08-4922-BD32-84DE8A0467DB}"/>
              </a:ext>
            </a:extLst>
          </p:cNvPr>
          <p:cNvSpPr>
            <a:spLocks noGrp="1"/>
          </p:cNvSpPr>
          <p:nvPr>
            <p:ph type="title"/>
          </p:nvPr>
        </p:nvSpPr>
        <p:spPr>
          <a:xfrm>
            <a:off x="589558" y="244742"/>
            <a:ext cx="7015498" cy="1235225"/>
          </a:xfrm>
        </p:spPr>
        <p:txBody>
          <a:bodyPr vert="horz" lIns="91440" tIns="45720" rIns="91440" bIns="45720" rtlCol="0" anchor="ctr">
            <a:normAutofit/>
          </a:bodyPr>
          <a:lstStyle/>
          <a:p>
            <a:r>
              <a:rPr lang="en-US" sz="3600" kern="1200" dirty="0">
                <a:solidFill>
                  <a:schemeClr val="tx1"/>
                </a:solidFill>
                <a:latin typeface="+mj-lt"/>
                <a:ea typeface="+mj-ea"/>
                <a:cs typeface="+mj-cs"/>
              </a:rPr>
              <a:t>Results(Control sample/Perturbed sample)</a:t>
            </a:r>
          </a:p>
        </p:txBody>
      </p:sp>
      <p:graphicFrame>
        <p:nvGraphicFramePr>
          <p:cNvPr id="3" name="Table 2">
            <a:extLst>
              <a:ext uri="{FF2B5EF4-FFF2-40B4-BE49-F238E27FC236}">
                <a16:creationId xmlns:a16="http://schemas.microsoft.com/office/drawing/2014/main" id="{598E35EE-DDDE-6868-AB01-7D35B5011805}"/>
              </a:ext>
            </a:extLst>
          </p:cNvPr>
          <p:cNvGraphicFramePr>
            <a:graphicFrameLocks noGrp="1"/>
          </p:cNvGraphicFramePr>
          <p:nvPr>
            <p:extLst>
              <p:ext uri="{D42A27DB-BD31-4B8C-83A1-F6EECF244321}">
                <p14:modId xmlns:p14="http://schemas.microsoft.com/office/powerpoint/2010/main" val="2693105492"/>
              </p:ext>
            </p:extLst>
          </p:nvPr>
        </p:nvGraphicFramePr>
        <p:xfrm>
          <a:off x="660988" y="2018594"/>
          <a:ext cx="10357568" cy="3844620"/>
        </p:xfrm>
        <a:graphic>
          <a:graphicData uri="http://schemas.openxmlformats.org/drawingml/2006/table">
            <a:tbl>
              <a:tblPr firstRow="1" bandRow="1"/>
              <a:tblGrid>
                <a:gridCol w="1053395">
                  <a:extLst>
                    <a:ext uri="{9D8B030D-6E8A-4147-A177-3AD203B41FA5}">
                      <a16:colId xmlns:a16="http://schemas.microsoft.com/office/drawing/2014/main" val="1019583549"/>
                    </a:ext>
                  </a:extLst>
                </a:gridCol>
                <a:gridCol w="1344515">
                  <a:extLst>
                    <a:ext uri="{9D8B030D-6E8A-4147-A177-3AD203B41FA5}">
                      <a16:colId xmlns:a16="http://schemas.microsoft.com/office/drawing/2014/main" val="4042137640"/>
                    </a:ext>
                  </a:extLst>
                </a:gridCol>
                <a:gridCol w="1682508">
                  <a:extLst>
                    <a:ext uri="{9D8B030D-6E8A-4147-A177-3AD203B41FA5}">
                      <a16:colId xmlns:a16="http://schemas.microsoft.com/office/drawing/2014/main" val="934818834"/>
                    </a:ext>
                  </a:extLst>
                </a:gridCol>
                <a:gridCol w="1607028">
                  <a:extLst>
                    <a:ext uri="{9D8B030D-6E8A-4147-A177-3AD203B41FA5}">
                      <a16:colId xmlns:a16="http://schemas.microsoft.com/office/drawing/2014/main" val="4253248227"/>
                    </a:ext>
                  </a:extLst>
                </a:gridCol>
                <a:gridCol w="1607028">
                  <a:extLst>
                    <a:ext uri="{9D8B030D-6E8A-4147-A177-3AD203B41FA5}">
                      <a16:colId xmlns:a16="http://schemas.microsoft.com/office/drawing/2014/main" val="1617347277"/>
                    </a:ext>
                  </a:extLst>
                </a:gridCol>
                <a:gridCol w="1531547">
                  <a:extLst>
                    <a:ext uri="{9D8B030D-6E8A-4147-A177-3AD203B41FA5}">
                      <a16:colId xmlns:a16="http://schemas.microsoft.com/office/drawing/2014/main" val="494018100"/>
                    </a:ext>
                  </a:extLst>
                </a:gridCol>
                <a:gridCol w="1531547">
                  <a:extLst>
                    <a:ext uri="{9D8B030D-6E8A-4147-A177-3AD203B41FA5}">
                      <a16:colId xmlns:a16="http://schemas.microsoft.com/office/drawing/2014/main" val="2789593751"/>
                    </a:ext>
                  </a:extLst>
                </a:gridCol>
              </a:tblGrid>
              <a:tr h="268980">
                <a:tc>
                  <a:txBody>
                    <a:bodyPr/>
                    <a:lstStyle/>
                    <a:p>
                      <a:pPr>
                        <a:buNone/>
                      </a:pPr>
                      <a:r>
                        <a:rPr lang="en-CA" sz="1200" b="1"/>
                        <a:t>System</a:t>
                      </a:r>
                      <a:endParaRPr lang="en-CA" sz="1200"/>
                    </a:p>
                  </a:txBody>
                  <a:tcPr marL="60494" marR="60494" marT="30247" marB="30247" anchor="ctr">
                    <a:lnL>
                      <a:noFill/>
                    </a:lnL>
                    <a:lnR>
                      <a:noFill/>
                    </a:lnR>
                    <a:lnT>
                      <a:noFill/>
                    </a:lnT>
                    <a:lnB>
                      <a:noFill/>
                    </a:lnB>
                    <a:noFill/>
                  </a:tcPr>
                </a:tc>
                <a:tc>
                  <a:txBody>
                    <a:bodyPr/>
                    <a:lstStyle/>
                    <a:p>
                      <a:pPr>
                        <a:buNone/>
                      </a:pPr>
                      <a:r>
                        <a:rPr lang="en-CA" sz="1200" b="1"/>
                        <a:t>Algorithm</a:t>
                      </a:r>
                      <a:endParaRPr lang="en-CA" sz="1200"/>
                    </a:p>
                  </a:txBody>
                  <a:tcPr marL="60494" marR="60494" marT="30247" marB="30247" anchor="ctr">
                    <a:lnL>
                      <a:noFill/>
                    </a:lnL>
                    <a:lnR>
                      <a:noFill/>
                    </a:lnR>
                    <a:lnT>
                      <a:noFill/>
                    </a:lnT>
                    <a:lnB>
                      <a:noFill/>
                    </a:lnB>
                    <a:noFill/>
                  </a:tcPr>
                </a:tc>
                <a:tc>
                  <a:txBody>
                    <a:bodyPr/>
                    <a:lstStyle/>
                    <a:p>
                      <a:pPr>
                        <a:buNone/>
                      </a:pPr>
                      <a:r>
                        <a:rPr lang="en-CA" sz="1200" b="1"/>
                        <a:t>MSE</a:t>
                      </a:r>
                      <a:endParaRPr lang="en-CA" sz="1200"/>
                    </a:p>
                  </a:txBody>
                  <a:tcPr marL="60494" marR="60494" marT="30247" marB="30247" anchor="ctr">
                    <a:lnL>
                      <a:noFill/>
                    </a:lnL>
                    <a:lnR>
                      <a:noFill/>
                    </a:lnR>
                    <a:lnT>
                      <a:noFill/>
                    </a:lnT>
                    <a:lnB>
                      <a:noFill/>
                    </a:lnB>
                    <a:noFill/>
                  </a:tcPr>
                </a:tc>
                <a:tc>
                  <a:txBody>
                    <a:bodyPr/>
                    <a:lstStyle/>
                    <a:p>
                      <a:pPr>
                        <a:buNone/>
                      </a:pPr>
                      <a:r>
                        <a:rPr lang="en-CA" sz="1200" b="1"/>
                        <a:t>RMSE</a:t>
                      </a:r>
                      <a:endParaRPr lang="en-CA" sz="1200"/>
                    </a:p>
                  </a:txBody>
                  <a:tcPr marL="60494" marR="60494" marT="30247" marB="30247" anchor="ctr">
                    <a:lnL>
                      <a:noFill/>
                    </a:lnL>
                    <a:lnR>
                      <a:noFill/>
                    </a:lnR>
                    <a:lnT>
                      <a:noFill/>
                    </a:lnT>
                    <a:lnB>
                      <a:noFill/>
                    </a:lnB>
                    <a:noFill/>
                  </a:tcPr>
                </a:tc>
                <a:tc>
                  <a:txBody>
                    <a:bodyPr/>
                    <a:lstStyle/>
                    <a:p>
                      <a:pPr>
                        <a:buNone/>
                      </a:pPr>
                      <a:r>
                        <a:rPr lang="en-CA" sz="1200" b="1"/>
                        <a:t>MAE</a:t>
                      </a:r>
                      <a:endParaRPr lang="en-CA" sz="1200"/>
                    </a:p>
                  </a:txBody>
                  <a:tcPr marL="60494" marR="60494" marT="30247" marB="30247" anchor="ctr">
                    <a:lnL>
                      <a:noFill/>
                    </a:lnL>
                    <a:lnR>
                      <a:noFill/>
                    </a:lnR>
                    <a:lnT>
                      <a:noFill/>
                    </a:lnT>
                    <a:lnB>
                      <a:noFill/>
                    </a:lnB>
                    <a:noFill/>
                  </a:tcPr>
                </a:tc>
                <a:tc>
                  <a:txBody>
                    <a:bodyPr/>
                    <a:lstStyle/>
                    <a:p>
                      <a:pPr>
                        <a:buNone/>
                      </a:pPr>
                      <a:r>
                        <a:rPr lang="en-CA" sz="1200" b="1"/>
                        <a:t>R²</a:t>
                      </a:r>
                      <a:endParaRPr lang="en-CA" sz="1200"/>
                    </a:p>
                  </a:txBody>
                  <a:tcPr marL="60494" marR="60494" marT="30247" marB="30247" anchor="ctr">
                    <a:lnL>
                      <a:noFill/>
                    </a:lnL>
                    <a:lnR>
                      <a:noFill/>
                    </a:lnR>
                    <a:lnT>
                      <a:noFill/>
                    </a:lnT>
                    <a:lnB>
                      <a:noFill/>
                    </a:lnB>
                    <a:noFill/>
                  </a:tcPr>
                </a:tc>
                <a:tc>
                  <a:txBody>
                    <a:bodyPr/>
                    <a:lstStyle/>
                    <a:p>
                      <a:pPr>
                        <a:buNone/>
                      </a:pPr>
                      <a:r>
                        <a:rPr lang="en-CA" sz="1200" b="1"/>
                        <a:t>Pearson</a:t>
                      </a:r>
                      <a:endParaRPr lang="en-CA" sz="1200"/>
                    </a:p>
                  </a:txBody>
                  <a:tcPr marL="60494" marR="60494" marT="30247" marB="30247" anchor="ctr">
                    <a:lnL>
                      <a:noFill/>
                    </a:lnL>
                    <a:lnR>
                      <a:noFill/>
                    </a:lnR>
                    <a:lnT>
                      <a:noFill/>
                    </a:lnT>
                    <a:lnB>
                      <a:noFill/>
                    </a:lnB>
                    <a:noFill/>
                  </a:tcPr>
                </a:tc>
                <a:extLst>
                  <a:ext uri="{0D108BD9-81ED-4DB2-BD59-A6C34878D82A}">
                    <a16:rowId xmlns:a16="http://schemas.microsoft.com/office/drawing/2014/main" val="1278196632"/>
                  </a:ext>
                </a:extLst>
              </a:tr>
              <a:tr h="446955">
                <a:tc>
                  <a:txBody>
                    <a:bodyPr/>
                    <a:lstStyle/>
                    <a:p>
                      <a:pPr>
                        <a:buNone/>
                      </a:pPr>
                      <a:r>
                        <a:rPr lang="en-CA" sz="1200"/>
                        <a:t>CTRL</a:t>
                      </a:r>
                    </a:p>
                  </a:txBody>
                  <a:tcPr marL="60494" marR="60494" marT="30247" marB="30247" anchor="ctr">
                    <a:lnL>
                      <a:noFill/>
                    </a:lnL>
                    <a:lnR>
                      <a:noFill/>
                    </a:lnR>
                    <a:lnT>
                      <a:noFill/>
                    </a:lnT>
                    <a:lnB>
                      <a:noFill/>
                    </a:lnB>
                    <a:noFill/>
                  </a:tcPr>
                </a:tc>
                <a:tc>
                  <a:txBody>
                    <a:bodyPr/>
                    <a:lstStyle/>
                    <a:p>
                      <a:pPr>
                        <a:buNone/>
                      </a:pPr>
                      <a:r>
                        <a:rPr lang="en-CA" sz="1200"/>
                        <a:t>PPO (Test)</a:t>
                      </a:r>
                    </a:p>
                  </a:txBody>
                  <a:tcPr marL="60494" marR="60494" marT="30247" marB="30247" anchor="ctr">
                    <a:lnL>
                      <a:noFill/>
                    </a:lnL>
                    <a:lnR>
                      <a:noFill/>
                    </a:lnR>
                    <a:lnT>
                      <a:noFill/>
                    </a:lnT>
                    <a:lnB>
                      <a:noFill/>
                    </a:lnB>
                    <a:noFill/>
                  </a:tcPr>
                </a:tc>
                <a:tc>
                  <a:txBody>
                    <a:bodyPr/>
                    <a:lstStyle/>
                    <a:p>
                      <a:pPr>
                        <a:buNone/>
                      </a:pPr>
                      <a:r>
                        <a:rPr lang="en-CA" sz="1200"/>
                        <a:t>0.07621537540750258</a:t>
                      </a:r>
                    </a:p>
                  </a:txBody>
                  <a:tcPr marL="60494" marR="60494" marT="30247" marB="30247" anchor="ctr">
                    <a:lnL>
                      <a:noFill/>
                    </a:lnL>
                    <a:lnR>
                      <a:noFill/>
                    </a:lnR>
                    <a:lnT>
                      <a:noFill/>
                    </a:lnT>
                    <a:lnB>
                      <a:noFill/>
                    </a:lnB>
                    <a:noFill/>
                  </a:tcPr>
                </a:tc>
                <a:tc>
                  <a:txBody>
                    <a:bodyPr/>
                    <a:lstStyle/>
                    <a:p>
                      <a:pPr>
                        <a:buNone/>
                      </a:pPr>
                      <a:r>
                        <a:rPr lang="en-CA" sz="1200"/>
                        <a:t>0.26510132526414987</a:t>
                      </a:r>
                    </a:p>
                  </a:txBody>
                  <a:tcPr marL="60494" marR="60494" marT="30247" marB="30247" anchor="ctr">
                    <a:lnL>
                      <a:noFill/>
                    </a:lnL>
                    <a:lnR>
                      <a:noFill/>
                    </a:lnR>
                    <a:lnT>
                      <a:noFill/>
                    </a:lnT>
                    <a:lnB>
                      <a:noFill/>
                    </a:lnB>
                    <a:noFill/>
                  </a:tcPr>
                </a:tc>
                <a:tc>
                  <a:txBody>
                    <a:bodyPr/>
                    <a:lstStyle/>
                    <a:p>
                      <a:pPr>
                        <a:buNone/>
                      </a:pPr>
                      <a:r>
                        <a:rPr lang="en-CA" sz="1200"/>
                        <a:t>0.23189670823771377</a:t>
                      </a:r>
                    </a:p>
                  </a:txBody>
                  <a:tcPr marL="60494" marR="60494" marT="30247" marB="30247" anchor="ctr">
                    <a:lnL>
                      <a:noFill/>
                    </a:lnL>
                    <a:lnR>
                      <a:noFill/>
                    </a:lnR>
                    <a:lnT>
                      <a:noFill/>
                    </a:lnT>
                    <a:lnB>
                      <a:noFill/>
                    </a:lnB>
                    <a:noFill/>
                  </a:tcPr>
                </a:tc>
                <a:tc>
                  <a:txBody>
                    <a:bodyPr/>
                    <a:lstStyle/>
                    <a:p>
                      <a:pPr>
                        <a:buNone/>
                      </a:pPr>
                      <a:r>
                        <a:rPr lang="en-CA" sz="1200"/>
                        <a:t>0.9183019091343058</a:t>
                      </a:r>
                    </a:p>
                  </a:txBody>
                  <a:tcPr marL="60494" marR="60494" marT="30247" marB="30247" anchor="ctr">
                    <a:lnL>
                      <a:noFill/>
                    </a:lnL>
                    <a:lnR>
                      <a:noFill/>
                    </a:lnR>
                    <a:lnT>
                      <a:noFill/>
                    </a:lnT>
                    <a:lnB>
                      <a:noFill/>
                    </a:lnB>
                    <a:noFill/>
                  </a:tcPr>
                </a:tc>
                <a:tc>
                  <a:txBody>
                    <a:bodyPr/>
                    <a:lstStyle/>
                    <a:p>
                      <a:pPr>
                        <a:buNone/>
                      </a:pPr>
                      <a:r>
                        <a:rPr lang="en-CA" sz="1200"/>
                        <a:t>0.9869762223628038</a:t>
                      </a:r>
                    </a:p>
                  </a:txBody>
                  <a:tcPr marL="60494" marR="60494" marT="30247" marB="30247" anchor="ctr">
                    <a:lnL>
                      <a:noFill/>
                    </a:lnL>
                    <a:lnR>
                      <a:noFill/>
                    </a:lnR>
                    <a:lnT>
                      <a:noFill/>
                    </a:lnT>
                    <a:lnB>
                      <a:noFill/>
                    </a:lnB>
                    <a:noFill/>
                  </a:tcPr>
                </a:tc>
                <a:extLst>
                  <a:ext uri="{0D108BD9-81ED-4DB2-BD59-A6C34878D82A}">
                    <a16:rowId xmlns:a16="http://schemas.microsoft.com/office/drawing/2014/main" val="2377649538"/>
                  </a:ext>
                </a:extLst>
              </a:tr>
              <a:tr h="446955">
                <a:tc>
                  <a:txBody>
                    <a:bodyPr/>
                    <a:lstStyle/>
                    <a:p>
                      <a:pPr>
                        <a:buNone/>
                      </a:pPr>
                      <a:r>
                        <a:rPr lang="en-CA" sz="1200"/>
                        <a:t>CTRL</a:t>
                      </a:r>
                    </a:p>
                  </a:txBody>
                  <a:tcPr marL="60494" marR="60494" marT="30247" marB="30247" anchor="ctr">
                    <a:lnL>
                      <a:noFill/>
                    </a:lnL>
                    <a:lnR>
                      <a:noFill/>
                    </a:lnR>
                    <a:lnT>
                      <a:noFill/>
                    </a:lnT>
                    <a:lnB>
                      <a:noFill/>
                    </a:lnB>
                    <a:noFill/>
                  </a:tcPr>
                </a:tc>
                <a:tc>
                  <a:txBody>
                    <a:bodyPr/>
                    <a:lstStyle/>
                    <a:p>
                      <a:pPr>
                        <a:buNone/>
                      </a:pPr>
                      <a:r>
                        <a:rPr lang="en-CA" sz="1200"/>
                        <a:t>PPO (Train)</a:t>
                      </a:r>
                    </a:p>
                  </a:txBody>
                  <a:tcPr marL="60494" marR="60494" marT="30247" marB="30247" anchor="ctr">
                    <a:lnL>
                      <a:noFill/>
                    </a:lnL>
                    <a:lnR>
                      <a:noFill/>
                    </a:lnR>
                    <a:lnT>
                      <a:noFill/>
                    </a:lnT>
                    <a:lnB>
                      <a:noFill/>
                    </a:lnB>
                    <a:noFill/>
                  </a:tcPr>
                </a:tc>
                <a:tc>
                  <a:txBody>
                    <a:bodyPr/>
                    <a:lstStyle/>
                    <a:p>
                      <a:pPr>
                        <a:buNone/>
                      </a:pPr>
                      <a:r>
                        <a:rPr lang="en-CA" sz="1200"/>
                        <a:t>0.07655992747509274</a:t>
                      </a:r>
                    </a:p>
                  </a:txBody>
                  <a:tcPr marL="60494" marR="60494" marT="30247" marB="30247" anchor="ctr">
                    <a:lnL>
                      <a:noFill/>
                    </a:lnL>
                    <a:lnR>
                      <a:noFill/>
                    </a:lnR>
                    <a:lnT>
                      <a:noFill/>
                    </a:lnT>
                    <a:lnB>
                      <a:noFill/>
                    </a:lnB>
                    <a:noFill/>
                  </a:tcPr>
                </a:tc>
                <a:tc>
                  <a:txBody>
                    <a:bodyPr/>
                    <a:lstStyle/>
                    <a:p>
                      <a:pPr>
                        <a:buNone/>
                      </a:pPr>
                      <a:r>
                        <a:rPr lang="en-CA" sz="1200"/>
                        <a:t>0.26560311284950155</a:t>
                      </a:r>
                    </a:p>
                  </a:txBody>
                  <a:tcPr marL="60494" marR="60494" marT="30247" marB="30247" anchor="ctr">
                    <a:lnL>
                      <a:noFill/>
                    </a:lnL>
                    <a:lnR>
                      <a:noFill/>
                    </a:lnR>
                    <a:lnT>
                      <a:noFill/>
                    </a:lnT>
                    <a:lnB>
                      <a:noFill/>
                    </a:lnB>
                    <a:noFill/>
                  </a:tcPr>
                </a:tc>
                <a:tc>
                  <a:txBody>
                    <a:bodyPr/>
                    <a:lstStyle/>
                    <a:p>
                      <a:pPr>
                        <a:buNone/>
                      </a:pPr>
                      <a:r>
                        <a:rPr lang="en-CA" sz="1200"/>
                        <a:t>0.23263436491633283</a:t>
                      </a:r>
                    </a:p>
                  </a:txBody>
                  <a:tcPr marL="60494" marR="60494" marT="30247" marB="30247" anchor="ctr">
                    <a:lnL>
                      <a:noFill/>
                    </a:lnL>
                    <a:lnR>
                      <a:noFill/>
                    </a:lnR>
                    <a:lnT>
                      <a:noFill/>
                    </a:lnT>
                    <a:lnB>
                      <a:noFill/>
                    </a:lnB>
                    <a:noFill/>
                  </a:tcPr>
                </a:tc>
                <a:tc>
                  <a:txBody>
                    <a:bodyPr/>
                    <a:lstStyle/>
                    <a:p>
                      <a:pPr>
                        <a:buNone/>
                      </a:pPr>
                      <a:r>
                        <a:rPr lang="en-CA" sz="1200"/>
                        <a:t>0.9141653508975588</a:t>
                      </a:r>
                    </a:p>
                  </a:txBody>
                  <a:tcPr marL="60494" marR="60494" marT="30247" marB="30247" anchor="ctr">
                    <a:lnL>
                      <a:noFill/>
                    </a:lnL>
                    <a:lnR>
                      <a:noFill/>
                    </a:lnR>
                    <a:lnT>
                      <a:noFill/>
                    </a:lnT>
                    <a:lnB>
                      <a:noFill/>
                    </a:lnB>
                    <a:noFill/>
                  </a:tcPr>
                </a:tc>
                <a:tc>
                  <a:txBody>
                    <a:bodyPr/>
                    <a:lstStyle/>
                    <a:p>
                      <a:pPr>
                        <a:buNone/>
                      </a:pPr>
                      <a:r>
                        <a:rPr lang="en-CA" sz="1200"/>
                        <a:t>0.9863204138203998</a:t>
                      </a:r>
                    </a:p>
                  </a:txBody>
                  <a:tcPr marL="60494" marR="60494" marT="30247" marB="30247" anchor="ctr">
                    <a:lnL>
                      <a:noFill/>
                    </a:lnL>
                    <a:lnR>
                      <a:noFill/>
                    </a:lnR>
                    <a:lnT>
                      <a:noFill/>
                    </a:lnT>
                    <a:lnB>
                      <a:noFill/>
                    </a:lnB>
                    <a:noFill/>
                  </a:tcPr>
                </a:tc>
                <a:extLst>
                  <a:ext uri="{0D108BD9-81ED-4DB2-BD59-A6C34878D82A}">
                    <a16:rowId xmlns:a16="http://schemas.microsoft.com/office/drawing/2014/main" val="78110407"/>
                  </a:ext>
                </a:extLst>
              </a:tr>
              <a:tr h="446955">
                <a:tc>
                  <a:txBody>
                    <a:bodyPr/>
                    <a:lstStyle/>
                    <a:p>
                      <a:pPr>
                        <a:buNone/>
                      </a:pPr>
                      <a:r>
                        <a:rPr lang="en-CA" sz="1200"/>
                        <a:t>CTRL</a:t>
                      </a:r>
                    </a:p>
                  </a:txBody>
                  <a:tcPr marL="60494" marR="60494" marT="30247" marB="30247" anchor="ctr">
                    <a:lnL>
                      <a:noFill/>
                    </a:lnL>
                    <a:lnR>
                      <a:noFill/>
                    </a:lnR>
                    <a:lnT>
                      <a:noFill/>
                    </a:lnT>
                    <a:lnB>
                      <a:noFill/>
                    </a:lnB>
                    <a:noFill/>
                  </a:tcPr>
                </a:tc>
                <a:tc>
                  <a:txBody>
                    <a:bodyPr/>
                    <a:lstStyle/>
                    <a:p>
                      <a:pPr>
                        <a:buNone/>
                      </a:pPr>
                      <a:r>
                        <a:rPr lang="en-CA" sz="1200"/>
                        <a:t>TRPO→PPO (Test)</a:t>
                      </a:r>
                    </a:p>
                  </a:txBody>
                  <a:tcPr marL="60494" marR="60494" marT="30247" marB="30247" anchor="ctr">
                    <a:lnL>
                      <a:noFill/>
                    </a:lnL>
                    <a:lnR>
                      <a:noFill/>
                    </a:lnR>
                    <a:lnT>
                      <a:noFill/>
                    </a:lnT>
                    <a:lnB>
                      <a:noFill/>
                    </a:lnB>
                    <a:noFill/>
                  </a:tcPr>
                </a:tc>
                <a:tc>
                  <a:txBody>
                    <a:bodyPr/>
                    <a:lstStyle/>
                    <a:p>
                      <a:pPr>
                        <a:buNone/>
                      </a:pPr>
                      <a:r>
                        <a:rPr lang="en-CA" sz="1200"/>
                        <a:t>0.006545579980191742</a:t>
                      </a:r>
                    </a:p>
                  </a:txBody>
                  <a:tcPr marL="60494" marR="60494" marT="30247" marB="30247" anchor="ctr">
                    <a:lnL>
                      <a:noFill/>
                    </a:lnL>
                    <a:lnR>
                      <a:noFill/>
                    </a:lnR>
                    <a:lnT>
                      <a:noFill/>
                    </a:lnT>
                    <a:lnB>
                      <a:noFill/>
                    </a:lnB>
                    <a:noFill/>
                  </a:tcPr>
                </a:tc>
                <a:tc>
                  <a:txBody>
                    <a:bodyPr/>
                    <a:lstStyle/>
                    <a:p>
                      <a:pPr>
                        <a:buNone/>
                      </a:pPr>
                      <a:r>
                        <a:rPr lang="en-CA" sz="1200" dirty="0"/>
                        <a:t>0.07270223816688927</a:t>
                      </a:r>
                    </a:p>
                  </a:txBody>
                  <a:tcPr marL="60494" marR="60494" marT="30247" marB="30247" anchor="ctr">
                    <a:lnL>
                      <a:noFill/>
                    </a:lnL>
                    <a:lnR>
                      <a:noFill/>
                    </a:lnR>
                    <a:lnT>
                      <a:noFill/>
                    </a:lnT>
                    <a:lnB>
                      <a:noFill/>
                    </a:lnB>
                    <a:noFill/>
                  </a:tcPr>
                </a:tc>
                <a:tc>
                  <a:txBody>
                    <a:bodyPr/>
                    <a:lstStyle/>
                    <a:p>
                      <a:pPr>
                        <a:buNone/>
                      </a:pPr>
                      <a:r>
                        <a:rPr lang="en-CA" sz="1200"/>
                        <a:t>0.05528135021249282</a:t>
                      </a:r>
                    </a:p>
                  </a:txBody>
                  <a:tcPr marL="60494" marR="60494" marT="30247" marB="30247" anchor="ctr">
                    <a:lnL>
                      <a:noFill/>
                    </a:lnL>
                    <a:lnR>
                      <a:noFill/>
                    </a:lnR>
                    <a:lnT>
                      <a:noFill/>
                    </a:lnT>
                    <a:lnB>
                      <a:noFill/>
                    </a:lnB>
                    <a:noFill/>
                  </a:tcPr>
                </a:tc>
                <a:tc>
                  <a:txBody>
                    <a:bodyPr/>
                    <a:lstStyle/>
                    <a:p>
                      <a:pPr>
                        <a:buNone/>
                      </a:pPr>
                      <a:r>
                        <a:rPr lang="en-CA" sz="1200"/>
                        <a:t>0.9932162093705145</a:t>
                      </a:r>
                    </a:p>
                  </a:txBody>
                  <a:tcPr marL="60494" marR="60494" marT="30247" marB="30247" anchor="ctr">
                    <a:lnL>
                      <a:noFill/>
                    </a:lnL>
                    <a:lnR>
                      <a:noFill/>
                    </a:lnR>
                    <a:lnT>
                      <a:noFill/>
                    </a:lnT>
                    <a:lnB>
                      <a:noFill/>
                    </a:lnB>
                    <a:noFill/>
                  </a:tcPr>
                </a:tc>
                <a:tc>
                  <a:txBody>
                    <a:bodyPr/>
                    <a:lstStyle/>
                    <a:p>
                      <a:pPr>
                        <a:buNone/>
                      </a:pPr>
                      <a:r>
                        <a:rPr lang="en-CA" sz="1200"/>
                        <a:t>0.9973747535338707</a:t>
                      </a:r>
                    </a:p>
                  </a:txBody>
                  <a:tcPr marL="60494" marR="60494" marT="30247" marB="30247" anchor="ctr">
                    <a:lnL>
                      <a:noFill/>
                    </a:lnL>
                    <a:lnR>
                      <a:noFill/>
                    </a:lnR>
                    <a:lnT>
                      <a:noFill/>
                    </a:lnT>
                    <a:lnB>
                      <a:noFill/>
                    </a:lnB>
                    <a:noFill/>
                  </a:tcPr>
                </a:tc>
                <a:extLst>
                  <a:ext uri="{0D108BD9-81ED-4DB2-BD59-A6C34878D82A}">
                    <a16:rowId xmlns:a16="http://schemas.microsoft.com/office/drawing/2014/main" val="2880987976"/>
                  </a:ext>
                </a:extLst>
              </a:tr>
              <a:tr h="446955">
                <a:tc>
                  <a:txBody>
                    <a:bodyPr/>
                    <a:lstStyle/>
                    <a:p>
                      <a:pPr>
                        <a:buNone/>
                      </a:pPr>
                      <a:r>
                        <a:rPr lang="en-CA" sz="1200"/>
                        <a:t>CTRL</a:t>
                      </a:r>
                    </a:p>
                  </a:txBody>
                  <a:tcPr marL="60494" marR="60494" marT="30247" marB="30247" anchor="ctr">
                    <a:lnL>
                      <a:noFill/>
                    </a:lnL>
                    <a:lnR>
                      <a:noFill/>
                    </a:lnR>
                    <a:lnT>
                      <a:noFill/>
                    </a:lnT>
                    <a:lnB>
                      <a:noFill/>
                    </a:lnB>
                    <a:noFill/>
                  </a:tcPr>
                </a:tc>
                <a:tc>
                  <a:txBody>
                    <a:bodyPr/>
                    <a:lstStyle/>
                    <a:p>
                      <a:pPr>
                        <a:buNone/>
                      </a:pPr>
                      <a:r>
                        <a:rPr lang="en-CA" sz="1200"/>
                        <a:t>TRPO→PPO (Train)</a:t>
                      </a:r>
                    </a:p>
                  </a:txBody>
                  <a:tcPr marL="60494" marR="60494" marT="30247" marB="30247" anchor="ctr">
                    <a:lnL>
                      <a:noFill/>
                    </a:lnL>
                    <a:lnR>
                      <a:noFill/>
                    </a:lnR>
                    <a:lnT>
                      <a:noFill/>
                    </a:lnT>
                    <a:lnB>
                      <a:noFill/>
                    </a:lnB>
                    <a:noFill/>
                  </a:tcPr>
                </a:tc>
                <a:tc>
                  <a:txBody>
                    <a:bodyPr/>
                    <a:lstStyle/>
                    <a:p>
                      <a:pPr>
                        <a:buNone/>
                      </a:pPr>
                      <a:r>
                        <a:rPr lang="en-CA" sz="1200"/>
                        <a:t>0.005986573956886724</a:t>
                      </a:r>
                    </a:p>
                  </a:txBody>
                  <a:tcPr marL="60494" marR="60494" marT="30247" marB="30247" anchor="ctr">
                    <a:lnL>
                      <a:noFill/>
                    </a:lnL>
                    <a:lnR>
                      <a:noFill/>
                    </a:lnR>
                    <a:lnT>
                      <a:noFill/>
                    </a:lnT>
                    <a:lnB>
                      <a:noFill/>
                    </a:lnB>
                    <a:noFill/>
                  </a:tcPr>
                </a:tc>
                <a:tc>
                  <a:txBody>
                    <a:bodyPr/>
                    <a:lstStyle/>
                    <a:p>
                      <a:pPr>
                        <a:buNone/>
                      </a:pPr>
                      <a:r>
                        <a:rPr lang="en-CA" sz="1200"/>
                        <a:t>0.06986042604142284</a:t>
                      </a:r>
                    </a:p>
                  </a:txBody>
                  <a:tcPr marL="60494" marR="60494" marT="30247" marB="30247" anchor="ctr">
                    <a:lnL>
                      <a:noFill/>
                    </a:lnL>
                    <a:lnR>
                      <a:noFill/>
                    </a:lnR>
                    <a:lnT>
                      <a:noFill/>
                    </a:lnT>
                    <a:lnB>
                      <a:noFill/>
                    </a:lnB>
                    <a:noFill/>
                  </a:tcPr>
                </a:tc>
                <a:tc>
                  <a:txBody>
                    <a:bodyPr/>
                    <a:lstStyle/>
                    <a:p>
                      <a:pPr>
                        <a:buNone/>
                      </a:pPr>
                      <a:r>
                        <a:rPr lang="en-CA" sz="1200"/>
                        <a:t>0.05376226621968993</a:t>
                      </a:r>
                    </a:p>
                  </a:txBody>
                  <a:tcPr marL="60494" marR="60494" marT="30247" marB="30247" anchor="ctr">
                    <a:lnL>
                      <a:noFill/>
                    </a:lnL>
                    <a:lnR>
                      <a:noFill/>
                    </a:lnR>
                    <a:lnT>
                      <a:noFill/>
                    </a:lnT>
                    <a:lnB>
                      <a:noFill/>
                    </a:lnB>
                    <a:noFill/>
                  </a:tcPr>
                </a:tc>
                <a:tc>
                  <a:txBody>
                    <a:bodyPr/>
                    <a:lstStyle/>
                    <a:p>
                      <a:pPr>
                        <a:buNone/>
                      </a:pPr>
                      <a:r>
                        <a:rPr lang="en-CA" sz="1200"/>
                        <a:t>0.9933130782226036</a:t>
                      </a:r>
                    </a:p>
                  </a:txBody>
                  <a:tcPr marL="60494" marR="60494" marT="30247" marB="30247" anchor="ctr">
                    <a:lnL>
                      <a:noFill/>
                    </a:lnL>
                    <a:lnR>
                      <a:noFill/>
                    </a:lnR>
                    <a:lnT>
                      <a:noFill/>
                    </a:lnT>
                    <a:lnB>
                      <a:noFill/>
                    </a:lnB>
                    <a:noFill/>
                  </a:tcPr>
                </a:tc>
                <a:tc>
                  <a:txBody>
                    <a:bodyPr/>
                    <a:lstStyle/>
                    <a:p>
                      <a:pPr>
                        <a:buNone/>
                      </a:pPr>
                      <a:r>
                        <a:rPr lang="en-CA" sz="1200"/>
                        <a:t>0.9973907777414155</a:t>
                      </a:r>
                    </a:p>
                  </a:txBody>
                  <a:tcPr marL="60494" marR="60494" marT="30247" marB="30247" anchor="ctr">
                    <a:lnL>
                      <a:noFill/>
                    </a:lnL>
                    <a:lnR>
                      <a:noFill/>
                    </a:lnR>
                    <a:lnT>
                      <a:noFill/>
                    </a:lnT>
                    <a:lnB>
                      <a:noFill/>
                    </a:lnB>
                    <a:noFill/>
                  </a:tcPr>
                </a:tc>
                <a:extLst>
                  <a:ext uri="{0D108BD9-81ED-4DB2-BD59-A6C34878D82A}">
                    <a16:rowId xmlns:a16="http://schemas.microsoft.com/office/drawing/2014/main" val="1509458932"/>
                  </a:ext>
                </a:extLst>
              </a:tr>
              <a:tr h="446955">
                <a:tc>
                  <a:txBody>
                    <a:bodyPr/>
                    <a:lstStyle/>
                    <a:p>
                      <a:pPr>
                        <a:buNone/>
                      </a:pPr>
                      <a:r>
                        <a:rPr lang="en-CA" sz="1200"/>
                        <a:t>PTPN2</a:t>
                      </a:r>
                    </a:p>
                  </a:txBody>
                  <a:tcPr marL="60494" marR="60494" marT="30247" marB="30247" anchor="ctr">
                    <a:lnL>
                      <a:noFill/>
                    </a:lnL>
                    <a:lnR>
                      <a:noFill/>
                    </a:lnR>
                    <a:lnT>
                      <a:noFill/>
                    </a:lnT>
                    <a:lnB>
                      <a:noFill/>
                    </a:lnB>
                    <a:noFill/>
                  </a:tcPr>
                </a:tc>
                <a:tc>
                  <a:txBody>
                    <a:bodyPr/>
                    <a:lstStyle/>
                    <a:p>
                      <a:pPr>
                        <a:buNone/>
                      </a:pPr>
                      <a:r>
                        <a:rPr lang="en-CA" sz="1200"/>
                        <a:t>PPO (Test)</a:t>
                      </a:r>
                    </a:p>
                  </a:txBody>
                  <a:tcPr marL="60494" marR="60494" marT="30247" marB="30247" anchor="ctr">
                    <a:lnL>
                      <a:noFill/>
                    </a:lnL>
                    <a:lnR>
                      <a:noFill/>
                    </a:lnR>
                    <a:lnT>
                      <a:noFill/>
                    </a:lnT>
                    <a:lnB>
                      <a:noFill/>
                    </a:lnB>
                    <a:noFill/>
                  </a:tcPr>
                </a:tc>
                <a:tc>
                  <a:txBody>
                    <a:bodyPr/>
                    <a:lstStyle/>
                    <a:p>
                      <a:pPr>
                        <a:buNone/>
                      </a:pPr>
                      <a:r>
                        <a:rPr lang="en-CA" sz="1200"/>
                        <a:t>0.08415601347926362</a:t>
                      </a:r>
                    </a:p>
                  </a:txBody>
                  <a:tcPr marL="60494" marR="60494" marT="30247" marB="30247" anchor="ctr">
                    <a:lnL>
                      <a:noFill/>
                    </a:lnL>
                    <a:lnR>
                      <a:noFill/>
                    </a:lnR>
                    <a:lnT>
                      <a:noFill/>
                    </a:lnT>
                    <a:lnB>
                      <a:noFill/>
                    </a:lnB>
                    <a:noFill/>
                  </a:tcPr>
                </a:tc>
                <a:tc>
                  <a:txBody>
                    <a:bodyPr/>
                    <a:lstStyle/>
                    <a:p>
                      <a:pPr>
                        <a:buNone/>
                      </a:pPr>
                      <a:r>
                        <a:rPr lang="en-CA" sz="1200"/>
                        <a:t>0.27599469458382264</a:t>
                      </a:r>
                    </a:p>
                  </a:txBody>
                  <a:tcPr marL="60494" marR="60494" marT="30247" marB="30247" anchor="ctr">
                    <a:lnL>
                      <a:noFill/>
                    </a:lnL>
                    <a:lnR>
                      <a:noFill/>
                    </a:lnR>
                    <a:lnT>
                      <a:noFill/>
                    </a:lnT>
                    <a:lnB>
                      <a:noFill/>
                    </a:lnB>
                    <a:noFill/>
                  </a:tcPr>
                </a:tc>
                <a:tc>
                  <a:txBody>
                    <a:bodyPr/>
                    <a:lstStyle/>
                    <a:p>
                      <a:pPr>
                        <a:buNone/>
                      </a:pPr>
                      <a:r>
                        <a:rPr lang="en-CA" sz="1200"/>
                        <a:t>0.16415781746136732</a:t>
                      </a:r>
                    </a:p>
                  </a:txBody>
                  <a:tcPr marL="60494" marR="60494" marT="30247" marB="30247" anchor="ctr">
                    <a:lnL>
                      <a:noFill/>
                    </a:lnL>
                    <a:lnR>
                      <a:noFill/>
                    </a:lnR>
                    <a:lnT>
                      <a:noFill/>
                    </a:lnT>
                    <a:lnB>
                      <a:noFill/>
                    </a:lnB>
                    <a:noFill/>
                  </a:tcPr>
                </a:tc>
                <a:tc>
                  <a:txBody>
                    <a:bodyPr/>
                    <a:lstStyle/>
                    <a:p>
                      <a:pPr>
                        <a:buNone/>
                      </a:pPr>
                      <a:r>
                        <a:rPr lang="en-CA" sz="1200"/>
                        <a:t>0.9212132723167025</a:t>
                      </a:r>
                    </a:p>
                  </a:txBody>
                  <a:tcPr marL="60494" marR="60494" marT="30247" marB="30247" anchor="ctr">
                    <a:lnL>
                      <a:noFill/>
                    </a:lnL>
                    <a:lnR>
                      <a:noFill/>
                    </a:lnR>
                    <a:lnT>
                      <a:noFill/>
                    </a:lnT>
                    <a:lnB>
                      <a:noFill/>
                    </a:lnB>
                    <a:noFill/>
                  </a:tcPr>
                </a:tc>
                <a:tc>
                  <a:txBody>
                    <a:bodyPr/>
                    <a:lstStyle/>
                    <a:p>
                      <a:pPr>
                        <a:buNone/>
                      </a:pPr>
                      <a:r>
                        <a:rPr lang="en-CA" sz="1200"/>
                        <a:t>0.9647337591518942</a:t>
                      </a:r>
                    </a:p>
                  </a:txBody>
                  <a:tcPr marL="60494" marR="60494" marT="30247" marB="30247" anchor="ctr">
                    <a:lnL>
                      <a:noFill/>
                    </a:lnL>
                    <a:lnR>
                      <a:noFill/>
                    </a:lnR>
                    <a:lnT>
                      <a:noFill/>
                    </a:lnT>
                    <a:lnB>
                      <a:noFill/>
                    </a:lnB>
                    <a:noFill/>
                  </a:tcPr>
                </a:tc>
                <a:extLst>
                  <a:ext uri="{0D108BD9-81ED-4DB2-BD59-A6C34878D82A}">
                    <a16:rowId xmlns:a16="http://schemas.microsoft.com/office/drawing/2014/main" val="1457632432"/>
                  </a:ext>
                </a:extLst>
              </a:tr>
              <a:tr h="446955">
                <a:tc>
                  <a:txBody>
                    <a:bodyPr/>
                    <a:lstStyle/>
                    <a:p>
                      <a:pPr>
                        <a:buNone/>
                      </a:pPr>
                      <a:r>
                        <a:rPr lang="en-CA" sz="1200"/>
                        <a:t>PTPN2</a:t>
                      </a:r>
                    </a:p>
                  </a:txBody>
                  <a:tcPr marL="60494" marR="60494" marT="30247" marB="30247" anchor="ctr">
                    <a:lnL>
                      <a:noFill/>
                    </a:lnL>
                    <a:lnR>
                      <a:noFill/>
                    </a:lnR>
                    <a:lnT>
                      <a:noFill/>
                    </a:lnT>
                    <a:lnB>
                      <a:noFill/>
                    </a:lnB>
                    <a:noFill/>
                  </a:tcPr>
                </a:tc>
                <a:tc>
                  <a:txBody>
                    <a:bodyPr/>
                    <a:lstStyle/>
                    <a:p>
                      <a:pPr>
                        <a:buNone/>
                      </a:pPr>
                      <a:r>
                        <a:rPr lang="en-CA" sz="1200" dirty="0"/>
                        <a:t>PPO (Train)</a:t>
                      </a:r>
                    </a:p>
                  </a:txBody>
                  <a:tcPr marL="60494" marR="60494" marT="30247" marB="30247" anchor="ctr">
                    <a:lnL>
                      <a:noFill/>
                    </a:lnL>
                    <a:lnR>
                      <a:noFill/>
                    </a:lnR>
                    <a:lnT>
                      <a:noFill/>
                    </a:lnT>
                    <a:lnB>
                      <a:noFill/>
                    </a:lnB>
                    <a:noFill/>
                  </a:tcPr>
                </a:tc>
                <a:tc>
                  <a:txBody>
                    <a:bodyPr/>
                    <a:lstStyle/>
                    <a:p>
                      <a:pPr>
                        <a:buNone/>
                      </a:pPr>
                      <a:r>
                        <a:rPr lang="en-CA" sz="1200"/>
                        <a:t>0.11324855781577785</a:t>
                      </a:r>
                    </a:p>
                  </a:txBody>
                  <a:tcPr marL="60494" marR="60494" marT="30247" marB="30247" anchor="ctr">
                    <a:lnL>
                      <a:noFill/>
                    </a:lnL>
                    <a:lnR>
                      <a:noFill/>
                    </a:lnR>
                    <a:lnT>
                      <a:noFill/>
                    </a:lnT>
                    <a:lnB>
                      <a:noFill/>
                    </a:lnB>
                    <a:noFill/>
                  </a:tcPr>
                </a:tc>
                <a:tc>
                  <a:txBody>
                    <a:bodyPr/>
                    <a:lstStyle/>
                    <a:p>
                      <a:pPr>
                        <a:buNone/>
                      </a:pPr>
                      <a:r>
                        <a:rPr lang="en-CA" sz="1200"/>
                        <a:t>0.3197073092444613</a:t>
                      </a:r>
                    </a:p>
                  </a:txBody>
                  <a:tcPr marL="60494" marR="60494" marT="30247" marB="30247" anchor="ctr">
                    <a:lnL>
                      <a:noFill/>
                    </a:lnL>
                    <a:lnR>
                      <a:noFill/>
                    </a:lnR>
                    <a:lnT>
                      <a:noFill/>
                    </a:lnT>
                    <a:lnB>
                      <a:noFill/>
                    </a:lnB>
                    <a:noFill/>
                  </a:tcPr>
                </a:tc>
                <a:tc>
                  <a:txBody>
                    <a:bodyPr/>
                    <a:lstStyle/>
                    <a:p>
                      <a:pPr>
                        <a:buNone/>
                      </a:pPr>
                      <a:r>
                        <a:rPr lang="en-CA" sz="1200"/>
                        <a:t>0.16034458577632904</a:t>
                      </a:r>
                    </a:p>
                  </a:txBody>
                  <a:tcPr marL="60494" marR="60494" marT="30247" marB="30247" anchor="ctr">
                    <a:lnL>
                      <a:noFill/>
                    </a:lnL>
                    <a:lnR>
                      <a:noFill/>
                    </a:lnR>
                    <a:lnT>
                      <a:noFill/>
                    </a:lnT>
                    <a:lnB>
                      <a:noFill/>
                    </a:lnB>
                    <a:noFill/>
                  </a:tcPr>
                </a:tc>
                <a:tc>
                  <a:txBody>
                    <a:bodyPr/>
                    <a:lstStyle/>
                    <a:p>
                      <a:pPr>
                        <a:buNone/>
                      </a:pPr>
                      <a:r>
                        <a:rPr lang="en-CA" sz="1200"/>
                        <a:t>0.9097731185370478</a:t>
                      </a:r>
                    </a:p>
                  </a:txBody>
                  <a:tcPr marL="60494" marR="60494" marT="30247" marB="30247" anchor="ctr">
                    <a:lnL>
                      <a:noFill/>
                    </a:lnL>
                    <a:lnR>
                      <a:noFill/>
                    </a:lnR>
                    <a:lnT>
                      <a:noFill/>
                    </a:lnT>
                    <a:lnB>
                      <a:noFill/>
                    </a:lnB>
                    <a:noFill/>
                  </a:tcPr>
                </a:tc>
                <a:tc>
                  <a:txBody>
                    <a:bodyPr/>
                    <a:lstStyle/>
                    <a:p>
                      <a:pPr>
                        <a:buNone/>
                      </a:pPr>
                      <a:r>
                        <a:rPr lang="en-CA" sz="1200"/>
                        <a:t>0.9584318552580068</a:t>
                      </a:r>
                    </a:p>
                  </a:txBody>
                  <a:tcPr marL="60494" marR="60494" marT="30247" marB="30247" anchor="ctr">
                    <a:lnL>
                      <a:noFill/>
                    </a:lnL>
                    <a:lnR>
                      <a:noFill/>
                    </a:lnR>
                    <a:lnT>
                      <a:noFill/>
                    </a:lnT>
                    <a:lnB>
                      <a:noFill/>
                    </a:lnB>
                    <a:noFill/>
                  </a:tcPr>
                </a:tc>
                <a:extLst>
                  <a:ext uri="{0D108BD9-81ED-4DB2-BD59-A6C34878D82A}">
                    <a16:rowId xmlns:a16="http://schemas.microsoft.com/office/drawing/2014/main" val="3351439613"/>
                  </a:ext>
                </a:extLst>
              </a:tr>
              <a:tr h="446955">
                <a:tc>
                  <a:txBody>
                    <a:bodyPr/>
                    <a:lstStyle/>
                    <a:p>
                      <a:pPr>
                        <a:buNone/>
                      </a:pPr>
                      <a:r>
                        <a:rPr lang="en-CA" sz="1200"/>
                        <a:t>PTPN2</a:t>
                      </a:r>
                    </a:p>
                  </a:txBody>
                  <a:tcPr marL="60494" marR="60494" marT="30247" marB="30247" anchor="ctr">
                    <a:lnL>
                      <a:noFill/>
                    </a:lnL>
                    <a:lnR>
                      <a:noFill/>
                    </a:lnR>
                    <a:lnT>
                      <a:noFill/>
                    </a:lnT>
                    <a:lnB>
                      <a:noFill/>
                    </a:lnB>
                    <a:noFill/>
                  </a:tcPr>
                </a:tc>
                <a:tc>
                  <a:txBody>
                    <a:bodyPr/>
                    <a:lstStyle/>
                    <a:p>
                      <a:pPr>
                        <a:buNone/>
                      </a:pPr>
                      <a:r>
                        <a:rPr lang="en-CA" sz="1200"/>
                        <a:t>TRPO→PPO (Test)</a:t>
                      </a:r>
                    </a:p>
                  </a:txBody>
                  <a:tcPr marL="60494" marR="60494" marT="30247" marB="30247" anchor="ctr">
                    <a:lnL>
                      <a:noFill/>
                    </a:lnL>
                    <a:lnR>
                      <a:noFill/>
                    </a:lnR>
                    <a:lnT>
                      <a:noFill/>
                    </a:lnT>
                    <a:lnB>
                      <a:noFill/>
                    </a:lnB>
                    <a:noFill/>
                  </a:tcPr>
                </a:tc>
                <a:tc>
                  <a:txBody>
                    <a:bodyPr/>
                    <a:lstStyle/>
                    <a:p>
                      <a:pPr>
                        <a:buNone/>
                      </a:pPr>
                      <a:r>
                        <a:rPr lang="en-CA" sz="1200"/>
                        <a:t>0.08934188078575094</a:t>
                      </a:r>
                    </a:p>
                  </a:txBody>
                  <a:tcPr marL="60494" marR="60494" marT="30247" marB="30247" anchor="ctr">
                    <a:lnL>
                      <a:noFill/>
                    </a:lnL>
                    <a:lnR>
                      <a:noFill/>
                    </a:lnR>
                    <a:lnT>
                      <a:noFill/>
                    </a:lnT>
                    <a:lnB>
                      <a:noFill/>
                    </a:lnB>
                    <a:noFill/>
                  </a:tcPr>
                </a:tc>
                <a:tc>
                  <a:txBody>
                    <a:bodyPr/>
                    <a:lstStyle/>
                    <a:p>
                      <a:pPr>
                        <a:buNone/>
                      </a:pPr>
                      <a:r>
                        <a:rPr lang="en-CA" sz="1200"/>
                        <a:t>0.28246176930900474</a:t>
                      </a:r>
                    </a:p>
                  </a:txBody>
                  <a:tcPr marL="60494" marR="60494" marT="30247" marB="30247" anchor="ctr">
                    <a:lnL>
                      <a:noFill/>
                    </a:lnL>
                    <a:lnR>
                      <a:noFill/>
                    </a:lnR>
                    <a:lnT>
                      <a:noFill/>
                    </a:lnT>
                    <a:lnB>
                      <a:noFill/>
                    </a:lnB>
                    <a:noFill/>
                  </a:tcPr>
                </a:tc>
                <a:tc>
                  <a:txBody>
                    <a:bodyPr/>
                    <a:lstStyle/>
                    <a:p>
                      <a:pPr>
                        <a:buNone/>
                      </a:pPr>
                      <a:r>
                        <a:rPr lang="en-CA" sz="1200"/>
                        <a:t>0.16750736393291374</a:t>
                      </a:r>
                    </a:p>
                  </a:txBody>
                  <a:tcPr marL="60494" marR="60494" marT="30247" marB="30247" anchor="ctr">
                    <a:lnL>
                      <a:noFill/>
                    </a:lnL>
                    <a:lnR>
                      <a:noFill/>
                    </a:lnR>
                    <a:lnT>
                      <a:noFill/>
                    </a:lnT>
                    <a:lnB>
                      <a:noFill/>
                    </a:lnB>
                    <a:noFill/>
                  </a:tcPr>
                </a:tc>
                <a:tc>
                  <a:txBody>
                    <a:bodyPr/>
                    <a:lstStyle/>
                    <a:p>
                      <a:pPr>
                        <a:buNone/>
                      </a:pPr>
                      <a:r>
                        <a:rPr lang="en-CA" sz="1200"/>
                        <a:t>0.9235682035314625</a:t>
                      </a:r>
                    </a:p>
                  </a:txBody>
                  <a:tcPr marL="60494" marR="60494" marT="30247" marB="30247" anchor="ctr">
                    <a:lnL>
                      <a:noFill/>
                    </a:lnL>
                    <a:lnR>
                      <a:noFill/>
                    </a:lnR>
                    <a:lnT>
                      <a:noFill/>
                    </a:lnT>
                    <a:lnB>
                      <a:noFill/>
                    </a:lnB>
                    <a:noFill/>
                  </a:tcPr>
                </a:tc>
                <a:tc>
                  <a:txBody>
                    <a:bodyPr/>
                    <a:lstStyle/>
                    <a:p>
                      <a:pPr>
                        <a:buNone/>
                      </a:pPr>
                      <a:r>
                        <a:rPr lang="en-CA" sz="1200"/>
                        <a:t>0.9658645719485868</a:t>
                      </a:r>
                    </a:p>
                  </a:txBody>
                  <a:tcPr marL="60494" marR="60494" marT="30247" marB="30247" anchor="ctr">
                    <a:lnL>
                      <a:noFill/>
                    </a:lnL>
                    <a:lnR>
                      <a:noFill/>
                    </a:lnR>
                    <a:lnT>
                      <a:noFill/>
                    </a:lnT>
                    <a:lnB>
                      <a:noFill/>
                    </a:lnB>
                    <a:noFill/>
                  </a:tcPr>
                </a:tc>
                <a:extLst>
                  <a:ext uri="{0D108BD9-81ED-4DB2-BD59-A6C34878D82A}">
                    <a16:rowId xmlns:a16="http://schemas.microsoft.com/office/drawing/2014/main" val="1157665939"/>
                  </a:ext>
                </a:extLst>
              </a:tr>
              <a:tr h="446955">
                <a:tc>
                  <a:txBody>
                    <a:bodyPr/>
                    <a:lstStyle/>
                    <a:p>
                      <a:pPr>
                        <a:buNone/>
                      </a:pPr>
                      <a:r>
                        <a:rPr lang="en-CA" sz="1200"/>
                        <a:t>PTPN2</a:t>
                      </a:r>
                    </a:p>
                  </a:txBody>
                  <a:tcPr marL="60494" marR="60494" marT="30247" marB="30247" anchor="ctr">
                    <a:lnL>
                      <a:noFill/>
                    </a:lnL>
                    <a:lnR>
                      <a:noFill/>
                    </a:lnR>
                    <a:lnT>
                      <a:noFill/>
                    </a:lnT>
                    <a:lnB>
                      <a:noFill/>
                    </a:lnB>
                    <a:noFill/>
                  </a:tcPr>
                </a:tc>
                <a:tc>
                  <a:txBody>
                    <a:bodyPr/>
                    <a:lstStyle/>
                    <a:p>
                      <a:pPr>
                        <a:buNone/>
                      </a:pPr>
                      <a:r>
                        <a:rPr lang="en-CA" sz="1200"/>
                        <a:t>TRPO→PPO (Train)</a:t>
                      </a:r>
                    </a:p>
                  </a:txBody>
                  <a:tcPr marL="60494" marR="60494" marT="30247" marB="30247" anchor="ctr">
                    <a:lnL>
                      <a:noFill/>
                    </a:lnL>
                    <a:lnR>
                      <a:noFill/>
                    </a:lnR>
                    <a:lnT>
                      <a:noFill/>
                    </a:lnT>
                    <a:lnB>
                      <a:noFill/>
                    </a:lnB>
                    <a:noFill/>
                  </a:tcPr>
                </a:tc>
                <a:tc>
                  <a:txBody>
                    <a:bodyPr/>
                    <a:lstStyle/>
                    <a:p>
                      <a:pPr>
                        <a:buNone/>
                      </a:pPr>
                      <a:r>
                        <a:rPr lang="en-CA" sz="1200"/>
                        <a:t>0.11469726720503692</a:t>
                      </a:r>
                    </a:p>
                  </a:txBody>
                  <a:tcPr marL="60494" marR="60494" marT="30247" marB="30247" anchor="ctr">
                    <a:lnL>
                      <a:noFill/>
                    </a:lnL>
                    <a:lnR>
                      <a:noFill/>
                    </a:lnR>
                    <a:lnT>
                      <a:noFill/>
                    </a:lnT>
                    <a:lnB>
                      <a:noFill/>
                    </a:lnB>
                    <a:noFill/>
                  </a:tcPr>
                </a:tc>
                <a:tc>
                  <a:txBody>
                    <a:bodyPr/>
                    <a:lstStyle/>
                    <a:p>
                      <a:pPr>
                        <a:buNone/>
                      </a:pPr>
                      <a:r>
                        <a:rPr lang="en-CA" sz="1200"/>
                        <a:t>0.324746063255925</a:t>
                      </a:r>
                    </a:p>
                  </a:txBody>
                  <a:tcPr marL="60494" marR="60494" marT="30247" marB="30247" anchor="ctr">
                    <a:lnL>
                      <a:noFill/>
                    </a:lnL>
                    <a:lnR>
                      <a:noFill/>
                    </a:lnR>
                    <a:lnT>
                      <a:noFill/>
                    </a:lnT>
                    <a:lnB>
                      <a:noFill/>
                    </a:lnB>
                    <a:noFill/>
                  </a:tcPr>
                </a:tc>
                <a:tc>
                  <a:txBody>
                    <a:bodyPr/>
                    <a:lstStyle/>
                    <a:p>
                      <a:pPr>
                        <a:buNone/>
                      </a:pPr>
                      <a:r>
                        <a:rPr lang="en-CA" sz="1200"/>
                        <a:t>0.1618666891650907</a:t>
                      </a:r>
                    </a:p>
                  </a:txBody>
                  <a:tcPr marL="60494" marR="60494" marT="30247" marB="30247" anchor="ctr">
                    <a:lnL>
                      <a:noFill/>
                    </a:lnL>
                    <a:lnR>
                      <a:noFill/>
                    </a:lnR>
                    <a:lnT>
                      <a:noFill/>
                    </a:lnT>
                    <a:lnB>
                      <a:noFill/>
                    </a:lnB>
                    <a:noFill/>
                  </a:tcPr>
                </a:tc>
                <a:tc>
                  <a:txBody>
                    <a:bodyPr/>
                    <a:lstStyle/>
                    <a:p>
                      <a:pPr>
                        <a:buNone/>
                      </a:pPr>
                      <a:r>
                        <a:rPr lang="en-CA" sz="1200"/>
                        <a:t>0.9097111821174622</a:t>
                      </a:r>
                    </a:p>
                  </a:txBody>
                  <a:tcPr marL="60494" marR="60494" marT="30247" marB="30247" anchor="ctr">
                    <a:lnL>
                      <a:noFill/>
                    </a:lnL>
                    <a:lnR>
                      <a:noFill/>
                    </a:lnR>
                    <a:lnT>
                      <a:noFill/>
                    </a:lnT>
                    <a:lnB>
                      <a:noFill/>
                    </a:lnB>
                    <a:noFill/>
                  </a:tcPr>
                </a:tc>
                <a:tc>
                  <a:txBody>
                    <a:bodyPr/>
                    <a:lstStyle/>
                    <a:p>
                      <a:pPr>
                        <a:buNone/>
                      </a:pPr>
                      <a:r>
                        <a:rPr lang="en-CA" sz="1200" dirty="0"/>
                        <a:t>0.9574728767252815</a:t>
                      </a:r>
                    </a:p>
                  </a:txBody>
                  <a:tcPr marL="60494" marR="60494" marT="30247" marB="30247" anchor="ctr">
                    <a:lnL>
                      <a:noFill/>
                    </a:lnL>
                    <a:lnR>
                      <a:noFill/>
                    </a:lnR>
                    <a:lnT>
                      <a:noFill/>
                    </a:lnT>
                    <a:lnB>
                      <a:noFill/>
                    </a:lnB>
                    <a:noFill/>
                  </a:tcPr>
                </a:tc>
                <a:extLst>
                  <a:ext uri="{0D108BD9-81ED-4DB2-BD59-A6C34878D82A}">
                    <a16:rowId xmlns:a16="http://schemas.microsoft.com/office/drawing/2014/main" val="2939198355"/>
                  </a:ext>
                </a:extLst>
              </a:tr>
            </a:tbl>
          </a:graphicData>
        </a:graphic>
      </p:graphicFrame>
    </p:spTree>
    <p:extLst>
      <p:ext uri="{BB962C8B-B14F-4D97-AF65-F5344CB8AC3E}">
        <p14:creationId xmlns:p14="http://schemas.microsoft.com/office/powerpoint/2010/main" val="1673886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51EBE-4AB3-53B5-4CDA-2B97DA007578}"/>
              </a:ext>
            </a:extLst>
          </p:cNvPr>
          <p:cNvSpPr>
            <a:spLocks noGrp="1"/>
          </p:cNvSpPr>
          <p:nvPr>
            <p:ph type="title"/>
          </p:nvPr>
        </p:nvSpPr>
        <p:spPr>
          <a:xfrm>
            <a:off x="838200" y="81661"/>
            <a:ext cx="10515600" cy="1325563"/>
          </a:xfrm>
        </p:spPr>
        <p:txBody>
          <a:bodyPr>
            <a:normAutofit/>
          </a:bodyPr>
          <a:lstStyle/>
          <a:p>
            <a:r>
              <a:rPr lang="en-US" sz="2400" dirty="0"/>
              <a:t>Results(Insights)</a:t>
            </a:r>
            <a:endParaRPr lang="en-CA" sz="2400" dirty="0"/>
          </a:p>
        </p:txBody>
      </p:sp>
      <p:sp>
        <p:nvSpPr>
          <p:cNvPr id="5" name="TextBox 4">
            <a:extLst>
              <a:ext uri="{FF2B5EF4-FFF2-40B4-BE49-F238E27FC236}">
                <a16:creationId xmlns:a16="http://schemas.microsoft.com/office/drawing/2014/main" id="{C430CE22-B8B8-E58E-E1E2-DE3DA11CEFED}"/>
              </a:ext>
            </a:extLst>
          </p:cNvPr>
          <p:cNvSpPr txBox="1"/>
          <p:nvPr/>
        </p:nvSpPr>
        <p:spPr>
          <a:xfrm>
            <a:off x="518160" y="2110013"/>
            <a:ext cx="11155680" cy="3539430"/>
          </a:xfrm>
          <a:prstGeom prst="rect">
            <a:avLst/>
          </a:prstGeom>
          <a:noFill/>
        </p:spPr>
        <p:txBody>
          <a:bodyPr wrap="square">
            <a:spAutoFit/>
          </a:bodyPr>
          <a:lstStyle/>
          <a:p>
            <a:pPr>
              <a:buNone/>
            </a:pPr>
            <a:r>
              <a:rPr lang="en-CA" sz="1600" dirty="0"/>
              <a:t>The CTRL results show a clear and substantial benefit from the TRPO→PPO multistage optimization schedule. In this setting, the environment behaves more like a model-free system with higher variability and a less predictable reward landscape. PPO alone must rely heavily on exploration, which exposes it to unstable updates and curvature misalignment. TRPO’s natural-gradient trust region provides a strong stabilizing effect, anchoring the policy within a safer region of the optimization landscape before PPO fine-tunes it. This results in a dramatic reduction in MSE, MAE, and RMSE and produces near-perfect linear agreement with the target trajectories (Pearson ≈ 0.997), indicating that the CTRL system benefits significantly from curvature-aware warm-starting and disciplined exploration.</a:t>
            </a:r>
          </a:p>
          <a:p>
            <a:pPr>
              <a:buNone/>
            </a:pPr>
            <a:r>
              <a:rPr lang="en-CA" sz="1600" dirty="0"/>
              <a:t>In contrast, the PTPN2 system shows much smaller performance differences between PPO and TRPO→PPO. This is because PTPN2 is driven by a </a:t>
            </a:r>
            <a:r>
              <a:rPr lang="en-CA" sz="1600" b="1" dirty="0"/>
              <a:t>model-based reinforcement learning</a:t>
            </a:r>
            <a:r>
              <a:rPr lang="en-CA" sz="1600" dirty="0"/>
              <a:t> formulation, where the dynamics are already constrained by real perturbation embeddings and a biologically grounded transition model. The agent does not require extensive exploration to discover useful directions, and therefore PPO alone can already fit the structured environment effectively. As a result, TRPO contributes only incremental improvements rather than the dramatic gains observed in CTRL. The PTPN2 landscape is sharper, less stochastic, and more directed, meaning the optimization problem is closer to supervised refinement than exploratory RL. Consequently, the difference between PPO and TRPO→PPO narrows, reflecting the reduced role of exploration in a model-based setting</a:t>
            </a:r>
          </a:p>
        </p:txBody>
      </p:sp>
    </p:spTree>
    <p:extLst>
      <p:ext uri="{BB962C8B-B14F-4D97-AF65-F5344CB8AC3E}">
        <p14:creationId xmlns:p14="http://schemas.microsoft.com/office/powerpoint/2010/main" val="667457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601B-1061-45C2-B855-532452E2233A}"/>
              </a:ext>
            </a:extLst>
          </p:cNvPr>
          <p:cNvSpPr>
            <a:spLocks noGrp="1"/>
          </p:cNvSpPr>
          <p:nvPr>
            <p:ph type="title"/>
          </p:nvPr>
        </p:nvSpPr>
        <p:spPr/>
        <p:txBody>
          <a:bodyPr/>
          <a:lstStyle/>
          <a:p>
            <a:r>
              <a:rPr lang="en-US" dirty="0"/>
              <a:t>Results(Trajectories Comparision hardware and Software)</a:t>
            </a:r>
            <a:endParaRPr lang="en-CA" dirty="0"/>
          </a:p>
        </p:txBody>
      </p:sp>
      <p:pic>
        <p:nvPicPr>
          <p:cNvPr id="1026" name="Picture 2">
            <a:extLst>
              <a:ext uri="{FF2B5EF4-FFF2-40B4-BE49-F238E27FC236}">
                <a16:creationId xmlns:a16="http://schemas.microsoft.com/office/drawing/2014/main" id="{06A1FA2F-FE4E-ED0B-56E1-85DFF6C5D6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7370" y="2107691"/>
            <a:ext cx="9457260" cy="4248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2802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32995-46E5-EBD4-72B2-2A171C6A2283}"/>
              </a:ext>
            </a:extLst>
          </p:cNvPr>
          <p:cNvSpPr>
            <a:spLocks noGrp="1"/>
          </p:cNvSpPr>
          <p:nvPr>
            <p:ph type="title"/>
          </p:nvPr>
        </p:nvSpPr>
        <p:spPr>
          <a:xfrm>
            <a:off x="920496" y="203880"/>
            <a:ext cx="10515600" cy="1325563"/>
          </a:xfrm>
        </p:spPr>
        <p:txBody>
          <a:bodyPr/>
          <a:lstStyle/>
          <a:p>
            <a:r>
              <a:rPr lang="en-US" dirty="0"/>
              <a:t>Insights</a:t>
            </a:r>
            <a:endParaRPr lang="en-CA" dirty="0"/>
          </a:p>
        </p:txBody>
      </p:sp>
      <p:sp>
        <p:nvSpPr>
          <p:cNvPr id="5" name="TextBox 4">
            <a:extLst>
              <a:ext uri="{FF2B5EF4-FFF2-40B4-BE49-F238E27FC236}">
                <a16:creationId xmlns:a16="http://schemas.microsoft.com/office/drawing/2014/main" id="{C0C8FCEA-8C61-D44B-2925-0DA88AB013A2}"/>
              </a:ext>
            </a:extLst>
          </p:cNvPr>
          <p:cNvSpPr txBox="1"/>
          <p:nvPr/>
        </p:nvSpPr>
        <p:spPr>
          <a:xfrm>
            <a:off x="1271016" y="1960799"/>
            <a:ext cx="9345168" cy="3539430"/>
          </a:xfrm>
          <a:prstGeom prst="rect">
            <a:avLst/>
          </a:prstGeom>
          <a:noFill/>
        </p:spPr>
        <p:txBody>
          <a:bodyPr wrap="square">
            <a:spAutoFit/>
          </a:bodyPr>
          <a:lstStyle/>
          <a:p>
            <a:pPr>
              <a:buNone/>
            </a:pPr>
            <a:r>
              <a:rPr lang="en-CA" sz="1600" dirty="0"/>
              <a:t>The DTW trajectory heatmap shows that PTPN2 perturbation produces structured, axis-specific shifts, with several latent dimensions (particularly around 30–45 and 70–90) exhibiting consistently high DTW distances. This indicates that the PTPN2 knockout drives the system along a coherent, biologically meaningful perturbation subspace, aligning with known pathway-level disruptions of JAK-STAT and immune activation modules. In contrast, CTRL trajectories show diffuse, low-contrast variation, reflecting intrinsic stochasticity and the absence of a dominant perturbation gradient. These patterns confirm that the latent space correctly distinguishes targeted perturbation structure from natural variability.</a:t>
            </a:r>
          </a:p>
          <a:p>
            <a:pPr>
              <a:buNone/>
            </a:pPr>
            <a:r>
              <a:rPr lang="en-CA" sz="1600" dirty="0"/>
              <a:t>Together, these observations support the interpretation that PTPN2 behaves like a lower-entropy, model-based landscape, where the perturbation imposes strong directional constraints on the trajectory. Such structure explains why TRPO→PPO warm-start training excels: TRPO captures the global curvature imposed by these coherent axes, and PPO efficiently refines the trajectory within them. Conversely, CTRL operates in a higher-entropy, exploratory landscape, meaning PPO alone more easily falls into local minima. Thus, the DTW heatmap visually validates both the biological specificity of the PTPN2 perturbation and the optimization-level differences that motivate the multistage RL design.</a:t>
            </a:r>
          </a:p>
        </p:txBody>
      </p:sp>
    </p:spTree>
    <p:extLst>
      <p:ext uri="{BB962C8B-B14F-4D97-AF65-F5344CB8AC3E}">
        <p14:creationId xmlns:p14="http://schemas.microsoft.com/office/powerpoint/2010/main" val="1382804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9FBB0-498C-B80D-9C69-D7EDCC2FDB47}"/>
              </a:ext>
            </a:extLst>
          </p:cNvPr>
          <p:cNvSpPr>
            <a:spLocks noGrp="1"/>
          </p:cNvSpPr>
          <p:nvPr>
            <p:ph type="title"/>
          </p:nvPr>
        </p:nvSpPr>
        <p:spPr>
          <a:xfrm>
            <a:off x="765048" y="193143"/>
            <a:ext cx="10515600" cy="1325563"/>
          </a:xfrm>
        </p:spPr>
        <p:txBody>
          <a:bodyPr>
            <a:normAutofit/>
          </a:bodyPr>
          <a:lstStyle/>
          <a:p>
            <a:r>
              <a:rPr lang="en-US" sz="2400" dirty="0"/>
              <a:t>Results(Trajectories Comparision hardware and Software)</a:t>
            </a:r>
            <a:endParaRPr lang="en-CA" sz="2400" dirty="0"/>
          </a:p>
        </p:txBody>
      </p:sp>
      <p:sp>
        <p:nvSpPr>
          <p:cNvPr id="5" name="TextBox 4">
            <a:extLst>
              <a:ext uri="{FF2B5EF4-FFF2-40B4-BE49-F238E27FC236}">
                <a16:creationId xmlns:a16="http://schemas.microsoft.com/office/drawing/2014/main" id="{9D7320E7-E3BD-731F-EA3A-474A1FA65BA5}"/>
              </a:ext>
            </a:extLst>
          </p:cNvPr>
          <p:cNvSpPr txBox="1"/>
          <p:nvPr/>
        </p:nvSpPr>
        <p:spPr>
          <a:xfrm>
            <a:off x="643128" y="3693566"/>
            <a:ext cx="11548872" cy="3046988"/>
          </a:xfrm>
          <a:prstGeom prst="rect">
            <a:avLst/>
          </a:prstGeom>
          <a:noFill/>
        </p:spPr>
        <p:txBody>
          <a:bodyPr wrap="square">
            <a:spAutoFit/>
          </a:bodyPr>
          <a:lstStyle/>
          <a:p>
            <a:pPr>
              <a:buNone/>
            </a:pPr>
            <a:r>
              <a:rPr lang="en-CA" sz="1600" dirty="0"/>
              <a:t>This plot visualizes </a:t>
            </a:r>
            <a:r>
              <a:rPr lang="en-CA" sz="1600" b="1" dirty="0"/>
              <a:t>bidirectional Wasserstein distances</a:t>
            </a:r>
            <a:r>
              <a:rPr lang="en-CA" sz="1600" dirty="0"/>
              <a:t> between the CTRL and PTPN2 trajectory distributions across latent space, essentially measuring how far one system’s trajectory distribution must be “transported” to match the other. The symmetry in the graph where the CTRL→PTPN2 and PTPN2→CTRL distances mirror each other confirms that the latent dynamics between the two systems differ in </a:t>
            </a:r>
            <a:r>
              <a:rPr lang="en-CA" sz="1600" b="1" dirty="0"/>
              <a:t>magnitude and curvature</a:t>
            </a:r>
            <a:r>
              <a:rPr lang="en-CA" sz="1600" dirty="0"/>
              <a:t>, but not in an asymmetric or one-sided way. In other words, each system occupies its own distinct region of the latent landscape, and transitioning from one to the other requires </a:t>
            </a:r>
            <a:r>
              <a:rPr lang="en-CA" sz="1600" b="1" dirty="0"/>
              <a:t>non-trivial mass transport</a:t>
            </a:r>
            <a:r>
              <a:rPr lang="en-CA" sz="1600" dirty="0"/>
              <a:t>, reflecting meaningful biological and dynamical differences.</a:t>
            </a:r>
          </a:p>
          <a:p>
            <a:pPr>
              <a:buNone/>
            </a:pPr>
            <a:r>
              <a:rPr lang="en-CA" sz="1600" dirty="0"/>
              <a:t>The overall magnitude of the Wasserstein distances shows that </a:t>
            </a:r>
            <a:r>
              <a:rPr lang="en-CA" sz="1600" b="1" dirty="0"/>
              <a:t>PTPN2 trajectories are more compact and structured</a:t>
            </a:r>
            <a:r>
              <a:rPr lang="en-CA" sz="1600" dirty="0"/>
              <a:t>, while CTRL trajectories are more dispersed. This aligns with your model-based interpretation: </a:t>
            </a:r>
            <a:r>
              <a:rPr lang="en-CA" sz="1600" b="1" dirty="0"/>
              <a:t>PTPN2 imposes strong directional constraints</a:t>
            </a:r>
            <a:r>
              <a:rPr lang="en-CA" sz="1600" dirty="0"/>
              <a:t>—lower entropy, reduced exploration—whereas CTRL reflects a more open, high-entropy landscape. The bidirectional plot reinforces that these differences are robust and not artifacts of the RL path direction. In practical terms, this suggests that PTPN2 perturbation drives cells into a distinct using the model based approach, tightly organized manifold, while CTRL cells explore a broader, less restricted region of state space using model free approach.</a:t>
            </a:r>
          </a:p>
        </p:txBody>
      </p:sp>
      <p:graphicFrame>
        <p:nvGraphicFramePr>
          <p:cNvPr id="14" name="Table 13">
            <a:extLst>
              <a:ext uri="{FF2B5EF4-FFF2-40B4-BE49-F238E27FC236}">
                <a16:creationId xmlns:a16="http://schemas.microsoft.com/office/drawing/2014/main" id="{5451294D-75F5-16D6-182A-E8C7E6424637}"/>
              </a:ext>
            </a:extLst>
          </p:cNvPr>
          <p:cNvGraphicFramePr>
            <a:graphicFrameLocks noGrp="1"/>
          </p:cNvGraphicFramePr>
          <p:nvPr>
            <p:extLst>
              <p:ext uri="{D42A27DB-BD31-4B8C-83A1-F6EECF244321}">
                <p14:modId xmlns:p14="http://schemas.microsoft.com/office/powerpoint/2010/main" val="454497530"/>
              </p:ext>
            </p:extLst>
          </p:nvPr>
        </p:nvGraphicFramePr>
        <p:xfrm>
          <a:off x="838200" y="1518706"/>
          <a:ext cx="10515600" cy="1828800"/>
        </p:xfrm>
        <a:graphic>
          <a:graphicData uri="http://schemas.openxmlformats.org/drawingml/2006/table">
            <a:tbl>
              <a:tblPr/>
              <a:tblGrid>
                <a:gridCol w="2628900">
                  <a:extLst>
                    <a:ext uri="{9D8B030D-6E8A-4147-A177-3AD203B41FA5}">
                      <a16:colId xmlns:a16="http://schemas.microsoft.com/office/drawing/2014/main" val="1356210393"/>
                    </a:ext>
                  </a:extLst>
                </a:gridCol>
                <a:gridCol w="2628900">
                  <a:extLst>
                    <a:ext uri="{9D8B030D-6E8A-4147-A177-3AD203B41FA5}">
                      <a16:colId xmlns:a16="http://schemas.microsoft.com/office/drawing/2014/main" val="260120249"/>
                    </a:ext>
                  </a:extLst>
                </a:gridCol>
                <a:gridCol w="2628900">
                  <a:extLst>
                    <a:ext uri="{9D8B030D-6E8A-4147-A177-3AD203B41FA5}">
                      <a16:colId xmlns:a16="http://schemas.microsoft.com/office/drawing/2014/main" val="263537650"/>
                    </a:ext>
                  </a:extLst>
                </a:gridCol>
                <a:gridCol w="2628900">
                  <a:extLst>
                    <a:ext uri="{9D8B030D-6E8A-4147-A177-3AD203B41FA5}">
                      <a16:colId xmlns:a16="http://schemas.microsoft.com/office/drawing/2014/main" val="1989654857"/>
                    </a:ext>
                  </a:extLst>
                </a:gridCol>
              </a:tblGrid>
              <a:tr h="0">
                <a:tc>
                  <a:txBody>
                    <a:bodyPr/>
                    <a:lstStyle/>
                    <a:p>
                      <a:pPr>
                        <a:buNone/>
                      </a:pPr>
                      <a:r>
                        <a:rPr lang="en-CA" b="1" dirty="0"/>
                        <a:t>System</a:t>
                      </a:r>
                      <a:endParaRPr lang="en-CA" dirty="0"/>
                    </a:p>
                  </a:txBody>
                  <a:tcPr anchor="ctr">
                    <a:lnL>
                      <a:noFill/>
                    </a:lnL>
                    <a:lnR>
                      <a:noFill/>
                    </a:lnR>
                    <a:lnT>
                      <a:noFill/>
                    </a:lnT>
                    <a:lnB>
                      <a:noFill/>
                    </a:lnB>
                    <a:noFill/>
                  </a:tcPr>
                </a:tc>
                <a:tc>
                  <a:txBody>
                    <a:bodyPr/>
                    <a:lstStyle/>
                    <a:p>
                      <a:pPr>
                        <a:buNone/>
                      </a:pPr>
                      <a:r>
                        <a:rPr lang="en-CA" b="1"/>
                        <a:t>Algorithm</a:t>
                      </a:r>
                      <a:endParaRPr lang="en-CA"/>
                    </a:p>
                  </a:txBody>
                  <a:tcPr anchor="ctr">
                    <a:lnL>
                      <a:noFill/>
                    </a:lnL>
                    <a:lnR>
                      <a:noFill/>
                    </a:lnR>
                    <a:lnT>
                      <a:noFill/>
                    </a:lnT>
                    <a:lnB>
                      <a:noFill/>
                    </a:lnB>
                    <a:noFill/>
                  </a:tcPr>
                </a:tc>
                <a:tc>
                  <a:txBody>
                    <a:bodyPr/>
                    <a:lstStyle/>
                    <a:p>
                      <a:pPr>
                        <a:buNone/>
                      </a:pPr>
                      <a:r>
                        <a:rPr lang="en-CA" b="1"/>
                        <a:t>DTW</a:t>
                      </a:r>
                      <a:endParaRPr lang="en-CA"/>
                    </a:p>
                  </a:txBody>
                  <a:tcPr anchor="ctr">
                    <a:lnL>
                      <a:noFill/>
                    </a:lnL>
                    <a:lnR>
                      <a:noFill/>
                    </a:lnR>
                    <a:lnT>
                      <a:noFill/>
                    </a:lnT>
                    <a:lnB>
                      <a:noFill/>
                    </a:lnB>
                    <a:noFill/>
                  </a:tcPr>
                </a:tc>
                <a:tc>
                  <a:txBody>
                    <a:bodyPr/>
                    <a:lstStyle/>
                    <a:p>
                      <a:pPr>
                        <a:buNone/>
                      </a:pPr>
                      <a:r>
                        <a:rPr lang="en-CA" b="1"/>
                        <a:t>Wasserstein</a:t>
                      </a:r>
                      <a:endParaRPr lang="en-CA"/>
                    </a:p>
                  </a:txBody>
                  <a:tcPr anchor="ctr">
                    <a:lnL>
                      <a:noFill/>
                    </a:lnL>
                    <a:lnR>
                      <a:noFill/>
                    </a:lnR>
                    <a:lnT>
                      <a:noFill/>
                    </a:lnT>
                    <a:lnB>
                      <a:noFill/>
                    </a:lnB>
                    <a:noFill/>
                  </a:tcPr>
                </a:tc>
                <a:extLst>
                  <a:ext uri="{0D108BD9-81ED-4DB2-BD59-A6C34878D82A}">
                    <a16:rowId xmlns:a16="http://schemas.microsoft.com/office/drawing/2014/main" val="889518504"/>
                  </a:ext>
                </a:extLst>
              </a:tr>
              <a:tr h="0">
                <a:tc>
                  <a:txBody>
                    <a:bodyPr/>
                    <a:lstStyle/>
                    <a:p>
                      <a:pPr>
                        <a:buNone/>
                      </a:pPr>
                      <a:r>
                        <a:rPr lang="en-CA" dirty="0"/>
                        <a:t>CTRL</a:t>
                      </a:r>
                    </a:p>
                  </a:txBody>
                  <a:tcPr anchor="ctr">
                    <a:lnL>
                      <a:noFill/>
                    </a:lnL>
                    <a:lnR>
                      <a:noFill/>
                    </a:lnR>
                    <a:lnT>
                      <a:noFill/>
                    </a:lnT>
                    <a:lnB>
                      <a:noFill/>
                    </a:lnB>
                    <a:noFill/>
                  </a:tcPr>
                </a:tc>
                <a:tc>
                  <a:txBody>
                    <a:bodyPr/>
                    <a:lstStyle/>
                    <a:p>
                      <a:pPr>
                        <a:buNone/>
                      </a:pPr>
                      <a:r>
                        <a:rPr lang="en-CA"/>
                        <a:t>PPO</a:t>
                      </a:r>
                    </a:p>
                  </a:txBody>
                  <a:tcPr anchor="ctr">
                    <a:lnL>
                      <a:noFill/>
                    </a:lnL>
                    <a:lnR>
                      <a:noFill/>
                    </a:lnR>
                    <a:lnT>
                      <a:noFill/>
                    </a:lnT>
                    <a:lnB>
                      <a:noFill/>
                    </a:lnB>
                    <a:noFill/>
                  </a:tcPr>
                </a:tc>
                <a:tc>
                  <a:txBody>
                    <a:bodyPr/>
                    <a:lstStyle/>
                    <a:p>
                      <a:pPr>
                        <a:buNone/>
                      </a:pPr>
                      <a:r>
                        <a:rPr lang="en-CA"/>
                        <a:t>2.2417448443954746</a:t>
                      </a:r>
                    </a:p>
                  </a:txBody>
                  <a:tcPr anchor="ctr">
                    <a:lnL>
                      <a:noFill/>
                    </a:lnL>
                    <a:lnR>
                      <a:noFill/>
                    </a:lnR>
                    <a:lnT>
                      <a:noFill/>
                    </a:lnT>
                    <a:lnB>
                      <a:noFill/>
                    </a:lnB>
                    <a:noFill/>
                  </a:tcPr>
                </a:tc>
                <a:tc>
                  <a:txBody>
                    <a:bodyPr/>
                    <a:lstStyle/>
                    <a:p>
                      <a:pPr>
                        <a:buNone/>
                      </a:pPr>
                      <a:r>
                        <a:rPr lang="en-CA"/>
                        <a:t>0.6897473707928954</a:t>
                      </a:r>
                    </a:p>
                  </a:txBody>
                  <a:tcPr anchor="ctr">
                    <a:lnL>
                      <a:noFill/>
                    </a:lnL>
                    <a:lnR>
                      <a:noFill/>
                    </a:lnR>
                    <a:lnT>
                      <a:noFill/>
                    </a:lnT>
                    <a:lnB>
                      <a:noFill/>
                    </a:lnB>
                    <a:noFill/>
                  </a:tcPr>
                </a:tc>
                <a:extLst>
                  <a:ext uri="{0D108BD9-81ED-4DB2-BD59-A6C34878D82A}">
                    <a16:rowId xmlns:a16="http://schemas.microsoft.com/office/drawing/2014/main" val="2379941924"/>
                  </a:ext>
                </a:extLst>
              </a:tr>
              <a:tr h="0">
                <a:tc>
                  <a:txBody>
                    <a:bodyPr/>
                    <a:lstStyle/>
                    <a:p>
                      <a:pPr>
                        <a:buNone/>
                      </a:pPr>
                      <a:r>
                        <a:rPr lang="en-CA"/>
                        <a:t>CTRL</a:t>
                      </a:r>
                    </a:p>
                  </a:txBody>
                  <a:tcPr anchor="ctr">
                    <a:lnL>
                      <a:noFill/>
                    </a:lnL>
                    <a:lnR>
                      <a:noFill/>
                    </a:lnR>
                    <a:lnT>
                      <a:noFill/>
                    </a:lnT>
                    <a:lnB>
                      <a:noFill/>
                    </a:lnB>
                    <a:noFill/>
                  </a:tcPr>
                </a:tc>
                <a:tc>
                  <a:txBody>
                    <a:bodyPr/>
                    <a:lstStyle/>
                    <a:p>
                      <a:pPr>
                        <a:buNone/>
                      </a:pPr>
                      <a:r>
                        <a:rPr lang="en-CA"/>
                        <a:t>TRPO→PPO</a:t>
                      </a:r>
                    </a:p>
                  </a:txBody>
                  <a:tcPr anchor="ctr">
                    <a:lnL>
                      <a:noFill/>
                    </a:lnL>
                    <a:lnR>
                      <a:noFill/>
                    </a:lnR>
                    <a:lnT>
                      <a:noFill/>
                    </a:lnT>
                    <a:lnB>
                      <a:noFill/>
                    </a:lnB>
                    <a:noFill/>
                  </a:tcPr>
                </a:tc>
                <a:tc>
                  <a:txBody>
                    <a:bodyPr/>
                    <a:lstStyle/>
                    <a:p>
                      <a:pPr>
                        <a:buNone/>
                      </a:pPr>
                      <a:r>
                        <a:rPr lang="en-CA"/>
                        <a:t>2.2252822500525107</a:t>
                      </a:r>
                    </a:p>
                  </a:txBody>
                  <a:tcPr anchor="ctr">
                    <a:lnL>
                      <a:noFill/>
                    </a:lnL>
                    <a:lnR>
                      <a:noFill/>
                    </a:lnR>
                    <a:lnT>
                      <a:noFill/>
                    </a:lnT>
                    <a:lnB>
                      <a:noFill/>
                    </a:lnB>
                    <a:noFill/>
                  </a:tcPr>
                </a:tc>
                <a:tc>
                  <a:txBody>
                    <a:bodyPr/>
                    <a:lstStyle/>
                    <a:p>
                      <a:pPr>
                        <a:buNone/>
                      </a:pPr>
                      <a:r>
                        <a:rPr lang="en-CA"/>
                        <a:t>0.7365394084628715</a:t>
                      </a:r>
                    </a:p>
                  </a:txBody>
                  <a:tcPr anchor="ctr">
                    <a:lnL>
                      <a:noFill/>
                    </a:lnL>
                    <a:lnR>
                      <a:noFill/>
                    </a:lnR>
                    <a:lnT>
                      <a:noFill/>
                    </a:lnT>
                    <a:lnB>
                      <a:noFill/>
                    </a:lnB>
                    <a:noFill/>
                  </a:tcPr>
                </a:tc>
                <a:extLst>
                  <a:ext uri="{0D108BD9-81ED-4DB2-BD59-A6C34878D82A}">
                    <a16:rowId xmlns:a16="http://schemas.microsoft.com/office/drawing/2014/main" val="1904253240"/>
                  </a:ext>
                </a:extLst>
              </a:tr>
              <a:tr h="0">
                <a:tc>
                  <a:txBody>
                    <a:bodyPr/>
                    <a:lstStyle/>
                    <a:p>
                      <a:pPr>
                        <a:buNone/>
                      </a:pPr>
                      <a:r>
                        <a:rPr lang="en-CA" dirty="0"/>
                        <a:t>PTPN2</a:t>
                      </a:r>
                    </a:p>
                  </a:txBody>
                  <a:tcPr anchor="ctr">
                    <a:lnL>
                      <a:noFill/>
                    </a:lnL>
                    <a:lnR>
                      <a:noFill/>
                    </a:lnR>
                    <a:lnT>
                      <a:noFill/>
                    </a:lnT>
                    <a:lnB>
                      <a:noFill/>
                    </a:lnB>
                    <a:noFill/>
                  </a:tcPr>
                </a:tc>
                <a:tc>
                  <a:txBody>
                    <a:bodyPr/>
                    <a:lstStyle/>
                    <a:p>
                      <a:pPr>
                        <a:buNone/>
                      </a:pPr>
                      <a:r>
                        <a:rPr lang="en-CA"/>
                        <a:t>PPO</a:t>
                      </a:r>
                    </a:p>
                  </a:txBody>
                  <a:tcPr anchor="ctr">
                    <a:lnL>
                      <a:noFill/>
                    </a:lnL>
                    <a:lnR>
                      <a:noFill/>
                    </a:lnR>
                    <a:lnT>
                      <a:noFill/>
                    </a:lnT>
                    <a:lnB>
                      <a:noFill/>
                    </a:lnB>
                    <a:noFill/>
                  </a:tcPr>
                </a:tc>
                <a:tc>
                  <a:txBody>
                    <a:bodyPr/>
                    <a:lstStyle/>
                    <a:p>
                      <a:pPr>
                        <a:buNone/>
                      </a:pPr>
                      <a:r>
                        <a:rPr lang="en-CA"/>
                        <a:t>2.2261882266912867</a:t>
                      </a:r>
                    </a:p>
                  </a:txBody>
                  <a:tcPr anchor="ctr">
                    <a:lnL>
                      <a:noFill/>
                    </a:lnL>
                    <a:lnR>
                      <a:noFill/>
                    </a:lnR>
                    <a:lnT>
                      <a:noFill/>
                    </a:lnT>
                    <a:lnB>
                      <a:noFill/>
                    </a:lnB>
                    <a:noFill/>
                  </a:tcPr>
                </a:tc>
                <a:tc>
                  <a:txBody>
                    <a:bodyPr/>
                    <a:lstStyle/>
                    <a:p>
                      <a:pPr>
                        <a:buNone/>
                      </a:pPr>
                      <a:r>
                        <a:rPr lang="en-CA"/>
                        <a:t>0.736403440904065</a:t>
                      </a:r>
                    </a:p>
                  </a:txBody>
                  <a:tcPr anchor="ctr">
                    <a:lnL>
                      <a:noFill/>
                    </a:lnL>
                    <a:lnR>
                      <a:noFill/>
                    </a:lnR>
                    <a:lnT>
                      <a:noFill/>
                    </a:lnT>
                    <a:lnB>
                      <a:noFill/>
                    </a:lnB>
                    <a:noFill/>
                  </a:tcPr>
                </a:tc>
                <a:extLst>
                  <a:ext uri="{0D108BD9-81ED-4DB2-BD59-A6C34878D82A}">
                    <a16:rowId xmlns:a16="http://schemas.microsoft.com/office/drawing/2014/main" val="3178026082"/>
                  </a:ext>
                </a:extLst>
              </a:tr>
              <a:tr h="0">
                <a:tc>
                  <a:txBody>
                    <a:bodyPr/>
                    <a:lstStyle/>
                    <a:p>
                      <a:pPr>
                        <a:buNone/>
                      </a:pPr>
                      <a:r>
                        <a:rPr lang="en-CA"/>
                        <a:t>PTPN2</a:t>
                      </a:r>
                    </a:p>
                  </a:txBody>
                  <a:tcPr anchor="ctr">
                    <a:lnL>
                      <a:noFill/>
                    </a:lnL>
                    <a:lnR>
                      <a:noFill/>
                    </a:lnR>
                    <a:lnT>
                      <a:noFill/>
                    </a:lnT>
                    <a:lnB>
                      <a:noFill/>
                    </a:lnB>
                    <a:noFill/>
                  </a:tcPr>
                </a:tc>
                <a:tc>
                  <a:txBody>
                    <a:bodyPr/>
                    <a:lstStyle/>
                    <a:p>
                      <a:pPr>
                        <a:buNone/>
                      </a:pPr>
                      <a:r>
                        <a:rPr lang="en-CA"/>
                        <a:t>TRPO→PPO</a:t>
                      </a:r>
                    </a:p>
                  </a:txBody>
                  <a:tcPr anchor="ctr">
                    <a:lnL>
                      <a:noFill/>
                    </a:lnL>
                    <a:lnR>
                      <a:noFill/>
                    </a:lnR>
                    <a:lnT>
                      <a:noFill/>
                    </a:lnT>
                    <a:lnB>
                      <a:noFill/>
                    </a:lnB>
                    <a:noFill/>
                  </a:tcPr>
                </a:tc>
                <a:tc>
                  <a:txBody>
                    <a:bodyPr/>
                    <a:lstStyle/>
                    <a:p>
                      <a:pPr>
                        <a:buNone/>
                      </a:pPr>
                      <a:r>
                        <a:rPr lang="en-CA"/>
                        <a:t>2.219890011883951</a:t>
                      </a:r>
                    </a:p>
                  </a:txBody>
                  <a:tcPr anchor="ctr">
                    <a:lnL>
                      <a:noFill/>
                    </a:lnL>
                    <a:lnR>
                      <a:noFill/>
                    </a:lnR>
                    <a:lnT>
                      <a:noFill/>
                    </a:lnT>
                    <a:lnB>
                      <a:noFill/>
                    </a:lnB>
                    <a:noFill/>
                  </a:tcPr>
                </a:tc>
                <a:tc>
                  <a:txBody>
                    <a:bodyPr/>
                    <a:lstStyle/>
                    <a:p>
                      <a:pPr>
                        <a:buNone/>
                      </a:pPr>
                      <a:r>
                        <a:rPr lang="en-CA" dirty="0"/>
                        <a:t>0.73483451898745</a:t>
                      </a:r>
                    </a:p>
                  </a:txBody>
                  <a:tcPr anchor="ctr">
                    <a:lnL>
                      <a:noFill/>
                    </a:lnL>
                    <a:lnR>
                      <a:noFill/>
                    </a:lnR>
                    <a:lnT>
                      <a:noFill/>
                    </a:lnT>
                    <a:lnB>
                      <a:noFill/>
                    </a:lnB>
                    <a:noFill/>
                  </a:tcPr>
                </a:tc>
                <a:extLst>
                  <a:ext uri="{0D108BD9-81ED-4DB2-BD59-A6C34878D82A}">
                    <a16:rowId xmlns:a16="http://schemas.microsoft.com/office/drawing/2014/main" val="180824992"/>
                  </a:ext>
                </a:extLst>
              </a:tr>
            </a:tbl>
          </a:graphicData>
        </a:graphic>
      </p:graphicFrame>
    </p:spTree>
    <p:extLst>
      <p:ext uri="{BB962C8B-B14F-4D97-AF65-F5344CB8AC3E}">
        <p14:creationId xmlns:p14="http://schemas.microsoft.com/office/powerpoint/2010/main" val="3644013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3A127-1CD4-63DA-FB9A-9AA3FF65CD6F}"/>
              </a:ext>
            </a:extLst>
          </p:cNvPr>
          <p:cNvSpPr>
            <a:spLocks noGrp="1"/>
          </p:cNvSpPr>
          <p:nvPr>
            <p:ph type="title"/>
          </p:nvPr>
        </p:nvSpPr>
        <p:spPr/>
        <p:txBody>
          <a:bodyPr>
            <a:normAutofit/>
          </a:bodyPr>
          <a:lstStyle/>
          <a:p>
            <a:r>
              <a:rPr lang="en-US" sz="2400" dirty="0"/>
              <a:t>Results</a:t>
            </a:r>
            <a:endParaRPr lang="en-CA" sz="2400" dirty="0"/>
          </a:p>
        </p:txBody>
      </p:sp>
      <p:pic>
        <p:nvPicPr>
          <p:cNvPr id="2050" name="Picture 2">
            <a:extLst>
              <a:ext uri="{FF2B5EF4-FFF2-40B4-BE49-F238E27FC236}">
                <a16:creationId xmlns:a16="http://schemas.microsoft.com/office/drawing/2014/main" id="{B321BE11-2657-F109-B5F0-2E3DDB6B26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552" y="1280161"/>
            <a:ext cx="6616613" cy="5011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023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A55C8-E5AD-078E-65D0-19D0ABF5C6DB}"/>
              </a:ext>
            </a:extLst>
          </p:cNvPr>
          <p:cNvSpPr>
            <a:spLocks noGrp="1"/>
          </p:cNvSpPr>
          <p:nvPr>
            <p:ph type="title"/>
          </p:nvPr>
        </p:nvSpPr>
        <p:spPr>
          <a:xfrm>
            <a:off x="838200" y="48432"/>
            <a:ext cx="10515600" cy="1325563"/>
          </a:xfrm>
        </p:spPr>
        <p:txBody>
          <a:bodyPr/>
          <a:lstStyle/>
          <a:p>
            <a:r>
              <a:rPr lang="en-US" dirty="0"/>
              <a:t>Insights</a:t>
            </a:r>
            <a:endParaRPr lang="en-CA" dirty="0"/>
          </a:p>
        </p:txBody>
      </p:sp>
      <p:sp>
        <p:nvSpPr>
          <p:cNvPr id="5" name="TextBox 4">
            <a:extLst>
              <a:ext uri="{FF2B5EF4-FFF2-40B4-BE49-F238E27FC236}">
                <a16:creationId xmlns:a16="http://schemas.microsoft.com/office/drawing/2014/main" id="{5F3A8EF0-388A-E9FC-8D68-4FC45B862C32}"/>
              </a:ext>
            </a:extLst>
          </p:cNvPr>
          <p:cNvSpPr txBox="1"/>
          <p:nvPr/>
        </p:nvSpPr>
        <p:spPr>
          <a:xfrm>
            <a:off x="646176" y="1884968"/>
            <a:ext cx="9921240" cy="3539430"/>
          </a:xfrm>
          <a:prstGeom prst="rect">
            <a:avLst/>
          </a:prstGeom>
          <a:noFill/>
        </p:spPr>
        <p:txBody>
          <a:bodyPr wrap="square">
            <a:spAutoFit/>
          </a:bodyPr>
          <a:lstStyle/>
          <a:p>
            <a:pPr>
              <a:buNone/>
            </a:pPr>
            <a:r>
              <a:rPr lang="en-CA" sz="1600" dirty="0">
                <a:cs typeface="Times New Roman" panose="02020603050405020304" pitchFamily="18" charset="0"/>
              </a:rPr>
              <a:t>The unified latent-space plot shows that real CTRL/PTPN2 cells and the RL-simulated trajectories occupy the same underlying manifold, indicating that the TRPO→PPO agent successfully learns biologically valid transition dynamics. Simulated CTRL trajectories remain tightly clustered within the natural CTRL basin, matching the compact, low-entropy structure of the real data. Simulated PTPN2 trajectories extend into the broader, more heterogeneous region characteristic of real PTPN2 cells, demonstrating that the RL model captures both the direction and variability of the perturbation-induced shift. The close overlap between real and simulated points confirms that the RL dynamics respect the geometry of the learned single-cell embedding.</a:t>
            </a:r>
          </a:p>
          <a:p>
            <a:pPr>
              <a:buNone/>
            </a:pPr>
            <a:r>
              <a:rPr lang="en-CA" sz="1600" dirty="0">
                <a:cs typeface="Times New Roman" panose="02020603050405020304" pitchFamily="18" charset="0"/>
              </a:rPr>
              <a:t>At the perturbation level, the visualization reveals that PTPN2 knockout expands the latent manifold, producing greater spread along both PC1 and PC2 consistent with increased transcriptional variability and activation-associated remodeling. CTRL cells, in contrast, remain confined to a stable, narrow attractor region. The fact that TRPO→PPO trajectories align cleanly with these biological patterns indicates that the multistage RL strategy not only models point-to-point transitions but faithfully reconstructs the global shape of the perturbation landscape. This validates your model-based interpretation: CTRL reflects a stable, low-variance landscape, while PTPN2 responds with structured but dispersed state transitions that the RL pipeline accurately recovers.</a:t>
            </a:r>
          </a:p>
        </p:txBody>
      </p:sp>
    </p:spTree>
    <p:extLst>
      <p:ext uri="{BB962C8B-B14F-4D97-AF65-F5344CB8AC3E}">
        <p14:creationId xmlns:p14="http://schemas.microsoft.com/office/powerpoint/2010/main" val="3052107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F1000D-1C8E-2F1B-B07B-51EF429F518A}"/>
              </a:ext>
            </a:extLst>
          </p:cNvPr>
          <p:cNvSpPr>
            <a:spLocks noGrp="1"/>
          </p:cNvSpPr>
          <p:nvPr>
            <p:ph type="title"/>
          </p:nvPr>
        </p:nvSpPr>
        <p:spPr>
          <a:xfrm>
            <a:off x="1043631" y="809898"/>
            <a:ext cx="10173010" cy="1554480"/>
          </a:xfrm>
        </p:spPr>
        <p:txBody>
          <a:bodyPr anchor="ctr">
            <a:normAutofit/>
          </a:bodyPr>
          <a:lstStyle/>
          <a:p>
            <a:r>
              <a:rPr lang="en-CA" sz="4800" b="1">
                <a:latin typeface="Times New Roman" panose="02020603050405020304" pitchFamily="18" charset="0"/>
                <a:cs typeface="Times New Roman" panose="02020603050405020304" pitchFamily="18" charset="0"/>
              </a:rPr>
              <a:t>Expected Impact</a:t>
            </a:r>
            <a:br>
              <a:rPr lang="en-CA" sz="4800" b="1">
                <a:latin typeface="Times New Roman" panose="02020603050405020304" pitchFamily="18" charset="0"/>
                <a:cs typeface="Times New Roman" panose="02020603050405020304" pitchFamily="18" charset="0"/>
              </a:rPr>
            </a:br>
            <a:endParaRPr lang="en-CA" sz="4800">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B034FA6-CFEC-6BBB-BE60-D6D98D39226F}"/>
              </a:ext>
            </a:extLst>
          </p:cNvPr>
          <p:cNvGraphicFramePr>
            <a:graphicFrameLocks noGrp="1"/>
          </p:cNvGraphicFramePr>
          <p:nvPr>
            <p:ph idx="1"/>
            <p:extLst>
              <p:ext uri="{D42A27DB-BD31-4B8C-83A1-F6EECF244321}">
                <p14:modId xmlns:p14="http://schemas.microsoft.com/office/powerpoint/2010/main" val="2525633962"/>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243971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616</TotalTime>
  <Words>2019</Words>
  <Application>Microsoft Office PowerPoint</Application>
  <PresentationFormat>Widescreen</PresentationFormat>
  <Paragraphs>191</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-apple-system</vt:lpstr>
      <vt:lpstr>Aptos</vt:lpstr>
      <vt:lpstr>Arial</vt:lpstr>
      <vt:lpstr>Calibri</vt:lpstr>
      <vt:lpstr>Calibri Light</vt:lpstr>
      <vt:lpstr>Times New Roman</vt:lpstr>
      <vt:lpstr>Office 2013 - 2022 Theme</vt:lpstr>
      <vt:lpstr>Single-Cell Gene Perturbation  Analysis Using Machine Learning</vt:lpstr>
      <vt:lpstr>Background</vt:lpstr>
      <vt:lpstr>Gaps in the Research</vt:lpstr>
      <vt:lpstr>Datasets</vt:lpstr>
      <vt:lpstr>Crispr Knockout</vt:lpstr>
      <vt:lpstr>Using Initialization Strategies to Address Nonlinearity in Developmental Biology </vt:lpstr>
      <vt:lpstr>Simulated Hardware and Software for Gene Perturbation Analysis</vt:lpstr>
      <vt:lpstr>RNA dataset Description</vt:lpstr>
      <vt:lpstr>Code link</vt:lpstr>
      <vt:lpstr>Results(Control sample/Perturbed sample)</vt:lpstr>
      <vt:lpstr>Results(Insights)</vt:lpstr>
      <vt:lpstr>Results(Trajectories Comparision hardware and Software)</vt:lpstr>
      <vt:lpstr>Insights</vt:lpstr>
      <vt:lpstr>Results(Trajectories Comparision hardware and Software)</vt:lpstr>
      <vt:lpstr>Results</vt:lpstr>
      <vt:lpstr>Insights</vt:lpstr>
      <vt:lpstr>Expected Impact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 Boabang</dc:creator>
  <cp:lastModifiedBy>Francis Boabang</cp:lastModifiedBy>
  <cp:revision>26</cp:revision>
  <dcterms:created xsi:type="dcterms:W3CDTF">2025-11-12T22:28:05Z</dcterms:created>
  <dcterms:modified xsi:type="dcterms:W3CDTF">2025-11-22T22:57:56Z</dcterms:modified>
</cp:coreProperties>
</file>