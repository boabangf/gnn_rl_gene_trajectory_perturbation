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5"/>
  </p:notesMasterIdLst>
  <p:sldIdLst>
    <p:sldId id="256" r:id="rId2"/>
    <p:sldId id="261" r:id="rId3"/>
    <p:sldId id="258" r:id="rId4"/>
    <p:sldId id="257" r:id="rId5"/>
    <p:sldId id="267" r:id="rId6"/>
    <p:sldId id="263" r:id="rId7"/>
    <p:sldId id="268" r:id="rId8"/>
    <p:sldId id="269" r:id="rId9"/>
    <p:sldId id="270" r:id="rId10"/>
    <p:sldId id="271" r:id="rId11"/>
    <p:sldId id="274" r:id="rId12"/>
    <p:sldId id="273" r:id="rId13"/>
    <p:sldId id="25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4660"/>
  </p:normalViewPr>
  <p:slideViewPr>
    <p:cSldViewPr snapToGrid="0">
      <p:cViewPr varScale="1">
        <p:scale>
          <a:sx n="105" d="100"/>
          <a:sy n="105" d="100"/>
        </p:scale>
        <p:origin x="82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_rels/drawing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image" Target="../media/image5.svg"/><Relationship Id="rId1" Type="http://schemas.openxmlformats.org/officeDocument/2006/relationships/image" Target="../media/image4.png"/><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6FF3701-45DE-4332-85CE-F9AAAD7CD9AF}"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5A59AFC8-6699-4791-8C2F-B7FA9D41E005}">
      <dgm:prSet/>
      <dgm:spPr/>
      <dgm:t>
        <a:bodyPr/>
        <a:lstStyle/>
        <a:p>
          <a:r>
            <a:rPr lang="en-US" b="1" i="0" baseline="0" dirty="0"/>
            <a:t>Perturb-seq / </a:t>
          </a:r>
          <a:r>
            <a:rPr lang="en-US" b="1" i="0" baseline="0" dirty="0" err="1"/>
            <a:t>Mixscape</a:t>
          </a:r>
          <a:r>
            <a:rPr lang="en-US" b="0" i="0" baseline="0" dirty="0"/>
            <a:t> – CRISPR perturbations with transcriptomic readouts for </a:t>
          </a:r>
          <a:r>
            <a:rPr lang="en-US" b="1" i="0" baseline="0" dirty="0"/>
            <a:t>validation.</a:t>
          </a:r>
          <a:endParaRPr lang="en-US" b="1" dirty="0"/>
        </a:p>
      </dgm:t>
    </dgm:pt>
    <dgm:pt modelId="{2325147D-06A1-430E-8597-E111E711F301}" type="parTrans" cxnId="{191EE81E-7F10-42F6-BC7C-2C593EEA863A}">
      <dgm:prSet/>
      <dgm:spPr/>
      <dgm:t>
        <a:bodyPr/>
        <a:lstStyle/>
        <a:p>
          <a:endParaRPr lang="en-US"/>
        </a:p>
      </dgm:t>
    </dgm:pt>
    <dgm:pt modelId="{5763D4E9-1CF5-4905-8E16-E546996F07A8}" type="sibTrans" cxnId="{191EE81E-7F10-42F6-BC7C-2C593EEA863A}">
      <dgm:prSet/>
      <dgm:spPr/>
      <dgm:t>
        <a:bodyPr/>
        <a:lstStyle/>
        <a:p>
          <a:endParaRPr lang="en-US"/>
        </a:p>
      </dgm:t>
    </dgm:pt>
    <dgm:pt modelId="{6DE2D6FA-ACED-4DD5-8758-4F65DFFAD282}">
      <dgm:prSet/>
      <dgm:spPr/>
      <dgm:t>
        <a:bodyPr/>
        <a:lstStyle/>
        <a:p>
          <a:r>
            <a:rPr lang="en-US" b="1" i="0" baseline="0" dirty="0" err="1"/>
            <a:t>scRNA</a:t>
          </a:r>
          <a:r>
            <a:rPr lang="en-US" b="1" i="0" baseline="0" dirty="0"/>
            <a:t>-seq </a:t>
          </a:r>
          <a:r>
            <a:rPr lang="en-US" b="0" i="0" baseline="0" dirty="0"/>
            <a:t>– Multi-</a:t>
          </a:r>
          <a:r>
            <a:rPr lang="en-US" b="0" i="0" baseline="0" dirty="0" err="1"/>
            <a:t>omic</a:t>
          </a:r>
          <a:r>
            <a:rPr lang="en-US" b="0" i="0" baseline="0" dirty="0"/>
            <a:t> single-cell data.</a:t>
          </a:r>
          <a:endParaRPr lang="en-US" dirty="0"/>
        </a:p>
      </dgm:t>
    </dgm:pt>
    <dgm:pt modelId="{1D5A7600-DBD6-43BC-B94D-3FD31A4AC460}" type="parTrans" cxnId="{5CFB4E4A-D86A-457A-888D-8116E2668E36}">
      <dgm:prSet/>
      <dgm:spPr/>
      <dgm:t>
        <a:bodyPr/>
        <a:lstStyle/>
        <a:p>
          <a:endParaRPr lang="en-US"/>
        </a:p>
      </dgm:t>
    </dgm:pt>
    <dgm:pt modelId="{B043B846-413F-4CD1-B0E5-5F9F144EEC26}" type="sibTrans" cxnId="{5CFB4E4A-D86A-457A-888D-8116E2668E36}">
      <dgm:prSet/>
      <dgm:spPr/>
      <dgm:t>
        <a:bodyPr/>
        <a:lstStyle/>
        <a:p>
          <a:endParaRPr lang="en-US"/>
        </a:p>
      </dgm:t>
    </dgm:pt>
    <dgm:pt modelId="{18D6ADEF-D6AB-42A1-BB39-A90A446EAA0C}">
      <dgm:prSet/>
      <dgm:spPr/>
      <dgm:t>
        <a:bodyPr/>
        <a:lstStyle/>
        <a:p>
          <a:r>
            <a:rPr lang="en-US" b="1" i="0" baseline="0" dirty="0"/>
            <a:t>Simulated GRNs</a:t>
          </a:r>
          <a:r>
            <a:rPr lang="en-US" b="0" i="0" baseline="0" dirty="0"/>
            <a:t> – In-silico perturbation environments for </a:t>
          </a:r>
          <a:r>
            <a:rPr lang="en-US" b="1" i="0" baseline="0" dirty="0"/>
            <a:t>model training.</a:t>
          </a:r>
          <a:endParaRPr lang="en-US" b="1" dirty="0"/>
        </a:p>
      </dgm:t>
    </dgm:pt>
    <dgm:pt modelId="{0210C5A9-0638-414F-ABED-9409B76CC4C1}" type="parTrans" cxnId="{454A77ED-9065-40FF-9CED-868E575E6EF3}">
      <dgm:prSet/>
      <dgm:spPr/>
      <dgm:t>
        <a:bodyPr/>
        <a:lstStyle/>
        <a:p>
          <a:endParaRPr lang="en-US"/>
        </a:p>
      </dgm:t>
    </dgm:pt>
    <dgm:pt modelId="{5C1C6139-9D97-431D-B442-4388C9EFD49D}" type="sibTrans" cxnId="{454A77ED-9065-40FF-9CED-868E575E6EF3}">
      <dgm:prSet/>
      <dgm:spPr/>
      <dgm:t>
        <a:bodyPr/>
        <a:lstStyle/>
        <a:p>
          <a:endParaRPr lang="en-US"/>
        </a:p>
      </dgm:t>
    </dgm:pt>
    <dgm:pt modelId="{3D582306-406A-4688-8FE0-5B22D99776E3}" type="pres">
      <dgm:prSet presAssocID="{36FF3701-45DE-4332-85CE-F9AAAD7CD9AF}" presName="hierChild1" presStyleCnt="0">
        <dgm:presLayoutVars>
          <dgm:chPref val="1"/>
          <dgm:dir/>
          <dgm:animOne val="branch"/>
          <dgm:animLvl val="lvl"/>
          <dgm:resizeHandles/>
        </dgm:presLayoutVars>
      </dgm:prSet>
      <dgm:spPr/>
    </dgm:pt>
    <dgm:pt modelId="{B0511DC8-99C6-4DAC-96FF-E669BCABCB9E}" type="pres">
      <dgm:prSet presAssocID="{5A59AFC8-6699-4791-8C2F-B7FA9D41E005}" presName="hierRoot1" presStyleCnt="0"/>
      <dgm:spPr/>
    </dgm:pt>
    <dgm:pt modelId="{E95061CA-2CAA-4202-90FE-DA282C18D7F8}" type="pres">
      <dgm:prSet presAssocID="{5A59AFC8-6699-4791-8C2F-B7FA9D41E005}" presName="composite" presStyleCnt="0"/>
      <dgm:spPr/>
    </dgm:pt>
    <dgm:pt modelId="{26122A1E-4B78-4EAE-B426-DE9975110259}" type="pres">
      <dgm:prSet presAssocID="{5A59AFC8-6699-4791-8C2F-B7FA9D41E005}" presName="background" presStyleLbl="node0" presStyleIdx="0" presStyleCnt="3"/>
      <dgm:spPr/>
    </dgm:pt>
    <dgm:pt modelId="{DD6ED2D3-287F-4F0A-B231-DA877C50F933}" type="pres">
      <dgm:prSet presAssocID="{5A59AFC8-6699-4791-8C2F-B7FA9D41E005}" presName="text" presStyleLbl="fgAcc0" presStyleIdx="0" presStyleCnt="3">
        <dgm:presLayoutVars>
          <dgm:chPref val="3"/>
        </dgm:presLayoutVars>
      </dgm:prSet>
      <dgm:spPr/>
    </dgm:pt>
    <dgm:pt modelId="{78C09AA5-0CBC-40C6-ADF0-EA928C8E87EB}" type="pres">
      <dgm:prSet presAssocID="{5A59AFC8-6699-4791-8C2F-B7FA9D41E005}" presName="hierChild2" presStyleCnt="0"/>
      <dgm:spPr/>
    </dgm:pt>
    <dgm:pt modelId="{17CE2374-6A5C-479D-B44D-8D785AB53852}" type="pres">
      <dgm:prSet presAssocID="{6DE2D6FA-ACED-4DD5-8758-4F65DFFAD282}" presName="hierRoot1" presStyleCnt="0"/>
      <dgm:spPr/>
    </dgm:pt>
    <dgm:pt modelId="{C0AF88F7-B051-4EFD-AFCB-B973F09529BA}" type="pres">
      <dgm:prSet presAssocID="{6DE2D6FA-ACED-4DD5-8758-4F65DFFAD282}" presName="composite" presStyleCnt="0"/>
      <dgm:spPr/>
    </dgm:pt>
    <dgm:pt modelId="{E71E7F66-E1D1-420F-B147-D2D207BE2F83}" type="pres">
      <dgm:prSet presAssocID="{6DE2D6FA-ACED-4DD5-8758-4F65DFFAD282}" presName="background" presStyleLbl="node0" presStyleIdx="1" presStyleCnt="3"/>
      <dgm:spPr/>
    </dgm:pt>
    <dgm:pt modelId="{4048A0B6-0051-40AC-98C9-1318C17D0FD5}" type="pres">
      <dgm:prSet presAssocID="{6DE2D6FA-ACED-4DD5-8758-4F65DFFAD282}" presName="text" presStyleLbl="fgAcc0" presStyleIdx="1" presStyleCnt="3">
        <dgm:presLayoutVars>
          <dgm:chPref val="3"/>
        </dgm:presLayoutVars>
      </dgm:prSet>
      <dgm:spPr/>
    </dgm:pt>
    <dgm:pt modelId="{B824CC7A-E0C4-4EBB-B36F-D7CC5E87A3ED}" type="pres">
      <dgm:prSet presAssocID="{6DE2D6FA-ACED-4DD5-8758-4F65DFFAD282}" presName="hierChild2" presStyleCnt="0"/>
      <dgm:spPr/>
    </dgm:pt>
    <dgm:pt modelId="{C5747B4D-282D-4ACC-AE90-411421DA4A10}" type="pres">
      <dgm:prSet presAssocID="{18D6ADEF-D6AB-42A1-BB39-A90A446EAA0C}" presName="hierRoot1" presStyleCnt="0"/>
      <dgm:spPr/>
    </dgm:pt>
    <dgm:pt modelId="{CA3EE9E2-CBF4-43E6-8DE6-EE9DAF07CEE0}" type="pres">
      <dgm:prSet presAssocID="{18D6ADEF-D6AB-42A1-BB39-A90A446EAA0C}" presName="composite" presStyleCnt="0"/>
      <dgm:spPr/>
    </dgm:pt>
    <dgm:pt modelId="{6CAFF1A9-0674-41C6-98EB-DD6DCB49F8F8}" type="pres">
      <dgm:prSet presAssocID="{18D6ADEF-D6AB-42A1-BB39-A90A446EAA0C}" presName="background" presStyleLbl="node0" presStyleIdx="2" presStyleCnt="3"/>
      <dgm:spPr/>
    </dgm:pt>
    <dgm:pt modelId="{9B2A9C51-E454-4C17-9E16-41BB61A53E0E}" type="pres">
      <dgm:prSet presAssocID="{18D6ADEF-D6AB-42A1-BB39-A90A446EAA0C}" presName="text" presStyleLbl="fgAcc0" presStyleIdx="2" presStyleCnt="3">
        <dgm:presLayoutVars>
          <dgm:chPref val="3"/>
        </dgm:presLayoutVars>
      </dgm:prSet>
      <dgm:spPr/>
    </dgm:pt>
    <dgm:pt modelId="{F77B110C-508A-4D54-AE1A-C7874DF14F1B}" type="pres">
      <dgm:prSet presAssocID="{18D6ADEF-D6AB-42A1-BB39-A90A446EAA0C}" presName="hierChild2" presStyleCnt="0"/>
      <dgm:spPr/>
    </dgm:pt>
  </dgm:ptLst>
  <dgm:cxnLst>
    <dgm:cxn modelId="{191EE81E-7F10-42F6-BC7C-2C593EEA863A}" srcId="{36FF3701-45DE-4332-85CE-F9AAAD7CD9AF}" destId="{5A59AFC8-6699-4791-8C2F-B7FA9D41E005}" srcOrd="0" destOrd="0" parTransId="{2325147D-06A1-430E-8597-E111E711F301}" sibTransId="{5763D4E9-1CF5-4905-8E16-E546996F07A8}"/>
    <dgm:cxn modelId="{30AB1D2C-20D8-4AE6-B69F-542335B9B485}" type="presOf" srcId="{18D6ADEF-D6AB-42A1-BB39-A90A446EAA0C}" destId="{9B2A9C51-E454-4C17-9E16-41BB61A53E0E}" srcOrd="0" destOrd="0" presId="urn:microsoft.com/office/officeart/2005/8/layout/hierarchy1"/>
    <dgm:cxn modelId="{5CFB4E4A-D86A-457A-888D-8116E2668E36}" srcId="{36FF3701-45DE-4332-85CE-F9AAAD7CD9AF}" destId="{6DE2D6FA-ACED-4DD5-8758-4F65DFFAD282}" srcOrd="1" destOrd="0" parTransId="{1D5A7600-DBD6-43BC-B94D-3FD31A4AC460}" sibTransId="{B043B846-413F-4CD1-B0E5-5F9F144EEC26}"/>
    <dgm:cxn modelId="{D54C344F-F80C-4794-BA55-B63FF626D0F5}" type="presOf" srcId="{36FF3701-45DE-4332-85CE-F9AAAD7CD9AF}" destId="{3D582306-406A-4688-8FE0-5B22D99776E3}" srcOrd="0" destOrd="0" presId="urn:microsoft.com/office/officeart/2005/8/layout/hierarchy1"/>
    <dgm:cxn modelId="{DFD3A89D-E3ED-4FC6-BB12-EF4034BF61B7}" type="presOf" srcId="{5A59AFC8-6699-4791-8C2F-B7FA9D41E005}" destId="{DD6ED2D3-287F-4F0A-B231-DA877C50F933}" srcOrd="0" destOrd="0" presId="urn:microsoft.com/office/officeart/2005/8/layout/hierarchy1"/>
    <dgm:cxn modelId="{FFF011ED-DE25-4E89-A73A-A37C497A0C9D}" type="presOf" srcId="{6DE2D6FA-ACED-4DD5-8758-4F65DFFAD282}" destId="{4048A0B6-0051-40AC-98C9-1318C17D0FD5}" srcOrd="0" destOrd="0" presId="urn:microsoft.com/office/officeart/2005/8/layout/hierarchy1"/>
    <dgm:cxn modelId="{454A77ED-9065-40FF-9CED-868E575E6EF3}" srcId="{36FF3701-45DE-4332-85CE-F9AAAD7CD9AF}" destId="{18D6ADEF-D6AB-42A1-BB39-A90A446EAA0C}" srcOrd="2" destOrd="0" parTransId="{0210C5A9-0638-414F-ABED-9409B76CC4C1}" sibTransId="{5C1C6139-9D97-431D-B442-4388C9EFD49D}"/>
    <dgm:cxn modelId="{32528189-13F9-4C30-9A8A-319B69F5F79E}" type="presParOf" srcId="{3D582306-406A-4688-8FE0-5B22D99776E3}" destId="{B0511DC8-99C6-4DAC-96FF-E669BCABCB9E}" srcOrd="0" destOrd="0" presId="urn:microsoft.com/office/officeart/2005/8/layout/hierarchy1"/>
    <dgm:cxn modelId="{3567021D-8FA6-4DCD-B4E6-3EE6CE5F95D7}" type="presParOf" srcId="{B0511DC8-99C6-4DAC-96FF-E669BCABCB9E}" destId="{E95061CA-2CAA-4202-90FE-DA282C18D7F8}" srcOrd="0" destOrd="0" presId="urn:microsoft.com/office/officeart/2005/8/layout/hierarchy1"/>
    <dgm:cxn modelId="{1EA1DA41-3C68-4148-ADDF-8A6F78B9F19F}" type="presParOf" srcId="{E95061CA-2CAA-4202-90FE-DA282C18D7F8}" destId="{26122A1E-4B78-4EAE-B426-DE9975110259}" srcOrd="0" destOrd="0" presId="urn:microsoft.com/office/officeart/2005/8/layout/hierarchy1"/>
    <dgm:cxn modelId="{1F704145-3DD1-4642-99E1-4A1491B14360}" type="presParOf" srcId="{E95061CA-2CAA-4202-90FE-DA282C18D7F8}" destId="{DD6ED2D3-287F-4F0A-B231-DA877C50F933}" srcOrd="1" destOrd="0" presId="urn:microsoft.com/office/officeart/2005/8/layout/hierarchy1"/>
    <dgm:cxn modelId="{01D134C3-369A-4EE6-BDF3-57D266E1083D}" type="presParOf" srcId="{B0511DC8-99C6-4DAC-96FF-E669BCABCB9E}" destId="{78C09AA5-0CBC-40C6-ADF0-EA928C8E87EB}" srcOrd="1" destOrd="0" presId="urn:microsoft.com/office/officeart/2005/8/layout/hierarchy1"/>
    <dgm:cxn modelId="{2613AAC4-A3C5-4F62-A0AB-D9B7C2884BDE}" type="presParOf" srcId="{3D582306-406A-4688-8FE0-5B22D99776E3}" destId="{17CE2374-6A5C-479D-B44D-8D785AB53852}" srcOrd="1" destOrd="0" presId="urn:microsoft.com/office/officeart/2005/8/layout/hierarchy1"/>
    <dgm:cxn modelId="{70ADC9B2-E822-4172-B4FB-C8E9DBA0571A}" type="presParOf" srcId="{17CE2374-6A5C-479D-B44D-8D785AB53852}" destId="{C0AF88F7-B051-4EFD-AFCB-B973F09529BA}" srcOrd="0" destOrd="0" presId="urn:microsoft.com/office/officeart/2005/8/layout/hierarchy1"/>
    <dgm:cxn modelId="{3DF68FA6-0686-4451-81D8-3907170C0D8D}" type="presParOf" srcId="{C0AF88F7-B051-4EFD-AFCB-B973F09529BA}" destId="{E71E7F66-E1D1-420F-B147-D2D207BE2F83}" srcOrd="0" destOrd="0" presId="urn:microsoft.com/office/officeart/2005/8/layout/hierarchy1"/>
    <dgm:cxn modelId="{AF75FECF-6B8F-468D-88C5-F7A240FE42B7}" type="presParOf" srcId="{C0AF88F7-B051-4EFD-AFCB-B973F09529BA}" destId="{4048A0B6-0051-40AC-98C9-1318C17D0FD5}" srcOrd="1" destOrd="0" presId="urn:microsoft.com/office/officeart/2005/8/layout/hierarchy1"/>
    <dgm:cxn modelId="{ADCA9150-4F77-4BE0-AAB6-9C0B2DDE940F}" type="presParOf" srcId="{17CE2374-6A5C-479D-B44D-8D785AB53852}" destId="{B824CC7A-E0C4-4EBB-B36F-D7CC5E87A3ED}" srcOrd="1" destOrd="0" presId="urn:microsoft.com/office/officeart/2005/8/layout/hierarchy1"/>
    <dgm:cxn modelId="{33EBEFE9-EDE5-4B11-829B-68DE2EF4DFD3}" type="presParOf" srcId="{3D582306-406A-4688-8FE0-5B22D99776E3}" destId="{C5747B4D-282D-4ACC-AE90-411421DA4A10}" srcOrd="2" destOrd="0" presId="urn:microsoft.com/office/officeart/2005/8/layout/hierarchy1"/>
    <dgm:cxn modelId="{B76D1C12-EF3D-4371-A885-D902982D3283}" type="presParOf" srcId="{C5747B4D-282D-4ACC-AE90-411421DA4A10}" destId="{CA3EE9E2-CBF4-43E6-8DE6-EE9DAF07CEE0}" srcOrd="0" destOrd="0" presId="urn:microsoft.com/office/officeart/2005/8/layout/hierarchy1"/>
    <dgm:cxn modelId="{CC9B1FC0-4922-492F-97CE-9A0F24DF323D}" type="presParOf" srcId="{CA3EE9E2-CBF4-43E6-8DE6-EE9DAF07CEE0}" destId="{6CAFF1A9-0674-41C6-98EB-DD6DCB49F8F8}" srcOrd="0" destOrd="0" presId="urn:microsoft.com/office/officeart/2005/8/layout/hierarchy1"/>
    <dgm:cxn modelId="{1D11312E-9369-4325-B9A9-BE540F064FC9}" type="presParOf" srcId="{CA3EE9E2-CBF4-43E6-8DE6-EE9DAF07CEE0}" destId="{9B2A9C51-E454-4C17-9E16-41BB61A53E0E}" srcOrd="1" destOrd="0" presId="urn:microsoft.com/office/officeart/2005/8/layout/hierarchy1"/>
    <dgm:cxn modelId="{D1399B88-800B-441F-817A-948A7121854C}" type="presParOf" srcId="{C5747B4D-282D-4ACC-AE90-411421DA4A10}" destId="{F77B110C-508A-4D54-AE1A-C7874DF14F1B}"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EA3DAC8-B125-4C32-924D-72DB447009DA}" type="doc">
      <dgm:prSet loTypeId="urn:microsoft.com/office/officeart/2018/2/layout/IconLabel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461618B-C7CC-498A-A583-FE6616441ECC}">
      <dgm:prSet/>
      <dgm:spPr/>
      <dgm:t>
        <a:bodyPr/>
        <a:lstStyle/>
        <a:p>
          <a:r>
            <a:rPr lang="en-CA"/>
            <a:t>Establishes </a:t>
          </a:r>
          <a:r>
            <a:rPr lang="en-CA" b="1"/>
            <a:t>digital twin</a:t>
          </a:r>
          <a:r>
            <a:rPr lang="en-CA"/>
            <a:t> models for predictive cellular perturbation.</a:t>
          </a:r>
          <a:endParaRPr lang="en-US"/>
        </a:p>
      </dgm:t>
    </dgm:pt>
    <dgm:pt modelId="{3F9E3878-BE51-438B-A213-F1C51AADB811}" type="parTrans" cxnId="{912096D5-9AA4-4626-AAFC-C64178D81399}">
      <dgm:prSet/>
      <dgm:spPr/>
      <dgm:t>
        <a:bodyPr/>
        <a:lstStyle/>
        <a:p>
          <a:endParaRPr lang="en-US"/>
        </a:p>
      </dgm:t>
    </dgm:pt>
    <dgm:pt modelId="{F32DBA10-6844-4163-B847-827F85EA74B9}" type="sibTrans" cxnId="{912096D5-9AA4-4626-AAFC-C64178D81399}">
      <dgm:prSet/>
      <dgm:spPr/>
      <dgm:t>
        <a:bodyPr/>
        <a:lstStyle/>
        <a:p>
          <a:endParaRPr lang="en-US"/>
        </a:p>
      </dgm:t>
    </dgm:pt>
    <dgm:pt modelId="{D4FC6A99-6BEB-48AC-95CE-FD84AF85E040}">
      <dgm:prSet/>
      <dgm:spPr/>
      <dgm:t>
        <a:bodyPr/>
        <a:lstStyle/>
        <a:p>
          <a:r>
            <a:rPr lang="en-CA"/>
            <a:t>Bridges regression inference and policy optimization frameworks.</a:t>
          </a:r>
          <a:endParaRPr lang="en-US"/>
        </a:p>
      </dgm:t>
    </dgm:pt>
    <dgm:pt modelId="{24758EE2-E781-4EB5-A84D-766CB7C8BFCA}" type="parTrans" cxnId="{7A9735C9-A2C9-4223-897A-69255256EDA6}">
      <dgm:prSet/>
      <dgm:spPr/>
      <dgm:t>
        <a:bodyPr/>
        <a:lstStyle/>
        <a:p>
          <a:endParaRPr lang="en-US"/>
        </a:p>
      </dgm:t>
    </dgm:pt>
    <dgm:pt modelId="{5D869586-3656-46CB-8209-3C06784B81D2}" type="sibTrans" cxnId="{7A9735C9-A2C9-4223-897A-69255256EDA6}">
      <dgm:prSet/>
      <dgm:spPr/>
      <dgm:t>
        <a:bodyPr/>
        <a:lstStyle/>
        <a:p>
          <a:endParaRPr lang="en-US"/>
        </a:p>
      </dgm:t>
    </dgm:pt>
    <dgm:pt modelId="{0D2BEDF8-0F9A-4CA1-9C62-5FA953D3CDA6}">
      <dgm:prSet/>
      <dgm:spPr/>
      <dgm:t>
        <a:bodyPr/>
        <a:lstStyle/>
        <a:p>
          <a:r>
            <a:rPr lang="en-CA"/>
            <a:t>Facilitates future </a:t>
          </a:r>
          <a:r>
            <a:rPr lang="en-CA" b="1"/>
            <a:t>wet-lab validation</a:t>
          </a:r>
          <a:r>
            <a:rPr lang="en-CA"/>
            <a:t> of </a:t>
          </a:r>
          <a:r>
            <a:rPr lang="en-CA" i="1"/>
            <a:t>in silico</a:t>
          </a:r>
          <a:r>
            <a:rPr lang="en-CA"/>
            <a:t> predictions.</a:t>
          </a:r>
          <a:endParaRPr lang="en-US"/>
        </a:p>
      </dgm:t>
    </dgm:pt>
    <dgm:pt modelId="{B66D6702-DDCE-4400-BA4F-F9A7F62BF08D}" type="parTrans" cxnId="{A2C6FBFC-9390-4F34-8E57-2CF1AE479FE3}">
      <dgm:prSet/>
      <dgm:spPr/>
      <dgm:t>
        <a:bodyPr/>
        <a:lstStyle/>
        <a:p>
          <a:endParaRPr lang="en-US"/>
        </a:p>
      </dgm:t>
    </dgm:pt>
    <dgm:pt modelId="{FB03205B-ECAC-4944-809F-BE1C83743BA3}" type="sibTrans" cxnId="{A2C6FBFC-9390-4F34-8E57-2CF1AE479FE3}">
      <dgm:prSet/>
      <dgm:spPr/>
      <dgm:t>
        <a:bodyPr/>
        <a:lstStyle/>
        <a:p>
          <a:endParaRPr lang="en-US"/>
        </a:p>
      </dgm:t>
    </dgm:pt>
    <dgm:pt modelId="{E10F4281-1F89-4C81-AFE9-B5A744785824}">
      <dgm:prSet/>
      <dgm:spPr/>
      <dgm:t>
        <a:bodyPr/>
        <a:lstStyle/>
        <a:p>
          <a:r>
            <a:rPr lang="en-CA"/>
            <a:t>Supports regenerative medicine and therapeutic design via perturbation-aware modeling.</a:t>
          </a:r>
          <a:endParaRPr lang="en-US"/>
        </a:p>
      </dgm:t>
    </dgm:pt>
    <dgm:pt modelId="{44A70FF4-6D55-4655-B833-4F7C00DA66B2}" type="parTrans" cxnId="{74217F88-9C55-4D6D-AE79-A044DEF9B2FA}">
      <dgm:prSet/>
      <dgm:spPr/>
      <dgm:t>
        <a:bodyPr/>
        <a:lstStyle/>
        <a:p>
          <a:endParaRPr lang="en-US"/>
        </a:p>
      </dgm:t>
    </dgm:pt>
    <dgm:pt modelId="{90F91C33-CDAF-432C-A18A-4FE78C447088}" type="sibTrans" cxnId="{74217F88-9C55-4D6D-AE79-A044DEF9B2FA}">
      <dgm:prSet/>
      <dgm:spPr/>
      <dgm:t>
        <a:bodyPr/>
        <a:lstStyle/>
        <a:p>
          <a:endParaRPr lang="en-US"/>
        </a:p>
      </dgm:t>
    </dgm:pt>
    <dgm:pt modelId="{51F3E89B-C2B1-4BFA-B5D7-B671E53FDD47}" type="pres">
      <dgm:prSet presAssocID="{6EA3DAC8-B125-4C32-924D-72DB447009DA}" presName="root" presStyleCnt="0">
        <dgm:presLayoutVars>
          <dgm:dir/>
          <dgm:resizeHandles val="exact"/>
        </dgm:presLayoutVars>
      </dgm:prSet>
      <dgm:spPr/>
    </dgm:pt>
    <dgm:pt modelId="{5FD8ACA7-DC79-4738-AB24-EDE55CA4264F}" type="pres">
      <dgm:prSet presAssocID="{8461618B-C7CC-498A-A583-FE6616441ECC}" presName="compNode" presStyleCnt="0"/>
      <dgm:spPr/>
    </dgm:pt>
    <dgm:pt modelId="{DAC192B4-004C-44D7-9FC8-4C161BA277EF}" type="pres">
      <dgm:prSet presAssocID="{8461618B-C7CC-498A-A583-FE6616441ECC}"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rvous Face Outline"/>
        </a:ext>
      </dgm:extLst>
    </dgm:pt>
    <dgm:pt modelId="{6FD45210-81D1-4F23-A002-B91255821248}" type="pres">
      <dgm:prSet presAssocID="{8461618B-C7CC-498A-A583-FE6616441ECC}" presName="spaceRect" presStyleCnt="0"/>
      <dgm:spPr/>
    </dgm:pt>
    <dgm:pt modelId="{7E5E989E-9F77-42AC-B361-7BD391FCA46E}" type="pres">
      <dgm:prSet presAssocID="{8461618B-C7CC-498A-A583-FE6616441ECC}" presName="textRect" presStyleLbl="revTx" presStyleIdx="0" presStyleCnt="4">
        <dgm:presLayoutVars>
          <dgm:chMax val="1"/>
          <dgm:chPref val="1"/>
        </dgm:presLayoutVars>
      </dgm:prSet>
      <dgm:spPr/>
    </dgm:pt>
    <dgm:pt modelId="{F27A3A3E-EBA3-4784-B0F8-23C7C2A5C7AF}" type="pres">
      <dgm:prSet presAssocID="{F32DBA10-6844-4163-B847-827F85EA74B9}" presName="sibTrans" presStyleCnt="0"/>
      <dgm:spPr/>
    </dgm:pt>
    <dgm:pt modelId="{03EC9167-3294-4460-B2D9-E03897AD3D5F}" type="pres">
      <dgm:prSet presAssocID="{D4FC6A99-6BEB-48AC-95CE-FD84AF85E040}" presName="compNode" presStyleCnt="0"/>
      <dgm:spPr/>
    </dgm:pt>
    <dgm:pt modelId="{20E55158-48D3-43BE-B377-FB5AE9D8DC74}" type="pres">
      <dgm:prSet presAssocID="{D4FC6A99-6BEB-48AC-95CE-FD84AF85E040}"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Gears"/>
        </a:ext>
      </dgm:extLst>
    </dgm:pt>
    <dgm:pt modelId="{850F78B7-C2E4-476C-AB01-83D6F64DDAA7}" type="pres">
      <dgm:prSet presAssocID="{D4FC6A99-6BEB-48AC-95CE-FD84AF85E040}" presName="spaceRect" presStyleCnt="0"/>
      <dgm:spPr/>
    </dgm:pt>
    <dgm:pt modelId="{29BAE0AE-C9CA-4FD7-83D5-D5C5981106ED}" type="pres">
      <dgm:prSet presAssocID="{D4FC6A99-6BEB-48AC-95CE-FD84AF85E040}" presName="textRect" presStyleLbl="revTx" presStyleIdx="1" presStyleCnt="4">
        <dgm:presLayoutVars>
          <dgm:chMax val="1"/>
          <dgm:chPref val="1"/>
        </dgm:presLayoutVars>
      </dgm:prSet>
      <dgm:spPr/>
    </dgm:pt>
    <dgm:pt modelId="{5705D9E8-6843-4A5E-BEAD-9B3D8E0625F5}" type="pres">
      <dgm:prSet presAssocID="{5D869586-3656-46CB-8209-3C06784B81D2}" presName="sibTrans" presStyleCnt="0"/>
      <dgm:spPr/>
    </dgm:pt>
    <dgm:pt modelId="{6B421497-0402-44A6-9D75-4120DE47ED4A}" type="pres">
      <dgm:prSet presAssocID="{0D2BEDF8-0F9A-4CA1-9C62-5FA953D3CDA6}" presName="compNode" presStyleCnt="0"/>
      <dgm:spPr/>
    </dgm:pt>
    <dgm:pt modelId="{20EA6B0D-6FD5-4E26-92EE-72EEB43A4C0A}" type="pres">
      <dgm:prSet presAssocID="{0D2BEDF8-0F9A-4CA1-9C62-5FA953D3CDA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Rainbow"/>
        </a:ext>
      </dgm:extLst>
    </dgm:pt>
    <dgm:pt modelId="{D2AD75AC-F600-49FA-B464-C66A06980A5D}" type="pres">
      <dgm:prSet presAssocID="{0D2BEDF8-0F9A-4CA1-9C62-5FA953D3CDA6}" presName="spaceRect" presStyleCnt="0"/>
      <dgm:spPr/>
    </dgm:pt>
    <dgm:pt modelId="{35E58805-0CCF-47B6-BC47-5121C1AA37D2}" type="pres">
      <dgm:prSet presAssocID="{0D2BEDF8-0F9A-4CA1-9C62-5FA953D3CDA6}" presName="textRect" presStyleLbl="revTx" presStyleIdx="2" presStyleCnt="4">
        <dgm:presLayoutVars>
          <dgm:chMax val="1"/>
          <dgm:chPref val="1"/>
        </dgm:presLayoutVars>
      </dgm:prSet>
      <dgm:spPr/>
    </dgm:pt>
    <dgm:pt modelId="{2AE0FDD7-3BED-4080-AA3A-B33B76077D91}" type="pres">
      <dgm:prSet presAssocID="{FB03205B-ECAC-4944-809F-BE1C83743BA3}" presName="sibTrans" presStyleCnt="0"/>
      <dgm:spPr/>
    </dgm:pt>
    <dgm:pt modelId="{DD1E3980-0CAE-4ACB-ADBC-6929FA3406A8}" type="pres">
      <dgm:prSet presAssocID="{E10F4281-1F89-4C81-AFE9-B5A744785824}" presName="compNode" presStyleCnt="0"/>
      <dgm:spPr/>
    </dgm:pt>
    <dgm:pt modelId="{D27FBF9E-BBA9-4B33-AEF7-9C03B7B6947B}" type="pres">
      <dgm:prSet presAssocID="{E10F4281-1F89-4C81-AFE9-B5A744785824}"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cientist"/>
        </a:ext>
      </dgm:extLst>
    </dgm:pt>
    <dgm:pt modelId="{8F67FEEB-29AC-4947-87C0-6311051A41C5}" type="pres">
      <dgm:prSet presAssocID="{E10F4281-1F89-4C81-AFE9-B5A744785824}" presName="spaceRect" presStyleCnt="0"/>
      <dgm:spPr/>
    </dgm:pt>
    <dgm:pt modelId="{EA07B93D-305F-4510-AB1D-9AF565AF7E30}" type="pres">
      <dgm:prSet presAssocID="{E10F4281-1F89-4C81-AFE9-B5A744785824}" presName="textRect" presStyleLbl="revTx" presStyleIdx="3" presStyleCnt="4">
        <dgm:presLayoutVars>
          <dgm:chMax val="1"/>
          <dgm:chPref val="1"/>
        </dgm:presLayoutVars>
      </dgm:prSet>
      <dgm:spPr/>
    </dgm:pt>
  </dgm:ptLst>
  <dgm:cxnLst>
    <dgm:cxn modelId="{C1D9A70A-463B-4511-9699-1224496BBD9F}" type="presOf" srcId="{8461618B-C7CC-498A-A583-FE6616441ECC}" destId="{7E5E989E-9F77-42AC-B361-7BD391FCA46E}" srcOrd="0" destOrd="0" presId="urn:microsoft.com/office/officeart/2018/2/layout/IconLabelList"/>
    <dgm:cxn modelId="{2744EE2A-2C2B-4EFD-94FF-C2E51C3E00D0}" type="presOf" srcId="{0D2BEDF8-0F9A-4CA1-9C62-5FA953D3CDA6}" destId="{35E58805-0CCF-47B6-BC47-5121C1AA37D2}" srcOrd="0" destOrd="0" presId="urn:microsoft.com/office/officeart/2018/2/layout/IconLabelList"/>
    <dgm:cxn modelId="{BD390D42-D4AA-4D48-A064-9CDFAAF0ED0A}" type="presOf" srcId="{D4FC6A99-6BEB-48AC-95CE-FD84AF85E040}" destId="{29BAE0AE-C9CA-4FD7-83D5-D5C5981106ED}" srcOrd="0" destOrd="0" presId="urn:microsoft.com/office/officeart/2018/2/layout/IconLabelList"/>
    <dgm:cxn modelId="{1364B74F-67C2-4BD0-A653-2E6291F68D46}" type="presOf" srcId="{6EA3DAC8-B125-4C32-924D-72DB447009DA}" destId="{51F3E89B-C2B1-4BFA-B5D7-B671E53FDD47}" srcOrd="0" destOrd="0" presId="urn:microsoft.com/office/officeart/2018/2/layout/IconLabelList"/>
    <dgm:cxn modelId="{74217F88-9C55-4D6D-AE79-A044DEF9B2FA}" srcId="{6EA3DAC8-B125-4C32-924D-72DB447009DA}" destId="{E10F4281-1F89-4C81-AFE9-B5A744785824}" srcOrd="3" destOrd="0" parTransId="{44A70FF4-6D55-4655-B833-4F7C00DA66B2}" sibTransId="{90F91C33-CDAF-432C-A18A-4FE78C447088}"/>
    <dgm:cxn modelId="{7A9735C9-A2C9-4223-897A-69255256EDA6}" srcId="{6EA3DAC8-B125-4C32-924D-72DB447009DA}" destId="{D4FC6A99-6BEB-48AC-95CE-FD84AF85E040}" srcOrd="1" destOrd="0" parTransId="{24758EE2-E781-4EB5-A84D-766CB7C8BFCA}" sibTransId="{5D869586-3656-46CB-8209-3C06784B81D2}"/>
    <dgm:cxn modelId="{0BB39DCC-88D4-4FFF-B6F4-36D0CA6BD6FA}" type="presOf" srcId="{E10F4281-1F89-4C81-AFE9-B5A744785824}" destId="{EA07B93D-305F-4510-AB1D-9AF565AF7E30}" srcOrd="0" destOrd="0" presId="urn:microsoft.com/office/officeart/2018/2/layout/IconLabelList"/>
    <dgm:cxn modelId="{912096D5-9AA4-4626-AAFC-C64178D81399}" srcId="{6EA3DAC8-B125-4C32-924D-72DB447009DA}" destId="{8461618B-C7CC-498A-A583-FE6616441ECC}" srcOrd="0" destOrd="0" parTransId="{3F9E3878-BE51-438B-A213-F1C51AADB811}" sibTransId="{F32DBA10-6844-4163-B847-827F85EA74B9}"/>
    <dgm:cxn modelId="{A2C6FBFC-9390-4F34-8E57-2CF1AE479FE3}" srcId="{6EA3DAC8-B125-4C32-924D-72DB447009DA}" destId="{0D2BEDF8-0F9A-4CA1-9C62-5FA953D3CDA6}" srcOrd="2" destOrd="0" parTransId="{B66D6702-DDCE-4400-BA4F-F9A7F62BF08D}" sibTransId="{FB03205B-ECAC-4944-809F-BE1C83743BA3}"/>
    <dgm:cxn modelId="{C8EDFD81-E66C-431A-8801-A51E9856DA08}" type="presParOf" srcId="{51F3E89B-C2B1-4BFA-B5D7-B671E53FDD47}" destId="{5FD8ACA7-DC79-4738-AB24-EDE55CA4264F}" srcOrd="0" destOrd="0" presId="urn:microsoft.com/office/officeart/2018/2/layout/IconLabelList"/>
    <dgm:cxn modelId="{4B4A2784-A754-432D-ADE5-4C6558030DA1}" type="presParOf" srcId="{5FD8ACA7-DC79-4738-AB24-EDE55CA4264F}" destId="{DAC192B4-004C-44D7-9FC8-4C161BA277EF}" srcOrd="0" destOrd="0" presId="urn:microsoft.com/office/officeart/2018/2/layout/IconLabelList"/>
    <dgm:cxn modelId="{A41B7083-1321-4557-BBCE-5B22D7E15C9D}" type="presParOf" srcId="{5FD8ACA7-DC79-4738-AB24-EDE55CA4264F}" destId="{6FD45210-81D1-4F23-A002-B91255821248}" srcOrd="1" destOrd="0" presId="urn:microsoft.com/office/officeart/2018/2/layout/IconLabelList"/>
    <dgm:cxn modelId="{8DF629D1-A751-4147-95C6-06CD0ACAFE8B}" type="presParOf" srcId="{5FD8ACA7-DC79-4738-AB24-EDE55CA4264F}" destId="{7E5E989E-9F77-42AC-B361-7BD391FCA46E}" srcOrd="2" destOrd="0" presId="urn:microsoft.com/office/officeart/2018/2/layout/IconLabelList"/>
    <dgm:cxn modelId="{77F02842-0513-477F-BF85-611873E58301}" type="presParOf" srcId="{51F3E89B-C2B1-4BFA-B5D7-B671E53FDD47}" destId="{F27A3A3E-EBA3-4784-B0F8-23C7C2A5C7AF}" srcOrd="1" destOrd="0" presId="urn:microsoft.com/office/officeart/2018/2/layout/IconLabelList"/>
    <dgm:cxn modelId="{DEE50489-EC46-4BAE-8F20-E14C781E3F90}" type="presParOf" srcId="{51F3E89B-C2B1-4BFA-B5D7-B671E53FDD47}" destId="{03EC9167-3294-4460-B2D9-E03897AD3D5F}" srcOrd="2" destOrd="0" presId="urn:microsoft.com/office/officeart/2018/2/layout/IconLabelList"/>
    <dgm:cxn modelId="{031E846E-5C00-4AAD-BB11-FE1BEE68EC2A}" type="presParOf" srcId="{03EC9167-3294-4460-B2D9-E03897AD3D5F}" destId="{20E55158-48D3-43BE-B377-FB5AE9D8DC74}" srcOrd="0" destOrd="0" presId="urn:microsoft.com/office/officeart/2018/2/layout/IconLabelList"/>
    <dgm:cxn modelId="{940D2B0D-1222-47F6-BC6F-BCC3956E8551}" type="presParOf" srcId="{03EC9167-3294-4460-B2D9-E03897AD3D5F}" destId="{850F78B7-C2E4-476C-AB01-83D6F64DDAA7}" srcOrd="1" destOrd="0" presId="urn:microsoft.com/office/officeart/2018/2/layout/IconLabelList"/>
    <dgm:cxn modelId="{3BD9E003-5B2F-4D9E-8EB9-EA1F9B163F38}" type="presParOf" srcId="{03EC9167-3294-4460-B2D9-E03897AD3D5F}" destId="{29BAE0AE-C9CA-4FD7-83D5-D5C5981106ED}" srcOrd="2" destOrd="0" presId="urn:microsoft.com/office/officeart/2018/2/layout/IconLabelList"/>
    <dgm:cxn modelId="{89725625-FAB2-4BE7-B0FA-31259DC1F402}" type="presParOf" srcId="{51F3E89B-C2B1-4BFA-B5D7-B671E53FDD47}" destId="{5705D9E8-6843-4A5E-BEAD-9B3D8E0625F5}" srcOrd="3" destOrd="0" presId="urn:microsoft.com/office/officeart/2018/2/layout/IconLabelList"/>
    <dgm:cxn modelId="{A4672320-A2F1-4DDF-A8DE-44EF86D8A736}" type="presParOf" srcId="{51F3E89B-C2B1-4BFA-B5D7-B671E53FDD47}" destId="{6B421497-0402-44A6-9D75-4120DE47ED4A}" srcOrd="4" destOrd="0" presId="urn:microsoft.com/office/officeart/2018/2/layout/IconLabelList"/>
    <dgm:cxn modelId="{E4C60A79-7D61-466D-8A86-FF69267F7D7B}" type="presParOf" srcId="{6B421497-0402-44A6-9D75-4120DE47ED4A}" destId="{20EA6B0D-6FD5-4E26-92EE-72EEB43A4C0A}" srcOrd="0" destOrd="0" presId="urn:microsoft.com/office/officeart/2018/2/layout/IconLabelList"/>
    <dgm:cxn modelId="{25A7A776-A5CC-495D-95C6-E557D2DD76BE}" type="presParOf" srcId="{6B421497-0402-44A6-9D75-4120DE47ED4A}" destId="{D2AD75AC-F600-49FA-B464-C66A06980A5D}" srcOrd="1" destOrd="0" presId="urn:microsoft.com/office/officeart/2018/2/layout/IconLabelList"/>
    <dgm:cxn modelId="{FB7DC982-A6C0-45DC-9323-2B6FF7DAE872}" type="presParOf" srcId="{6B421497-0402-44A6-9D75-4120DE47ED4A}" destId="{35E58805-0CCF-47B6-BC47-5121C1AA37D2}" srcOrd="2" destOrd="0" presId="urn:microsoft.com/office/officeart/2018/2/layout/IconLabelList"/>
    <dgm:cxn modelId="{27AC3B99-86EF-4F83-A640-240EA407FC32}" type="presParOf" srcId="{51F3E89B-C2B1-4BFA-B5D7-B671E53FDD47}" destId="{2AE0FDD7-3BED-4080-AA3A-B33B76077D91}" srcOrd="5" destOrd="0" presId="urn:microsoft.com/office/officeart/2018/2/layout/IconLabelList"/>
    <dgm:cxn modelId="{1AF1CBAA-D2B9-4B6A-81C9-D7A8F011435C}" type="presParOf" srcId="{51F3E89B-C2B1-4BFA-B5D7-B671E53FDD47}" destId="{DD1E3980-0CAE-4ACB-ADBC-6929FA3406A8}" srcOrd="6" destOrd="0" presId="urn:microsoft.com/office/officeart/2018/2/layout/IconLabelList"/>
    <dgm:cxn modelId="{216A1869-D3E7-4E58-ACEF-DB4A701FFD7A}" type="presParOf" srcId="{DD1E3980-0CAE-4ACB-ADBC-6929FA3406A8}" destId="{D27FBF9E-BBA9-4B33-AEF7-9C03B7B6947B}" srcOrd="0" destOrd="0" presId="urn:microsoft.com/office/officeart/2018/2/layout/IconLabelList"/>
    <dgm:cxn modelId="{0AD82075-E24B-4F62-81EB-05C9508659DE}" type="presParOf" srcId="{DD1E3980-0CAE-4ACB-ADBC-6929FA3406A8}" destId="{8F67FEEB-29AC-4947-87C0-6311051A41C5}" srcOrd="1" destOrd="0" presId="urn:microsoft.com/office/officeart/2018/2/layout/IconLabelList"/>
    <dgm:cxn modelId="{A75D0472-DF64-4D43-BDEC-B7DCD9E50B6D}" type="presParOf" srcId="{DD1E3980-0CAE-4ACB-ADBC-6929FA3406A8}" destId="{EA07B93D-305F-4510-AB1D-9AF565AF7E30}" srcOrd="2" destOrd="0" presId="urn:microsoft.com/office/officeart/2018/2/layout/Icon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6122A1E-4B78-4EAE-B426-DE9975110259}">
      <dsp:nvSpPr>
        <dsp:cNvPr id="0" name=""/>
        <dsp:cNvSpPr/>
      </dsp:nvSpPr>
      <dsp:spPr>
        <a:xfrm>
          <a:off x="0"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6ED2D3-287F-4F0A-B231-DA877C50F933}">
      <dsp:nvSpPr>
        <dsp:cNvPr id="0" name=""/>
        <dsp:cNvSpPr/>
      </dsp:nvSpPr>
      <dsp:spPr>
        <a:xfrm>
          <a:off x="324326"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Perturb-seq / </a:t>
          </a:r>
          <a:r>
            <a:rPr lang="en-US" sz="2100" b="1" i="0" kern="1200" baseline="0" dirty="0" err="1"/>
            <a:t>Mixscape</a:t>
          </a:r>
          <a:r>
            <a:rPr lang="en-US" sz="2100" b="0" i="0" kern="1200" baseline="0" dirty="0"/>
            <a:t> – CRISPR perturbations with transcriptomic readouts for </a:t>
          </a:r>
          <a:r>
            <a:rPr lang="en-US" sz="2100" b="1" i="0" kern="1200" baseline="0" dirty="0"/>
            <a:t>validation.</a:t>
          </a:r>
          <a:endParaRPr lang="en-US" sz="2100" b="1" kern="1200" dirty="0"/>
        </a:p>
      </dsp:txBody>
      <dsp:txXfrm>
        <a:off x="378614" y="886531"/>
        <a:ext cx="2810360" cy="1744948"/>
      </dsp:txXfrm>
    </dsp:sp>
    <dsp:sp modelId="{E71E7F66-E1D1-420F-B147-D2D207BE2F83}">
      <dsp:nvSpPr>
        <dsp:cNvPr id="0" name=""/>
        <dsp:cNvSpPr/>
      </dsp:nvSpPr>
      <dsp:spPr>
        <a:xfrm>
          <a:off x="3567588"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048A0B6-0051-40AC-98C9-1318C17D0FD5}">
      <dsp:nvSpPr>
        <dsp:cNvPr id="0" name=""/>
        <dsp:cNvSpPr/>
      </dsp:nvSpPr>
      <dsp:spPr>
        <a:xfrm>
          <a:off x="3891915"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err="1"/>
            <a:t>scRNA</a:t>
          </a:r>
          <a:r>
            <a:rPr lang="en-US" sz="2100" b="1" i="0" kern="1200" baseline="0" dirty="0"/>
            <a:t>-seq </a:t>
          </a:r>
          <a:r>
            <a:rPr lang="en-US" sz="2100" b="0" i="0" kern="1200" baseline="0" dirty="0"/>
            <a:t>– Multi-</a:t>
          </a:r>
          <a:r>
            <a:rPr lang="en-US" sz="2100" b="0" i="0" kern="1200" baseline="0" dirty="0" err="1"/>
            <a:t>omic</a:t>
          </a:r>
          <a:r>
            <a:rPr lang="en-US" sz="2100" b="0" i="0" kern="1200" baseline="0" dirty="0"/>
            <a:t> single-cell data.</a:t>
          </a:r>
          <a:endParaRPr lang="en-US" sz="2100" kern="1200" dirty="0"/>
        </a:p>
      </dsp:txBody>
      <dsp:txXfrm>
        <a:off x="3946203" y="886531"/>
        <a:ext cx="2810360" cy="1744948"/>
      </dsp:txXfrm>
    </dsp:sp>
    <dsp:sp modelId="{6CAFF1A9-0674-41C6-98EB-DD6DCB49F8F8}">
      <dsp:nvSpPr>
        <dsp:cNvPr id="0" name=""/>
        <dsp:cNvSpPr/>
      </dsp:nvSpPr>
      <dsp:spPr>
        <a:xfrm>
          <a:off x="7135177" y="524133"/>
          <a:ext cx="2918936" cy="1853524"/>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A9C51-E454-4C17-9E16-41BB61A53E0E}">
      <dsp:nvSpPr>
        <dsp:cNvPr id="0" name=""/>
        <dsp:cNvSpPr/>
      </dsp:nvSpPr>
      <dsp:spPr>
        <a:xfrm>
          <a:off x="7459503" y="832243"/>
          <a:ext cx="2918936" cy="18535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0010" tIns="80010" rIns="80010" bIns="80010" numCol="1" spcCol="1270" anchor="ctr" anchorCtr="0">
          <a:noAutofit/>
        </a:bodyPr>
        <a:lstStyle/>
        <a:p>
          <a:pPr marL="0" lvl="0" indent="0" algn="ctr" defTabSz="933450">
            <a:lnSpc>
              <a:spcPct val="90000"/>
            </a:lnSpc>
            <a:spcBef>
              <a:spcPct val="0"/>
            </a:spcBef>
            <a:spcAft>
              <a:spcPct val="35000"/>
            </a:spcAft>
            <a:buNone/>
          </a:pPr>
          <a:r>
            <a:rPr lang="en-US" sz="2100" b="1" i="0" kern="1200" baseline="0" dirty="0"/>
            <a:t>Simulated GRNs</a:t>
          </a:r>
          <a:r>
            <a:rPr lang="en-US" sz="2100" b="0" i="0" kern="1200" baseline="0" dirty="0"/>
            <a:t> – In-silico perturbation environments for </a:t>
          </a:r>
          <a:r>
            <a:rPr lang="en-US" sz="2100" b="1" i="0" kern="1200" baseline="0" dirty="0"/>
            <a:t>model training.</a:t>
          </a:r>
          <a:endParaRPr lang="en-US" sz="2100" b="1" kern="1200" dirty="0"/>
        </a:p>
      </dsp:txBody>
      <dsp:txXfrm>
        <a:off x="7513791" y="886531"/>
        <a:ext cx="2810360" cy="174494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AC192B4-004C-44D7-9FC8-4C161BA277EF}">
      <dsp:nvSpPr>
        <dsp:cNvPr id="0" name=""/>
        <dsp:cNvSpPr/>
      </dsp:nvSpPr>
      <dsp:spPr>
        <a:xfrm>
          <a:off x="1078918" y="633965"/>
          <a:ext cx="930634" cy="93063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E5E989E-9F77-42AC-B361-7BD391FCA46E}">
      <dsp:nvSpPr>
        <dsp:cNvPr id="0" name=""/>
        <dsp:cNvSpPr/>
      </dsp:nvSpPr>
      <dsp:spPr>
        <a:xfrm>
          <a:off x="51019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Establishes </a:t>
          </a:r>
          <a:r>
            <a:rPr lang="en-CA" sz="1200" b="1" kern="1200"/>
            <a:t>digital twin</a:t>
          </a:r>
          <a:r>
            <a:rPr lang="en-CA" sz="1200" kern="1200"/>
            <a:t> models for predictive cellular perturbation.</a:t>
          </a:r>
          <a:endParaRPr lang="en-US" sz="1200" kern="1200"/>
        </a:p>
      </dsp:txBody>
      <dsp:txXfrm>
        <a:off x="510197" y="1855936"/>
        <a:ext cx="2068076" cy="720000"/>
      </dsp:txXfrm>
    </dsp:sp>
    <dsp:sp modelId="{20E55158-48D3-43BE-B377-FB5AE9D8DC74}">
      <dsp:nvSpPr>
        <dsp:cNvPr id="0" name=""/>
        <dsp:cNvSpPr/>
      </dsp:nvSpPr>
      <dsp:spPr>
        <a:xfrm>
          <a:off x="3508908" y="633965"/>
          <a:ext cx="930634" cy="93063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9BAE0AE-C9CA-4FD7-83D5-D5C5981106ED}">
      <dsp:nvSpPr>
        <dsp:cNvPr id="0" name=""/>
        <dsp:cNvSpPr/>
      </dsp:nvSpPr>
      <dsp:spPr>
        <a:xfrm>
          <a:off x="2940187"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Bridges regression inference and policy optimization frameworks.</a:t>
          </a:r>
          <a:endParaRPr lang="en-US" sz="1200" kern="1200"/>
        </a:p>
      </dsp:txBody>
      <dsp:txXfrm>
        <a:off x="2940187" y="1855936"/>
        <a:ext cx="2068076" cy="720000"/>
      </dsp:txXfrm>
    </dsp:sp>
    <dsp:sp modelId="{20EA6B0D-6FD5-4E26-92EE-72EEB43A4C0A}">
      <dsp:nvSpPr>
        <dsp:cNvPr id="0" name=""/>
        <dsp:cNvSpPr/>
      </dsp:nvSpPr>
      <dsp:spPr>
        <a:xfrm>
          <a:off x="5938897" y="633965"/>
          <a:ext cx="930634" cy="93063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E58805-0CCF-47B6-BC47-5121C1AA37D2}">
      <dsp:nvSpPr>
        <dsp:cNvPr id="0" name=""/>
        <dsp:cNvSpPr/>
      </dsp:nvSpPr>
      <dsp:spPr>
        <a:xfrm>
          <a:off x="537017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Facilitates future </a:t>
          </a:r>
          <a:r>
            <a:rPr lang="en-CA" sz="1200" b="1" kern="1200"/>
            <a:t>wet-lab validation</a:t>
          </a:r>
          <a:r>
            <a:rPr lang="en-CA" sz="1200" kern="1200"/>
            <a:t> of </a:t>
          </a:r>
          <a:r>
            <a:rPr lang="en-CA" sz="1200" i="1" kern="1200"/>
            <a:t>in silico</a:t>
          </a:r>
          <a:r>
            <a:rPr lang="en-CA" sz="1200" kern="1200"/>
            <a:t> predictions.</a:t>
          </a:r>
          <a:endParaRPr lang="en-US" sz="1200" kern="1200"/>
        </a:p>
      </dsp:txBody>
      <dsp:txXfrm>
        <a:off x="5370176" y="1855936"/>
        <a:ext cx="2068076" cy="720000"/>
      </dsp:txXfrm>
    </dsp:sp>
    <dsp:sp modelId="{D27FBF9E-BBA9-4B33-AEF7-9C03B7B6947B}">
      <dsp:nvSpPr>
        <dsp:cNvPr id="0" name=""/>
        <dsp:cNvSpPr/>
      </dsp:nvSpPr>
      <dsp:spPr>
        <a:xfrm>
          <a:off x="8368887" y="633965"/>
          <a:ext cx="930634" cy="93063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A07B93D-305F-4510-AB1D-9AF565AF7E30}">
      <dsp:nvSpPr>
        <dsp:cNvPr id="0" name=""/>
        <dsp:cNvSpPr/>
      </dsp:nvSpPr>
      <dsp:spPr>
        <a:xfrm>
          <a:off x="7800166" y="1855936"/>
          <a:ext cx="2068076"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90000"/>
            </a:lnSpc>
            <a:spcBef>
              <a:spcPct val="0"/>
            </a:spcBef>
            <a:spcAft>
              <a:spcPct val="35000"/>
            </a:spcAft>
            <a:buNone/>
          </a:pPr>
          <a:r>
            <a:rPr lang="en-CA" sz="1200" kern="1200"/>
            <a:t>Supports regenerative medicine and therapeutic design via perturbation-aware modeling.</a:t>
          </a:r>
          <a:endParaRPr lang="en-US" sz="1200" kern="1200"/>
        </a:p>
      </dsp:txBody>
      <dsp:txXfrm>
        <a:off x="7800166" y="1855936"/>
        <a:ext cx="2068076"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A98A8E-17BA-4637-BE34-16BBE5AD305E}" type="datetimeFigureOut">
              <a:rPr lang="en-CA" smtClean="0"/>
              <a:t>2025-11-21</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ECFF4B-0A5E-4A04-A84E-9F2917B495C3}" type="slidenum">
              <a:rPr lang="en-CA" smtClean="0"/>
              <a:t>‹#›</a:t>
            </a:fld>
            <a:endParaRPr lang="en-CA"/>
          </a:p>
        </p:txBody>
      </p:sp>
    </p:spTree>
    <p:extLst>
      <p:ext uri="{BB962C8B-B14F-4D97-AF65-F5344CB8AC3E}">
        <p14:creationId xmlns:p14="http://schemas.microsoft.com/office/powerpoint/2010/main" val="363688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569493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30628429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6A6DBE6-5F48-46C6-8054-E594AA8CC26E}" type="datetimeFigureOut">
              <a:rPr lang="en-CA" smtClean="0"/>
              <a:t>2025-11-21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9957131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6A6DBE6-5F48-46C6-8054-E594AA8CC26E}" type="datetimeFigureOut">
              <a:rPr lang="en-CA" smtClean="0"/>
              <a:t>2025-11-21</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078502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6A6DBE6-5F48-46C6-8054-E594AA8CC26E}" type="datetimeFigureOut">
              <a:rPr lang="en-CA" smtClean="0"/>
              <a:t>2025-11-21</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4812456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6A6DBE6-5F48-46C6-8054-E594AA8CC26E}" type="datetimeFigureOut">
              <a:rPr lang="en-CA" smtClean="0"/>
              <a:t>2025-11-21</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796924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6A6DBE6-5F48-46C6-8054-E594AA8CC26E}" type="datetimeFigureOut">
              <a:rPr lang="en-CA" smtClean="0"/>
              <a:t>2025-11-21</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17625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2025-11-21</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693628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6A6DBE6-5F48-46C6-8054-E594AA8CC26E}" type="datetimeFigureOut">
              <a:rPr lang="en-CA" smtClean="0"/>
              <a:t>2025-11-21</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85566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19901569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6A6DBE6-5F48-46C6-8054-E594AA8CC26E}" type="datetimeFigureOut">
              <a:rPr lang="en-CA" smtClean="0"/>
              <a:t>2025-11-21</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EBC18F39-34A3-4DBF-8CFA-F51A088158DC}" type="slidenum">
              <a:rPr lang="en-CA" smtClean="0"/>
              <a:t>‹#›</a:t>
            </a:fld>
            <a:endParaRPr lang="en-CA"/>
          </a:p>
        </p:txBody>
      </p:sp>
    </p:spTree>
    <p:extLst>
      <p:ext uri="{BB962C8B-B14F-4D97-AF65-F5344CB8AC3E}">
        <p14:creationId xmlns:p14="http://schemas.microsoft.com/office/powerpoint/2010/main" val="22616782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A6DBE6-5F48-46C6-8054-E594AA8CC26E}" type="datetimeFigureOut">
              <a:rPr lang="en-CA" smtClean="0"/>
              <a:t>2025-11-21</a:t>
            </a:fld>
            <a:endParaRPr lang="en-CA"/>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C18F39-34A3-4DBF-8CFA-F51A088158DC}" type="slidenum">
              <a:rPr lang="en-CA" smtClean="0"/>
              <a:t>‹#›</a:t>
            </a:fld>
            <a:endParaRPr lang="en-CA"/>
          </a:p>
        </p:txBody>
      </p:sp>
    </p:spTree>
    <p:extLst>
      <p:ext uri="{BB962C8B-B14F-4D97-AF65-F5344CB8AC3E}">
        <p14:creationId xmlns:p14="http://schemas.microsoft.com/office/powerpoint/2010/main" val="140220207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hyperlink" Target="http://www.perturbase.cn/" TargetMode="Externa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drive.google.com/drive/folders/1AAI4KU9G-UHoKo72Ne6iGAaCgFPADIW3?usp=drive_link" TargetMode="External"/><Relationship Id="rId2" Type="http://schemas.openxmlformats.org/officeDocument/2006/relationships/hyperlink" Target="https://www.ncbi.nlm.nih.gov/geo/query/acc.cgi?acc=GSE134139"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colab.research.google.com/drive/1pJJpmq2cz5iY0ctqEYmCx7U8p4kUNRa-?usp=sharing"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A6D5E0-AEC8-43A0-11DE-D49CABF1A8AA}"/>
              </a:ext>
            </a:extLst>
          </p:cNvPr>
          <p:cNvSpPr>
            <a:spLocks noGrp="1"/>
          </p:cNvSpPr>
          <p:nvPr>
            <p:ph type="ctrTitle"/>
          </p:nvPr>
        </p:nvSpPr>
        <p:spPr>
          <a:xfrm>
            <a:off x="1524000" y="406400"/>
            <a:ext cx="9942576" cy="2387600"/>
          </a:xfrm>
        </p:spPr>
        <p:txBody>
          <a:bodyPr>
            <a:normAutofit/>
          </a:bodyPr>
          <a:lstStyle/>
          <a:p>
            <a:r>
              <a:rPr lang="en-CA" sz="4000" b="1" dirty="0">
                <a:latin typeface="Times New Roman" panose="02020603050405020304" pitchFamily="18" charset="0"/>
                <a:cs typeface="Times New Roman" panose="02020603050405020304" pitchFamily="18" charset="0"/>
              </a:rPr>
              <a:t>Single-Cell Gene </a:t>
            </a:r>
            <a:r>
              <a:rPr lang="en-US" sz="4000" b="1" dirty="0">
                <a:latin typeface="Times New Roman" panose="02020603050405020304" pitchFamily="18" charset="0"/>
                <a:cs typeface="Times New Roman" panose="02020603050405020304" pitchFamily="18" charset="0"/>
              </a:rPr>
              <a:t>Perturbation </a:t>
            </a:r>
            <a:br>
              <a:rPr lang="en-US" sz="4000" b="1" dirty="0">
                <a:latin typeface="Times New Roman" panose="02020603050405020304" pitchFamily="18" charset="0"/>
                <a:cs typeface="Times New Roman" panose="02020603050405020304" pitchFamily="18" charset="0"/>
              </a:rPr>
            </a:br>
            <a:r>
              <a:rPr lang="en-US" sz="4000" b="1" dirty="0">
                <a:latin typeface="Times New Roman" panose="02020603050405020304" pitchFamily="18" charset="0"/>
                <a:cs typeface="Times New Roman" panose="02020603050405020304" pitchFamily="18" charset="0"/>
              </a:rPr>
              <a:t>Analysis Using Machine Learning</a:t>
            </a:r>
            <a:endParaRPr lang="en-CA" sz="4000" b="1" dirty="0">
              <a:latin typeface="Times New Roman" panose="02020603050405020304" pitchFamily="18" charset="0"/>
              <a:cs typeface="Times New Roman" panose="02020603050405020304" pitchFamily="18" charset="0"/>
            </a:endParaRPr>
          </a:p>
        </p:txBody>
      </p:sp>
      <p:pic>
        <p:nvPicPr>
          <p:cNvPr id="1026" name="Picture 2" descr="ASBCB – African Society for Bioinformatics and Computational Biology">
            <a:extLst>
              <a:ext uri="{FF2B5EF4-FFF2-40B4-BE49-F238E27FC236}">
                <a16:creationId xmlns:a16="http://schemas.microsoft.com/office/drawing/2014/main" id="{76CD4587-B77C-4731-95A5-EB35327851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04871" y="4714142"/>
            <a:ext cx="2078737" cy="172178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National Institutes of Health - MEpedia">
            <a:extLst>
              <a:ext uri="{FF2B5EF4-FFF2-40B4-BE49-F238E27FC236}">
                <a16:creationId xmlns:a16="http://schemas.microsoft.com/office/drawing/2014/main" id="{9196C3A8-9248-5165-0CE1-BA43FDFB8C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6368" y="4714142"/>
            <a:ext cx="1975104" cy="1737458"/>
          </a:xfrm>
          <a:prstGeom prst="rect">
            <a:avLst/>
          </a:prstGeom>
          <a:noFill/>
          <a:extLst>
            <a:ext uri="{909E8E84-426E-40DD-AFC4-6F175D3DCCD1}">
              <a14:hiddenFill xmlns:a14="http://schemas.microsoft.com/office/drawing/2010/main">
                <a:solidFill>
                  <a:srgbClr val="FFFFFF"/>
                </a:solidFill>
              </a14:hiddenFill>
            </a:ext>
          </a:extLst>
        </p:spPr>
      </p:pic>
      <p:sp>
        <p:nvSpPr>
          <p:cNvPr id="5" name="Subtitle 4">
            <a:extLst>
              <a:ext uri="{FF2B5EF4-FFF2-40B4-BE49-F238E27FC236}">
                <a16:creationId xmlns:a16="http://schemas.microsoft.com/office/drawing/2014/main" id="{C5513740-481B-8D15-CBA5-845D32332D49}"/>
              </a:ext>
            </a:extLst>
          </p:cNvPr>
          <p:cNvSpPr>
            <a:spLocks noGrp="1"/>
          </p:cNvSpPr>
          <p:nvPr>
            <p:ph type="subTitle" idx="1"/>
          </p:nvPr>
        </p:nvSpPr>
        <p:spPr>
          <a:xfrm>
            <a:off x="1450848" y="3153982"/>
            <a:ext cx="9144000" cy="1655762"/>
          </a:xfrm>
        </p:spPr>
        <p:txBody>
          <a:bodyPr/>
          <a:lstStyle/>
          <a:p>
            <a:r>
              <a:rPr lang="en-US" dirty="0"/>
              <a:t>Francis Boabang</a:t>
            </a:r>
            <a:endParaRPr lang="en-CA" dirty="0"/>
          </a:p>
        </p:txBody>
      </p:sp>
    </p:spTree>
    <p:extLst>
      <p:ext uri="{BB962C8B-B14F-4D97-AF65-F5344CB8AC3E}">
        <p14:creationId xmlns:p14="http://schemas.microsoft.com/office/powerpoint/2010/main" val="12646843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Slide Background">
            <a:extLst>
              <a:ext uri="{FF2B5EF4-FFF2-40B4-BE49-F238E27FC236}">
                <a16:creationId xmlns:a16="http://schemas.microsoft.com/office/drawing/2014/main" id="{C0763A76-9F1C-4FC5-82B7-DD475DA461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useBgFill="1">
        <p:nvSpPr>
          <p:cNvPr id="12" name="Rectangle 11">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8522446" cy="2285999"/>
          </a:xfrm>
          <a:prstGeom prst="rect">
            <a:avLst/>
          </a:prstGeom>
          <a:ln>
            <a:noFill/>
          </a:ln>
          <a:effectLst>
            <a:outerShdw blurRad="596900" dist="304800" dir="7140000" sx="90000" sy="90000" algn="t" rotWithShape="0">
              <a:srgbClr val="000000">
                <a:alpha val="1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4084BF-EBD6-F3B5-3FF1-F7B7E6E5EF06}"/>
              </a:ext>
            </a:extLst>
          </p:cNvPr>
          <p:cNvSpPr>
            <a:spLocks noGrp="1"/>
          </p:cNvSpPr>
          <p:nvPr>
            <p:ph type="title"/>
          </p:nvPr>
        </p:nvSpPr>
        <p:spPr>
          <a:xfrm>
            <a:off x="761803" y="350196"/>
            <a:ext cx="4646904" cy="1624520"/>
          </a:xfrm>
        </p:spPr>
        <p:txBody>
          <a:bodyPr anchor="ctr">
            <a:normAutofit/>
          </a:bodyPr>
          <a:lstStyle/>
          <a:p>
            <a:r>
              <a:rPr lang="en-US" sz="4000">
                <a:latin typeface="Times New Roman" panose="02020603050405020304" pitchFamily="18" charset="0"/>
                <a:cs typeface="Times New Roman" panose="02020603050405020304" pitchFamily="18" charset="0"/>
              </a:rPr>
              <a:t>Background</a:t>
            </a:r>
            <a:endParaRPr lang="en-CA" sz="4000">
              <a:latin typeface="Times New Roman" panose="02020603050405020304" pitchFamily="18" charset="0"/>
              <a:cs typeface="Times New Roman" panose="02020603050405020304" pitchFamily="18" charset="0"/>
            </a:endParaRPr>
          </a:p>
        </p:txBody>
      </p:sp>
      <p:sp>
        <p:nvSpPr>
          <p:cNvPr id="4" name="Rectangle 1">
            <a:extLst>
              <a:ext uri="{FF2B5EF4-FFF2-40B4-BE49-F238E27FC236}">
                <a16:creationId xmlns:a16="http://schemas.microsoft.com/office/drawing/2014/main" id="{EB2FE822-36C7-AB8D-1723-B026A9E3BA01}"/>
              </a:ext>
            </a:extLst>
          </p:cNvPr>
          <p:cNvSpPr>
            <a:spLocks noGrp="1" noChangeArrowheads="1"/>
          </p:cNvSpPr>
          <p:nvPr>
            <p:ph idx="1"/>
          </p:nvPr>
        </p:nvSpPr>
        <p:spPr bwMode="auto">
          <a:xfrm>
            <a:off x="613180" y="1974715"/>
            <a:ext cx="5327371" cy="361314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Predicting the outcome of genetic perturbations (e.g., CRISPR knockouts) is key to understanding cell differentiation and disease response.</a:t>
            </a:r>
            <a:endParaRPr lang="en-US" altLang="en-US" sz="1600" dirty="0">
              <a:latin typeface="Times New Roman" panose="02020603050405020304" pitchFamily="18" charset="0"/>
              <a:cs typeface="Times New Roman" panose="02020603050405020304" pitchFamily="18" charset="0"/>
            </a:endParaRPr>
          </a:p>
          <a:p>
            <a:pPr marL="0" indent="0" eaLnBrk="0" fontAlgn="base" hangingPunct="0">
              <a:spcBef>
                <a:spcPct val="0"/>
              </a:spcBef>
              <a:spcAft>
                <a:spcPts val="600"/>
              </a:spcAft>
              <a:buNone/>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a:p>
            <a:pPr eaLnBrk="0" fontAlgn="base" hangingPunct="0">
              <a:spcBef>
                <a:spcPct val="0"/>
              </a:spcBef>
              <a:spcAft>
                <a:spcPts val="600"/>
              </a:spcAf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Perturbation datasets (Perturb-seq, </a:t>
            </a:r>
            <a:r>
              <a:rPr kumimoji="0" lang="en-US" altLang="en-US" sz="1600" b="0" i="0" u="none" strike="noStrike" cap="none" normalizeH="0" baseline="0" dirty="0" err="1">
                <a:ln>
                  <a:noFill/>
                </a:ln>
                <a:effectLst/>
                <a:latin typeface="Times New Roman" panose="02020603050405020304" pitchFamily="18" charset="0"/>
                <a:cs typeface="Times New Roman" panose="02020603050405020304" pitchFamily="18" charset="0"/>
              </a:rPr>
              <a:t>Mixscape</a:t>
            </a: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a:t>
            </a:r>
          </a:p>
          <a:p>
            <a:pPr marL="0" marR="0" lvl="0" indent="0" defTabSz="914400" rtl="0" eaLnBrk="0" fontAlgn="base" latinLnBrk="0" hangingPunct="0">
              <a:spcBef>
                <a:spcPct val="0"/>
              </a:spcBef>
              <a:spcAft>
                <a:spcPts val="600"/>
              </a:spcAft>
              <a:buClrTx/>
              <a:buSzTx/>
              <a:buNone/>
              <a:tabLst/>
            </a:pPr>
            <a:r>
              <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rPr>
              <a:t> enable modeling the causal mapping between perturbations and transcriptional outcomes.</a:t>
            </a:r>
          </a:p>
          <a:p>
            <a:pPr marL="0" marR="0" lvl="0" indent="0" defTabSz="914400" rtl="0" eaLnBrk="0" fontAlgn="base" latinLnBrk="0" hangingPunct="0">
              <a:spcBef>
                <a:spcPct val="0"/>
              </a:spcBef>
              <a:spcAft>
                <a:spcPts val="600"/>
              </a:spcAft>
              <a:buClrTx/>
              <a:buSzTx/>
              <a:buNone/>
              <a:tabLst/>
            </a:pPr>
            <a:endParaRPr kumimoji="0" lang="en-US" altLang="en-US" sz="1600" b="0" i="0" u="none" strike="noStrike" cap="none" normalizeH="0" baseline="0" dirty="0">
              <a:ln>
                <a:noFill/>
              </a:ln>
              <a:effectLst/>
              <a:latin typeface="Times New Roman" panose="02020603050405020304" pitchFamily="18" charset="0"/>
              <a:cs typeface="Times New Roman" panose="02020603050405020304" pitchFamily="18" charset="0"/>
            </a:endParaRPr>
          </a:p>
        </p:txBody>
      </p:sp>
      <p:pic>
        <p:nvPicPr>
          <p:cNvPr id="6" name="Picture 5" descr="Molecular DNA structure">
            <a:extLst>
              <a:ext uri="{FF2B5EF4-FFF2-40B4-BE49-F238E27FC236}">
                <a16:creationId xmlns:a16="http://schemas.microsoft.com/office/drawing/2014/main" id="{B9AB2687-9BAF-0D02-AB6C-C7518FE5B8B5}"/>
              </a:ext>
            </a:extLst>
          </p:cNvPr>
          <p:cNvPicPr>
            <a:picLocks noChangeAspect="1"/>
          </p:cNvPicPr>
          <p:nvPr/>
        </p:nvPicPr>
        <p:blipFill>
          <a:blip r:embed="rId2"/>
          <a:srcRect l="15498" r="25102" b="-2"/>
          <a:stretch>
            <a:fillRect/>
          </a:stretch>
        </p:blipFill>
        <p:spPr>
          <a:xfrm>
            <a:off x="6096000" y="1"/>
            <a:ext cx="6102825" cy="6858000"/>
          </a:xfrm>
          <a:prstGeom prst="rect">
            <a:avLst/>
          </a:prstGeom>
        </p:spPr>
      </p:pic>
    </p:spTree>
    <p:extLst>
      <p:ext uri="{BB962C8B-B14F-4D97-AF65-F5344CB8AC3E}">
        <p14:creationId xmlns:p14="http://schemas.microsoft.com/office/powerpoint/2010/main" val="771050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4F919A-C12D-30A2-69D8-6B05403E1494}"/>
              </a:ext>
            </a:extLst>
          </p:cNvPr>
          <p:cNvSpPr>
            <a:spLocks noGrp="1"/>
          </p:cNvSpPr>
          <p:nvPr>
            <p:ph type="title"/>
          </p:nvPr>
        </p:nvSpPr>
        <p:spPr>
          <a:xfrm>
            <a:off x="502920" y="529717"/>
            <a:ext cx="10183368" cy="851027"/>
          </a:xfrm>
        </p:spPr>
        <p:txBody>
          <a:bodyPr>
            <a:normAutofit/>
          </a:bodyPr>
          <a:lstStyle/>
          <a:p>
            <a:r>
              <a:rPr lang="en-US" sz="2000" dirty="0">
                <a:latin typeface="Times New Roman" panose="02020603050405020304" pitchFamily="18" charset="0"/>
                <a:cs typeface="Times New Roman" panose="02020603050405020304" pitchFamily="18" charset="0"/>
              </a:rPr>
              <a:t>Gaps in the Research</a:t>
            </a:r>
            <a:endParaRPr lang="en-CA" sz="2000"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C56CA37-BF2C-969E-D177-9518FD57166F}"/>
              </a:ext>
            </a:extLst>
          </p:cNvPr>
          <p:cNvSpPr>
            <a:spLocks noGrp="1"/>
          </p:cNvSpPr>
          <p:nvPr>
            <p:ph idx="1"/>
          </p:nvPr>
        </p:nvSpPr>
        <p:spPr>
          <a:xfrm>
            <a:off x="838200" y="1253331"/>
            <a:ext cx="10850880" cy="4351338"/>
          </a:xfrm>
        </p:spPr>
        <p:txBody>
          <a:bodyPr>
            <a:noAutofit/>
          </a:bodyPr>
          <a:lstStyle/>
          <a:p>
            <a:pPr marL="0" indent="0">
              <a:buNone/>
            </a:pPr>
            <a:r>
              <a:rPr lang="en-CA" sz="1400" b="1" dirty="0">
                <a:latin typeface="Times New Roman" panose="02020603050405020304" pitchFamily="18" charset="0"/>
                <a:cs typeface="Times New Roman" panose="02020603050405020304" pitchFamily="18" charset="0"/>
              </a:rPr>
              <a:t>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Linear models (LASSO, Elastic Net) identify sparse gene–gene dependencies. Linear models can  fail to capture nonlinear gene–gene or protein to protein dependencies or combinatorial perturbations.</a:t>
            </a:r>
          </a:p>
          <a:p>
            <a:r>
              <a:rPr lang="en-CA" sz="1400" dirty="0">
                <a:latin typeface="Times New Roman" panose="02020603050405020304" pitchFamily="18" charset="0"/>
                <a:cs typeface="Times New Roman" panose="02020603050405020304" pitchFamily="18" charset="0"/>
              </a:rPr>
              <a:t>Gaussian Process Regression captures limited nonlinearity.</a:t>
            </a:r>
          </a:p>
          <a:p>
            <a:r>
              <a:rPr lang="en-CA" sz="1400" dirty="0">
                <a:latin typeface="Times New Roman" panose="02020603050405020304" pitchFamily="18" charset="0"/>
                <a:cs typeface="Times New Roman" panose="02020603050405020304" pitchFamily="18" charset="0"/>
              </a:rPr>
              <a:t>Reinforcement learning (RL) shows promise for modeling dynamic perturbation sequences </a:t>
            </a:r>
          </a:p>
          <a:p>
            <a:endParaRPr lang="en-CA" sz="1400" b="1" dirty="0">
              <a:latin typeface="Times New Roman" panose="02020603050405020304" pitchFamily="18" charset="0"/>
              <a:cs typeface="Times New Roman" panose="02020603050405020304" pitchFamily="18" charset="0"/>
            </a:endParaRPr>
          </a:p>
          <a:p>
            <a:r>
              <a:rPr lang="en-CA" sz="1400" b="1" dirty="0">
                <a:latin typeface="Times New Roman" panose="02020603050405020304" pitchFamily="18" charset="0"/>
                <a:cs typeface="Times New Roman" panose="02020603050405020304" pitchFamily="18" charset="0"/>
              </a:rPr>
              <a:t>Unknown:</a:t>
            </a:r>
            <a:endParaRPr lang="en-CA" sz="1400" dirty="0">
              <a:latin typeface="Times New Roman" panose="02020603050405020304" pitchFamily="18" charset="0"/>
              <a:cs typeface="Times New Roman" panose="02020603050405020304" pitchFamily="18" charset="0"/>
            </a:endParaRPr>
          </a:p>
          <a:p>
            <a:r>
              <a:rPr lang="en-CA" sz="1400" dirty="0">
                <a:latin typeface="Times New Roman" panose="02020603050405020304" pitchFamily="18" charset="0"/>
                <a:cs typeface="Times New Roman" panose="02020603050405020304" pitchFamily="18" charset="0"/>
              </a:rPr>
              <a:t>The nonlinear extensions such as Gaussian Process regression, graph neural networks, or reinforcement learning frameworks that better represent biological complexity and adaptive perturbation effects however they often get stuck in local optima in the Waddington landscape.</a:t>
            </a:r>
          </a:p>
          <a:p>
            <a:r>
              <a:rPr lang="en-CA" sz="1400" dirty="0">
                <a:latin typeface="Times New Roman" panose="02020603050405020304" pitchFamily="18" charset="0"/>
                <a:cs typeface="Times New Roman" panose="02020603050405020304" pitchFamily="18" charset="0"/>
              </a:rPr>
              <a:t>Most existing models rely exclusively on either </a:t>
            </a:r>
            <a:r>
              <a:rPr lang="en-CA" sz="1400" i="1" dirty="0">
                <a:latin typeface="Times New Roman" panose="02020603050405020304" pitchFamily="18" charset="0"/>
                <a:cs typeface="Times New Roman" panose="02020603050405020304" pitchFamily="18" charset="0"/>
              </a:rPr>
              <a:t>in silico</a:t>
            </a:r>
            <a:r>
              <a:rPr lang="en-CA" sz="1400" dirty="0">
                <a:latin typeface="Times New Roman" panose="02020603050405020304" pitchFamily="18" charset="0"/>
                <a:cs typeface="Times New Roman" panose="02020603050405020304" pitchFamily="18" charset="0"/>
              </a:rPr>
              <a:t> perturbation data or experimental perturbation data but rarely integrate both limiting their ability to generalize and validate predictions across simulated and real biological contexts.</a:t>
            </a:r>
            <a:r>
              <a:rPr lang="en-CA" sz="1400" b="1" dirty="0">
                <a:latin typeface="Times New Roman" panose="02020603050405020304" pitchFamily="18" charset="0"/>
                <a:cs typeface="Times New Roman" panose="02020603050405020304" pitchFamily="18" charset="0"/>
              </a:rPr>
              <a:t> Hence, g</a:t>
            </a:r>
            <a:r>
              <a:rPr lang="en-CA" sz="1400" dirty="0">
                <a:latin typeface="Times New Roman" panose="02020603050405020304" pitchFamily="18" charset="0"/>
                <a:cs typeface="Times New Roman" panose="02020603050405020304" pitchFamily="18" charset="0"/>
              </a:rPr>
              <a:t>eneralization to </a:t>
            </a:r>
            <a:r>
              <a:rPr lang="en-CA" sz="1400" i="1" dirty="0">
                <a:latin typeface="Times New Roman" panose="02020603050405020304" pitchFamily="18" charset="0"/>
                <a:cs typeface="Times New Roman" panose="02020603050405020304" pitchFamily="18" charset="0"/>
              </a:rPr>
              <a:t>out-of-sample</a:t>
            </a:r>
            <a:r>
              <a:rPr lang="en-CA" sz="1400" dirty="0">
                <a:latin typeface="Times New Roman" panose="02020603050405020304" pitchFamily="18" charset="0"/>
                <a:cs typeface="Times New Roman" panose="02020603050405020304" pitchFamily="18" charset="0"/>
              </a:rPr>
              <a:t> experimental perturbations.</a:t>
            </a:r>
          </a:p>
          <a:p>
            <a:r>
              <a:rPr lang="en-CA" sz="1400" dirty="0">
                <a:latin typeface="Times New Roman" panose="02020603050405020304" pitchFamily="18" charset="0"/>
                <a:cs typeface="Times New Roman" panose="02020603050405020304" pitchFamily="18" charset="0"/>
              </a:rPr>
              <a:t>Interpretability of perturbation effects across multi-omics layers (RNA, ATAC, ADT) with experimental Validation.</a:t>
            </a:r>
          </a:p>
          <a:p>
            <a:pPr marL="0" indent="0">
              <a:buNone/>
            </a:pPr>
            <a:r>
              <a:rPr lang="en-CA" sz="1400" b="1" dirty="0">
                <a:latin typeface="Times New Roman" panose="02020603050405020304" pitchFamily="18" charset="0"/>
                <a:cs typeface="Times New Roman" panose="02020603050405020304" pitchFamily="18" charset="0"/>
              </a:rPr>
              <a:t>References:</a:t>
            </a:r>
            <a:endParaRPr lang="en-CA" sz="1400" dirty="0">
              <a:latin typeface="Times New Roman" panose="02020603050405020304" pitchFamily="18" charset="0"/>
              <a:cs typeface="Times New Roman" panose="02020603050405020304" pitchFamily="18" charset="0"/>
            </a:endParaRP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Huynh-Thu, V. A., </a:t>
            </a:r>
            <a:r>
              <a:rPr lang="en-US" altLang="en-US" sz="1200" dirty="0" err="1">
                <a:latin typeface="Times New Roman" panose="02020603050405020304" pitchFamily="18" charset="0"/>
                <a:cs typeface="Times New Roman" panose="02020603050405020304" pitchFamily="18" charset="0"/>
              </a:rPr>
              <a:t>Irrthum</a:t>
            </a:r>
            <a:r>
              <a:rPr lang="en-US" altLang="en-US" sz="1200" dirty="0">
                <a:latin typeface="Times New Roman" panose="02020603050405020304" pitchFamily="18" charset="0"/>
                <a:cs typeface="Times New Roman" panose="02020603050405020304" pitchFamily="18" charset="0"/>
              </a:rPr>
              <a:t>, A., </a:t>
            </a:r>
            <a:r>
              <a:rPr lang="en-US" altLang="en-US" sz="1200" dirty="0" err="1">
                <a:latin typeface="Times New Roman" panose="02020603050405020304" pitchFamily="18" charset="0"/>
                <a:cs typeface="Times New Roman" panose="02020603050405020304" pitchFamily="18" charset="0"/>
              </a:rPr>
              <a:t>Wehenkel</a:t>
            </a:r>
            <a:r>
              <a:rPr lang="en-US" altLang="en-US" sz="1200" dirty="0">
                <a:latin typeface="Times New Roman" panose="02020603050405020304" pitchFamily="18" charset="0"/>
                <a:cs typeface="Times New Roman" panose="02020603050405020304" pitchFamily="18" charset="0"/>
              </a:rPr>
              <a:t>, L., &amp; Geurts, P. (2010). </a:t>
            </a:r>
            <a:r>
              <a:rPr lang="en-US" altLang="en-US" sz="1200" b="1" i="1" dirty="0">
                <a:latin typeface="Times New Roman" panose="02020603050405020304" pitchFamily="18" charset="0"/>
                <a:cs typeface="Times New Roman" panose="02020603050405020304" pitchFamily="18" charset="0"/>
              </a:rPr>
              <a:t>Inferring regulatory networks from expression data using tree-based methods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a:t>
            </a:r>
            <a:r>
              <a:rPr lang="en-US" altLang="en-US" sz="1200" dirty="0" err="1">
                <a:latin typeface="Times New Roman" panose="02020603050405020304" pitchFamily="18" charset="0"/>
                <a:cs typeface="Times New Roman" panose="02020603050405020304" pitchFamily="18" charset="0"/>
              </a:rPr>
              <a:t>PLoS</a:t>
            </a:r>
            <a:r>
              <a:rPr lang="en-US" altLang="en-US" sz="1200" dirty="0">
                <a:latin typeface="Times New Roman" panose="02020603050405020304" pitchFamily="18" charset="0"/>
                <a:cs typeface="Times New Roman" panose="02020603050405020304" pitchFamily="18" charset="0"/>
              </a:rPr>
              <a:t> ONE, 5(9): e12776.</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Marbach, D., Costello, J. C., Küffner, R., Vega, N. M., Prill, R. J., Camacho, D. M., ... &amp; Kellis, M. (2012). </a:t>
            </a:r>
            <a:r>
              <a:rPr lang="en-US" altLang="en-US" sz="1200" b="1" i="1" dirty="0">
                <a:latin typeface="Times New Roman" panose="02020603050405020304" pitchFamily="18" charset="0"/>
                <a:cs typeface="Times New Roman" panose="02020603050405020304" pitchFamily="18" charset="0"/>
              </a:rPr>
              <a:t>Wisdom of crowds for robust gene network inference</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Methods, 9(8): 796–804.</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Xing, H., &amp; Yau, C. (2025). </a:t>
            </a:r>
            <a:r>
              <a:rPr lang="en-US" altLang="en-US" sz="1200" b="1" i="1" dirty="0">
                <a:latin typeface="Times New Roman" panose="02020603050405020304" pitchFamily="18" charset="0"/>
                <a:cs typeface="Times New Roman" panose="02020603050405020304" pitchFamily="18" charset="0"/>
              </a:rPr>
              <a:t>GPerturb: Gaussian Process Modelling of Single-Cell Perturbation Data</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Nature Communications, 16(1): 5423.</a:t>
            </a:r>
          </a:p>
          <a:p>
            <a:pPr marL="0" lvl="0" indent="0" eaLnBrk="0" fontAlgn="base" hangingPunct="0">
              <a:lnSpc>
                <a:spcPct val="100000"/>
              </a:lnSpc>
              <a:spcBef>
                <a:spcPct val="0"/>
              </a:spcBef>
              <a:spcAft>
                <a:spcPct val="0"/>
              </a:spcAft>
              <a:buNone/>
            </a:pPr>
            <a:r>
              <a:rPr lang="en-US" altLang="en-US" sz="1200" dirty="0">
                <a:latin typeface="Times New Roman" panose="02020603050405020304" pitchFamily="18" charset="0"/>
                <a:cs typeface="Times New Roman" panose="02020603050405020304" pitchFamily="18" charset="0"/>
              </a:rPr>
              <a:t>Gavriilidis, G. I., et al. (2024). </a:t>
            </a:r>
            <a:r>
              <a:rPr lang="en-US" altLang="en-US" sz="1200" b="1" i="1" dirty="0">
                <a:latin typeface="Times New Roman" panose="02020603050405020304" pitchFamily="18" charset="0"/>
                <a:cs typeface="Times New Roman" panose="02020603050405020304" pitchFamily="18" charset="0"/>
              </a:rPr>
              <a:t>A Mini-review on Perturbation Modelling Across Single-Cell </a:t>
            </a:r>
            <a:r>
              <a:rPr lang="en-US" altLang="en-US" sz="1200" b="1" i="1" dirty="0" err="1">
                <a:latin typeface="Times New Roman" panose="02020603050405020304" pitchFamily="18" charset="0"/>
                <a:cs typeface="Times New Roman" panose="02020603050405020304" pitchFamily="18" charset="0"/>
              </a:rPr>
              <a:t>Omic</a:t>
            </a:r>
            <a:r>
              <a:rPr lang="en-US" altLang="en-US" sz="1200" b="1" i="1" dirty="0">
                <a:latin typeface="Times New Roman" panose="02020603050405020304" pitchFamily="18" charset="0"/>
                <a:cs typeface="Times New Roman" panose="02020603050405020304" pitchFamily="18" charset="0"/>
              </a:rPr>
              <a:t> Modalities</a:t>
            </a:r>
            <a:r>
              <a:rPr lang="en-US" altLang="en-US" sz="1200" i="1" dirty="0">
                <a:latin typeface="Times New Roman" panose="02020603050405020304" pitchFamily="18" charset="0"/>
                <a:cs typeface="Times New Roman" panose="02020603050405020304" pitchFamily="18" charset="0"/>
              </a:rPr>
              <a:t>.</a:t>
            </a:r>
            <a:r>
              <a:rPr lang="en-US" altLang="en-US" sz="1200" dirty="0">
                <a:latin typeface="Times New Roman" panose="02020603050405020304" pitchFamily="18" charset="0"/>
                <a:cs typeface="Times New Roman" panose="02020603050405020304" pitchFamily="18" charset="0"/>
              </a:rPr>
              <a:t> Computational and Structural Biotechnology Journal, 23: 1886–1895</a:t>
            </a:r>
            <a:r>
              <a:rPr lang="en-US" altLang="en-US" sz="1000" dirty="0">
                <a:latin typeface="Times New Roman" panose="02020603050405020304" pitchFamily="18" charset="0"/>
                <a:cs typeface="Times New Roman" panose="02020603050405020304" pitchFamily="18" charset="0"/>
              </a:rPr>
              <a:t>.</a:t>
            </a:r>
          </a:p>
          <a:p>
            <a:endParaRPr lang="en-CA" sz="14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995415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1D688C2-0936-3136-9D06-726FED71A049}"/>
              </a:ext>
            </a:extLst>
          </p:cNvPr>
          <p:cNvSpPr>
            <a:spLocks noGrp="1"/>
          </p:cNvSpPr>
          <p:nvPr>
            <p:ph type="title"/>
          </p:nvPr>
        </p:nvSpPr>
        <p:spPr>
          <a:xfrm>
            <a:off x="1043631" y="809898"/>
            <a:ext cx="10173010" cy="1554480"/>
          </a:xfrm>
        </p:spPr>
        <p:txBody>
          <a:bodyPr anchor="ctr">
            <a:normAutofit/>
          </a:bodyPr>
          <a:lstStyle/>
          <a:p>
            <a:r>
              <a:rPr lang="en-US" sz="2400" dirty="0">
                <a:latin typeface="Times New Roman" panose="02020603050405020304" pitchFamily="18" charset="0"/>
                <a:cs typeface="Times New Roman" panose="02020603050405020304" pitchFamily="18" charset="0"/>
              </a:rPr>
              <a:t>Datasets</a:t>
            </a:r>
            <a:endParaRPr lang="en-CA" sz="2400" dirty="0">
              <a:latin typeface="Times New Roman" panose="02020603050405020304" pitchFamily="18" charset="0"/>
              <a:cs typeface="Times New Roman" panose="02020603050405020304" pitchFamily="18" charset="0"/>
            </a:endParaRPr>
          </a:p>
        </p:txBody>
      </p:sp>
      <p:cxnSp>
        <p:nvCxnSpPr>
          <p:cNvPr id="19" name="Straight Connector 18">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6" name="Rectangle 1">
            <a:extLst>
              <a:ext uri="{FF2B5EF4-FFF2-40B4-BE49-F238E27FC236}">
                <a16:creationId xmlns:a16="http://schemas.microsoft.com/office/drawing/2014/main" id="{709A6F6B-96D8-E2AA-5D1A-1A3D4E8C31DA}"/>
              </a:ext>
            </a:extLst>
          </p:cNvPr>
          <p:cNvGraphicFramePr>
            <a:graphicFrameLocks noGrp="1"/>
          </p:cNvGraphicFramePr>
          <p:nvPr>
            <p:ph idx="1"/>
            <p:extLst>
              <p:ext uri="{D42A27DB-BD31-4B8C-83A1-F6EECF244321}">
                <p14:modId xmlns:p14="http://schemas.microsoft.com/office/powerpoint/2010/main" val="228715565"/>
              </p:ext>
            </p:extLst>
          </p:nvPr>
        </p:nvGraphicFramePr>
        <p:xfrm>
          <a:off x="975360" y="2364378"/>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Box 6">
            <a:extLst>
              <a:ext uri="{FF2B5EF4-FFF2-40B4-BE49-F238E27FC236}">
                <a16:creationId xmlns:a16="http://schemas.microsoft.com/office/drawing/2014/main" id="{E665BEE4-4CBE-826C-2EFA-81C0FF83C5FC}"/>
              </a:ext>
            </a:extLst>
          </p:cNvPr>
          <p:cNvSpPr txBox="1"/>
          <p:nvPr/>
        </p:nvSpPr>
        <p:spPr>
          <a:xfrm>
            <a:off x="975360" y="5418291"/>
            <a:ext cx="6094476" cy="923330"/>
          </a:xfrm>
          <a:prstGeom prst="rect">
            <a:avLst/>
          </a:prstGeom>
          <a:noFill/>
        </p:spPr>
        <p:txBody>
          <a:bodyPr wrap="square">
            <a:spAutoFit/>
          </a:bodyPr>
          <a:lstStyle/>
          <a:p>
            <a:r>
              <a:rPr lang="en-CA" b="0" i="0" u="sng" dirty="0">
                <a:solidFill>
                  <a:srgbClr val="0969DA"/>
                </a:solidFill>
                <a:effectLst/>
                <a:latin typeface="-apple-system"/>
                <a:hlinkClick r:id="rId7"/>
              </a:rPr>
              <a:t>http://www.perturbase.cn/</a:t>
            </a:r>
            <a:endParaRPr lang="en-CA" b="0" i="0" u="sng" dirty="0">
              <a:solidFill>
                <a:srgbClr val="0969DA"/>
              </a:solidFill>
              <a:effectLst/>
              <a:latin typeface="-apple-system"/>
            </a:endParaRPr>
          </a:p>
          <a:p>
            <a:endParaRPr lang="en-CA" u="sng" dirty="0">
              <a:solidFill>
                <a:srgbClr val="0969DA"/>
              </a:solidFill>
              <a:latin typeface="-apple-system"/>
            </a:endParaRPr>
          </a:p>
          <a:p>
            <a:r>
              <a:rPr lang="en-CA" dirty="0"/>
              <a:t>https://www.ncbi.nlm.nih.gov/bioproject/?term=cite</a:t>
            </a:r>
          </a:p>
        </p:txBody>
      </p:sp>
    </p:spTree>
    <p:extLst>
      <p:ext uri="{BB962C8B-B14F-4D97-AF65-F5344CB8AC3E}">
        <p14:creationId xmlns:p14="http://schemas.microsoft.com/office/powerpoint/2010/main" val="145104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B318FC-B8B4-6DC6-27B2-A905C899CE22}"/>
              </a:ext>
            </a:extLst>
          </p:cNvPr>
          <p:cNvSpPr>
            <a:spLocks noGrp="1"/>
          </p:cNvSpPr>
          <p:nvPr>
            <p:ph type="title"/>
          </p:nvPr>
        </p:nvSpPr>
        <p:spPr/>
        <p:txBody>
          <a:bodyPr>
            <a:normAutofit/>
          </a:bodyPr>
          <a:lstStyle/>
          <a:p>
            <a:r>
              <a:rPr lang="en-US" sz="2000" b="1" dirty="0">
                <a:latin typeface="Times New Roman" panose="02020603050405020304" pitchFamily="18" charset="0"/>
                <a:cs typeface="Times New Roman" panose="02020603050405020304" pitchFamily="18" charset="0"/>
              </a:rPr>
              <a:t>Crispr Knockout</a:t>
            </a:r>
            <a:endParaRPr lang="en-CA" sz="20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5BCD918-5356-F693-7CC9-A8665A375746}"/>
              </a:ext>
            </a:extLst>
          </p:cNvPr>
          <p:cNvSpPr>
            <a:spLocks noGrp="1"/>
          </p:cNvSpPr>
          <p:nvPr>
            <p:ph idx="1"/>
          </p:nvPr>
        </p:nvSpPr>
        <p:spPr>
          <a:xfrm>
            <a:off x="765048" y="1533017"/>
            <a:ext cx="10515600" cy="4351338"/>
          </a:xfrm>
        </p:spPr>
        <p:txBody>
          <a:bodyPr>
            <a:normAutofit/>
          </a:bodyPr>
          <a:lstStyle/>
          <a:p>
            <a:pPr marL="0" indent="0">
              <a:buNone/>
            </a:pPr>
            <a:r>
              <a:rPr lang="en-CA" sz="1800" b="1" dirty="0" err="1">
                <a:latin typeface="Times New Roman" panose="02020603050405020304" pitchFamily="18" charset="0"/>
                <a:cs typeface="Times New Roman" panose="02020603050405020304" pitchFamily="18" charset="0"/>
              </a:rPr>
              <a:t>Unperturb</a:t>
            </a:r>
            <a:r>
              <a:rPr lang="en-CA" sz="1800" b="1" dirty="0">
                <a:latin typeface="Times New Roman" panose="02020603050405020304" pitchFamily="18" charset="0"/>
                <a:cs typeface="Times New Roman" panose="02020603050405020304" pitchFamily="18" charset="0"/>
              </a:rPr>
              <a:t> data (Control Sample) and Perturb data with CRISPRKO</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https://www.ncbi.nlm.nih.gov/geo/query/acc.cgi?acc=GSE134139</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https://www.ncbi.nlm.nih.gov/geo/query/acc.cgi?acc=GSE156478</a:t>
            </a:r>
          </a:p>
          <a:p>
            <a:pPr marL="0" indent="0">
              <a:buNone/>
            </a:pPr>
            <a:endParaRPr lang="en-CA" sz="1800" dirty="0">
              <a:latin typeface="Times New Roman" panose="02020603050405020304" pitchFamily="18" charset="0"/>
              <a:cs typeface="Times New Roman" panose="02020603050405020304" pitchFamily="18" charset="0"/>
            </a:endParaRPr>
          </a:p>
          <a:p>
            <a:pPr marL="0" indent="0">
              <a:buNone/>
            </a:pPr>
            <a:r>
              <a:rPr lang="en-CA" sz="1800" dirty="0">
                <a:latin typeface="Times New Roman" panose="02020603050405020304" pitchFamily="18" charset="0"/>
                <a:cs typeface="Times New Roman" panose="02020603050405020304" pitchFamily="18" charset="0"/>
              </a:rPr>
              <a:t>https://www.ncbi.nlm.nih.gov/geo/query/acc.cgi?acc=GSE126310</a:t>
            </a:r>
          </a:p>
        </p:txBody>
      </p:sp>
    </p:spTree>
    <p:extLst>
      <p:ext uri="{BB962C8B-B14F-4D97-AF65-F5344CB8AC3E}">
        <p14:creationId xmlns:p14="http://schemas.microsoft.com/office/powerpoint/2010/main" val="29987596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C3AF6-67CE-A2F4-D8AB-9BCD2466C373}"/>
              </a:ext>
            </a:extLst>
          </p:cNvPr>
          <p:cNvSpPr>
            <a:spLocks noGrp="1"/>
          </p:cNvSpPr>
          <p:nvPr>
            <p:ph type="title"/>
          </p:nvPr>
        </p:nvSpPr>
        <p:spPr/>
        <p:txBody>
          <a:bodyPr>
            <a:normAutofit/>
          </a:bodyPr>
          <a:lstStyle/>
          <a:p>
            <a:r>
              <a:rPr lang="en-CA" sz="2200" b="1" dirty="0">
                <a:latin typeface="Times New Roman" panose="02020603050405020304" pitchFamily="18" charset="0"/>
                <a:cs typeface="Times New Roman" panose="02020603050405020304" pitchFamily="18" charset="0"/>
              </a:rPr>
              <a:t>Using Initialization Strategies to Address Nonlinearity in Developmental Biology</a:t>
            </a:r>
            <a:br>
              <a:rPr lang="en-CA" b="1" dirty="0"/>
            </a:br>
            <a:endParaRPr lang="en-CA" dirty="0"/>
          </a:p>
        </p:txBody>
      </p:sp>
      <p:sp>
        <p:nvSpPr>
          <p:cNvPr id="3" name="Content Placeholder 2">
            <a:extLst>
              <a:ext uri="{FF2B5EF4-FFF2-40B4-BE49-F238E27FC236}">
                <a16:creationId xmlns:a16="http://schemas.microsoft.com/office/drawing/2014/main" id="{C57357E8-7CC3-7D10-E04D-DD8F72BC8A57}"/>
              </a:ext>
            </a:extLst>
          </p:cNvPr>
          <p:cNvSpPr>
            <a:spLocks noGrp="1"/>
          </p:cNvSpPr>
          <p:nvPr>
            <p:ph idx="1"/>
          </p:nvPr>
        </p:nvSpPr>
        <p:spPr>
          <a:xfrm>
            <a:off x="947928" y="1459865"/>
            <a:ext cx="10515600" cy="4351338"/>
          </a:xfrm>
        </p:spPr>
        <p:txBody>
          <a:bodyPr>
            <a:normAutofit/>
          </a:bodyPr>
          <a:lstStyle/>
          <a:p>
            <a:r>
              <a:rPr lang="en-CA" sz="1600" dirty="0">
                <a:latin typeface="Times New Roman" panose="02020603050405020304" pitchFamily="18" charset="0"/>
                <a:cs typeface="Times New Roman" panose="02020603050405020304" pitchFamily="18" charset="0"/>
              </a:rPr>
              <a:t>We leverage machine-learning initialization strategies to overcome the inherent nonlinearity in developmental biology, improving the modeling of cell-differentiation trajectories.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Concept: Convex or structured initializations (e.g., sparse regression, trust-region, or pre-trained convex embeddings) provide stable starting points for highly nonlinear optimization landscapes in biological systems.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Goal: To ensure that nonlinear models such as deep or reinforcement-learning frameworks converge toward biologically meaningful minima rather than arbitrary local optima.</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Impact: Enhances the fidelity of cell-fate prediction and differentiation modeling, leading to more accurate simulations of lineage commitment and reprogramming dynamics.</a:t>
            </a:r>
          </a:p>
          <a:p>
            <a:endParaRPr lang="en-CA" sz="1600" dirty="0">
              <a:latin typeface="Times New Roman" panose="02020603050405020304" pitchFamily="18" charset="0"/>
              <a:cs typeface="Times New Roman" panose="02020603050405020304" pitchFamily="18" charset="0"/>
            </a:endParaRPr>
          </a:p>
          <a:p>
            <a:r>
              <a:rPr lang="en-CA" sz="1600" dirty="0">
                <a:latin typeface="Times New Roman" panose="02020603050405020304" pitchFamily="18" charset="0"/>
                <a:cs typeface="Times New Roman" panose="02020603050405020304" pitchFamily="18" charset="0"/>
              </a:rPr>
              <a:t>Outcome: A unified approach where machine-domain initialization bridges computational optimization and biological interpretability, improving predictive performance in cell differentiation and regenerative modeling.</a:t>
            </a:r>
          </a:p>
          <a:p>
            <a:endParaRPr lang="en-CA" dirty="0">
              <a:latin typeface="Times New Roman" panose="02020603050405020304" pitchFamily="18" charset="0"/>
              <a:cs typeface="Times New Roman" panose="02020603050405020304" pitchFamily="18" charset="0"/>
            </a:endParaRPr>
          </a:p>
        </p:txBody>
      </p:sp>
      <p:sp>
        <p:nvSpPr>
          <p:cNvPr id="5" name="TextBox 4">
            <a:extLst>
              <a:ext uri="{FF2B5EF4-FFF2-40B4-BE49-F238E27FC236}">
                <a16:creationId xmlns:a16="http://schemas.microsoft.com/office/drawing/2014/main" id="{E33196A9-B4A4-8450-7095-5825D67800FA}"/>
              </a:ext>
            </a:extLst>
          </p:cNvPr>
          <p:cNvSpPr txBox="1"/>
          <p:nvPr/>
        </p:nvSpPr>
        <p:spPr>
          <a:xfrm>
            <a:off x="374904" y="5919508"/>
            <a:ext cx="12252960" cy="461665"/>
          </a:xfrm>
          <a:prstGeom prst="rect">
            <a:avLst/>
          </a:prstGeom>
          <a:noFill/>
        </p:spPr>
        <p:txBody>
          <a:bodyPr wrap="square">
            <a:spAutoFit/>
          </a:bodyPr>
          <a:lstStyle/>
          <a:p>
            <a:pPr marL="0" indent="0" fontAlgn="base">
              <a:buNone/>
            </a:pPr>
            <a:r>
              <a:rPr lang="en-CA" sz="1200" dirty="0">
                <a:latin typeface="Times New Roman" panose="02020603050405020304" pitchFamily="18" charset="0"/>
                <a:cs typeface="Times New Roman" panose="02020603050405020304" pitchFamily="18" charset="0"/>
              </a:rPr>
              <a:t>Boabang, Francis, and Samuel Asante </a:t>
            </a:r>
            <a:r>
              <a:rPr lang="en-CA" sz="1200" dirty="0" err="1">
                <a:latin typeface="Times New Roman" panose="02020603050405020304" pitchFamily="18" charset="0"/>
                <a:cs typeface="Times New Roman" panose="02020603050405020304" pitchFamily="18" charset="0"/>
              </a:rPr>
              <a:t>Gyamerah</a:t>
            </a:r>
            <a:r>
              <a:rPr lang="en-CA" sz="1200" dirty="0">
                <a:latin typeface="Times New Roman" panose="02020603050405020304" pitchFamily="18" charset="0"/>
                <a:cs typeface="Times New Roman" panose="02020603050405020304" pitchFamily="18" charset="0"/>
              </a:rPr>
              <a:t>. "Escaping Local Optima in the Waddington Landscape: A Multi-Stage TRPO-PPO Approach for Single-Cell Perturbation Analysis." </a:t>
            </a:r>
            <a:r>
              <a:rPr lang="en-CA" sz="1200" i="1" dirty="0" err="1">
                <a:latin typeface="Times New Roman" panose="02020603050405020304" pitchFamily="18" charset="0"/>
                <a:cs typeface="Times New Roman" panose="02020603050405020304" pitchFamily="18" charset="0"/>
              </a:rPr>
              <a:t>arXiv</a:t>
            </a:r>
            <a:r>
              <a:rPr lang="en-CA" sz="1200" i="1" dirty="0">
                <a:latin typeface="Times New Roman" panose="02020603050405020304" pitchFamily="18" charset="0"/>
                <a:cs typeface="Times New Roman" panose="02020603050405020304" pitchFamily="18" charset="0"/>
              </a:rPr>
              <a:t> preprint arXiv:2510.13018</a:t>
            </a:r>
            <a:r>
              <a:rPr lang="en-CA" sz="1200" dirty="0">
                <a:latin typeface="Times New Roman" panose="02020603050405020304" pitchFamily="18" charset="0"/>
                <a:cs typeface="Times New Roman" panose="02020603050405020304" pitchFamily="18" charset="0"/>
              </a:rPr>
              <a:t> (2025).</a:t>
            </a:r>
          </a:p>
        </p:txBody>
      </p:sp>
    </p:spTree>
    <p:extLst>
      <p:ext uri="{BB962C8B-B14F-4D97-AF65-F5344CB8AC3E}">
        <p14:creationId xmlns:p14="http://schemas.microsoft.com/office/powerpoint/2010/main" val="20876044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BD0FC-6B46-23D1-7796-5F2C4025231B}"/>
              </a:ext>
            </a:extLst>
          </p:cNvPr>
          <p:cNvSpPr>
            <a:spLocks noGrp="1"/>
          </p:cNvSpPr>
          <p:nvPr>
            <p:ph type="title"/>
          </p:nvPr>
        </p:nvSpPr>
        <p:spPr/>
        <p:txBody>
          <a:bodyPr/>
          <a:lstStyle/>
          <a:p>
            <a:r>
              <a:rPr lang="en-US" dirty="0"/>
              <a:t>Simulated Hardware and Software for Gene Perturbation Analysis</a:t>
            </a:r>
            <a:endParaRPr lang="en-CA" dirty="0"/>
          </a:p>
        </p:txBody>
      </p:sp>
      <p:sp>
        <p:nvSpPr>
          <p:cNvPr id="4" name="Rectangle 3">
            <a:extLst>
              <a:ext uri="{FF2B5EF4-FFF2-40B4-BE49-F238E27FC236}">
                <a16:creationId xmlns:a16="http://schemas.microsoft.com/office/drawing/2014/main" id="{C82D2189-7EA5-7C37-6E9C-7BC930AAE325}"/>
              </a:ext>
            </a:extLst>
          </p:cNvPr>
          <p:cNvSpPr/>
          <p:nvPr/>
        </p:nvSpPr>
        <p:spPr>
          <a:xfrm>
            <a:off x="3392016" y="2454218"/>
            <a:ext cx="3971925" cy="747862"/>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DBF1004-C1A6-5974-38B0-CF32ACCF9402}"/>
              </a:ext>
            </a:extLst>
          </p:cNvPr>
          <p:cNvSpPr/>
          <p:nvPr/>
        </p:nvSpPr>
        <p:spPr>
          <a:xfrm>
            <a:off x="3357695" y="4864386"/>
            <a:ext cx="3971925" cy="936885"/>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6" name="TextBox 5">
            <a:extLst>
              <a:ext uri="{FF2B5EF4-FFF2-40B4-BE49-F238E27FC236}">
                <a16:creationId xmlns:a16="http://schemas.microsoft.com/office/drawing/2014/main" id="{054ACAFB-1941-0BF3-1B5D-40F8F99B4AE0}"/>
              </a:ext>
            </a:extLst>
          </p:cNvPr>
          <p:cNvSpPr txBox="1"/>
          <p:nvPr/>
        </p:nvSpPr>
        <p:spPr>
          <a:xfrm>
            <a:off x="3523118" y="2418987"/>
            <a:ext cx="3393621" cy="646331"/>
          </a:xfrm>
          <a:prstGeom prst="rect">
            <a:avLst/>
          </a:prstGeom>
          <a:noFill/>
        </p:spPr>
        <p:txBody>
          <a:bodyPr wrap="none" rtlCol="0">
            <a:spAutoFit/>
          </a:bodyPr>
          <a:lstStyle/>
          <a:p>
            <a:r>
              <a:rPr lang="en-US" dirty="0"/>
              <a:t>Simulated Trajectories with Model</a:t>
            </a:r>
          </a:p>
          <a:p>
            <a:r>
              <a:rPr lang="en-US" dirty="0"/>
              <a:t>Free Reinforcement Learning</a:t>
            </a:r>
            <a:endParaRPr lang="en-CA" dirty="0"/>
          </a:p>
        </p:txBody>
      </p:sp>
      <p:sp>
        <p:nvSpPr>
          <p:cNvPr id="7" name="TextBox 6">
            <a:extLst>
              <a:ext uri="{FF2B5EF4-FFF2-40B4-BE49-F238E27FC236}">
                <a16:creationId xmlns:a16="http://schemas.microsoft.com/office/drawing/2014/main" id="{0457194C-FB31-1E1C-BAAC-B2F96D3BCF5D}"/>
              </a:ext>
            </a:extLst>
          </p:cNvPr>
          <p:cNvSpPr txBox="1"/>
          <p:nvPr/>
        </p:nvSpPr>
        <p:spPr>
          <a:xfrm>
            <a:off x="3496324" y="4942126"/>
            <a:ext cx="3694666" cy="646331"/>
          </a:xfrm>
          <a:prstGeom prst="rect">
            <a:avLst/>
          </a:prstGeom>
          <a:noFill/>
        </p:spPr>
        <p:txBody>
          <a:bodyPr wrap="none" rtlCol="0">
            <a:spAutoFit/>
          </a:bodyPr>
          <a:lstStyle/>
          <a:p>
            <a:r>
              <a:rPr lang="en-US" dirty="0"/>
              <a:t>Experimental Trajectories with Model</a:t>
            </a:r>
          </a:p>
          <a:p>
            <a:r>
              <a:rPr lang="en-US" dirty="0"/>
              <a:t>Based  Reinforcement Learning</a:t>
            </a:r>
            <a:endParaRPr lang="en-CA" dirty="0"/>
          </a:p>
        </p:txBody>
      </p:sp>
      <p:cxnSp>
        <p:nvCxnSpPr>
          <p:cNvPr id="9" name="Straight Arrow Connector 8">
            <a:extLst>
              <a:ext uri="{FF2B5EF4-FFF2-40B4-BE49-F238E27FC236}">
                <a16:creationId xmlns:a16="http://schemas.microsoft.com/office/drawing/2014/main" id="{19AF38C3-8696-FD31-527E-DC41FD4959B7}"/>
              </a:ext>
            </a:extLst>
          </p:cNvPr>
          <p:cNvCxnSpPr/>
          <p:nvPr/>
        </p:nvCxnSpPr>
        <p:spPr>
          <a:xfrm>
            <a:off x="2141574" y="2852296"/>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0E098B30-E28B-3F9A-C33A-34984234C365}"/>
              </a:ext>
            </a:extLst>
          </p:cNvPr>
          <p:cNvCxnSpPr/>
          <p:nvPr/>
        </p:nvCxnSpPr>
        <p:spPr>
          <a:xfrm>
            <a:off x="2121408"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109A4B3-276A-13F2-C203-25595A5F34FC}"/>
              </a:ext>
            </a:extLst>
          </p:cNvPr>
          <p:cNvCxnSpPr/>
          <p:nvPr/>
        </p:nvCxnSpPr>
        <p:spPr>
          <a:xfrm>
            <a:off x="7343775" y="2832942"/>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7DC80677-9F01-BF36-85CA-C26E5F2695B1}"/>
              </a:ext>
            </a:extLst>
          </p:cNvPr>
          <p:cNvCxnSpPr/>
          <p:nvPr/>
        </p:nvCxnSpPr>
        <p:spPr>
          <a:xfrm>
            <a:off x="7343775" y="5284311"/>
            <a:ext cx="125044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E20E23A8-ED60-4D3F-7C50-B1EEE38D5F4D}"/>
              </a:ext>
            </a:extLst>
          </p:cNvPr>
          <p:cNvSpPr txBox="1"/>
          <p:nvPr/>
        </p:nvSpPr>
        <p:spPr>
          <a:xfrm>
            <a:off x="473537" y="2394528"/>
            <a:ext cx="1762598" cy="923330"/>
          </a:xfrm>
          <a:prstGeom prst="rect">
            <a:avLst/>
          </a:prstGeom>
          <a:noFill/>
        </p:spPr>
        <p:txBody>
          <a:bodyPr wrap="none" rtlCol="0">
            <a:spAutoFit/>
          </a:bodyPr>
          <a:lstStyle/>
          <a:p>
            <a:r>
              <a:rPr lang="en-US" dirty="0" err="1"/>
              <a:t>UnPerturb</a:t>
            </a:r>
            <a:r>
              <a:rPr lang="en-US" dirty="0"/>
              <a:t> RNA</a:t>
            </a:r>
          </a:p>
          <a:p>
            <a:r>
              <a:rPr lang="en-US" dirty="0"/>
              <a:t> Sequence</a:t>
            </a:r>
          </a:p>
          <a:p>
            <a:r>
              <a:rPr lang="en-US" dirty="0"/>
              <a:t>(Control Sample)</a:t>
            </a:r>
            <a:endParaRPr lang="en-CA" dirty="0"/>
          </a:p>
        </p:txBody>
      </p:sp>
      <p:sp>
        <p:nvSpPr>
          <p:cNvPr id="14" name="TextBox 13">
            <a:extLst>
              <a:ext uri="{FF2B5EF4-FFF2-40B4-BE49-F238E27FC236}">
                <a16:creationId xmlns:a16="http://schemas.microsoft.com/office/drawing/2014/main" id="{8E467C4C-5451-56B7-16FA-57D59B3C60B1}"/>
              </a:ext>
            </a:extLst>
          </p:cNvPr>
          <p:cNvSpPr txBox="1"/>
          <p:nvPr/>
        </p:nvSpPr>
        <p:spPr>
          <a:xfrm>
            <a:off x="621780" y="4961145"/>
            <a:ext cx="1355051" cy="646331"/>
          </a:xfrm>
          <a:prstGeom prst="rect">
            <a:avLst/>
          </a:prstGeom>
          <a:noFill/>
        </p:spPr>
        <p:txBody>
          <a:bodyPr wrap="none" rtlCol="0">
            <a:spAutoFit/>
          </a:bodyPr>
          <a:lstStyle/>
          <a:p>
            <a:r>
              <a:rPr lang="en-US" dirty="0"/>
              <a:t>Perturb RNA</a:t>
            </a:r>
          </a:p>
          <a:p>
            <a:r>
              <a:rPr lang="en-US" dirty="0"/>
              <a:t> Sequence</a:t>
            </a:r>
            <a:endParaRPr lang="en-CA" dirty="0"/>
          </a:p>
        </p:txBody>
      </p:sp>
      <p:sp>
        <p:nvSpPr>
          <p:cNvPr id="15" name="TextBox 14">
            <a:extLst>
              <a:ext uri="{FF2B5EF4-FFF2-40B4-BE49-F238E27FC236}">
                <a16:creationId xmlns:a16="http://schemas.microsoft.com/office/drawing/2014/main" id="{EA97A9C0-79C3-58D6-8659-1651C70C1B2C}"/>
              </a:ext>
            </a:extLst>
          </p:cNvPr>
          <p:cNvSpPr txBox="1"/>
          <p:nvPr/>
        </p:nvSpPr>
        <p:spPr>
          <a:xfrm>
            <a:off x="8594217" y="2591074"/>
            <a:ext cx="1917384" cy="646331"/>
          </a:xfrm>
          <a:prstGeom prst="rect">
            <a:avLst/>
          </a:prstGeom>
          <a:noFill/>
        </p:spPr>
        <p:txBody>
          <a:bodyPr wrap="none" rtlCol="0">
            <a:spAutoFit/>
          </a:bodyPr>
          <a:lstStyle/>
          <a:p>
            <a:r>
              <a:rPr lang="en-US" dirty="0"/>
              <a:t>Saved Simulated</a:t>
            </a:r>
          </a:p>
          <a:p>
            <a:r>
              <a:rPr lang="en-US" dirty="0"/>
              <a:t> Evolved Dynamics</a:t>
            </a:r>
            <a:endParaRPr lang="en-CA" dirty="0"/>
          </a:p>
        </p:txBody>
      </p:sp>
      <p:sp>
        <p:nvSpPr>
          <p:cNvPr id="16" name="TextBox 15">
            <a:extLst>
              <a:ext uri="{FF2B5EF4-FFF2-40B4-BE49-F238E27FC236}">
                <a16:creationId xmlns:a16="http://schemas.microsoft.com/office/drawing/2014/main" id="{D8334FD4-FC8B-0AA9-F328-D7F47E79203E}"/>
              </a:ext>
            </a:extLst>
          </p:cNvPr>
          <p:cNvSpPr txBox="1"/>
          <p:nvPr/>
        </p:nvSpPr>
        <p:spPr>
          <a:xfrm>
            <a:off x="8738794" y="5021066"/>
            <a:ext cx="2380652" cy="646331"/>
          </a:xfrm>
          <a:prstGeom prst="rect">
            <a:avLst/>
          </a:prstGeom>
          <a:noFill/>
        </p:spPr>
        <p:txBody>
          <a:bodyPr wrap="none" rtlCol="0">
            <a:spAutoFit/>
          </a:bodyPr>
          <a:lstStyle/>
          <a:p>
            <a:r>
              <a:rPr lang="en-US" dirty="0"/>
              <a:t>Saved Evolved </a:t>
            </a:r>
          </a:p>
          <a:p>
            <a:r>
              <a:rPr lang="en-US" dirty="0"/>
              <a:t>Experimental Dynamics</a:t>
            </a:r>
            <a:endParaRPr lang="en-CA" dirty="0"/>
          </a:p>
        </p:txBody>
      </p:sp>
      <p:sp>
        <p:nvSpPr>
          <p:cNvPr id="17" name="Rectangle: Rounded Corners 16">
            <a:extLst>
              <a:ext uri="{FF2B5EF4-FFF2-40B4-BE49-F238E27FC236}">
                <a16:creationId xmlns:a16="http://schemas.microsoft.com/office/drawing/2014/main" id="{60A491DA-B0A6-9C58-6C85-F531945E7899}"/>
              </a:ext>
            </a:extLst>
          </p:cNvPr>
          <p:cNvSpPr/>
          <p:nvPr/>
        </p:nvSpPr>
        <p:spPr>
          <a:xfrm>
            <a:off x="8114369" y="3716314"/>
            <a:ext cx="3653959" cy="642314"/>
          </a:xfrm>
          <a:prstGeom prst="roundRect">
            <a:avLst/>
          </a:prstGeom>
          <a:ln/>
        </p:spPr>
        <p:style>
          <a:lnRef idx="3">
            <a:schemeClr val="lt1"/>
          </a:lnRef>
          <a:fillRef idx="1">
            <a:schemeClr val="accent4"/>
          </a:fillRef>
          <a:effectRef idx="1">
            <a:schemeClr val="accent4"/>
          </a:effectRef>
          <a:fontRef idx="minor">
            <a:schemeClr val="lt1"/>
          </a:fontRef>
        </p:style>
        <p:txBody>
          <a:bodyPr rtlCol="0" anchor="ctr"/>
          <a:lstStyle/>
          <a:p>
            <a:pPr algn="ctr"/>
            <a:endParaRPr lang="en-CA"/>
          </a:p>
        </p:txBody>
      </p:sp>
      <p:sp>
        <p:nvSpPr>
          <p:cNvPr id="18" name="Rectangle 17">
            <a:extLst>
              <a:ext uri="{FF2B5EF4-FFF2-40B4-BE49-F238E27FC236}">
                <a16:creationId xmlns:a16="http://schemas.microsoft.com/office/drawing/2014/main" id="{8E94E4B7-A2C8-5DB9-7ADB-19939E86217D}"/>
              </a:ext>
            </a:extLst>
          </p:cNvPr>
          <p:cNvSpPr/>
          <p:nvPr/>
        </p:nvSpPr>
        <p:spPr>
          <a:xfrm>
            <a:off x="8594217" y="2460818"/>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sp>
        <p:nvSpPr>
          <p:cNvPr id="19" name="Rectangle 18">
            <a:extLst>
              <a:ext uri="{FF2B5EF4-FFF2-40B4-BE49-F238E27FC236}">
                <a16:creationId xmlns:a16="http://schemas.microsoft.com/office/drawing/2014/main" id="{05E3E047-D111-3323-629F-64D072F3CA4A}"/>
              </a:ext>
            </a:extLst>
          </p:cNvPr>
          <p:cNvSpPr/>
          <p:nvPr/>
        </p:nvSpPr>
        <p:spPr>
          <a:xfrm>
            <a:off x="8594217" y="4858061"/>
            <a:ext cx="2525229" cy="852497"/>
          </a:xfrm>
          <a:prstGeom prst="rect">
            <a:avLst/>
          </a:prstGeom>
          <a:solidFill>
            <a:schemeClr val="accent5">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CA"/>
          </a:p>
        </p:txBody>
      </p:sp>
      <p:cxnSp>
        <p:nvCxnSpPr>
          <p:cNvPr id="20" name="Straight Arrow Connector 19">
            <a:extLst>
              <a:ext uri="{FF2B5EF4-FFF2-40B4-BE49-F238E27FC236}">
                <a16:creationId xmlns:a16="http://schemas.microsoft.com/office/drawing/2014/main" id="{DF2E8F25-CE5B-9D90-3A74-4B5CFB29BEF1}"/>
              </a:ext>
            </a:extLst>
          </p:cNvPr>
          <p:cNvCxnSpPr>
            <a:cxnSpLocks/>
          </p:cNvCxnSpPr>
          <p:nvPr/>
        </p:nvCxnSpPr>
        <p:spPr>
          <a:xfrm>
            <a:off x="9747104" y="3313315"/>
            <a:ext cx="0" cy="41097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8F22ED7-CA66-60D1-B560-17F696237F94}"/>
              </a:ext>
            </a:extLst>
          </p:cNvPr>
          <p:cNvCxnSpPr>
            <a:cxnSpLocks/>
          </p:cNvCxnSpPr>
          <p:nvPr/>
        </p:nvCxnSpPr>
        <p:spPr>
          <a:xfrm flipV="1">
            <a:off x="9747104" y="4358628"/>
            <a:ext cx="0" cy="49146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54D8AF69-61AA-094B-D867-B54B822402F5}"/>
              </a:ext>
            </a:extLst>
          </p:cNvPr>
          <p:cNvSpPr txBox="1"/>
          <p:nvPr/>
        </p:nvSpPr>
        <p:spPr>
          <a:xfrm>
            <a:off x="8198610" y="3739565"/>
            <a:ext cx="3919134" cy="1200329"/>
          </a:xfrm>
          <a:prstGeom prst="rect">
            <a:avLst/>
          </a:prstGeom>
          <a:noFill/>
        </p:spPr>
        <p:txBody>
          <a:bodyPr wrap="square" rtlCol="0">
            <a:spAutoFit/>
          </a:bodyPr>
          <a:lstStyle/>
          <a:p>
            <a:r>
              <a:rPr lang="en-US" dirty="0"/>
              <a:t>Align the Trajectories and Compare </a:t>
            </a:r>
            <a:r>
              <a:rPr lang="en-CA" dirty="0"/>
              <a:t>Similarity </a:t>
            </a:r>
            <a:r>
              <a:rPr lang="en-US" dirty="0"/>
              <a:t>via DTW and </a:t>
            </a:r>
            <a:r>
              <a:rPr lang="en-CA" dirty="0"/>
              <a:t>Wasserstein Distance</a:t>
            </a:r>
          </a:p>
          <a:p>
            <a:endParaRPr lang="en-CA" dirty="0"/>
          </a:p>
        </p:txBody>
      </p:sp>
      <p:sp>
        <p:nvSpPr>
          <p:cNvPr id="32" name="Rectangle 31">
            <a:extLst>
              <a:ext uri="{FF2B5EF4-FFF2-40B4-BE49-F238E27FC236}">
                <a16:creationId xmlns:a16="http://schemas.microsoft.com/office/drawing/2014/main" id="{D345548A-CF2B-6E4B-9029-7C1F0E7FDCC7}"/>
              </a:ext>
            </a:extLst>
          </p:cNvPr>
          <p:cNvSpPr/>
          <p:nvPr/>
        </p:nvSpPr>
        <p:spPr>
          <a:xfrm>
            <a:off x="517219" y="2451391"/>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Rectangle 32">
            <a:extLst>
              <a:ext uri="{FF2B5EF4-FFF2-40B4-BE49-F238E27FC236}">
                <a16:creationId xmlns:a16="http://schemas.microsoft.com/office/drawing/2014/main" id="{C6DD0DCA-2D7B-270A-BB92-EDA2766A32EB}"/>
              </a:ext>
            </a:extLst>
          </p:cNvPr>
          <p:cNvSpPr/>
          <p:nvPr/>
        </p:nvSpPr>
        <p:spPr>
          <a:xfrm>
            <a:off x="473537" y="4864387"/>
            <a:ext cx="1624355" cy="80181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TextBox 33">
            <a:extLst>
              <a:ext uri="{FF2B5EF4-FFF2-40B4-BE49-F238E27FC236}">
                <a16:creationId xmlns:a16="http://schemas.microsoft.com/office/drawing/2014/main" id="{FABA5E9A-B6F0-4631-5303-F6C95FE8DF5B}"/>
              </a:ext>
            </a:extLst>
          </p:cNvPr>
          <p:cNvSpPr txBox="1"/>
          <p:nvPr/>
        </p:nvSpPr>
        <p:spPr>
          <a:xfrm>
            <a:off x="4016842" y="4591813"/>
            <a:ext cx="2137124" cy="369332"/>
          </a:xfrm>
          <a:prstGeom prst="rect">
            <a:avLst/>
          </a:prstGeom>
          <a:noFill/>
        </p:spPr>
        <p:txBody>
          <a:bodyPr wrap="none" rtlCol="0">
            <a:spAutoFit/>
          </a:bodyPr>
          <a:lstStyle/>
          <a:p>
            <a:r>
              <a:rPr lang="en-US" b="1" dirty="0"/>
              <a:t>Simulated Hardware</a:t>
            </a:r>
            <a:endParaRPr lang="en-CA" b="1" dirty="0"/>
          </a:p>
        </p:txBody>
      </p:sp>
      <p:sp>
        <p:nvSpPr>
          <p:cNvPr id="35" name="TextBox 34">
            <a:extLst>
              <a:ext uri="{FF2B5EF4-FFF2-40B4-BE49-F238E27FC236}">
                <a16:creationId xmlns:a16="http://schemas.microsoft.com/office/drawing/2014/main" id="{FE18A0EC-8E9F-3EAF-B9B4-4D979E625C51}"/>
              </a:ext>
            </a:extLst>
          </p:cNvPr>
          <p:cNvSpPr txBox="1"/>
          <p:nvPr/>
        </p:nvSpPr>
        <p:spPr>
          <a:xfrm>
            <a:off x="4054705" y="2109727"/>
            <a:ext cx="2061398" cy="369332"/>
          </a:xfrm>
          <a:prstGeom prst="rect">
            <a:avLst/>
          </a:prstGeom>
          <a:noFill/>
        </p:spPr>
        <p:txBody>
          <a:bodyPr wrap="none" rtlCol="0">
            <a:spAutoFit/>
          </a:bodyPr>
          <a:lstStyle/>
          <a:p>
            <a:r>
              <a:rPr lang="en-US" b="1" dirty="0"/>
              <a:t>Simulated Software</a:t>
            </a:r>
            <a:endParaRPr lang="en-CA" b="1" dirty="0"/>
          </a:p>
        </p:txBody>
      </p:sp>
      <p:sp>
        <p:nvSpPr>
          <p:cNvPr id="38" name="Rectangle: Rounded Corners 37">
            <a:extLst>
              <a:ext uri="{FF2B5EF4-FFF2-40B4-BE49-F238E27FC236}">
                <a16:creationId xmlns:a16="http://schemas.microsoft.com/office/drawing/2014/main" id="{6B042967-54A7-99A8-DF6F-9ACE852C6A80}"/>
              </a:ext>
            </a:extLst>
          </p:cNvPr>
          <p:cNvSpPr/>
          <p:nvPr/>
        </p:nvSpPr>
        <p:spPr>
          <a:xfrm>
            <a:off x="265176" y="2109727"/>
            <a:ext cx="11088620" cy="1433909"/>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9" name="Rectangle: Rounded Corners 38">
            <a:extLst>
              <a:ext uri="{FF2B5EF4-FFF2-40B4-BE49-F238E27FC236}">
                <a16:creationId xmlns:a16="http://schemas.microsoft.com/office/drawing/2014/main" id="{98D2F60B-3919-F5B0-48DC-7ED88BB20676}"/>
              </a:ext>
            </a:extLst>
          </p:cNvPr>
          <p:cNvSpPr/>
          <p:nvPr/>
        </p:nvSpPr>
        <p:spPr>
          <a:xfrm>
            <a:off x="265176" y="4517456"/>
            <a:ext cx="11087930" cy="1523004"/>
          </a:xfrm>
          <a:prstGeom prst="round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854652FB-106A-7A6C-3AE1-2C55FC9AE507}"/>
              </a:ext>
            </a:extLst>
          </p:cNvPr>
          <p:cNvSpPr txBox="1"/>
          <p:nvPr/>
        </p:nvSpPr>
        <p:spPr>
          <a:xfrm>
            <a:off x="384752" y="4520519"/>
            <a:ext cx="2676695" cy="369332"/>
          </a:xfrm>
          <a:prstGeom prst="rect">
            <a:avLst/>
          </a:prstGeom>
          <a:noFill/>
        </p:spPr>
        <p:txBody>
          <a:bodyPr wrap="none" rtlCol="0">
            <a:spAutoFit/>
          </a:bodyPr>
          <a:lstStyle/>
          <a:p>
            <a:r>
              <a:rPr lang="en-US" dirty="0"/>
              <a:t>Experimental perturbation</a:t>
            </a:r>
            <a:endParaRPr lang="en-CA" dirty="0"/>
          </a:p>
        </p:txBody>
      </p:sp>
      <p:sp>
        <p:nvSpPr>
          <p:cNvPr id="22" name="TextBox 21">
            <a:extLst>
              <a:ext uri="{FF2B5EF4-FFF2-40B4-BE49-F238E27FC236}">
                <a16:creationId xmlns:a16="http://schemas.microsoft.com/office/drawing/2014/main" id="{2C40566B-3098-01FB-BF83-FD44658FD47F}"/>
              </a:ext>
            </a:extLst>
          </p:cNvPr>
          <p:cNvSpPr txBox="1"/>
          <p:nvPr/>
        </p:nvSpPr>
        <p:spPr>
          <a:xfrm>
            <a:off x="3963092" y="3171240"/>
            <a:ext cx="2083391" cy="369332"/>
          </a:xfrm>
          <a:prstGeom prst="rect">
            <a:avLst/>
          </a:prstGeom>
          <a:noFill/>
        </p:spPr>
        <p:txBody>
          <a:bodyPr wrap="none" rtlCol="0">
            <a:spAutoFit/>
          </a:bodyPr>
          <a:lstStyle/>
          <a:p>
            <a:r>
              <a:rPr lang="en-US" dirty="0" err="1"/>
              <a:t>Insilico</a:t>
            </a:r>
            <a:r>
              <a:rPr lang="en-US" dirty="0"/>
              <a:t> perturbation</a:t>
            </a:r>
            <a:endParaRPr lang="en-CA" dirty="0"/>
          </a:p>
        </p:txBody>
      </p:sp>
    </p:spTree>
    <p:extLst>
      <p:ext uri="{BB962C8B-B14F-4D97-AF65-F5344CB8AC3E}">
        <p14:creationId xmlns:p14="http://schemas.microsoft.com/office/powerpoint/2010/main" val="11590572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4CB6EF-D17E-D3AB-1F70-4A6C250E10A4}"/>
              </a:ext>
            </a:extLst>
          </p:cNvPr>
          <p:cNvSpPr>
            <a:spLocks noGrp="1"/>
          </p:cNvSpPr>
          <p:nvPr>
            <p:ph type="title"/>
          </p:nvPr>
        </p:nvSpPr>
        <p:spPr>
          <a:xfrm>
            <a:off x="719328" y="127381"/>
            <a:ext cx="10515600" cy="1325563"/>
          </a:xfrm>
        </p:spPr>
        <p:txBody>
          <a:bodyPr>
            <a:normAutofit/>
          </a:bodyPr>
          <a:lstStyle/>
          <a:p>
            <a:r>
              <a:rPr lang="en-US" sz="3200" dirty="0"/>
              <a:t>RNA dataset Description</a:t>
            </a:r>
            <a:endParaRPr lang="en-CA" sz="3200" dirty="0"/>
          </a:p>
        </p:txBody>
      </p:sp>
      <p:sp>
        <p:nvSpPr>
          <p:cNvPr id="3" name="Content Placeholder 2">
            <a:extLst>
              <a:ext uri="{FF2B5EF4-FFF2-40B4-BE49-F238E27FC236}">
                <a16:creationId xmlns:a16="http://schemas.microsoft.com/office/drawing/2014/main" id="{07A2110F-0A5E-FFE7-6B44-F77B743F1AEF}"/>
              </a:ext>
            </a:extLst>
          </p:cNvPr>
          <p:cNvSpPr>
            <a:spLocks noGrp="1"/>
          </p:cNvSpPr>
          <p:nvPr>
            <p:ph idx="1"/>
          </p:nvPr>
        </p:nvSpPr>
        <p:spPr>
          <a:xfrm>
            <a:off x="719328" y="1350137"/>
            <a:ext cx="10515600" cy="4351338"/>
          </a:xfrm>
        </p:spPr>
        <p:txBody>
          <a:bodyPr>
            <a:normAutofit fontScale="92500" lnSpcReduction="10000"/>
          </a:bodyPr>
          <a:lstStyle/>
          <a:p>
            <a:pPr marL="0" indent="0">
              <a:buNone/>
            </a:pPr>
            <a:r>
              <a:rPr lang="en-US" sz="1600" dirty="0">
                <a:latin typeface="Times New Roman" panose="02020603050405020304" pitchFamily="18" charset="0"/>
                <a:cs typeface="Times New Roman" panose="02020603050405020304" pitchFamily="18" charset="0"/>
              </a:rPr>
              <a:t>Organism: Mus musculus</a:t>
            </a:r>
          </a:p>
          <a:p>
            <a:pPr marL="0" indent="0">
              <a:buNone/>
            </a:pPr>
            <a:r>
              <a:rPr lang="en-US" sz="1600" dirty="0">
                <a:latin typeface="Times New Roman" panose="02020603050405020304" pitchFamily="18" charset="0"/>
                <a:cs typeface="Times New Roman" panose="02020603050405020304" pitchFamily="18" charset="0"/>
              </a:rPr>
              <a:t>RNA sequence</a:t>
            </a:r>
          </a:p>
          <a:p>
            <a:pPr marL="0" indent="0">
              <a:buNone/>
            </a:pPr>
            <a:r>
              <a:rPr lang="en-US" sz="1600" dirty="0">
                <a:latin typeface="Times New Roman" panose="02020603050405020304" pitchFamily="18" charset="0"/>
                <a:cs typeface="Times New Roman" panose="02020603050405020304" pitchFamily="18" charset="0"/>
              </a:rPr>
              <a:t>Perturbation: Crisper Knockout: </a:t>
            </a:r>
            <a:r>
              <a:rPr lang="en-US" sz="1600" dirty="0" err="1">
                <a:latin typeface="Times New Roman" panose="02020603050405020304" pitchFamily="18" charset="0"/>
                <a:cs typeface="Times New Roman" panose="02020603050405020304" pitchFamily="18" charset="0"/>
              </a:rPr>
              <a:t>Crisprko</a:t>
            </a:r>
            <a:endParaRPr lang="en-US" sz="1600" dirty="0">
              <a:latin typeface="Times New Roman" panose="02020603050405020304" pitchFamily="18" charset="0"/>
              <a:cs typeface="Times New Roman" panose="02020603050405020304" pitchFamily="18" charset="0"/>
            </a:endParaRPr>
          </a:p>
          <a:p>
            <a:pPr marL="0" indent="0">
              <a:buNone/>
            </a:pPr>
            <a:endParaRPr lang="en-US" sz="1600" dirty="0">
              <a:latin typeface="Times New Roman" panose="02020603050405020304" pitchFamily="18" charset="0"/>
              <a:cs typeface="Times New Roman" panose="02020603050405020304" pitchFamily="18" charset="0"/>
            </a:endParaRPr>
          </a:p>
          <a:p>
            <a:pPr marL="0" indent="0">
              <a:buNone/>
            </a:pPr>
            <a:r>
              <a:rPr lang="en-CA" sz="1600" dirty="0" err="1">
                <a:latin typeface="Times New Roman" panose="02020603050405020304" pitchFamily="18" charset="0"/>
                <a:cs typeface="Times New Roman" panose="02020603050405020304" pitchFamily="18" charset="0"/>
              </a:rPr>
              <a:t>Unperturb</a:t>
            </a:r>
            <a:r>
              <a:rPr lang="en-CA" sz="1600" dirty="0">
                <a:latin typeface="Times New Roman" panose="02020603050405020304" pitchFamily="18" charset="0"/>
                <a:cs typeface="Times New Roman" panose="02020603050405020304" pitchFamily="18" charset="0"/>
              </a:rPr>
              <a:t> data (Control Sample) –</a:t>
            </a:r>
            <a:r>
              <a:rPr lang="en-CA" sz="1600" dirty="0" err="1">
                <a:latin typeface="Times New Roman" panose="02020603050405020304" pitchFamily="18" charset="0"/>
                <a:cs typeface="Times New Roman" panose="02020603050405020304" pitchFamily="18" charset="0"/>
              </a:rPr>
              <a:t>CTRL_data</a:t>
            </a:r>
            <a:endParaRPr lang="en-CA" sz="1600" dirty="0">
              <a:latin typeface="Times New Roman" panose="02020603050405020304" pitchFamily="18" charset="0"/>
              <a:cs typeface="Times New Roman" panose="02020603050405020304" pitchFamily="18" charset="0"/>
            </a:endParaRPr>
          </a:p>
          <a:p>
            <a:pPr marL="0" indent="0">
              <a:buNone/>
            </a:pPr>
            <a:endParaRPr lang="en-CA" sz="1600" dirty="0">
              <a:latin typeface="Times New Roman" panose="02020603050405020304" pitchFamily="18" charset="0"/>
              <a:cs typeface="Times New Roman" panose="02020603050405020304" pitchFamily="18" charset="0"/>
            </a:endParaRPr>
          </a:p>
          <a:p>
            <a:pPr marL="0" indent="0">
              <a:buNone/>
            </a:pPr>
            <a:r>
              <a:rPr lang="en-CA" sz="1600" dirty="0">
                <a:latin typeface="Times New Roman" panose="02020603050405020304" pitchFamily="18" charset="0"/>
                <a:cs typeface="Times New Roman" panose="02020603050405020304" pitchFamily="18" charset="0"/>
              </a:rPr>
              <a:t>Perturb data with CRISPRKO-PTPN2 data</a:t>
            </a:r>
            <a:endParaRPr lang="en-US" sz="1600" dirty="0">
              <a:latin typeface="Times New Roman" panose="02020603050405020304" pitchFamily="18" charset="0"/>
              <a:cs typeface="Times New Roman" panose="02020603050405020304" pitchFamily="18" charset="0"/>
            </a:endParaRPr>
          </a:p>
          <a:p>
            <a:pPr marL="0" indent="0">
              <a:buNone/>
            </a:pPr>
            <a:endParaRPr lang="en-US" dirty="0"/>
          </a:p>
          <a:p>
            <a:pPr marL="0" indent="0">
              <a:buNone/>
            </a:pPr>
            <a:r>
              <a:rPr lang="en-US" sz="1400" dirty="0">
                <a:hlinkClick r:id="rId2"/>
              </a:rPr>
              <a:t>https://www.ncbi.nlm.nih.gov/geo/query/acc.cgi?acc=GSE134139</a:t>
            </a:r>
            <a:endParaRPr lang="en-US" sz="1400" dirty="0"/>
          </a:p>
          <a:p>
            <a:pPr marL="0" indent="0">
              <a:buNone/>
            </a:pPr>
            <a:endParaRPr lang="en-US" sz="1400" dirty="0"/>
          </a:p>
          <a:p>
            <a:pPr marL="0" indent="0">
              <a:buNone/>
            </a:pPr>
            <a:r>
              <a:rPr lang="en-CA" sz="1500" u="sng" dirty="0">
                <a:hlinkClick r:id="rId3"/>
              </a:rPr>
              <a:t>https://drive.google.com/drive/folders/1AAI4KU9G-UHoKo72Ne6iGAaCgFPADIW3?usp=drive_link</a:t>
            </a:r>
            <a:endParaRPr lang="en-US" sz="1500" dirty="0"/>
          </a:p>
          <a:p>
            <a:pPr marL="0" indent="0">
              <a:buNone/>
            </a:pPr>
            <a:endParaRPr lang="en-CA" sz="1500" dirty="0">
              <a:latin typeface="Times New Roman" panose="02020603050405020304" pitchFamily="18" charset="0"/>
              <a:cs typeface="Times New Roman" panose="02020603050405020304" pitchFamily="18" charset="0"/>
            </a:endParaRPr>
          </a:p>
          <a:p>
            <a:pPr marL="0" indent="0">
              <a:buNone/>
            </a:pPr>
            <a:r>
              <a:rPr lang="en-CA" sz="1500" dirty="0">
                <a:latin typeface="Times New Roman" panose="02020603050405020304" pitchFamily="18" charset="0"/>
                <a:cs typeface="Times New Roman" panose="02020603050405020304" pitchFamily="18" charset="0"/>
              </a:rPr>
              <a:t>LaFleur MW, Nguyen TH, Coxe MA, Miller BC et al. PTPN2 regulates the generation of exhausted CD8(+) T cell subpopulations and restrains tumor immunity. </a:t>
            </a:r>
            <a:r>
              <a:rPr lang="en-CA" sz="1500" i="1" dirty="0">
                <a:latin typeface="Times New Roman" panose="02020603050405020304" pitchFamily="18" charset="0"/>
                <a:cs typeface="Times New Roman" panose="02020603050405020304" pitchFamily="18" charset="0"/>
              </a:rPr>
              <a:t>Nat Immunol</a:t>
            </a:r>
            <a:r>
              <a:rPr lang="en-CA" sz="1500" dirty="0">
                <a:latin typeface="Times New Roman" panose="02020603050405020304" pitchFamily="18" charset="0"/>
                <a:cs typeface="Times New Roman" panose="02020603050405020304" pitchFamily="18" charset="0"/>
              </a:rPr>
              <a:t> 2019 Oct;20(10):1335-1347.</a:t>
            </a:r>
          </a:p>
        </p:txBody>
      </p:sp>
    </p:spTree>
    <p:extLst>
      <p:ext uri="{BB962C8B-B14F-4D97-AF65-F5344CB8AC3E}">
        <p14:creationId xmlns:p14="http://schemas.microsoft.com/office/powerpoint/2010/main" val="308098267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B22321-2A5B-B755-0C3A-78C2C1EC7A2A}"/>
              </a:ext>
            </a:extLst>
          </p:cNvPr>
          <p:cNvSpPr>
            <a:spLocks noGrp="1"/>
          </p:cNvSpPr>
          <p:nvPr>
            <p:ph type="title"/>
          </p:nvPr>
        </p:nvSpPr>
        <p:spPr/>
        <p:txBody>
          <a:bodyPr/>
          <a:lstStyle/>
          <a:p>
            <a:r>
              <a:rPr lang="en-US" dirty="0"/>
              <a:t>Code link</a:t>
            </a:r>
            <a:endParaRPr lang="en-CA" dirty="0"/>
          </a:p>
        </p:txBody>
      </p:sp>
      <p:sp>
        <p:nvSpPr>
          <p:cNvPr id="5" name="Content Placeholder 4">
            <a:extLst>
              <a:ext uri="{FF2B5EF4-FFF2-40B4-BE49-F238E27FC236}">
                <a16:creationId xmlns:a16="http://schemas.microsoft.com/office/drawing/2014/main" id="{CFB92AA3-E3F6-A422-2035-B116844849DF}"/>
              </a:ext>
            </a:extLst>
          </p:cNvPr>
          <p:cNvSpPr>
            <a:spLocks noGrp="1"/>
          </p:cNvSpPr>
          <p:nvPr>
            <p:ph idx="1"/>
          </p:nvPr>
        </p:nvSpPr>
        <p:spPr/>
        <p:txBody>
          <a:bodyPr/>
          <a:lstStyle/>
          <a:p>
            <a:r>
              <a:rPr lang="en-US" dirty="0"/>
              <a:t>Colab:</a:t>
            </a:r>
          </a:p>
          <a:p>
            <a:pPr marL="0" indent="0">
              <a:buNone/>
            </a:pPr>
            <a:r>
              <a:rPr lang="en-CA" dirty="0">
                <a:hlinkClick r:id="rId2"/>
              </a:rPr>
              <a:t>https://colab.research.google.com/drive/1pJJpmq2cz5iY0ctqEYmCx7U8p4kUNRa-?usp=sharing</a:t>
            </a:r>
            <a:endParaRPr lang="en-CA" dirty="0"/>
          </a:p>
          <a:p>
            <a:pPr marL="0" indent="0">
              <a:buNone/>
            </a:pPr>
            <a:endParaRPr lang="en-CA" dirty="0"/>
          </a:p>
          <a:p>
            <a:pPr marL="0" indent="0">
              <a:buNone/>
            </a:pPr>
            <a:r>
              <a:rPr lang="en-CA" dirty="0" err="1"/>
              <a:t>Github</a:t>
            </a:r>
            <a:r>
              <a:rPr lang="en-CA" dirty="0"/>
              <a:t>: https://github.com/boabangf/GNN_RL_gene_trajectory_perturbation/tree/main/RNA_seq_CTRL_Perturb</a:t>
            </a:r>
          </a:p>
        </p:txBody>
      </p:sp>
    </p:spTree>
    <p:extLst>
      <p:ext uri="{BB962C8B-B14F-4D97-AF65-F5344CB8AC3E}">
        <p14:creationId xmlns:p14="http://schemas.microsoft.com/office/powerpoint/2010/main" val="1697290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E4654A-7F08-4922-BD32-84DE8A0467DB}"/>
              </a:ext>
            </a:extLst>
          </p:cNvPr>
          <p:cNvSpPr>
            <a:spLocks noGrp="1"/>
          </p:cNvSpPr>
          <p:nvPr>
            <p:ph type="title"/>
          </p:nvPr>
        </p:nvSpPr>
        <p:spPr/>
        <p:txBody>
          <a:bodyPr/>
          <a:lstStyle/>
          <a:p>
            <a:r>
              <a:rPr lang="en-US" dirty="0"/>
              <a:t>Results(Control sample with in-silico </a:t>
            </a:r>
            <a:r>
              <a:rPr lang="en-US" dirty="0" err="1"/>
              <a:t>crispr</a:t>
            </a:r>
            <a:r>
              <a:rPr lang="en-US" dirty="0"/>
              <a:t> knockout perturbation)</a:t>
            </a:r>
            <a:endParaRPr lang="en-CA" dirty="0"/>
          </a:p>
        </p:txBody>
      </p:sp>
      <p:graphicFrame>
        <p:nvGraphicFramePr>
          <p:cNvPr id="4" name="Table 3">
            <a:extLst>
              <a:ext uri="{FF2B5EF4-FFF2-40B4-BE49-F238E27FC236}">
                <a16:creationId xmlns:a16="http://schemas.microsoft.com/office/drawing/2014/main" id="{295E513B-23F0-A50A-80EE-02EF59465F02}"/>
              </a:ext>
            </a:extLst>
          </p:cNvPr>
          <p:cNvGraphicFramePr>
            <a:graphicFrameLocks noGrp="1"/>
          </p:cNvGraphicFramePr>
          <p:nvPr>
            <p:extLst>
              <p:ext uri="{D42A27DB-BD31-4B8C-83A1-F6EECF244321}">
                <p14:modId xmlns:p14="http://schemas.microsoft.com/office/powerpoint/2010/main" val="661366136"/>
              </p:ext>
            </p:extLst>
          </p:nvPr>
        </p:nvGraphicFramePr>
        <p:xfrm>
          <a:off x="285750" y="2103120"/>
          <a:ext cx="11525256" cy="2651760"/>
        </p:xfrm>
        <a:graphic>
          <a:graphicData uri="http://schemas.openxmlformats.org/drawingml/2006/table">
            <a:tbl>
              <a:tblPr/>
              <a:tblGrid>
                <a:gridCol w="960438">
                  <a:extLst>
                    <a:ext uri="{9D8B030D-6E8A-4147-A177-3AD203B41FA5}">
                      <a16:colId xmlns:a16="http://schemas.microsoft.com/office/drawing/2014/main" val="2490607652"/>
                    </a:ext>
                  </a:extLst>
                </a:gridCol>
                <a:gridCol w="960438">
                  <a:extLst>
                    <a:ext uri="{9D8B030D-6E8A-4147-A177-3AD203B41FA5}">
                      <a16:colId xmlns:a16="http://schemas.microsoft.com/office/drawing/2014/main" val="2419872185"/>
                    </a:ext>
                  </a:extLst>
                </a:gridCol>
                <a:gridCol w="960438">
                  <a:extLst>
                    <a:ext uri="{9D8B030D-6E8A-4147-A177-3AD203B41FA5}">
                      <a16:colId xmlns:a16="http://schemas.microsoft.com/office/drawing/2014/main" val="837283258"/>
                    </a:ext>
                  </a:extLst>
                </a:gridCol>
                <a:gridCol w="960438">
                  <a:extLst>
                    <a:ext uri="{9D8B030D-6E8A-4147-A177-3AD203B41FA5}">
                      <a16:colId xmlns:a16="http://schemas.microsoft.com/office/drawing/2014/main" val="2697629436"/>
                    </a:ext>
                  </a:extLst>
                </a:gridCol>
                <a:gridCol w="960438">
                  <a:extLst>
                    <a:ext uri="{9D8B030D-6E8A-4147-A177-3AD203B41FA5}">
                      <a16:colId xmlns:a16="http://schemas.microsoft.com/office/drawing/2014/main" val="1407583428"/>
                    </a:ext>
                  </a:extLst>
                </a:gridCol>
                <a:gridCol w="960438">
                  <a:extLst>
                    <a:ext uri="{9D8B030D-6E8A-4147-A177-3AD203B41FA5}">
                      <a16:colId xmlns:a16="http://schemas.microsoft.com/office/drawing/2014/main" val="479969845"/>
                    </a:ext>
                  </a:extLst>
                </a:gridCol>
                <a:gridCol w="960438">
                  <a:extLst>
                    <a:ext uri="{9D8B030D-6E8A-4147-A177-3AD203B41FA5}">
                      <a16:colId xmlns:a16="http://schemas.microsoft.com/office/drawing/2014/main" val="2514300399"/>
                    </a:ext>
                  </a:extLst>
                </a:gridCol>
                <a:gridCol w="960438">
                  <a:extLst>
                    <a:ext uri="{9D8B030D-6E8A-4147-A177-3AD203B41FA5}">
                      <a16:colId xmlns:a16="http://schemas.microsoft.com/office/drawing/2014/main" val="2442917145"/>
                    </a:ext>
                  </a:extLst>
                </a:gridCol>
                <a:gridCol w="960438">
                  <a:extLst>
                    <a:ext uri="{9D8B030D-6E8A-4147-A177-3AD203B41FA5}">
                      <a16:colId xmlns:a16="http://schemas.microsoft.com/office/drawing/2014/main" val="1777559376"/>
                    </a:ext>
                  </a:extLst>
                </a:gridCol>
                <a:gridCol w="960438">
                  <a:extLst>
                    <a:ext uri="{9D8B030D-6E8A-4147-A177-3AD203B41FA5}">
                      <a16:colId xmlns:a16="http://schemas.microsoft.com/office/drawing/2014/main" val="108483918"/>
                    </a:ext>
                  </a:extLst>
                </a:gridCol>
                <a:gridCol w="960438">
                  <a:extLst>
                    <a:ext uri="{9D8B030D-6E8A-4147-A177-3AD203B41FA5}">
                      <a16:colId xmlns:a16="http://schemas.microsoft.com/office/drawing/2014/main" val="1608584077"/>
                    </a:ext>
                  </a:extLst>
                </a:gridCol>
                <a:gridCol w="960438">
                  <a:extLst>
                    <a:ext uri="{9D8B030D-6E8A-4147-A177-3AD203B41FA5}">
                      <a16:colId xmlns:a16="http://schemas.microsoft.com/office/drawing/2014/main" val="757126877"/>
                    </a:ext>
                  </a:extLst>
                </a:gridCol>
              </a:tblGrid>
              <a:tr h="0">
                <a:tc>
                  <a:txBody>
                    <a:bodyPr/>
                    <a:lstStyle/>
                    <a:p>
                      <a:pPr>
                        <a:buNone/>
                      </a:pPr>
                      <a:r>
                        <a:rPr lang="en-CA"/>
                        <a:t>Algorithm</a:t>
                      </a:r>
                    </a:p>
                  </a:txBody>
                  <a:tcPr anchor="ctr">
                    <a:lnL>
                      <a:noFill/>
                    </a:lnL>
                    <a:lnR>
                      <a:noFill/>
                    </a:lnR>
                    <a:lnT>
                      <a:noFill/>
                    </a:lnT>
                    <a:lnB>
                      <a:noFill/>
                    </a:lnB>
                    <a:noFill/>
                  </a:tcPr>
                </a:tc>
                <a:tc>
                  <a:txBody>
                    <a:bodyPr/>
                    <a:lstStyle/>
                    <a:p>
                      <a:pPr>
                        <a:buNone/>
                      </a:pPr>
                      <a:r>
                        <a:rPr lang="en-CA"/>
                        <a:t>Split</a:t>
                      </a:r>
                    </a:p>
                  </a:txBody>
                  <a:tcPr anchor="ctr">
                    <a:lnL>
                      <a:noFill/>
                    </a:lnL>
                    <a:lnR>
                      <a:noFill/>
                    </a:lnR>
                    <a:lnT>
                      <a:noFill/>
                    </a:lnT>
                    <a:lnB>
                      <a:noFill/>
                    </a:lnB>
                    <a:noFill/>
                  </a:tcPr>
                </a:tc>
                <a:tc>
                  <a:txBody>
                    <a:bodyPr/>
                    <a:lstStyle/>
                    <a:p>
                      <a:pPr>
                        <a:buNone/>
                      </a:pPr>
                      <a:r>
                        <a:rPr lang="en-CA"/>
                        <a:t>Accuracy</a:t>
                      </a:r>
                    </a:p>
                  </a:txBody>
                  <a:tcPr anchor="ctr">
                    <a:lnL>
                      <a:noFill/>
                    </a:lnL>
                    <a:lnR>
                      <a:noFill/>
                    </a:lnR>
                    <a:lnT>
                      <a:noFill/>
                    </a:lnT>
                    <a:lnB>
                      <a:noFill/>
                    </a:lnB>
                    <a:noFill/>
                  </a:tcPr>
                </a:tc>
                <a:tc>
                  <a:txBody>
                    <a:bodyPr/>
                    <a:lstStyle/>
                    <a:p>
                      <a:pPr>
                        <a:buNone/>
                      </a:pPr>
                      <a:r>
                        <a:rPr lang="en-CA"/>
                        <a:t>Precision</a:t>
                      </a:r>
                    </a:p>
                  </a:txBody>
                  <a:tcPr anchor="ctr">
                    <a:lnL>
                      <a:noFill/>
                    </a:lnL>
                    <a:lnR>
                      <a:noFill/>
                    </a:lnR>
                    <a:lnT>
                      <a:noFill/>
                    </a:lnT>
                    <a:lnB>
                      <a:noFill/>
                    </a:lnB>
                    <a:noFill/>
                  </a:tcPr>
                </a:tc>
                <a:tc>
                  <a:txBody>
                    <a:bodyPr/>
                    <a:lstStyle/>
                    <a:p>
                      <a:pPr>
                        <a:buNone/>
                      </a:pPr>
                      <a:r>
                        <a:rPr lang="en-CA"/>
                        <a:t>Recall</a:t>
                      </a:r>
                    </a:p>
                  </a:txBody>
                  <a:tcPr anchor="ctr">
                    <a:lnL>
                      <a:noFill/>
                    </a:lnL>
                    <a:lnR>
                      <a:noFill/>
                    </a:lnR>
                    <a:lnT>
                      <a:noFill/>
                    </a:lnT>
                    <a:lnB>
                      <a:noFill/>
                    </a:lnB>
                    <a:noFill/>
                  </a:tcPr>
                </a:tc>
                <a:tc>
                  <a:txBody>
                    <a:bodyPr/>
                    <a:lstStyle/>
                    <a:p>
                      <a:pPr>
                        <a:buNone/>
                      </a:pPr>
                      <a:r>
                        <a:rPr lang="en-CA"/>
                        <a:t>F1</a:t>
                      </a:r>
                    </a:p>
                  </a:txBody>
                  <a:tcPr anchor="ctr">
                    <a:lnL>
                      <a:noFill/>
                    </a:lnL>
                    <a:lnR>
                      <a:noFill/>
                    </a:lnR>
                    <a:lnT>
                      <a:noFill/>
                    </a:lnT>
                    <a:lnB>
                      <a:noFill/>
                    </a:lnB>
                    <a:noFill/>
                  </a:tcPr>
                </a:tc>
                <a:tc>
                  <a:txBody>
                    <a:bodyPr/>
                    <a:lstStyle/>
                    <a:p>
                      <a:pPr>
                        <a:buNone/>
                      </a:pPr>
                      <a:r>
                        <a:rPr lang="en-CA"/>
                        <a:t>AUPRC</a:t>
                      </a:r>
                    </a:p>
                  </a:txBody>
                  <a:tcPr anchor="ctr">
                    <a:lnL>
                      <a:noFill/>
                    </a:lnL>
                    <a:lnR>
                      <a:noFill/>
                    </a:lnR>
                    <a:lnT>
                      <a:noFill/>
                    </a:lnT>
                    <a:lnB>
                      <a:noFill/>
                    </a:lnB>
                    <a:noFill/>
                  </a:tcPr>
                </a:tc>
                <a:tc>
                  <a:txBody>
                    <a:bodyPr/>
                    <a:lstStyle/>
                    <a:p>
                      <a:pPr>
                        <a:buNone/>
                      </a:pPr>
                      <a:r>
                        <a:rPr lang="en-CA"/>
                        <a:t>MSE</a:t>
                      </a:r>
                    </a:p>
                  </a:txBody>
                  <a:tcPr anchor="ctr">
                    <a:lnL>
                      <a:noFill/>
                    </a:lnL>
                    <a:lnR>
                      <a:noFill/>
                    </a:lnR>
                    <a:lnT>
                      <a:noFill/>
                    </a:lnT>
                    <a:lnB>
                      <a:noFill/>
                    </a:lnB>
                    <a:noFill/>
                  </a:tcPr>
                </a:tc>
                <a:tc>
                  <a:txBody>
                    <a:bodyPr/>
                    <a:lstStyle/>
                    <a:p>
                      <a:pPr>
                        <a:buNone/>
                      </a:pPr>
                      <a:r>
                        <a:rPr lang="en-CA"/>
                        <a:t>RMSE</a:t>
                      </a:r>
                    </a:p>
                  </a:txBody>
                  <a:tcPr anchor="ctr">
                    <a:lnL>
                      <a:noFill/>
                    </a:lnL>
                    <a:lnR>
                      <a:noFill/>
                    </a:lnR>
                    <a:lnT>
                      <a:noFill/>
                    </a:lnT>
                    <a:lnB>
                      <a:noFill/>
                    </a:lnB>
                    <a:noFill/>
                  </a:tcPr>
                </a:tc>
                <a:tc>
                  <a:txBody>
                    <a:bodyPr/>
                    <a:lstStyle/>
                    <a:p>
                      <a:pPr>
                        <a:buNone/>
                      </a:pPr>
                      <a:r>
                        <a:rPr lang="en-CA"/>
                        <a:t>MAE</a:t>
                      </a:r>
                    </a:p>
                  </a:txBody>
                  <a:tcPr anchor="ctr">
                    <a:lnL>
                      <a:noFill/>
                    </a:lnL>
                    <a:lnR>
                      <a:noFill/>
                    </a:lnR>
                    <a:lnT>
                      <a:noFill/>
                    </a:lnT>
                    <a:lnB>
                      <a:noFill/>
                    </a:lnB>
                    <a:noFill/>
                  </a:tcPr>
                </a:tc>
                <a:tc>
                  <a:txBody>
                    <a:bodyPr/>
                    <a:lstStyle/>
                    <a:p>
                      <a:pPr>
                        <a:buNone/>
                      </a:pPr>
                      <a:r>
                        <a:rPr lang="en-CA"/>
                        <a:t>R²</a:t>
                      </a:r>
                    </a:p>
                  </a:txBody>
                  <a:tcPr anchor="ctr">
                    <a:lnL>
                      <a:noFill/>
                    </a:lnL>
                    <a:lnR>
                      <a:noFill/>
                    </a:lnR>
                    <a:lnT>
                      <a:noFill/>
                    </a:lnT>
                    <a:lnB>
                      <a:noFill/>
                    </a:lnB>
                    <a:noFill/>
                  </a:tcPr>
                </a:tc>
                <a:tc>
                  <a:txBody>
                    <a:bodyPr/>
                    <a:lstStyle/>
                    <a:p>
                      <a:pPr>
                        <a:buNone/>
                      </a:pPr>
                      <a:r>
                        <a:rPr lang="en-CA"/>
                        <a:t>Pearson</a:t>
                      </a:r>
                    </a:p>
                  </a:txBody>
                  <a:tcPr anchor="ctr">
                    <a:lnL>
                      <a:noFill/>
                    </a:lnL>
                    <a:lnR>
                      <a:noFill/>
                    </a:lnR>
                    <a:lnT>
                      <a:noFill/>
                    </a:lnT>
                    <a:lnB>
                      <a:noFill/>
                    </a:lnB>
                    <a:noFill/>
                  </a:tcPr>
                </a:tc>
                <a:extLst>
                  <a:ext uri="{0D108BD9-81ED-4DB2-BD59-A6C34878D82A}">
                    <a16:rowId xmlns:a16="http://schemas.microsoft.com/office/drawing/2014/main" val="2393065729"/>
                  </a:ext>
                </a:extLst>
              </a:tr>
              <a:tr h="0">
                <a:tc>
                  <a:txBody>
                    <a:bodyPr/>
                    <a:lstStyle/>
                    <a:p>
                      <a:pPr>
                        <a:buNone/>
                      </a:pPr>
                      <a:r>
                        <a:rPr lang="en-CA"/>
                        <a:t>PPO</a:t>
                      </a:r>
                    </a:p>
                  </a:txBody>
                  <a:tcPr anchor="ctr">
                    <a:lnL>
                      <a:noFill/>
                    </a:lnL>
                    <a:lnR>
                      <a:noFill/>
                    </a:lnR>
                    <a:lnT>
                      <a:noFill/>
                    </a:lnT>
                    <a:lnB>
                      <a:noFill/>
                    </a:lnB>
                    <a:noFill/>
                  </a:tcPr>
                </a:tc>
                <a:tc>
                  <a:txBody>
                    <a:bodyPr/>
                    <a:lstStyle/>
                    <a:p>
                      <a:pPr>
                        <a:buNone/>
                      </a:pPr>
                      <a:r>
                        <a:rPr lang="en-CA"/>
                        <a:t>Test</a:t>
                      </a:r>
                    </a:p>
                  </a:txBody>
                  <a:tcPr anchor="ctr">
                    <a:lnL>
                      <a:noFill/>
                    </a:lnL>
                    <a:lnR>
                      <a:noFill/>
                    </a:lnR>
                    <a:lnT>
                      <a:noFill/>
                    </a:lnT>
                    <a:lnB>
                      <a:noFill/>
                    </a:lnB>
                    <a:noFill/>
                  </a:tcPr>
                </a:tc>
                <a:tc>
                  <a:txBody>
                    <a:bodyPr/>
                    <a:lstStyle/>
                    <a:p>
                      <a:pPr>
                        <a:buNone/>
                      </a:pPr>
                      <a:r>
                        <a:rPr lang="en-CA"/>
                        <a:t>0.6989</a:t>
                      </a:r>
                    </a:p>
                  </a:txBody>
                  <a:tcPr anchor="ctr">
                    <a:lnL>
                      <a:noFill/>
                    </a:lnL>
                    <a:lnR>
                      <a:noFill/>
                    </a:lnR>
                    <a:lnT>
                      <a:noFill/>
                    </a:lnT>
                    <a:lnB>
                      <a:noFill/>
                    </a:lnB>
                    <a:noFill/>
                  </a:tcPr>
                </a:tc>
                <a:tc>
                  <a:txBody>
                    <a:bodyPr/>
                    <a:lstStyle/>
                    <a:p>
                      <a:pPr>
                        <a:buNone/>
                      </a:pPr>
                      <a:r>
                        <a:rPr lang="en-CA"/>
                        <a:t>0.9148</a:t>
                      </a:r>
                    </a:p>
                  </a:txBody>
                  <a:tcPr anchor="ctr">
                    <a:lnL>
                      <a:noFill/>
                    </a:lnL>
                    <a:lnR>
                      <a:noFill/>
                    </a:lnR>
                    <a:lnT>
                      <a:noFill/>
                    </a:lnT>
                    <a:lnB>
                      <a:noFill/>
                    </a:lnB>
                    <a:noFill/>
                  </a:tcPr>
                </a:tc>
                <a:tc>
                  <a:txBody>
                    <a:bodyPr/>
                    <a:lstStyle/>
                    <a:p>
                      <a:pPr>
                        <a:buNone/>
                      </a:pPr>
                      <a:r>
                        <a:rPr lang="en-CA"/>
                        <a:t>0.4228</a:t>
                      </a:r>
                    </a:p>
                  </a:txBody>
                  <a:tcPr anchor="ctr">
                    <a:lnL>
                      <a:noFill/>
                    </a:lnL>
                    <a:lnR>
                      <a:noFill/>
                    </a:lnR>
                    <a:lnT>
                      <a:noFill/>
                    </a:lnT>
                    <a:lnB>
                      <a:noFill/>
                    </a:lnB>
                    <a:noFill/>
                  </a:tcPr>
                </a:tc>
                <a:tc>
                  <a:txBody>
                    <a:bodyPr/>
                    <a:lstStyle/>
                    <a:p>
                      <a:pPr>
                        <a:buNone/>
                      </a:pPr>
                      <a:r>
                        <a:rPr lang="en-CA"/>
                        <a:t>0.5352</a:t>
                      </a:r>
                    </a:p>
                  </a:txBody>
                  <a:tcPr anchor="ctr">
                    <a:lnL>
                      <a:noFill/>
                    </a:lnL>
                    <a:lnR>
                      <a:noFill/>
                    </a:lnR>
                    <a:lnT>
                      <a:noFill/>
                    </a:lnT>
                    <a:lnB>
                      <a:noFill/>
                    </a:lnB>
                    <a:noFill/>
                  </a:tcPr>
                </a:tc>
                <a:tc>
                  <a:txBody>
                    <a:bodyPr/>
                    <a:lstStyle/>
                    <a:p>
                      <a:pPr>
                        <a:buNone/>
                      </a:pPr>
                      <a:r>
                        <a:rPr lang="en-CA"/>
                        <a:t>0.6975</a:t>
                      </a:r>
                    </a:p>
                  </a:txBody>
                  <a:tcPr anchor="ctr">
                    <a:lnL>
                      <a:noFill/>
                    </a:lnL>
                    <a:lnR>
                      <a:noFill/>
                    </a:lnR>
                    <a:lnT>
                      <a:noFill/>
                    </a:lnT>
                    <a:lnB>
                      <a:noFill/>
                    </a:lnB>
                    <a:noFill/>
                  </a:tcPr>
                </a:tc>
                <a:tc>
                  <a:txBody>
                    <a:bodyPr/>
                    <a:lstStyle/>
                    <a:p>
                      <a:pPr>
                        <a:buNone/>
                      </a:pPr>
                      <a:r>
                        <a:rPr lang="en-CA"/>
                        <a:t>0.2756</a:t>
                      </a:r>
                    </a:p>
                  </a:txBody>
                  <a:tcPr anchor="ctr">
                    <a:lnL>
                      <a:noFill/>
                    </a:lnL>
                    <a:lnR>
                      <a:noFill/>
                    </a:lnR>
                    <a:lnT>
                      <a:noFill/>
                    </a:lnT>
                    <a:lnB>
                      <a:noFill/>
                    </a:lnB>
                    <a:noFill/>
                  </a:tcPr>
                </a:tc>
                <a:tc>
                  <a:txBody>
                    <a:bodyPr/>
                    <a:lstStyle/>
                    <a:p>
                      <a:pPr>
                        <a:buNone/>
                      </a:pPr>
                      <a:r>
                        <a:rPr lang="en-CA"/>
                        <a:t>0.5064</a:t>
                      </a:r>
                    </a:p>
                  </a:txBody>
                  <a:tcPr anchor="ctr">
                    <a:lnL>
                      <a:noFill/>
                    </a:lnL>
                    <a:lnR>
                      <a:noFill/>
                    </a:lnR>
                    <a:lnT>
                      <a:noFill/>
                    </a:lnT>
                    <a:lnB>
                      <a:noFill/>
                    </a:lnB>
                    <a:noFill/>
                  </a:tcPr>
                </a:tc>
                <a:tc>
                  <a:txBody>
                    <a:bodyPr/>
                    <a:lstStyle/>
                    <a:p>
                      <a:pPr>
                        <a:buNone/>
                      </a:pPr>
                      <a:r>
                        <a:rPr lang="en-CA"/>
                        <a:t>0.4423</a:t>
                      </a:r>
                    </a:p>
                  </a:txBody>
                  <a:tcPr anchor="ctr">
                    <a:lnL>
                      <a:noFill/>
                    </a:lnL>
                    <a:lnR>
                      <a:noFill/>
                    </a:lnR>
                    <a:lnT>
                      <a:noFill/>
                    </a:lnT>
                    <a:lnB>
                      <a:noFill/>
                    </a:lnB>
                    <a:noFill/>
                  </a:tcPr>
                </a:tc>
                <a:tc>
                  <a:txBody>
                    <a:bodyPr/>
                    <a:lstStyle/>
                    <a:p>
                      <a:pPr>
                        <a:buNone/>
                      </a:pPr>
                      <a:r>
                        <a:rPr lang="en-CA"/>
                        <a:t>0.6623</a:t>
                      </a:r>
                    </a:p>
                  </a:txBody>
                  <a:tcPr anchor="ctr">
                    <a:lnL>
                      <a:noFill/>
                    </a:lnL>
                    <a:lnR>
                      <a:noFill/>
                    </a:lnR>
                    <a:lnT>
                      <a:noFill/>
                    </a:lnT>
                    <a:lnB>
                      <a:noFill/>
                    </a:lnB>
                    <a:noFill/>
                  </a:tcPr>
                </a:tc>
                <a:tc>
                  <a:txBody>
                    <a:bodyPr/>
                    <a:lstStyle/>
                    <a:p>
                      <a:pPr>
                        <a:buNone/>
                      </a:pPr>
                      <a:r>
                        <a:rPr lang="en-CA"/>
                        <a:t>0.9348</a:t>
                      </a:r>
                    </a:p>
                  </a:txBody>
                  <a:tcPr anchor="ctr">
                    <a:lnL>
                      <a:noFill/>
                    </a:lnL>
                    <a:lnR>
                      <a:noFill/>
                    </a:lnR>
                    <a:lnT>
                      <a:noFill/>
                    </a:lnT>
                    <a:lnB>
                      <a:noFill/>
                    </a:lnB>
                    <a:noFill/>
                  </a:tcPr>
                </a:tc>
                <a:extLst>
                  <a:ext uri="{0D108BD9-81ED-4DB2-BD59-A6C34878D82A}">
                    <a16:rowId xmlns:a16="http://schemas.microsoft.com/office/drawing/2014/main" val="2279970794"/>
                  </a:ext>
                </a:extLst>
              </a:tr>
              <a:tr h="0">
                <a:tc>
                  <a:txBody>
                    <a:bodyPr/>
                    <a:lstStyle/>
                    <a:p>
                      <a:pPr>
                        <a:buNone/>
                      </a:pPr>
                      <a:r>
                        <a:rPr lang="en-CA"/>
                        <a:t>PPO</a:t>
                      </a:r>
                    </a:p>
                  </a:txBody>
                  <a:tcPr anchor="ctr">
                    <a:lnL>
                      <a:noFill/>
                    </a:lnL>
                    <a:lnR>
                      <a:noFill/>
                    </a:lnR>
                    <a:lnT>
                      <a:noFill/>
                    </a:lnT>
                    <a:lnB>
                      <a:noFill/>
                    </a:lnB>
                    <a:noFill/>
                  </a:tcPr>
                </a:tc>
                <a:tc>
                  <a:txBody>
                    <a:bodyPr/>
                    <a:lstStyle/>
                    <a:p>
                      <a:pPr>
                        <a:buNone/>
                      </a:pPr>
                      <a:r>
                        <a:rPr lang="en-CA"/>
                        <a:t>Train</a:t>
                      </a:r>
                    </a:p>
                  </a:txBody>
                  <a:tcPr anchor="ctr">
                    <a:lnL>
                      <a:noFill/>
                    </a:lnL>
                    <a:lnR>
                      <a:noFill/>
                    </a:lnR>
                    <a:lnT>
                      <a:noFill/>
                    </a:lnT>
                    <a:lnB>
                      <a:noFill/>
                    </a:lnB>
                    <a:noFill/>
                  </a:tcPr>
                </a:tc>
                <a:tc>
                  <a:txBody>
                    <a:bodyPr/>
                    <a:lstStyle/>
                    <a:p>
                      <a:pPr>
                        <a:buNone/>
                      </a:pPr>
                      <a:r>
                        <a:rPr lang="en-CA"/>
                        <a:t>0.7008</a:t>
                      </a:r>
                    </a:p>
                  </a:txBody>
                  <a:tcPr anchor="ctr">
                    <a:lnL>
                      <a:noFill/>
                    </a:lnL>
                    <a:lnR>
                      <a:noFill/>
                    </a:lnR>
                    <a:lnT>
                      <a:noFill/>
                    </a:lnT>
                    <a:lnB>
                      <a:noFill/>
                    </a:lnB>
                    <a:noFill/>
                  </a:tcPr>
                </a:tc>
                <a:tc>
                  <a:txBody>
                    <a:bodyPr/>
                    <a:lstStyle/>
                    <a:p>
                      <a:pPr>
                        <a:buNone/>
                      </a:pPr>
                      <a:r>
                        <a:rPr lang="en-CA"/>
                        <a:t>0.9366</a:t>
                      </a:r>
                    </a:p>
                  </a:txBody>
                  <a:tcPr anchor="ctr">
                    <a:lnL>
                      <a:noFill/>
                    </a:lnL>
                    <a:lnR>
                      <a:noFill/>
                    </a:lnR>
                    <a:lnT>
                      <a:noFill/>
                    </a:lnT>
                    <a:lnB>
                      <a:noFill/>
                    </a:lnB>
                    <a:noFill/>
                  </a:tcPr>
                </a:tc>
                <a:tc>
                  <a:txBody>
                    <a:bodyPr/>
                    <a:lstStyle/>
                    <a:p>
                      <a:pPr>
                        <a:buNone/>
                      </a:pPr>
                      <a:r>
                        <a:rPr lang="en-CA"/>
                        <a:t>0.4129</a:t>
                      </a:r>
                    </a:p>
                  </a:txBody>
                  <a:tcPr anchor="ctr">
                    <a:lnL>
                      <a:noFill/>
                    </a:lnL>
                    <a:lnR>
                      <a:noFill/>
                    </a:lnR>
                    <a:lnT>
                      <a:noFill/>
                    </a:lnT>
                    <a:lnB>
                      <a:noFill/>
                    </a:lnB>
                    <a:noFill/>
                  </a:tcPr>
                </a:tc>
                <a:tc>
                  <a:txBody>
                    <a:bodyPr/>
                    <a:lstStyle/>
                    <a:p>
                      <a:pPr>
                        <a:buNone/>
                      </a:pPr>
                      <a:r>
                        <a:rPr lang="en-CA"/>
                        <a:t>0.5286</a:t>
                      </a:r>
                    </a:p>
                  </a:txBody>
                  <a:tcPr anchor="ctr">
                    <a:lnL>
                      <a:noFill/>
                    </a:lnL>
                    <a:lnR>
                      <a:noFill/>
                    </a:lnR>
                    <a:lnT>
                      <a:noFill/>
                    </a:lnT>
                    <a:lnB>
                      <a:noFill/>
                    </a:lnB>
                    <a:noFill/>
                  </a:tcPr>
                </a:tc>
                <a:tc>
                  <a:txBody>
                    <a:bodyPr/>
                    <a:lstStyle/>
                    <a:p>
                      <a:pPr>
                        <a:buNone/>
                      </a:pPr>
                      <a:r>
                        <a:rPr lang="en-CA"/>
                        <a:t>0.6896</a:t>
                      </a:r>
                    </a:p>
                  </a:txBody>
                  <a:tcPr anchor="ctr">
                    <a:lnL>
                      <a:noFill/>
                    </a:lnL>
                    <a:lnR>
                      <a:noFill/>
                    </a:lnR>
                    <a:lnT>
                      <a:noFill/>
                    </a:lnT>
                    <a:lnB>
                      <a:noFill/>
                    </a:lnB>
                    <a:noFill/>
                  </a:tcPr>
                </a:tc>
                <a:tc>
                  <a:txBody>
                    <a:bodyPr/>
                    <a:lstStyle/>
                    <a:p>
                      <a:pPr>
                        <a:buNone/>
                      </a:pPr>
                      <a:r>
                        <a:rPr lang="en-CA"/>
                        <a:t>0.2705</a:t>
                      </a:r>
                    </a:p>
                  </a:txBody>
                  <a:tcPr anchor="ctr">
                    <a:lnL>
                      <a:noFill/>
                    </a:lnL>
                    <a:lnR>
                      <a:noFill/>
                    </a:lnR>
                    <a:lnT>
                      <a:noFill/>
                    </a:lnT>
                    <a:lnB>
                      <a:noFill/>
                    </a:lnB>
                    <a:noFill/>
                  </a:tcPr>
                </a:tc>
                <a:tc>
                  <a:txBody>
                    <a:bodyPr/>
                    <a:lstStyle/>
                    <a:p>
                      <a:pPr>
                        <a:buNone/>
                      </a:pPr>
                      <a:r>
                        <a:rPr lang="en-CA"/>
                        <a:t>0.5020</a:t>
                      </a:r>
                    </a:p>
                  </a:txBody>
                  <a:tcPr anchor="ctr">
                    <a:lnL>
                      <a:noFill/>
                    </a:lnL>
                    <a:lnR>
                      <a:noFill/>
                    </a:lnR>
                    <a:lnT>
                      <a:noFill/>
                    </a:lnT>
                    <a:lnB>
                      <a:noFill/>
                    </a:lnB>
                    <a:noFill/>
                  </a:tcPr>
                </a:tc>
                <a:tc>
                  <a:txBody>
                    <a:bodyPr/>
                    <a:lstStyle/>
                    <a:p>
                      <a:pPr>
                        <a:buNone/>
                      </a:pPr>
                      <a:r>
                        <a:rPr lang="en-CA"/>
                        <a:t>0.4381</a:t>
                      </a:r>
                    </a:p>
                  </a:txBody>
                  <a:tcPr anchor="ctr">
                    <a:lnL>
                      <a:noFill/>
                    </a:lnL>
                    <a:lnR>
                      <a:noFill/>
                    </a:lnR>
                    <a:lnT>
                      <a:noFill/>
                    </a:lnT>
                    <a:lnB>
                      <a:noFill/>
                    </a:lnB>
                    <a:noFill/>
                  </a:tcPr>
                </a:tc>
                <a:tc>
                  <a:txBody>
                    <a:bodyPr/>
                    <a:lstStyle/>
                    <a:p>
                      <a:pPr>
                        <a:buNone/>
                      </a:pPr>
                      <a:r>
                        <a:rPr lang="en-CA"/>
                        <a:t>0.6358</a:t>
                      </a:r>
                    </a:p>
                  </a:txBody>
                  <a:tcPr anchor="ctr">
                    <a:lnL>
                      <a:noFill/>
                    </a:lnL>
                    <a:lnR>
                      <a:noFill/>
                    </a:lnR>
                    <a:lnT>
                      <a:noFill/>
                    </a:lnT>
                    <a:lnB>
                      <a:noFill/>
                    </a:lnB>
                    <a:noFill/>
                  </a:tcPr>
                </a:tc>
                <a:tc>
                  <a:txBody>
                    <a:bodyPr/>
                    <a:lstStyle/>
                    <a:p>
                      <a:pPr>
                        <a:buNone/>
                      </a:pPr>
                      <a:r>
                        <a:rPr lang="en-CA"/>
                        <a:t>0.9304</a:t>
                      </a:r>
                    </a:p>
                  </a:txBody>
                  <a:tcPr anchor="ctr">
                    <a:lnL>
                      <a:noFill/>
                    </a:lnL>
                    <a:lnR>
                      <a:noFill/>
                    </a:lnR>
                    <a:lnT>
                      <a:noFill/>
                    </a:lnT>
                    <a:lnB>
                      <a:noFill/>
                    </a:lnB>
                    <a:noFill/>
                  </a:tcPr>
                </a:tc>
                <a:extLst>
                  <a:ext uri="{0D108BD9-81ED-4DB2-BD59-A6C34878D82A}">
                    <a16:rowId xmlns:a16="http://schemas.microsoft.com/office/drawing/2014/main" val="145311890"/>
                  </a:ext>
                </a:extLst>
              </a:tr>
              <a:tr h="0">
                <a:tc>
                  <a:txBody>
                    <a:bodyPr/>
                    <a:lstStyle/>
                    <a:p>
                      <a:pPr>
                        <a:buNone/>
                      </a:pPr>
                      <a:r>
                        <a:rPr lang="en-CA" b="1" dirty="0"/>
                        <a:t>TRPO→PPO</a:t>
                      </a:r>
                      <a:endParaRPr lang="en-CA" dirty="0"/>
                    </a:p>
                  </a:txBody>
                  <a:tcPr anchor="ctr">
                    <a:lnL>
                      <a:noFill/>
                    </a:lnL>
                    <a:lnR>
                      <a:noFill/>
                    </a:lnR>
                    <a:lnT>
                      <a:noFill/>
                    </a:lnT>
                    <a:lnB>
                      <a:noFill/>
                    </a:lnB>
                    <a:noFill/>
                  </a:tcPr>
                </a:tc>
                <a:tc>
                  <a:txBody>
                    <a:bodyPr/>
                    <a:lstStyle/>
                    <a:p>
                      <a:pPr>
                        <a:buNone/>
                      </a:pPr>
                      <a:r>
                        <a:rPr lang="en-CA"/>
                        <a:t>Test</a:t>
                      </a:r>
                    </a:p>
                  </a:txBody>
                  <a:tcPr anchor="ctr">
                    <a:lnL>
                      <a:noFill/>
                    </a:lnL>
                    <a:lnR>
                      <a:noFill/>
                    </a:lnR>
                    <a:lnT>
                      <a:noFill/>
                    </a:lnT>
                    <a:lnB>
                      <a:noFill/>
                    </a:lnB>
                    <a:noFill/>
                  </a:tcPr>
                </a:tc>
                <a:tc>
                  <a:txBody>
                    <a:bodyPr/>
                    <a:lstStyle/>
                    <a:p>
                      <a:pPr>
                        <a:buNone/>
                      </a:pPr>
                      <a:r>
                        <a:rPr lang="en-CA" b="0" dirty="0"/>
                        <a:t>0.8605</a:t>
                      </a:r>
                    </a:p>
                  </a:txBody>
                  <a:tcPr anchor="ctr">
                    <a:lnL>
                      <a:noFill/>
                    </a:lnL>
                    <a:lnR>
                      <a:noFill/>
                    </a:lnR>
                    <a:lnT>
                      <a:noFill/>
                    </a:lnT>
                    <a:lnB>
                      <a:noFill/>
                    </a:lnB>
                    <a:noFill/>
                  </a:tcPr>
                </a:tc>
                <a:tc>
                  <a:txBody>
                    <a:bodyPr/>
                    <a:lstStyle/>
                    <a:p>
                      <a:pPr>
                        <a:buNone/>
                      </a:pPr>
                      <a:r>
                        <a:rPr lang="en-CA"/>
                        <a:t>0.9126</a:t>
                      </a:r>
                    </a:p>
                  </a:txBody>
                  <a:tcPr anchor="ctr">
                    <a:lnL>
                      <a:noFill/>
                    </a:lnL>
                    <a:lnR>
                      <a:noFill/>
                    </a:lnR>
                    <a:lnT>
                      <a:noFill/>
                    </a:lnT>
                    <a:lnB>
                      <a:noFill/>
                    </a:lnB>
                    <a:noFill/>
                  </a:tcPr>
                </a:tc>
                <a:tc>
                  <a:txBody>
                    <a:bodyPr/>
                    <a:lstStyle/>
                    <a:p>
                      <a:pPr>
                        <a:buNone/>
                      </a:pPr>
                      <a:r>
                        <a:rPr lang="en-CA" b="0" dirty="0"/>
                        <a:t>0.7315</a:t>
                      </a:r>
                    </a:p>
                  </a:txBody>
                  <a:tcPr anchor="ctr">
                    <a:lnL>
                      <a:noFill/>
                    </a:lnL>
                    <a:lnR>
                      <a:noFill/>
                    </a:lnR>
                    <a:lnT>
                      <a:noFill/>
                    </a:lnT>
                    <a:lnB>
                      <a:noFill/>
                    </a:lnB>
                    <a:noFill/>
                  </a:tcPr>
                </a:tc>
                <a:tc>
                  <a:txBody>
                    <a:bodyPr/>
                    <a:lstStyle/>
                    <a:p>
                      <a:pPr>
                        <a:buNone/>
                      </a:pPr>
                      <a:r>
                        <a:rPr lang="en-CA" b="0" dirty="0"/>
                        <a:t>0.7831</a:t>
                      </a:r>
                    </a:p>
                  </a:txBody>
                  <a:tcPr anchor="ctr">
                    <a:lnL>
                      <a:noFill/>
                    </a:lnL>
                    <a:lnR>
                      <a:noFill/>
                    </a:lnR>
                    <a:lnT>
                      <a:noFill/>
                    </a:lnT>
                    <a:lnB>
                      <a:noFill/>
                    </a:lnB>
                    <a:noFill/>
                  </a:tcPr>
                </a:tc>
                <a:tc>
                  <a:txBody>
                    <a:bodyPr/>
                    <a:lstStyle/>
                    <a:p>
                      <a:pPr>
                        <a:buNone/>
                      </a:pPr>
                      <a:r>
                        <a:rPr lang="en-CA" b="0" dirty="0"/>
                        <a:t>0.8073</a:t>
                      </a:r>
                    </a:p>
                  </a:txBody>
                  <a:tcPr anchor="ctr">
                    <a:lnL>
                      <a:noFill/>
                    </a:lnL>
                    <a:lnR>
                      <a:noFill/>
                    </a:lnR>
                    <a:lnT>
                      <a:noFill/>
                    </a:lnT>
                    <a:lnB>
                      <a:noFill/>
                    </a:lnB>
                    <a:noFill/>
                  </a:tcPr>
                </a:tc>
                <a:tc>
                  <a:txBody>
                    <a:bodyPr/>
                    <a:lstStyle/>
                    <a:p>
                      <a:pPr>
                        <a:buNone/>
                      </a:pPr>
                      <a:r>
                        <a:rPr lang="en-CA" b="0" dirty="0"/>
                        <a:t>0.1158</a:t>
                      </a:r>
                    </a:p>
                  </a:txBody>
                  <a:tcPr anchor="ctr">
                    <a:lnL>
                      <a:noFill/>
                    </a:lnL>
                    <a:lnR>
                      <a:noFill/>
                    </a:lnR>
                    <a:lnT>
                      <a:noFill/>
                    </a:lnT>
                    <a:lnB>
                      <a:noFill/>
                    </a:lnB>
                    <a:noFill/>
                  </a:tcPr>
                </a:tc>
                <a:tc>
                  <a:txBody>
                    <a:bodyPr/>
                    <a:lstStyle/>
                    <a:p>
                      <a:pPr>
                        <a:buNone/>
                      </a:pPr>
                      <a:r>
                        <a:rPr lang="en-CA" b="0" dirty="0"/>
                        <a:t>0.3220</a:t>
                      </a:r>
                    </a:p>
                  </a:txBody>
                  <a:tcPr anchor="ctr">
                    <a:lnL>
                      <a:noFill/>
                    </a:lnL>
                    <a:lnR>
                      <a:noFill/>
                    </a:lnR>
                    <a:lnT>
                      <a:noFill/>
                    </a:lnT>
                    <a:lnB>
                      <a:noFill/>
                    </a:lnB>
                    <a:noFill/>
                  </a:tcPr>
                </a:tc>
                <a:tc>
                  <a:txBody>
                    <a:bodyPr/>
                    <a:lstStyle/>
                    <a:p>
                      <a:pPr>
                        <a:buNone/>
                      </a:pPr>
                      <a:r>
                        <a:rPr lang="en-CA"/>
                        <a:t>0.2714</a:t>
                      </a:r>
                    </a:p>
                  </a:txBody>
                  <a:tcPr anchor="ctr">
                    <a:lnL>
                      <a:noFill/>
                    </a:lnL>
                    <a:lnR>
                      <a:noFill/>
                    </a:lnR>
                    <a:lnT>
                      <a:noFill/>
                    </a:lnT>
                    <a:lnB>
                      <a:noFill/>
                    </a:lnB>
                    <a:noFill/>
                  </a:tcPr>
                </a:tc>
                <a:tc>
                  <a:txBody>
                    <a:bodyPr/>
                    <a:lstStyle/>
                    <a:p>
                      <a:pPr>
                        <a:buNone/>
                      </a:pPr>
                      <a:r>
                        <a:rPr lang="en-CA" dirty="0"/>
                        <a:t>0.8448</a:t>
                      </a:r>
                    </a:p>
                  </a:txBody>
                  <a:tcPr anchor="ctr">
                    <a:lnL>
                      <a:noFill/>
                    </a:lnL>
                    <a:lnR>
                      <a:noFill/>
                    </a:lnR>
                    <a:lnT>
                      <a:noFill/>
                    </a:lnT>
                    <a:lnB>
                      <a:noFill/>
                    </a:lnB>
                    <a:noFill/>
                  </a:tcPr>
                </a:tc>
                <a:tc>
                  <a:txBody>
                    <a:bodyPr/>
                    <a:lstStyle/>
                    <a:p>
                      <a:pPr>
                        <a:buNone/>
                      </a:pPr>
                      <a:r>
                        <a:rPr lang="en-CA" b="0" dirty="0"/>
                        <a:t>0.9561</a:t>
                      </a:r>
                    </a:p>
                  </a:txBody>
                  <a:tcPr anchor="ctr">
                    <a:lnL>
                      <a:noFill/>
                    </a:lnL>
                    <a:lnR>
                      <a:noFill/>
                    </a:lnR>
                    <a:lnT>
                      <a:noFill/>
                    </a:lnT>
                    <a:lnB>
                      <a:noFill/>
                    </a:lnB>
                    <a:noFill/>
                  </a:tcPr>
                </a:tc>
                <a:extLst>
                  <a:ext uri="{0D108BD9-81ED-4DB2-BD59-A6C34878D82A}">
                    <a16:rowId xmlns:a16="http://schemas.microsoft.com/office/drawing/2014/main" val="512492153"/>
                  </a:ext>
                </a:extLst>
              </a:tr>
              <a:tr h="0">
                <a:tc>
                  <a:txBody>
                    <a:bodyPr/>
                    <a:lstStyle/>
                    <a:p>
                      <a:pPr>
                        <a:buNone/>
                      </a:pPr>
                      <a:r>
                        <a:rPr lang="en-CA" b="1"/>
                        <a:t>TRPO→PPO</a:t>
                      </a:r>
                      <a:endParaRPr lang="en-CA"/>
                    </a:p>
                  </a:txBody>
                  <a:tcPr anchor="ctr">
                    <a:lnL>
                      <a:noFill/>
                    </a:lnL>
                    <a:lnR>
                      <a:noFill/>
                    </a:lnR>
                    <a:lnT>
                      <a:noFill/>
                    </a:lnT>
                    <a:lnB>
                      <a:noFill/>
                    </a:lnB>
                    <a:noFill/>
                  </a:tcPr>
                </a:tc>
                <a:tc>
                  <a:txBody>
                    <a:bodyPr/>
                    <a:lstStyle/>
                    <a:p>
                      <a:pPr>
                        <a:buNone/>
                      </a:pPr>
                      <a:r>
                        <a:rPr lang="en-CA"/>
                        <a:t>Train</a:t>
                      </a:r>
                    </a:p>
                  </a:txBody>
                  <a:tcPr anchor="ctr">
                    <a:lnL>
                      <a:noFill/>
                    </a:lnL>
                    <a:lnR>
                      <a:noFill/>
                    </a:lnR>
                    <a:lnT>
                      <a:noFill/>
                    </a:lnT>
                    <a:lnB>
                      <a:noFill/>
                    </a:lnB>
                    <a:noFill/>
                  </a:tcPr>
                </a:tc>
                <a:tc>
                  <a:txBody>
                    <a:bodyPr/>
                    <a:lstStyle/>
                    <a:p>
                      <a:pPr>
                        <a:buNone/>
                      </a:pPr>
                      <a:r>
                        <a:rPr lang="en-CA" b="0" dirty="0"/>
                        <a:t>0.8588</a:t>
                      </a:r>
                    </a:p>
                  </a:txBody>
                  <a:tcPr anchor="ctr">
                    <a:lnL>
                      <a:noFill/>
                    </a:lnL>
                    <a:lnR>
                      <a:noFill/>
                    </a:lnR>
                    <a:lnT>
                      <a:noFill/>
                    </a:lnT>
                    <a:lnB>
                      <a:noFill/>
                    </a:lnB>
                    <a:noFill/>
                  </a:tcPr>
                </a:tc>
                <a:tc>
                  <a:txBody>
                    <a:bodyPr/>
                    <a:lstStyle/>
                    <a:p>
                      <a:pPr>
                        <a:buNone/>
                      </a:pPr>
                      <a:r>
                        <a:rPr lang="en-CA"/>
                        <a:t>0.9300</a:t>
                      </a:r>
                    </a:p>
                  </a:txBody>
                  <a:tcPr anchor="ctr">
                    <a:lnL>
                      <a:noFill/>
                    </a:lnL>
                    <a:lnR>
                      <a:noFill/>
                    </a:lnR>
                    <a:lnT>
                      <a:noFill/>
                    </a:lnT>
                    <a:lnB>
                      <a:noFill/>
                    </a:lnB>
                    <a:noFill/>
                  </a:tcPr>
                </a:tc>
                <a:tc>
                  <a:txBody>
                    <a:bodyPr/>
                    <a:lstStyle/>
                    <a:p>
                      <a:pPr>
                        <a:buNone/>
                      </a:pPr>
                      <a:r>
                        <a:rPr lang="en-CA" b="0" dirty="0"/>
                        <a:t>0.7241</a:t>
                      </a:r>
                    </a:p>
                  </a:txBody>
                  <a:tcPr anchor="ctr">
                    <a:lnL>
                      <a:noFill/>
                    </a:lnL>
                    <a:lnR>
                      <a:noFill/>
                    </a:lnR>
                    <a:lnT>
                      <a:noFill/>
                    </a:lnT>
                    <a:lnB>
                      <a:noFill/>
                    </a:lnB>
                    <a:noFill/>
                  </a:tcPr>
                </a:tc>
                <a:tc>
                  <a:txBody>
                    <a:bodyPr/>
                    <a:lstStyle/>
                    <a:p>
                      <a:pPr>
                        <a:buNone/>
                      </a:pPr>
                      <a:r>
                        <a:rPr lang="en-CA" b="0" dirty="0"/>
                        <a:t>0.7782</a:t>
                      </a:r>
                    </a:p>
                  </a:txBody>
                  <a:tcPr anchor="ctr">
                    <a:lnL>
                      <a:noFill/>
                    </a:lnL>
                    <a:lnR>
                      <a:noFill/>
                    </a:lnR>
                    <a:lnT>
                      <a:noFill/>
                    </a:lnT>
                    <a:lnB>
                      <a:noFill/>
                    </a:lnB>
                    <a:noFill/>
                  </a:tcPr>
                </a:tc>
                <a:tc>
                  <a:txBody>
                    <a:bodyPr/>
                    <a:lstStyle/>
                    <a:p>
                      <a:pPr>
                        <a:buNone/>
                      </a:pPr>
                      <a:r>
                        <a:rPr lang="en-CA" b="0" dirty="0"/>
                        <a:t>0.8025</a:t>
                      </a:r>
                    </a:p>
                  </a:txBody>
                  <a:tcPr anchor="ctr">
                    <a:lnL>
                      <a:noFill/>
                    </a:lnL>
                    <a:lnR>
                      <a:noFill/>
                    </a:lnR>
                    <a:lnT>
                      <a:noFill/>
                    </a:lnT>
                    <a:lnB>
                      <a:noFill/>
                    </a:lnB>
                    <a:noFill/>
                  </a:tcPr>
                </a:tc>
                <a:tc>
                  <a:txBody>
                    <a:bodyPr/>
                    <a:lstStyle/>
                    <a:p>
                      <a:pPr>
                        <a:buNone/>
                      </a:pPr>
                      <a:r>
                        <a:rPr lang="en-CA" b="0" dirty="0"/>
                        <a:t>0.1150</a:t>
                      </a:r>
                    </a:p>
                  </a:txBody>
                  <a:tcPr anchor="ctr">
                    <a:lnL>
                      <a:noFill/>
                    </a:lnL>
                    <a:lnR>
                      <a:noFill/>
                    </a:lnR>
                    <a:lnT>
                      <a:noFill/>
                    </a:lnT>
                    <a:lnB>
                      <a:noFill/>
                    </a:lnB>
                    <a:noFill/>
                  </a:tcPr>
                </a:tc>
                <a:tc>
                  <a:txBody>
                    <a:bodyPr/>
                    <a:lstStyle/>
                    <a:p>
                      <a:pPr>
                        <a:buNone/>
                      </a:pPr>
                      <a:r>
                        <a:rPr lang="en-CA" b="0" dirty="0"/>
                        <a:t>0.3202</a:t>
                      </a:r>
                    </a:p>
                  </a:txBody>
                  <a:tcPr anchor="ctr">
                    <a:lnL>
                      <a:noFill/>
                    </a:lnL>
                    <a:lnR>
                      <a:noFill/>
                    </a:lnR>
                    <a:lnT>
                      <a:noFill/>
                    </a:lnT>
                    <a:lnB>
                      <a:noFill/>
                    </a:lnB>
                    <a:noFill/>
                  </a:tcPr>
                </a:tc>
                <a:tc>
                  <a:txBody>
                    <a:bodyPr/>
                    <a:lstStyle/>
                    <a:p>
                      <a:pPr>
                        <a:buNone/>
                      </a:pPr>
                      <a:r>
                        <a:rPr lang="en-CA"/>
                        <a:t>0.2710</a:t>
                      </a:r>
                    </a:p>
                  </a:txBody>
                  <a:tcPr anchor="ctr">
                    <a:lnL>
                      <a:noFill/>
                    </a:lnL>
                    <a:lnR>
                      <a:noFill/>
                    </a:lnR>
                    <a:lnT>
                      <a:noFill/>
                    </a:lnT>
                    <a:lnB>
                      <a:noFill/>
                    </a:lnB>
                    <a:noFill/>
                  </a:tcPr>
                </a:tc>
                <a:tc>
                  <a:txBody>
                    <a:bodyPr/>
                    <a:lstStyle/>
                    <a:p>
                      <a:pPr>
                        <a:buNone/>
                      </a:pPr>
                      <a:r>
                        <a:rPr lang="en-CA"/>
                        <a:t>0.8370</a:t>
                      </a:r>
                    </a:p>
                  </a:txBody>
                  <a:tcPr anchor="ctr">
                    <a:lnL>
                      <a:noFill/>
                    </a:lnL>
                    <a:lnR>
                      <a:noFill/>
                    </a:lnR>
                    <a:lnT>
                      <a:noFill/>
                    </a:lnT>
                    <a:lnB>
                      <a:noFill/>
                    </a:lnB>
                    <a:noFill/>
                  </a:tcPr>
                </a:tc>
                <a:tc>
                  <a:txBody>
                    <a:bodyPr/>
                    <a:lstStyle/>
                    <a:p>
                      <a:pPr>
                        <a:buNone/>
                      </a:pPr>
                      <a:r>
                        <a:rPr lang="en-CA" b="0" dirty="0"/>
                        <a:t>0.9541</a:t>
                      </a:r>
                    </a:p>
                  </a:txBody>
                  <a:tcPr anchor="ctr">
                    <a:lnL>
                      <a:noFill/>
                    </a:lnL>
                    <a:lnR>
                      <a:noFill/>
                    </a:lnR>
                    <a:lnT>
                      <a:noFill/>
                    </a:lnT>
                    <a:lnB>
                      <a:noFill/>
                    </a:lnB>
                    <a:noFill/>
                  </a:tcPr>
                </a:tc>
                <a:extLst>
                  <a:ext uri="{0D108BD9-81ED-4DB2-BD59-A6C34878D82A}">
                    <a16:rowId xmlns:a16="http://schemas.microsoft.com/office/drawing/2014/main" val="1341642771"/>
                  </a:ext>
                </a:extLst>
              </a:tr>
            </a:tbl>
          </a:graphicData>
        </a:graphic>
      </p:graphicFrame>
    </p:spTree>
    <p:extLst>
      <p:ext uri="{BB962C8B-B14F-4D97-AF65-F5344CB8AC3E}">
        <p14:creationId xmlns:p14="http://schemas.microsoft.com/office/powerpoint/2010/main" val="16738869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351EBE-4AB3-53B5-4CDA-2B97DA007578}"/>
              </a:ext>
            </a:extLst>
          </p:cNvPr>
          <p:cNvSpPr>
            <a:spLocks noGrp="1"/>
          </p:cNvSpPr>
          <p:nvPr>
            <p:ph type="title"/>
          </p:nvPr>
        </p:nvSpPr>
        <p:spPr/>
        <p:txBody>
          <a:bodyPr/>
          <a:lstStyle/>
          <a:p>
            <a:r>
              <a:rPr lang="en-US" dirty="0"/>
              <a:t>Results(Experimentally perturb sample)</a:t>
            </a:r>
            <a:endParaRPr lang="en-CA" dirty="0"/>
          </a:p>
        </p:txBody>
      </p:sp>
      <p:graphicFrame>
        <p:nvGraphicFramePr>
          <p:cNvPr id="4" name="Table 3">
            <a:extLst>
              <a:ext uri="{FF2B5EF4-FFF2-40B4-BE49-F238E27FC236}">
                <a16:creationId xmlns:a16="http://schemas.microsoft.com/office/drawing/2014/main" id="{58946877-0E02-9E2B-9B10-16F12DC244E0}"/>
              </a:ext>
            </a:extLst>
          </p:cNvPr>
          <p:cNvGraphicFramePr>
            <a:graphicFrameLocks noGrp="1"/>
          </p:cNvGraphicFramePr>
          <p:nvPr>
            <p:extLst>
              <p:ext uri="{D42A27DB-BD31-4B8C-83A1-F6EECF244321}">
                <p14:modId xmlns:p14="http://schemas.microsoft.com/office/powerpoint/2010/main" val="3246099938"/>
              </p:ext>
            </p:extLst>
          </p:nvPr>
        </p:nvGraphicFramePr>
        <p:xfrm>
          <a:off x="284988" y="1835690"/>
          <a:ext cx="11907012" cy="2590800"/>
        </p:xfrm>
        <a:graphic>
          <a:graphicData uri="http://schemas.openxmlformats.org/drawingml/2006/table">
            <a:tbl>
              <a:tblPr/>
              <a:tblGrid>
                <a:gridCol w="992251">
                  <a:extLst>
                    <a:ext uri="{9D8B030D-6E8A-4147-A177-3AD203B41FA5}">
                      <a16:colId xmlns:a16="http://schemas.microsoft.com/office/drawing/2014/main" val="859577950"/>
                    </a:ext>
                  </a:extLst>
                </a:gridCol>
                <a:gridCol w="992251">
                  <a:extLst>
                    <a:ext uri="{9D8B030D-6E8A-4147-A177-3AD203B41FA5}">
                      <a16:colId xmlns:a16="http://schemas.microsoft.com/office/drawing/2014/main" val="3290631456"/>
                    </a:ext>
                  </a:extLst>
                </a:gridCol>
                <a:gridCol w="992251">
                  <a:extLst>
                    <a:ext uri="{9D8B030D-6E8A-4147-A177-3AD203B41FA5}">
                      <a16:colId xmlns:a16="http://schemas.microsoft.com/office/drawing/2014/main" val="360272942"/>
                    </a:ext>
                  </a:extLst>
                </a:gridCol>
                <a:gridCol w="992251">
                  <a:extLst>
                    <a:ext uri="{9D8B030D-6E8A-4147-A177-3AD203B41FA5}">
                      <a16:colId xmlns:a16="http://schemas.microsoft.com/office/drawing/2014/main" val="1623022911"/>
                    </a:ext>
                  </a:extLst>
                </a:gridCol>
                <a:gridCol w="992251">
                  <a:extLst>
                    <a:ext uri="{9D8B030D-6E8A-4147-A177-3AD203B41FA5}">
                      <a16:colId xmlns:a16="http://schemas.microsoft.com/office/drawing/2014/main" val="4107525468"/>
                    </a:ext>
                  </a:extLst>
                </a:gridCol>
                <a:gridCol w="992251">
                  <a:extLst>
                    <a:ext uri="{9D8B030D-6E8A-4147-A177-3AD203B41FA5}">
                      <a16:colId xmlns:a16="http://schemas.microsoft.com/office/drawing/2014/main" val="2617562480"/>
                    </a:ext>
                  </a:extLst>
                </a:gridCol>
                <a:gridCol w="992251">
                  <a:extLst>
                    <a:ext uri="{9D8B030D-6E8A-4147-A177-3AD203B41FA5}">
                      <a16:colId xmlns:a16="http://schemas.microsoft.com/office/drawing/2014/main" val="3741354175"/>
                    </a:ext>
                  </a:extLst>
                </a:gridCol>
                <a:gridCol w="992251">
                  <a:extLst>
                    <a:ext uri="{9D8B030D-6E8A-4147-A177-3AD203B41FA5}">
                      <a16:colId xmlns:a16="http://schemas.microsoft.com/office/drawing/2014/main" val="4280665784"/>
                    </a:ext>
                  </a:extLst>
                </a:gridCol>
                <a:gridCol w="992251">
                  <a:extLst>
                    <a:ext uri="{9D8B030D-6E8A-4147-A177-3AD203B41FA5}">
                      <a16:colId xmlns:a16="http://schemas.microsoft.com/office/drawing/2014/main" val="1992117642"/>
                    </a:ext>
                  </a:extLst>
                </a:gridCol>
                <a:gridCol w="992251">
                  <a:extLst>
                    <a:ext uri="{9D8B030D-6E8A-4147-A177-3AD203B41FA5}">
                      <a16:colId xmlns:a16="http://schemas.microsoft.com/office/drawing/2014/main" val="3422534621"/>
                    </a:ext>
                  </a:extLst>
                </a:gridCol>
                <a:gridCol w="992251">
                  <a:extLst>
                    <a:ext uri="{9D8B030D-6E8A-4147-A177-3AD203B41FA5}">
                      <a16:colId xmlns:a16="http://schemas.microsoft.com/office/drawing/2014/main" val="344551929"/>
                    </a:ext>
                  </a:extLst>
                </a:gridCol>
                <a:gridCol w="992251">
                  <a:extLst>
                    <a:ext uri="{9D8B030D-6E8A-4147-A177-3AD203B41FA5}">
                      <a16:colId xmlns:a16="http://schemas.microsoft.com/office/drawing/2014/main" val="1503384562"/>
                    </a:ext>
                  </a:extLst>
                </a:gridCol>
              </a:tblGrid>
              <a:tr h="0">
                <a:tc>
                  <a:txBody>
                    <a:bodyPr/>
                    <a:lstStyle/>
                    <a:p>
                      <a:pPr>
                        <a:buNone/>
                      </a:pPr>
                      <a:r>
                        <a:rPr lang="en-CA" sz="1600" dirty="0"/>
                        <a:t>Algorithm</a:t>
                      </a:r>
                    </a:p>
                  </a:txBody>
                  <a:tcPr anchor="ctr">
                    <a:lnL>
                      <a:noFill/>
                    </a:lnL>
                    <a:lnR>
                      <a:noFill/>
                    </a:lnR>
                    <a:lnT>
                      <a:noFill/>
                    </a:lnT>
                    <a:lnB>
                      <a:noFill/>
                    </a:lnB>
                    <a:noFill/>
                  </a:tcPr>
                </a:tc>
                <a:tc>
                  <a:txBody>
                    <a:bodyPr/>
                    <a:lstStyle/>
                    <a:p>
                      <a:pPr>
                        <a:buNone/>
                      </a:pPr>
                      <a:r>
                        <a:rPr lang="en-CA" dirty="0"/>
                        <a:t>Split</a:t>
                      </a:r>
                    </a:p>
                  </a:txBody>
                  <a:tcPr anchor="ctr">
                    <a:lnL>
                      <a:noFill/>
                    </a:lnL>
                    <a:lnR>
                      <a:noFill/>
                    </a:lnR>
                    <a:lnT>
                      <a:noFill/>
                    </a:lnT>
                    <a:lnB>
                      <a:noFill/>
                    </a:lnB>
                    <a:noFill/>
                  </a:tcPr>
                </a:tc>
                <a:tc>
                  <a:txBody>
                    <a:bodyPr/>
                    <a:lstStyle/>
                    <a:p>
                      <a:pPr>
                        <a:buNone/>
                      </a:pPr>
                      <a:r>
                        <a:rPr lang="en-CA" sz="1600" dirty="0"/>
                        <a:t>Accuracy</a:t>
                      </a:r>
                    </a:p>
                  </a:txBody>
                  <a:tcPr anchor="ctr">
                    <a:lnL>
                      <a:noFill/>
                    </a:lnL>
                    <a:lnR>
                      <a:noFill/>
                    </a:lnR>
                    <a:lnT>
                      <a:noFill/>
                    </a:lnT>
                    <a:lnB>
                      <a:noFill/>
                    </a:lnB>
                    <a:noFill/>
                  </a:tcPr>
                </a:tc>
                <a:tc>
                  <a:txBody>
                    <a:bodyPr/>
                    <a:lstStyle/>
                    <a:p>
                      <a:pPr>
                        <a:buNone/>
                      </a:pPr>
                      <a:r>
                        <a:rPr lang="en-CA" sz="1600" dirty="0"/>
                        <a:t>Precision</a:t>
                      </a:r>
                    </a:p>
                  </a:txBody>
                  <a:tcPr anchor="ctr">
                    <a:lnL>
                      <a:noFill/>
                    </a:lnL>
                    <a:lnR>
                      <a:noFill/>
                    </a:lnR>
                    <a:lnT>
                      <a:noFill/>
                    </a:lnT>
                    <a:lnB>
                      <a:noFill/>
                    </a:lnB>
                    <a:noFill/>
                  </a:tcPr>
                </a:tc>
                <a:tc>
                  <a:txBody>
                    <a:bodyPr/>
                    <a:lstStyle/>
                    <a:p>
                      <a:pPr>
                        <a:buNone/>
                      </a:pPr>
                      <a:r>
                        <a:rPr lang="en-CA" sz="1600" dirty="0"/>
                        <a:t>Recall</a:t>
                      </a:r>
                    </a:p>
                  </a:txBody>
                  <a:tcPr anchor="ctr">
                    <a:lnL>
                      <a:noFill/>
                    </a:lnL>
                    <a:lnR>
                      <a:noFill/>
                    </a:lnR>
                    <a:lnT>
                      <a:noFill/>
                    </a:lnT>
                    <a:lnB>
                      <a:noFill/>
                    </a:lnB>
                    <a:noFill/>
                  </a:tcPr>
                </a:tc>
                <a:tc>
                  <a:txBody>
                    <a:bodyPr/>
                    <a:lstStyle/>
                    <a:p>
                      <a:pPr>
                        <a:buNone/>
                      </a:pPr>
                      <a:r>
                        <a:rPr lang="en-CA" sz="1600" dirty="0"/>
                        <a:t>F1</a:t>
                      </a:r>
                    </a:p>
                  </a:txBody>
                  <a:tcPr anchor="ctr">
                    <a:lnL>
                      <a:noFill/>
                    </a:lnL>
                    <a:lnR>
                      <a:noFill/>
                    </a:lnR>
                    <a:lnT>
                      <a:noFill/>
                    </a:lnT>
                    <a:lnB>
                      <a:noFill/>
                    </a:lnB>
                    <a:noFill/>
                  </a:tcPr>
                </a:tc>
                <a:tc>
                  <a:txBody>
                    <a:bodyPr/>
                    <a:lstStyle/>
                    <a:p>
                      <a:pPr>
                        <a:buNone/>
                      </a:pPr>
                      <a:r>
                        <a:rPr lang="en-CA" sz="1600"/>
                        <a:t>AUPRC</a:t>
                      </a:r>
                      <a:endParaRPr lang="en-CA" sz="1600" dirty="0"/>
                    </a:p>
                  </a:txBody>
                  <a:tcPr anchor="ctr">
                    <a:lnL>
                      <a:noFill/>
                    </a:lnL>
                    <a:lnR>
                      <a:noFill/>
                    </a:lnR>
                    <a:lnT>
                      <a:noFill/>
                    </a:lnT>
                    <a:lnB>
                      <a:noFill/>
                    </a:lnB>
                    <a:noFill/>
                  </a:tcPr>
                </a:tc>
                <a:tc>
                  <a:txBody>
                    <a:bodyPr/>
                    <a:lstStyle/>
                    <a:p>
                      <a:pPr>
                        <a:buNone/>
                      </a:pPr>
                      <a:r>
                        <a:rPr lang="en-CA" sz="1600" dirty="0"/>
                        <a:t>MSE</a:t>
                      </a:r>
                    </a:p>
                  </a:txBody>
                  <a:tcPr anchor="ctr">
                    <a:lnL>
                      <a:noFill/>
                    </a:lnL>
                    <a:lnR>
                      <a:noFill/>
                    </a:lnR>
                    <a:lnT>
                      <a:noFill/>
                    </a:lnT>
                    <a:lnB>
                      <a:noFill/>
                    </a:lnB>
                    <a:noFill/>
                  </a:tcPr>
                </a:tc>
                <a:tc>
                  <a:txBody>
                    <a:bodyPr/>
                    <a:lstStyle/>
                    <a:p>
                      <a:pPr>
                        <a:buNone/>
                      </a:pPr>
                      <a:r>
                        <a:rPr lang="en-CA" sz="1600" dirty="0"/>
                        <a:t>RMSE</a:t>
                      </a:r>
                    </a:p>
                  </a:txBody>
                  <a:tcPr anchor="ctr">
                    <a:lnL>
                      <a:noFill/>
                    </a:lnL>
                    <a:lnR>
                      <a:noFill/>
                    </a:lnR>
                    <a:lnT>
                      <a:noFill/>
                    </a:lnT>
                    <a:lnB>
                      <a:noFill/>
                    </a:lnB>
                    <a:noFill/>
                  </a:tcPr>
                </a:tc>
                <a:tc>
                  <a:txBody>
                    <a:bodyPr/>
                    <a:lstStyle/>
                    <a:p>
                      <a:pPr>
                        <a:buNone/>
                      </a:pPr>
                      <a:r>
                        <a:rPr lang="en-CA" sz="1600" dirty="0"/>
                        <a:t>MAE</a:t>
                      </a:r>
                    </a:p>
                  </a:txBody>
                  <a:tcPr anchor="ctr">
                    <a:lnL>
                      <a:noFill/>
                    </a:lnL>
                    <a:lnR>
                      <a:noFill/>
                    </a:lnR>
                    <a:lnT>
                      <a:noFill/>
                    </a:lnT>
                    <a:lnB>
                      <a:noFill/>
                    </a:lnB>
                    <a:noFill/>
                  </a:tcPr>
                </a:tc>
                <a:tc>
                  <a:txBody>
                    <a:bodyPr/>
                    <a:lstStyle/>
                    <a:p>
                      <a:pPr>
                        <a:buNone/>
                      </a:pPr>
                      <a:r>
                        <a:rPr lang="en-CA" sz="1600" dirty="0"/>
                        <a:t>R²</a:t>
                      </a:r>
                    </a:p>
                  </a:txBody>
                  <a:tcPr anchor="ctr">
                    <a:lnL>
                      <a:noFill/>
                    </a:lnL>
                    <a:lnR>
                      <a:noFill/>
                    </a:lnR>
                    <a:lnT>
                      <a:noFill/>
                    </a:lnT>
                    <a:lnB>
                      <a:noFill/>
                    </a:lnB>
                    <a:noFill/>
                  </a:tcPr>
                </a:tc>
                <a:tc>
                  <a:txBody>
                    <a:bodyPr/>
                    <a:lstStyle/>
                    <a:p>
                      <a:pPr>
                        <a:buNone/>
                      </a:pPr>
                      <a:r>
                        <a:rPr lang="en-CA" sz="1600" dirty="0"/>
                        <a:t>Pearson</a:t>
                      </a:r>
                    </a:p>
                  </a:txBody>
                  <a:tcPr anchor="ctr">
                    <a:lnL>
                      <a:noFill/>
                    </a:lnL>
                    <a:lnR>
                      <a:noFill/>
                    </a:lnR>
                    <a:lnT>
                      <a:noFill/>
                    </a:lnT>
                    <a:lnB>
                      <a:noFill/>
                    </a:lnB>
                    <a:noFill/>
                  </a:tcPr>
                </a:tc>
                <a:extLst>
                  <a:ext uri="{0D108BD9-81ED-4DB2-BD59-A6C34878D82A}">
                    <a16:rowId xmlns:a16="http://schemas.microsoft.com/office/drawing/2014/main" val="956187653"/>
                  </a:ext>
                </a:extLst>
              </a:tr>
              <a:tr h="0">
                <a:tc>
                  <a:txBody>
                    <a:bodyPr/>
                    <a:lstStyle/>
                    <a:p>
                      <a:pPr>
                        <a:buNone/>
                      </a:pPr>
                      <a:r>
                        <a:rPr lang="en-CA"/>
                        <a:t>PPO</a:t>
                      </a:r>
                    </a:p>
                  </a:txBody>
                  <a:tcPr anchor="ctr">
                    <a:lnL>
                      <a:noFill/>
                    </a:lnL>
                    <a:lnR>
                      <a:noFill/>
                    </a:lnR>
                    <a:lnT>
                      <a:noFill/>
                    </a:lnT>
                    <a:lnB>
                      <a:noFill/>
                    </a:lnB>
                    <a:noFill/>
                  </a:tcPr>
                </a:tc>
                <a:tc>
                  <a:txBody>
                    <a:bodyPr/>
                    <a:lstStyle/>
                    <a:p>
                      <a:pPr>
                        <a:buNone/>
                      </a:pPr>
                      <a:r>
                        <a:rPr lang="en-CA"/>
                        <a:t>Test</a:t>
                      </a:r>
                    </a:p>
                  </a:txBody>
                  <a:tcPr anchor="ctr">
                    <a:lnL>
                      <a:noFill/>
                    </a:lnL>
                    <a:lnR>
                      <a:noFill/>
                    </a:lnR>
                    <a:lnT>
                      <a:noFill/>
                    </a:lnT>
                    <a:lnB>
                      <a:noFill/>
                    </a:lnB>
                    <a:noFill/>
                  </a:tcPr>
                </a:tc>
                <a:tc>
                  <a:txBody>
                    <a:bodyPr/>
                    <a:lstStyle/>
                    <a:p>
                      <a:pPr>
                        <a:buNone/>
                      </a:pPr>
                      <a:r>
                        <a:rPr lang="en-CA" b="0" dirty="0"/>
                        <a:t>0.8734</a:t>
                      </a:r>
                    </a:p>
                  </a:txBody>
                  <a:tcPr anchor="ctr">
                    <a:lnL>
                      <a:noFill/>
                    </a:lnL>
                    <a:lnR>
                      <a:noFill/>
                    </a:lnR>
                    <a:lnT>
                      <a:noFill/>
                    </a:lnT>
                    <a:lnB>
                      <a:noFill/>
                    </a:lnB>
                    <a:noFill/>
                  </a:tcPr>
                </a:tc>
                <a:tc>
                  <a:txBody>
                    <a:bodyPr/>
                    <a:lstStyle/>
                    <a:p>
                      <a:pPr>
                        <a:buNone/>
                      </a:pPr>
                      <a:r>
                        <a:rPr lang="en-CA"/>
                        <a:t>0.8363</a:t>
                      </a:r>
                    </a:p>
                  </a:txBody>
                  <a:tcPr anchor="ctr">
                    <a:lnL>
                      <a:noFill/>
                    </a:lnL>
                    <a:lnR>
                      <a:noFill/>
                    </a:lnR>
                    <a:lnT>
                      <a:noFill/>
                    </a:lnT>
                    <a:lnB>
                      <a:noFill/>
                    </a:lnB>
                    <a:noFill/>
                  </a:tcPr>
                </a:tc>
                <a:tc>
                  <a:txBody>
                    <a:bodyPr/>
                    <a:lstStyle/>
                    <a:p>
                      <a:pPr>
                        <a:buNone/>
                      </a:pPr>
                      <a:r>
                        <a:rPr lang="en-CA" b="0" dirty="0"/>
                        <a:t>0.8503</a:t>
                      </a:r>
                    </a:p>
                  </a:txBody>
                  <a:tcPr anchor="ctr">
                    <a:lnL>
                      <a:noFill/>
                    </a:lnL>
                    <a:lnR>
                      <a:noFill/>
                    </a:lnR>
                    <a:lnT>
                      <a:noFill/>
                    </a:lnT>
                    <a:lnB>
                      <a:noFill/>
                    </a:lnB>
                    <a:noFill/>
                  </a:tcPr>
                </a:tc>
                <a:tc>
                  <a:txBody>
                    <a:bodyPr/>
                    <a:lstStyle/>
                    <a:p>
                      <a:pPr>
                        <a:buNone/>
                      </a:pPr>
                      <a:r>
                        <a:rPr lang="en-CA" b="0" dirty="0"/>
                        <a:t>0.8262</a:t>
                      </a:r>
                    </a:p>
                  </a:txBody>
                  <a:tcPr anchor="ctr">
                    <a:lnL>
                      <a:noFill/>
                    </a:lnL>
                    <a:lnR>
                      <a:noFill/>
                    </a:lnR>
                    <a:lnT>
                      <a:noFill/>
                    </a:lnT>
                    <a:lnB>
                      <a:noFill/>
                    </a:lnB>
                    <a:noFill/>
                  </a:tcPr>
                </a:tc>
                <a:tc>
                  <a:txBody>
                    <a:bodyPr/>
                    <a:lstStyle/>
                    <a:p>
                      <a:pPr>
                        <a:buNone/>
                      </a:pPr>
                      <a:r>
                        <a:rPr lang="en-CA" b="0" dirty="0"/>
                        <a:t>0.7924</a:t>
                      </a:r>
                    </a:p>
                  </a:txBody>
                  <a:tcPr anchor="ctr">
                    <a:lnL>
                      <a:noFill/>
                    </a:lnL>
                    <a:lnR>
                      <a:noFill/>
                    </a:lnR>
                    <a:lnT>
                      <a:noFill/>
                    </a:lnT>
                    <a:lnB>
                      <a:noFill/>
                    </a:lnB>
                    <a:noFill/>
                  </a:tcPr>
                </a:tc>
                <a:tc>
                  <a:txBody>
                    <a:bodyPr/>
                    <a:lstStyle/>
                    <a:p>
                      <a:pPr>
                        <a:buNone/>
                      </a:pPr>
                      <a:r>
                        <a:rPr lang="en-CA"/>
                        <a:t>0.3498</a:t>
                      </a:r>
                    </a:p>
                  </a:txBody>
                  <a:tcPr anchor="ctr">
                    <a:lnL>
                      <a:noFill/>
                    </a:lnL>
                    <a:lnR>
                      <a:noFill/>
                    </a:lnR>
                    <a:lnT>
                      <a:noFill/>
                    </a:lnT>
                    <a:lnB>
                      <a:noFill/>
                    </a:lnB>
                    <a:noFill/>
                  </a:tcPr>
                </a:tc>
                <a:tc>
                  <a:txBody>
                    <a:bodyPr/>
                    <a:lstStyle/>
                    <a:p>
                      <a:pPr>
                        <a:buNone/>
                      </a:pPr>
                      <a:r>
                        <a:rPr lang="en-CA"/>
                        <a:t>0.5566</a:t>
                      </a:r>
                    </a:p>
                  </a:txBody>
                  <a:tcPr anchor="ctr">
                    <a:lnL>
                      <a:noFill/>
                    </a:lnL>
                    <a:lnR>
                      <a:noFill/>
                    </a:lnR>
                    <a:lnT>
                      <a:noFill/>
                    </a:lnT>
                    <a:lnB>
                      <a:noFill/>
                    </a:lnB>
                    <a:noFill/>
                  </a:tcPr>
                </a:tc>
                <a:tc>
                  <a:txBody>
                    <a:bodyPr/>
                    <a:lstStyle/>
                    <a:p>
                      <a:pPr>
                        <a:buNone/>
                      </a:pPr>
                      <a:r>
                        <a:rPr lang="en-CA"/>
                        <a:t>0.3045</a:t>
                      </a:r>
                    </a:p>
                  </a:txBody>
                  <a:tcPr anchor="ctr">
                    <a:lnL>
                      <a:noFill/>
                    </a:lnL>
                    <a:lnR>
                      <a:noFill/>
                    </a:lnR>
                    <a:lnT>
                      <a:noFill/>
                    </a:lnT>
                    <a:lnB>
                      <a:noFill/>
                    </a:lnB>
                    <a:noFill/>
                  </a:tcPr>
                </a:tc>
                <a:tc>
                  <a:txBody>
                    <a:bodyPr/>
                    <a:lstStyle/>
                    <a:p>
                      <a:pPr>
                        <a:buNone/>
                      </a:pPr>
                      <a:r>
                        <a:rPr lang="en-CA"/>
                        <a:t>0.6936</a:t>
                      </a:r>
                    </a:p>
                  </a:txBody>
                  <a:tcPr anchor="ctr">
                    <a:lnL>
                      <a:noFill/>
                    </a:lnL>
                    <a:lnR>
                      <a:noFill/>
                    </a:lnR>
                    <a:lnT>
                      <a:noFill/>
                    </a:lnT>
                    <a:lnB>
                      <a:noFill/>
                    </a:lnB>
                    <a:noFill/>
                  </a:tcPr>
                </a:tc>
                <a:tc>
                  <a:txBody>
                    <a:bodyPr/>
                    <a:lstStyle/>
                    <a:p>
                      <a:pPr>
                        <a:buNone/>
                      </a:pPr>
                      <a:r>
                        <a:rPr lang="en-CA"/>
                        <a:t>0.8489</a:t>
                      </a:r>
                    </a:p>
                  </a:txBody>
                  <a:tcPr anchor="ctr">
                    <a:lnL>
                      <a:noFill/>
                    </a:lnL>
                    <a:lnR>
                      <a:noFill/>
                    </a:lnR>
                    <a:lnT>
                      <a:noFill/>
                    </a:lnT>
                    <a:lnB>
                      <a:noFill/>
                    </a:lnB>
                    <a:noFill/>
                  </a:tcPr>
                </a:tc>
                <a:extLst>
                  <a:ext uri="{0D108BD9-81ED-4DB2-BD59-A6C34878D82A}">
                    <a16:rowId xmlns:a16="http://schemas.microsoft.com/office/drawing/2014/main" val="3596735599"/>
                  </a:ext>
                </a:extLst>
              </a:tr>
              <a:tr h="0">
                <a:tc>
                  <a:txBody>
                    <a:bodyPr/>
                    <a:lstStyle/>
                    <a:p>
                      <a:pPr>
                        <a:buNone/>
                      </a:pPr>
                      <a:r>
                        <a:rPr lang="en-CA"/>
                        <a:t>PPO</a:t>
                      </a:r>
                    </a:p>
                  </a:txBody>
                  <a:tcPr anchor="ctr">
                    <a:lnL>
                      <a:noFill/>
                    </a:lnL>
                    <a:lnR>
                      <a:noFill/>
                    </a:lnR>
                    <a:lnT>
                      <a:noFill/>
                    </a:lnT>
                    <a:lnB>
                      <a:noFill/>
                    </a:lnB>
                    <a:noFill/>
                  </a:tcPr>
                </a:tc>
                <a:tc>
                  <a:txBody>
                    <a:bodyPr/>
                    <a:lstStyle/>
                    <a:p>
                      <a:pPr>
                        <a:buNone/>
                      </a:pPr>
                      <a:r>
                        <a:rPr lang="en-CA"/>
                        <a:t>Train</a:t>
                      </a:r>
                    </a:p>
                  </a:txBody>
                  <a:tcPr anchor="ctr">
                    <a:lnL>
                      <a:noFill/>
                    </a:lnL>
                    <a:lnR>
                      <a:noFill/>
                    </a:lnR>
                    <a:lnT>
                      <a:noFill/>
                    </a:lnT>
                    <a:lnB>
                      <a:noFill/>
                    </a:lnB>
                    <a:noFill/>
                  </a:tcPr>
                </a:tc>
                <a:tc>
                  <a:txBody>
                    <a:bodyPr/>
                    <a:lstStyle/>
                    <a:p>
                      <a:pPr>
                        <a:buNone/>
                      </a:pPr>
                      <a:r>
                        <a:rPr lang="en-CA" b="0" dirty="0"/>
                        <a:t>0.8684</a:t>
                      </a:r>
                    </a:p>
                  </a:txBody>
                  <a:tcPr anchor="ctr">
                    <a:lnL>
                      <a:noFill/>
                    </a:lnL>
                    <a:lnR>
                      <a:noFill/>
                    </a:lnR>
                    <a:lnT>
                      <a:noFill/>
                    </a:lnT>
                    <a:lnB>
                      <a:noFill/>
                    </a:lnB>
                    <a:noFill/>
                  </a:tcPr>
                </a:tc>
                <a:tc>
                  <a:txBody>
                    <a:bodyPr/>
                    <a:lstStyle/>
                    <a:p>
                      <a:pPr>
                        <a:buNone/>
                      </a:pPr>
                      <a:r>
                        <a:rPr lang="en-CA" dirty="0"/>
                        <a:t>0.8324</a:t>
                      </a:r>
                    </a:p>
                  </a:txBody>
                  <a:tcPr anchor="ctr">
                    <a:lnL>
                      <a:noFill/>
                    </a:lnL>
                    <a:lnR>
                      <a:noFill/>
                    </a:lnR>
                    <a:lnT>
                      <a:noFill/>
                    </a:lnT>
                    <a:lnB>
                      <a:noFill/>
                    </a:lnB>
                    <a:noFill/>
                  </a:tcPr>
                </a:tc>
                <a:tc>
                  <a:txBody>
                    <a:bodyPr/>
                    <a:lstStyle/>
                    <a:p>
                      <a:pPr>
                        <a:buNone/>
                      </a:pPr>
                      <a:r>
                        <a:rPr lang="en-CA" b="0" dirty="0"/>
                        <a:t>0.8364</a:t>
                      </a:r>
                    </a:p>
                  </a:txBody>
                  <a:tcPr anchor="ctr">
                    <a:lnL>
                      <a:noFill/>
                    </a:lnL>
                    <a:lnR>
                      <a:noFill/>
                    </a:lnR>
                    <a:lnT>
                      <a:noFill/>
                    </a:lnT>
                    <a:lnB>
                      <a:noFill/>
                    </a:lnB>
                    <a:noFill/>
                  </a:tcPr>
                </a:tc>
                <a:tc>
                  <a:txBody>
                    <a:bodyPr/>
                    <a:lstStyle/>
                    <a:p>
                      <a:pPr>
                        <a:buNone/>
                      </a:pPr>
                      <a:r>
                        <a:rPr lang="en-CA" b="0" dirty="0"/>
                        <a:t>0.8168</a:t>
                      </a:r>
                    </a:p>
                  </a:txBody>
                  <a:tcPr anchor="ctr">
                    <a:lnL>
                      <a:noFill/>
                    </a:lnL>
                    <a:lnR>
                      <a:noFill/>
                    </a:lnR>
                    <a:lnT>
                      <a:noFill/>
                    </a:lnT>
                    <a:lnB>
                      <a:noFill/>
                    </a:lnB>
                    <a:noFill/>
                  </a:tcPr>
                </a:tc>
                <a:tc>
                  <a:txBody>
                    <a:bodyPr/>
                    <a:lstStyle/>
                    <a:p>
                      <a:pPr>
                        <a:buNone/>
                      </a:pPr>
                      <a:r>
                        <a:rPr lang="en-CA" b="0" dirty="0"/>
                        <a:t>0.7830</a:t>
                      </a:r>
                    </a:p>
                  </a:txBody>
                  <a:tcPr anchor="ctr">
                    <a:lnL>
                      <a:noFill/>
                    </a:lnL>
                    <a:lnR>
                      <a:noFill/>
                    </a:lnR>
                    <a:lnT>
                      <a:noFill/>
                    </a:lnT>
                    <a:lnB>
                      <a:noFill/>
                    </a:lnB>
                    <a:noFill/>
                  </a:tcPr>
                </a:tc>
                <a:tc>
                  <a:txBody>
                    <a:bodyPr/>
                    <a:lstStyle/>
                    <a:p>
                      <a:pPr>
                        <a:buNone/>
                      </a:pPr>
                      <a:r>
                        <a:rPr lang="en-CA" b="0" dirty="0"/>
                        <a:t>0.2620</a:t>
                      </a:r>
                    </a:p>
                  </a:txBody>
                  <a:tcPr anchor="ctr">
                    <a:lnL>
                      <a:noFill/>
                    </a:lnL>
                    <a:lnR>
                      <a:noFill/>
                    </a:lnR>
                    <a:lnT>
                      <a:noFill/>
                    </a:lnT>
                    <a:lnB>
                      <a:noFill/>
                    </a:lnB>
                    <a:noFill/>
                  </a:tcPr>
                </a:tc>
                <a:tc>
                  <a:txBody>
                    <a:bodyPr/>
                    <a:lstStyle/>
                    <a:p>
                      <a:pPr>
                        <a:buNone/>
                      </a:pPr>
                      <a:r>
                        <a:rPr lang="en-CA" b="0" dirty="0"/>
                        <a:t>0.4867</a:t>
                      </a:r>
                    </a:p>
                  </a:txBody>
                  <a:tcPr anchor="ctr">
                    <a:lnL>
                      <a:noFill/>
                    </a:lnL>
                    <a:lnR>
                      <a:noFill/>
                    </a:lnR>
                    <a:lnT>
                      <a:noFill/>
                    </a:lnT>
                    <a:lnB>
                      <a:noFill/>
                    </a:lnB>
                    <a:noFill/>
                  </a:tcPr>
                </a:tc>
                <a:tc>
                  <a:txBody>
                    <a:bodyPr/>
                    <a:lstStyle/>
                    <a:p>
                      <a:pPr>
                        <a:buNone/>
                      </a:pPr>
                      <a:r>
                        <a:rPr lang="en-CA" b="0" dirty="0"/>
                        <a:t>0.2762</a:t>
                      </a:r>
                    </a:p>
                  </a:txBody>
                  <a:tcPr anchor="ctr">
                    <a:lnL>
                      <a:noFill/>
                    </a:lnL>
                    <a:lnR>
                      <a:noFill/>
                    </a:lnR>
                    <a:lnT>
                      <a:noFill/>
                    </a:lnT>
                    <a:lnB>
                      <a:noFill/>
                    </a:lnB>
                    <a:noFill/>
                  </a:tcPr>
                </a:tc>
                <a:tc>
                  <a:txBody>
                    <a:bodyPr/>
                    <a:lstStyle/>
                    <a:p>
                      <a:pPr>
                        <a:buNone/>
                      </a:pPr>
                      <a:r>
                        <a:rPr lang="en-CA" b="0" dirty="0"/>
                        <a:t>0.7481</a:t>
                      </a:r>
                    </a:p>
                  </a:txBody>
                  <a:tcPr anchor="ctr">
                    <a:lnL>
                      <a:noFill/>
                    </a:lnL>
                    <a:lnR>
                      <a:noFill/>
                    </a:lnR>
                    <a:lnT>
                      <a:noFill/>
                    </a:lnT>
                    <a:lnB>
                      <a:noFill/>
                    </a:lnB>
                    <a:noFill/>
                  </a:tcPr>
                </a:tc>
                <a:tc>
                  <a:txBody>
                    <a:bodyPr/>
                    <a:lstStyle/>
                    <a:p>
                      <a:pPr>
                        <a:buNone/>
                      </a:pPr>
                      <a:r>
                        <a:rPr lang="en-CA" b="0" dirty="0"/>
                        <a:t>0.8796</a:t>
                      </a:r>
                    </a:p>
                  </a:txBody>
                  <a:tcPr anchor="ctr">
                    <a:lnL>
                      <a:noFill/>
                    </a:lnL>
                    <a:lnR>
                      <a:noFill/>
                    </a:lnR>
                    <a:lnT>
                      <a:noFill/>
                    </a:lnT>
                    <a:lnB>
                      <a:noFill/>
                    </a:lnB>
                    <a:noFill/>
                  </a:tcPr>
                </a:tc>
                <a:extLst>
                  <a:ext uri="{0D108BD9-81ED-4DB2-BD59-A6C34878D82A}">
                    <a16:rowId xmlns:a16="http://schemas.microsoft.com/office/drawing/2014/main" val="2827764094"/>
                  </a:ext>
                </a:extLst>
              </a:tr>
              <a:tr h="0">
                <a:tc>
                  <a:txBody>
                    <a:bodyPr/>
                    <a:lstStyle/>
                    <a:p>
                      <a:pPr>
                        <a:buNone/>
                      </a:pPr>
                      <a:r>
                        <a:rPr lang="en-CA"/>
                        <a:t>TRPO→PPO</a:t>
                      </a:r>
                    </a:p>
                  </a:txBody>
                  <a:tcPr anchor="ctr">
                    <a:lnL>
                      <a:noFill/>
                    </a:lnL>
                    <a:lnR>
                      <a:noFill/>
                    </a:lnR>
                    <a:lnT>
                      <a:noFill/>
                    </a:lnT>
                    <a:lnB>
                      <a:noFill/>
                    </a:lnB>
                    <a:noFill/>
                  </a:tcPr>
                </a:tc>
                <a:tc>
                  <a:txBody>
                    <a:bodyPr/>
                    <a:lstStyle/>
                    <a:p>
                      <a:pPr>
                        <a:buNone/>
                      </a:pPr>
                      <a:r>
                        <a:rPr lang="en-CA"/>
                        <a:t>Test</a:t>
                      </a:r>
                    </a:p>
                  </a:txBody>
                  <a:tcPr anchor="ctr">
                    <a:lnL>
                      <a:noFill/>
                    </a:lnL>
                    <a:lnR>
                      <a:noFill/>
                    </a:lnR>
                    <a:lnT>
                      <a:noFill/>
                    </a:lnT>
                    <a:lnB>
                      <a:noFill/>
                    </a:lnB>
                    <a:noFill/>
                  </a:tcPr>
                </a:tc>
                <a:tc>
                  <a:txBody>
                    <a:bodyPr/>
                    <a:lstStyle/>
                    <a:p>
                      <a:pPr>
                        <a:buNone/>
                      </a:pPr>
                      <a:r>
                        <a:rPr lang="en-CA"/>
                        <a:t>0.8657</a:t>
                      </a:r>
                    </a:p>
                  </a:txBody>
                  <a:tcPr anchor="ctr">
                    <a:lnL>
                      <a:noFill/>
                    </a:lnL>
                    <a:lnR>
                      <a:noFill/>
                    </a:lnR>
                    <a:lnT>
                      <a:noFill/>
                    </a:lnT>
                    <a:lnB>
                      <a:noFill/>
                    </a:lnB>
                    <a:noFill/>
                  </a:tcPr>
                </a:tc>
                <a:tc>
                  <a:txBody>
                    <a:bodyPr/>
                    <a:lstStyle/>
                    <a:p>
                      <a:pPr>
                        <a:buNone/>
                      </a:pPr>
                      <a:r>
                        <a:rPr lang="en-CA"/>
                        <a:t>0.8297</a:t>
                      </a:r>
                    </a:p>
                  </a:txBody>
                  <a:tcPr anchor="ctr">
                    <a:lnL>
                      <a:noFill/>
                    </a:lnL>
                    <a:lnR>
                      <a:noFill/>
                    </a:lnR>
                    <a:lnT>
                      <a:noFill/>
                    </a:lnT>
                    <a:lnB>
                      <a:noFill/>
                    </a:lnB>
                    <a:noFill/>
                  </a:tcPr>
                </a:tc>
                <a:tc>
                  <a:txBody>
                    <a:bodyPr/>
                    <a:lstStyle/>
                    <a:p>
                      <a:pPr>
                        <a:buNone/>
                      </a:pPr>
                      <a:r>
                        <a:rPr lang="en-CA"/>
                        <a:t>0.8461</a:t>
                      </a:r>
                    </a:p>
                  </a:txBody>
                  <a:tcPr anchor="ctr">
                    <a:lnL>
                      <a:noFill/>
                    </a:lnL>
                    <a:lnR>
                      <a:noFill/>
                    </a:lnR>
                    <a:lnT>
                      <a:noFill/>
                    </a:lnT>
                    <a:lnB>
                      <a:noFill/>
                    </a:lnB>
                    <a:noFill/>
                  </a:tcPr>
                </a:tc>
                <a:tc>
                  <a:txBody>
                    <a:bodyPr/>
                    <a:lstStyle/>
                    <a:p>
                      <a:pPr>
                        <a:buNone/>
                      </a:pPr>
                      <a:r>
                        <a:rPr lang="en-CA"/>
                        <a:t>0.8188</a:t>
                      </a:r>
                    </a:p>
                  </a:txBody>
                  <a:tcPr anchor="ctr">
                    <a:lnL>
                      <a:noFill/>
                    </a:lnL>
                    <a:lnR>
                      <a:noFill/>
                    </a:lnR>
                    <a:lnT>
                      <a:noFill/>
                    </a:lnT>
                    <a:lnB>
                      <a:noFill/>
                    </a:lnB>
                    <a:noFill/>
                  </a:tcPr>
                </a:tc>
                <a:tc>
                  <a:txBody>
                    <a:bodyPr/>
                    <a:lstStyle/>
                    <a:p>
                      <a:pPr>
                        <a:buNone/>
                      </a:pPr>
                      <a:r>
                        <a:rPr lang="en-CA"/>
                        <a:t>0.7872</a:t>
                      </a:r>
                    </a:p>
                  </a:txBody>
                  <a:tcPr anchor="ctr">
                    <a:lnL>
                      <a:noFill/>
                    </a:lnL>
                    <a:lnR>
                      <a:noFill/>
                    </a:lnR>
                    <a:lnT>
                      <a:noFill/>
                    </a:lnT>
                    <a:lnB>
                      <a:noFill/>
                    </a:lnB>
                    <a:noFill/>
                  </a:tcPr>
                </a:tc>
                <a:tc>
                  <a:txBody>
                    <a:bodyPr/>
                    <a:lstStyle/>
                    <a:p>
                      <a:pPr>
                        <a:buNone/>
                      </a:pPr>
                      <a:r>
                        <a:rPr lang="en-CA" b="0" dirty="0"/>
                        <a:t>0.2850</a:t>
                      </a:r>
                    </a:p>
                  </a:txBody>
                  <a:tcPr anchor="ctr">
                    <a:lnL>
                      <a:noFill/>
                    </a:lnL>
                    <a:lnR>
                      <a:noFill/>
                    </a:lnR>
                    <a:lnT>
                      <a:noFill/>
                    </a:lnT>
                    <a:lnB>
                      <a:noFill/>
                    </a:lnB>
                    <a:noFill/>
                  </a:tcPr>
                </a:tc>
                <a:tc>
                  <a:txBody>
                    <a:bodyPr/>
                    <a:lstStyle/>
                    <a:p>
                      <a:pPr>
                        <a:buNone/>
                      </a:pPr>
                      <a:r>
                        <a:rPr lang="en-CA" b="0" dirty="0"/>
                        <a:t>0.5077</a:t>
                      </a:r>
                    </a:p>
                  </a:txBody>
                  <a:tcPr anchor="ctr">
                    <a:lnL>
                      <a:noFill/>
                    </a:lnL>
                    <a:lnR>
                      <a:noFill/>
                    </a:lnR>
                    <a:lnT>
                      <a:noFill/>
                    </a:lnT>
                    <a:lnB>
                      <a:noFill/>
                    </a:lnB>
                    <a:noFill/>
                  </a:tcPr>
                </a:tc>
                <a:tc>
                  <a:txBody>
                    <a:bodyPr/>
                    <a:lstStyle/>
                    <a:p>
                      <a:pPr>
                        <a:buNone/>
                      </a:pPr>
                      <a:r>
                        <a:rPr lang="en-CA"/>
                        <a:t>0.2986</a:t>
                      </a:r>
                    </a:p>
                  </a:txBody>
                  <a:tcPr anchor="ctr">
                    <a:lnL>
                      <a:noFill/>
                    </a:lnL>
                    <a:lnR>
                      <a:noFill/>
                    </a:lnR>
                    <a:lnT>
                      <a:noFill/>
                    </a:lnT>
                    <a:lnB>
                      <a:noFill/>
                    </a:lnB>
                    <a:noFill/>
                  </a:tcPr>
                </a:tc>
                <a:tc>
                  <a:txBody>
                    <a:bodyPr/>
                    <a:lstStyle/>
                    <a:p>
                      <a:pPr>
                        <a:buNone/>
                      </a:pPr>
                      <a:r>
                        <a:rPr lang="en-CA" b="0" dirty="0"/>
                        <a:t>0.7082</a:t>
                      </a:r>
                    </a:p>
                  </a:txBody>
                  <a:tcPr anchor="ctr">
                    <a:lnL>
                      <a:noFill/>
                    </a:lnL>
                    <a:lnR>
                      <a:noFill/>
                    </a:lnR>
                    <a:lnT>
                      <a:noFill/>
                    </a:lnT>
                    <a:lnB>
                      <a:noFill/>
                    </a:lnB>
                    <a:noFill/>
                  </a:tcPr>
                </a:tc>
                <a:tc>
                  <a:txBody>
                    <a:bodyPr/>
                    <a:lstStyle/>
                    <a:p>
                      <a:pPr>
                        <a:buNone/>
                      </a:pPr>
                      <a:r>
                        <a:rPr lang="en-CA"/>
                        <a:t>0.8602</a:t>
                      </a:r>
                    </a:p>
                  </a:txBody>
                  <a:tcPr anchor="ctr">
                    <a:lnL>
                      <a:noFill/>
                    </a:lnL>
                    <a:lnR>
                      <a:noFill/>
                    </a:lnR>
                    <a:lnT>
                      <a:noFill/>
                    </a:lnT>
                    <a:lnB>
                      <a:noFill/>
                    </a:lnB>
                    <a:noFill/>
                  </a:tcPr>
                </a:tc>
                <a:extLst>
                  <a:ext uri="{0D108BD9-81ED-4DB2-BD59-A6C34878D82A}">
                    <a16:rowId xmlns:a16="http://schemas.microsoft.com/office/drawing/2014/main" val="3296011369"/>
                  </a:ext>
                </a:extLst>
              </a:tr>
              <a:tr h="0">
                <a:tc>
                  <a:txBody>
                    <a:bodyPr/>
                    <a:lstStyle/>
                    <a:p>
                      <a:pPr>
                        <a:buNone/>
                      </a:pPr>
                      <a:r>
                        <a:rPr lang="en-CA"/>
                        <a:t>TRPO→PPO</a:t>
                      </a:r>
                    </a:p>
                  </a:txBody>
                  <a:tcPr anchor="ctr">
                    <a:lnL>
                      <a:noFill/>
                    </a:lnL>
                    <a:lnR>
                      <a:noFill/>
                    </a:lnR>
                    <a:lnT>
                      <a:noFill/>
                    </a:lnT>
                    <a:lnB>
                      <a:noFill/>
                    </a:lnB>
                    <a:noFill/>
                  </a:tcPr>
                </a:tc>
                <a:tc>
                  <a:txBody>
                    <a:bodyPr/>
                    <a:lstStyle/>
                    <a:p>
                      <a:pPr>
                        <a:buNone/>
                      </a:pPr>
                      <a:r>
                        <a:rPr lang="en-CA"/>
                        <a:t>Train</a:t>
                      </a:r>
                    </a:p>
                  </a:txBody>
                  <a:tcPr anchor="ctr">
                    <a:lnL>
                      <a:noFill/>
                    </a:lnL>
                    <a:lnR>
                      <a:noFill/>
                    </a:lnR>
                    <a:lnT>
                      <a:noFill/>
                    </a:lnT>
                    <a:lnB>
                      <a:noFill/>
                    </a:lnB>
                    <a:noFill/>
                  </a:tcPr>
                </a:tc>
                <a:tc>
                  <a:txBody>
                    <a:bodyPr/>
                    <a:lstStyle/>
                    <a:p>
                      <a:pPr>
                        <a:buNone/>
                      </a:pPr>
                      <a:r>
                        <a:rPr lang="en-CA"/>
                        <a:t>0.8683</a:t>
                      </a:r>
                    </a:p>
                  </a:txBody>
                  <a:tcPr anchor="ctr">
                    <a:lnL>
                      <a:noFill/>
                    </a:lnL>
                    <a:lnR>
                      <a:noFill/>
                    </a:lnR>
                    <a:lnT>
                      <a:noFill/>
                    </a:lnT>
                    <a:lnB>
                      <a:noFill/>
                    </a:lnB>
                    <a:noFill/>
                  </a:tcPr>
                </a:tc>
                <a:tc>
                  <a:txBody>
                    <a:bodyPr/>
                    <a:lstStyle/>
                    <a:p>
                      <a:pPr>
                        <a:buNone/>
                      </a:pPr>
                      <a:r>
                        <a:rPr lang="en-CA"/>
                        <a:t>0.8349</a:t>
                      </a:r>
                    </a:p>
                  </a:txBody>
                  <a:tcPr anchor="ctr">
                    <a:lnL>
                      <a:noFill/>
                    </a:lnL>
                    <a:lnR>
                      <a:noFill/>
                    </a:lnR>
                    <a:lnT>
                      <a:noFill/>
                    </a:lnT>
                    <a:lnB>
                      <a:noFill/>
                    </a:lnB>
                    <a:noFill/>
                  </a:tcPr>
                </a:tc>
                <a:tc>
                  <a:txBody>
                    <a:bodyPr/>
                    <a:lstStyle/>
                    <a:p>
                      <a:pPr>
                        <a:buNone/>
                      </a:pPr>
                      <a:r>
                        <a:rPr lang="en-CA"/>
                        <a:t>0.8341</a:t>
                      </a:r>
                    </a:p>
                  </a:txBody>
                  <a:tcPr anchor="ctr">
                    <a:lnL>
                      <a:noFill/>
                    </a:lnL>
                    <a:lnR>
                      <a:noFill/>
                    </a:lnR>
                    <a:lnT>
                      <a:noFill/>
                    </a:lnT>
                    <a:lnB>
                      <a:noFill/>
                    </a:lnB>
                    <a:noFill/>
                  </a:tcPr>
                </a:tc>
                <a:tc>
                  <a:txBody>
                    <a:bodyPr/>
                    <a:lstStyle/>
                    <a:p>
                      <a:pPr>
                        <a:buNone/>
                      </a:pPr>
                      <a:r>
                        <a:rPr lang="en-CA"/>
                        <a:t>0.8174</a:t>
                      </a:r>
                    </a:p>
                  </a:txBody>
                  <a:tcPr anchor="ctr">
                    <a:lnL>
                      <a:noFill/>
                    </a:lnL>
                    <a:lnR>
                      <a:noFill/>
                    </a:lnR>
                    <a:lnT>
                      <a:noFill/>
                    </a:lnT>
                    <a:lnB>
                      <a:noFill/>
                    </a:lnB>
                    <a:noFill/>
                  </a:tcPr>
                </a:tc>
                <a:tc>
                  <a:txBody>
                    <a:bodyPr/>
                    <a:lstStyle/>
                    <a:p>
                      <a:pPr>
                        <a:buNone/>
                      </a:pPr>
                      <a:r>
                        <a:rPr lang="en-CA"/>
                        <a:t>0.7817</a:t>
                      </a:r>
                    </a:p>
                  </a:txBody>
                  <a:tcPr anchor="ctr">
                    <a:lnL>
                      <a:noFill/>
                    </a:lnL>
                    <a:lnR>
                      <a:noFill/>
                    </a:lnR>
                    <a:lnT>
                      <a:noFill/>
                    </a:lnT>
                    <a:lnB>
                      <a:noFill/>
                    </a:lnB>
                    <a:noFill/>
                  </a:tcPr>
                </a:tc>
                <a:tc>
                  <a:txBody>
                    <a:bodyPr/>
                    <a:lstStyle/>
                    <a:p>
                      <a:pPr>
                        <a:buNone/>
                      </a:pPr>
                      <a:r>
                        <a:rPr lang="en-CA"/>
                        <a:t>0.3246</a:t>
                      </a:r>
                    </a:p>
                  </a:txBody>
                  <a:tcPr anchor="ctr">
                    <a:lnL>
                      <a:noFill/>
                    </a:lnL>
                    <a:lnR>
                      <a:noFill/>
                    </a:lnR>
                    <a:lnT>
                      <a:noFill/>
                    </a:lnT>
                    <a:lnB>
                      <a:noFill/>
                    </a:lnB>
                    <a:noFill/>
                  </a:tcPr>
                </a:tc>
                <a:tc>
                  <a:txBody>
                    <a:bodyPr/>
                    <a:lstStyle/>
                    <a:p>
                      <a:pPr>
                        <a:buNone/>
                      </a:pPr>
                      <a:r>
                        <a:rPr lang="en-CA"/>
                        <a:t>0.5282</a:t>
                      </a:r>
                    </a:p>
                  </a:txBody>
                  <a:tcPr anchor="ctr">
                    <a:lnL>
                      <a:noFill/>
                    </a:lnL>
                    <a:lnR>
                      <a:noFill/>
                    </a:lnR>
                    <a:lnT>
                      <a:noFill/>
                    </a:lnT>
                    <a:lnB>
                      <a:noFill/>
                    </a:lnB>
                    <a:noFill/>
                  </a:tcPr>
                </a:tc>
                <a:tc>
                  <a:txBody>
                    <a:bodyPr/>
                    <a:lstStyle/>
                    <a:p>
                      <a:pPr>
                        <a:buNone/>
                      </a:pPr>
                      <a:r>
                        <a:rPr lang="en-CA"/>
                        <a:t>0.2711</a:t>
                      </a:r>
                    </a:p>
                  </a:txBody>
                  <a:tcPr anchor="ctr">
                    <a:lnL>
                      <a:noFill/>
                    </a:lnL>
                    <a:lnR>
                      <a:noFill/>
                    </a:lnR>
                    <a:lnT>
                      <a:noFill/>
                    </a:lnT>
                    <a:lnB>
                      <a:noFill/>
                    </a:lnB>
                    <a:noFill/>
                  </a:tcPr>
                </a:tc>
                <a:tc>
                  <a:txBody>
                    <a:bodyPr/>
                    <a:lstStyle/>
                    <a:p>
                      <a:pPr>
                        <a:buNone/>
                      </a:pPr>
                      <a:r>
                        <a:rPr lang="en-CA"/>
                        <a:t>0.6999</a:t>
                      </a:r>
                    </a:p>
                  </a:txBody>
                  <a:tcPr anchor="ctr">
                    <a:lnL>
                      <a:noFill/>
                    </a:lnL>
                    <a:lnR>
                      <a:noFill/>
                    </a:lnR>
                    <a:lnT>
                      <a:noFill/>
                    </a:lnT>
                    <a:lnB>
                      <a:noFill/>
                    </a:lnB>
                    <a:noFill/>
                  </a:tcPr>
                </a:tc>
                <a:tc>
                  <a:txBody>
                    <a:bodyPr/>
                    <a:lstStyle/>
                    <a:p>
                      <a:pPr>
                        <a:buNone/>
                      </a:pPr>
                      <a:r>
                        <a:rPr lang="en-CA" dirty="0"/>
                        <a:t>0.8493</a:t>
                      </a:r>
                    </a:p>
                  </a:txBody>
                  <a:tcPr anchor="ctr">
                    <a:lnL>
                      <a:noFill/>
                    </a:lnL>
                    <a:lnR>
                      <a:noFill/>
                    </a:lnR>
                    <a:lnT>
                      <a:noFill/>
                    </a:lnT>
                    <a:lnB>
                      <a:noFill/>
                    </a:lnB>
                    <a:noFill/>
                  </a:tcPr>
                </a:tc>
                <a:extLst>
                  <a:ext uri="{0D108BD9-81ED-4DB2-BD59-A6C34878D82A}">
                    <a16:rowId xmlns:a16="http://schemas.microsoft.com/office/drawing/2014/main" val="2562648543"/>
                  </a:ext>
                </a:extLst>
              </a:tr>
            </a:tbl>
          </a:graphicData>
        </a:graphic>
      </p:graphicFrame>
    </p:spTree>
    <p:extLst>
      <p:ext uri="{BB962C8B-B14F-4D97-AF65-F5344CB8AC3E}">
        <p14:creationId xmlns:p14="http://schemas.microsoft.com/office/powerpoint/2010/main" val="6674578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E2601B-1061-45C2-B855-532452E2233A}"/>
              </a:ext>
            </a:extLst>
          </p:cNvPr>
          <p:cNvSpPr>
            <a:spLocks noGrp="1"/>
          </p:cNvSpPr>
          <p:nvPr>
            <p:ph type="title"/>
          </p:nvPr>
        </p:nvSpPr>
        <p:spPr/>
        <p:txBody>
          <a:bodyPr/>
          <a:lstStyle/>
          <a:p>
            <a:r>
              <a:rPr lang="en-US" dirty="0"/>
              <a:t>Results(Trajectories Comparision hardware and Software)</a:t>
            </a:r>
            <a:endParaRPr lang="en-CA" dirty="0"/>
          </a:p>
        </p:txBody>
      </p:sp>
      <p:graphicFrame>
        <p:nvGraphicFramePr>
          <p:cNvPr id="5" name="Table 4">
            <a:extLst>
              <a:ext uri="{FF2B5EF4-FFF2-40B4-BE49-F238E27FC236}">
                <a16:creationId xmlns:a16="http://schemas.microsoft.com/office/drawing/2014/main" id="{D4327FC0-2DF3-D468-DE90-37ABE74EB147}"/>
              </a:ext>
            </a:extLst>
          </p:cNvPr>
          <p:cNvGraphicFramePr>
            <a:graphicFrameLocks noGrp="1"/>
          </p:cNvGraphicFramePr>
          <p:nvPr>
            <p:extLst>
              <p:ext uri="{D42A27DB-BD31-4B8C-83A1-F6EECF244321}">
                <p14:modId xmlns:p14="http://schemas.microsoft.com/office/powerpoint/2010/main" val="1032175760"/>
              </p:ext>
            </p:extLst>
          </p:nvPr>
        </p:nvGraphicFramePr>
        <p:xfrm>
          <a:off x="1038225" y="2705894"/>
          <a:ext cx="10515600" cy="1828800"/>
        </p:xfrm>
        <a:graphic>
          <a:graphicData uri="http://schemas.openxmlformats.org/drawingml/2006/table">
            <a:tbl>
              <a:tblPr/>
              <a:tblGrid>
                <a:gridCol w="2628900">
                  <a:extLst>
                    <a:ext uri="{9D8B030D-6E8A-4147-A177-3AD203B41FA5}">
                      <a16:colId xmlns:a16="http://schemas.microsoft.com/office/drawing/2014/main" val="2257296588"/>
                    </a:ext>
                  </a:extLst>
                </a:gridCol>
                <a:gridCol w="2628900">
                  <a:extLst>
                    <a:ext uri="{9D8B030D-6E8A-4147-A177-3AD203B41FA5}">
                      <a16:colId xmlns:a16="http://schemas.microsoft.com/office/drawing/2014/main" val="2917434813"/>
                    </a:ext>
                  </a:extLst>
                </a:gridCol>
                <a:gridCol w="2628900">
                  <a:extLst>
                    <a:ext uri="{9D8B030D-6E8A-4147-A177-3AD203B41FA5}">
                      <a16:colId xmlns:a16="http://schemas.microsoft.com/office/drawing/2014/main" val="3643297224"/>
                    </a:ext>
                  </a:extLst>
                </a:gridCol>
                <a:gridCol w="2628900">
                  <a:extLst>
                    <a:ext uri="{9D8B030D-6E8A-4147-A177-3AD203B41FA5}">
                      <a16:colId xmlns:a16="http://schemas.microsoft.com/office/drawing/2014/main" val="3029237061"/>
                    </a:ext>
                  </a:extLst>
                </a:gridCol>
              </a:tblGrid>
              <a:tr h="0">
                <a:tc>
                  <a:txBody>
                    <a:bodyPr/>
                    <a:lstStyle/>
                    <a:p>
                      <a:pPr>
                        <a:buNone/>
                      </a:pPr>
                      <a:r>
                        <a:rPr lang="en-CA" b="1"/>
                        <a:t>System</a:t>
                      </a:r>
                      <a:endParaRPr lang="en-CA"/>
                    </a:p>
                  </a:txBody>
                  <a:tcPr anchor="ctr">
                    <a:lnL>
                      <a:noFill/>
                    </a:lnL>
                    <a:lnR>
                      <a:noFill/>
                    </a:lnR>
                    <a:lnT>
                      <a:noFill/>
                    </a:lnT>
                    <a:lnB>
                      <a:noFill/>
                    </a:lnB>
                    <a:noFill/>
                  </a:tcPr>
                </a:tc>
                <a:tc>
                  <a:txBody>
                    <a:bodyPr/>
                    <a:lstStyle/>
                    <a:p>
                      <a:pPr>
                        <a:buNone/>
                      </a:pPr>
                      <a:r>
                        <a:rPr lang="en-CA" b="1"/>
                        <a:t>Algorithm</a:t>
                      </a:r>
                      <a:endParaRPr lang="en-CA"/>
                    </a:p>
                  </a:txBody>
                  <a:tcPr anchor="ctr">
                    <a:lnL>
                      <a:noFill/>
                    </a:lnL>
                    <a:lnR>
                      <a:noFill/>
                    </a:lnR>
                    <a:lnT>
                      <a:noFill/>
                    </a:lnT>
                    <a:lnB>
                      <a:noFill/>
                    </a:lnB>
                    <a:noFill/>
                  </a:tcPr>
                </a:tc>
                <a:tc>
                  <a:txBody>
                    <a:bodyPr/>
                    <a:lstStyle/>
                    <a:p>
                      <a:pPr>
                        <a:buNone/>
                      </a:pPr>
                      <a:r>
                        <a:rPr lang="en-CA" b="1" dirty="0"/>
                        <a:t>DTW </a:t>
                      </a:r>
                      <a:endParaRPr lang="en-CA" dirty="0"/>
                    </a:p>
                  </a:txBody>
                  <a:tcPr anchor="ctr">
                    <a:lnL>
                      <a:noFill/>
                    </a:lnL>
                    <a:lnR>
                      <a:noFill/>
                    </a:lnR>
                    <a:lnT>
                      <a:noFill/>
                    </a:lnT>
                    <a:lnB>
                      <a:noFill/>
                    </a:lnB>
                    <a:noFill/>
                  </a:tcPr>
                </a:tc>
                <a:tc>
                  <a:txBody>
                    <a:bodyPr/>
                    <a:lstStyle/>
                    <a:p>
                      <a:pPr>
                        <a:buNone/>
                      </a:pPr>
                      <a:r>
                        <a:rPr lang="en-CA" b="1" dirty="0"/>
                        <a:t>Wasserstein </a:t>
                      </a:r>
                      <a:endParaRPr lang="en-CA" dirty="0"/>
                    </a:p>
                  </a:txBody>
                  <a:tcPr anchor="ctr">
                    <a:lnL>
                      <a:noFill/>
                    </a:lnL>
                    <a:lnR>
                      <a:noFill/>
                    </a:lnR>
                    <a:lnT>
                      <a:noFill/>
                    </a:lnT>
                    <a:lnB>
                      <a:noFill/>
                    </a:lnB>
                    <a:noFill/>
                  </a:tcPr>
                </a:tc>
                <a:extLst>
                  <a:ext uri="{0D108BD9-81ED-4DB2-BD59-A6C34878D82A}">
                    <a16:rowId xmlns:a16="http://schemas.microsoft.com/office/drawing/2014/main" val="2205508143"/>
                  </a:ext>
                </a:extLst>
              </a:tr>
              <a:tr h="0">
                <a:tc>
                  <a:txBody>
                    <a:bodyPr/>
                    <a:lstStyle/>
                    <a:p>
                      <a:pPr>
                        <a:buNone/>
                      </a:pPr>
                      <a:r>
                        <a:rPr lang="en-CA" b="1"/>
                        <a:t>CTRL</a:t>
                      </a:r>
                      <a:endParaRPr lang="en-CA"/>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b="1"/>
                        <a:t>5.0206</a:t>
                      </a:r>
                      <a:endParaRPr lang="en-CA"/>
                    </a:p>
                  </a:txBody>
                  <a:tcPr anchor="ctr">
                    <a:lnL>
                      <a:noFill/>
                    </a:lnL>
                    <a:lnR>
                      <a:noFill/>
                    </a:lnR>
                    <a:lnT>
                      <a:noFill/>
                    </a:lnT>
                    <a:lnB>
                      <a:noFill/>
                    </a:lnB>
                    <a:noFill/>
                  </a:tcPr>
                </a:tc>
                <a:tc>
                  <a:txBody>
                    <a:bodyPr/>
                    <a:lstStyle/>
                    <a:p>
                      <a:pPr>
                        <a:buNone/>
                      </a:pPr>
                      <a:r>
                        <a:rPr lang="en-CA" b="1"/>
                        <a:t>0.8945</a:t>
                      </a:r>
                      <a:endParaRPr lang="en-CA"/>
                    </a:p>
                  </a:txBody>
                  <a:tcPr anchor="ctr">
                    <a:lnL>
                      <a:noFill/>
                    </a:lnL>
                    <a:lnR>
                      <a:noFill/>
                    </a:lnR>
                    <a:lnT>
                      <a:noFill/>
                    </a:lnT>
                    <a:lnB>
                      <a:noFill/>
                    </a:lnB>
                    <a:noFill/>
                  </a:tcPr>
                </a:tc>
                <a:extLst>
                  <a:ext uri="{0D108BD9-81ED-4DB2-BD59-A6C34878D82A}">
                    <a16:rowId xmlns:a16="http://schemas.microsoft.com/office/drawing/2014/main" val="2411616799"/>
                  </a:ext>
                </a:extLst>
              </a:tr>
              <a:tr h="0">
                <a:tc>
                  <a:txBody>
                    <a:bodyPr/>
                    <a:lstStyle/>
                    <a:p>
                      <a:pPr>
                        <a:buNone/>
                      </a:pPr>
                      <a:r>
                        <a:rPr lang="en-CA" b="1"/>
                        <a:t>CTRL</a:t>
                      </a:r>
                      <a:endParaRPr lang="en-CA"/>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b="1"/>
                        <a:t>4.8710</a:t>
                      </a:r>
                      <a:endParaRPr lang="en-CA"/>
                    </a:p>
                  </a:txBody>
                  <a:tcPr anchor="ctr">
                    <a:lnL>
                      <a:noFill/>
                    </a:lnL>
                    <a:lnR>
                      <a:noFill/>
                    </a:lnR>
                    <a:lnT>
                      <a:noFill/>
                    </a:lnT>
                    <a:lnB>
                      <a:noFill/>
                    </a:lnB>
                    <a:noFill/>
                  </a:tcPr>
                </a:tc>
                <a:tc>
                  <a:txBody>
                    <a:bodyPr/>
                    <a:lstStyle/>
                    <a:p>
                      <a:pPr>
                        <a:buNone/>
                      </a:pPr>
                      <a:r>
                        <a:rPr lang="en-CA" b="1"/>
                        <a:t>0.9181</a:t>
                      </a:r>
                      <a:endParaRPr lang="en-CA"/>
                    </a:p>
                  </a:txBody>
                  <a:tcPr anchor="ctr">
                    <a:lnL>
                      <a:noFill/>
                    </a:lnL>
                    <a:lnR>
                      <a:noFill/>
                    </a:lnR>
                    <a:lnT>
                      <a:noFill/>
                    </a:lnT>
                    <a:lnB>
                      <a:noFill/>
                    </a:lnB>
                    <a:noFill/>
                  </a:tcPr>
                </a:tc>
                <a:extLst>
                  <a:ext uri="{0D108BD9-81ED-4DB2-BD59-A6C34878D82A}">
                    <a16:rowId xmlns:a16="http://schemas.microsoft.com/office/drawing/2014/main" val="1243665634"/>
                  </a:ext>
                </a:extLst>
              </a:tr>
              <a:tr h="0">
                <a:tc>
                  <a:txBody>
                    <a:bodyPr/>
                    <a:lstStyle/>
                    <a:p>
                      <a:pPr>
                        <a:buNone/>
                      </a:pPr>
                      <a:r>
                        <a:rPr lang="en-CA" b="1"/>
                        <a:t>PTPN2</a:t>
                      </a:r>
                      <a:endParaRPr lang="en-CA"/>
                    </a:p>
                  </a:txBody>
                  <a:tcPr anchor="ctr">
                    <a:lnL>
                      <a:noFill/>
                    </a:lnL>
                    <a:lnR>
                      <a:noFill/>
                    </a:lnR>
                    <a:lnT>
                      <a:noFill/>
                    </a:lnT>
                    <a:lnB>
                      <a:noFill/>
                    </a:lnB>
                    <a:noFill/>
                  </a:tcPr>
                </a:tc>
                <a:tc>
                  <a:txBody>
                    <a:bodyPr/>
                    <a:lstStyle/>
                    <a:p>
                      <a:pPr>
                        <a:buNone/>
                      </a:pPr>
                      <a:r>
                        <a:rPr lang="en-CA"/>
                        <a:t>PPO</a:t>
                      </a:r>
                    </a:p>
                  </a:txBody>
                  <a:tcPr anchor="ctr">
                    <a:lnL>
                      <a:noFill/>
                    </a:lnL>
                    <a:lnR>
                      <a:noFill/>
                    </a:lnR>
                    <a:lnT>
                      <a:noFill/>
                    </a:lnT>
                    <a:lnB>
                      <a:noFill/>
                    </a:lnB>
                    <a:noFill/>
                  </a:tcPr>
                </a:tc>
                <a:tc>
                  <a:txBody>
                    <a:bodyPr/>
                    <a:lstStyle/>
                    <a:p>
                      <a:pPr>
                        <a:buNone/>
                      </a:pPr>
                      <a:r>
                        <a:rPr lang="en-CA" b="1"/>
                        <a:t>2.6794</a:t>
                      </a:r>
                      <a:endParaRPr lang="en-CA"/>
                    </a:p>
                  </a:txBody>
                  <a:tcPr anchor="ctr">
                    <a:lnL>
                      <a:noFill/>
                    </a:lnL>
                    <a:lnR>
                      <a:noFill/>
                    </a:lnR>
                    <a:lnT>
                      <a:noFill/>
                    </a:lnT>
                    <a:lnB>
                      <a:noFill/>
                    </a:lnB>
                    <a:noFill/>
                  </a:tcPr>
                </a:tc>
                <a:tc>
                  <a:txBody>
                    <a:bodyPr/>
                    <a:lstStyle/>
                    <a:p>
                      <a:pPr>
                        <a:buNone/>
                      </a:pPr>
                      <a:r>
                        <a:rPr lang="en-CA" b="1"/>
                        <a:t>0.5186</a:t>
                      </a:r>
                      <a:endParaRPr lang="en-CA"/>
                    </a:p>
                  </a:txBody>
                  <a:tcPr anchor="ctr">
                    <a:lnL>
                      <a:noFill/>
                    </a:lnL>
                    <a:lnR>
                      <a:noFill/>
                    </a:lnR>
                    <a:lnT>
                      <a:noFill/>
                    </a:lnT>
                    <a:lnB>
                      <a:noFill/>
                    </a:lnB>
                    <a:noFill/>
                  </a:tcPr>
                </a:tc>
                <a:extLst>
                  <a:ext uri="{0D108BD9-81ED-4DB2-BD59-A6C34878D82A}">
                    <a16:rowId xmlns:a16="http://schemas.microsoft.com/office/drawing/2014/main" val="243426141"/>
                  </a:ext>
                </a:extLst>
              </a:tr>
              <a:tr h="0">
                <a:tc>
                  <a:txBody>
                    <a:bodyPr/>
                    <a:lstStyle/>
                    <a:p>
                      <a:pPr>
                        <a:buNone/>
                      </a:pPr>
                      <a:r>
                        <a:rPr lang="en-CA" b="1"/>
                        <a:t>PTPN2</a:t>
                      </a:r>
                      <a:endParaRPr lang="en-CA"/>
                    </a:p>
                  </a:txBody>
                  <a:tcPr anchor="ctr">
                    <a:lnL>
                      <a:noFill/>
                    </a:lnL>
                    <a:lnR>
                      <a:noFill/>
                    </a:lnR>
                    <a:lnT>
                      <a:noFill/>
                    </a:lnT>
                    <a:lnB>
                      <a:noFill/>
                    </a:lnB>
                    <a:noFill/>
                  </a:tcPr>
                </a:tc>
                <a:tc>
                  <a:txBody>
                    <a:bodyPr/>
                    <a:lstStyle/>
                    <a:p>
                      <a:pPr>
                        <a:buNone/>
                      </a:pPr>
                      <a:r>
                        <a:rPr lang="en-CA"/>
                        <a:t>TRPO→PPO</a:t>
                      </a:r>
                    </a:p>
                  </a:txBody>
                  <a:tcPr anchor="ctr">
                    <a:lnL>
                      <a:noFill/>
                    </a:lnL>
                    <a:lnR>
                      <a:noFill/>
                    </a:lnR>
                    <a:lnT>
                      <a:noFill/>
                    </a:lnT>
                    <a:lnB>
                      <a:noFill/>
                    </a:lnB>
                    <a:noFill/>
                  </a:tcPr>
                </a:tc>
                <a:tc>
                  <a:txBody>
                    <a:bodyPr/>
                    <a:lstStyle/>
                    <a:p>
                      <a:pPr>
                        <a:buNone/>
                      </a:pPr>
                      <a:r>
                        <a:rPr lang="en-CA" b="1"/>
                        <a:t>2.3095</a:t>
                      </a:r>
                      <a:endParaRPr lang="en-CA"/>
                    </a:p>
                  </a:txBody>
                  <a:tcPr anchor="ctr">
                    <a:lnL>
                      <a:noFill/>
                    </a:lnL>
                    <a:lnR>
                      <a:noFill/>
                    </a:lnR>
                    <a:lnT>
                      <a:noFill/>
                    </a:lnT>
                    <a:lnB>
                      <a:noFill/>
                    </a:lnB>
                    <a:noFill/>
                  </a:tcPr>
                </a:tc>
                <a:tc>
                  <a:txBody>
                    <a:bodyPr/>
                    <a:lstStyle/>
                    <a:p>
                      <a:pPr>
                        <a:buNone/>
                      </a:pPr>
                      <a:r>
                        <a:rPr lang="en-CA" b="1" dirty="0"/>
                        <a:t>0.4461</a:t>
                      </a:r>
                      <a:endParaRPr lang="en-CA" dirty="0"/>
                    </a:p>
                  </a:txBody>
                  <a:tcPr anchor="ctr">
                    <a:lnL>
                      <a:noFill/>
                    </a:lnL>
                    <a:lnR>
                      <a:noFill/>
                    </a:lnR>
                    <a:lnT>
                      <a:noFill/>
                    </a:lnT>
                    <a:lnB>
                      <a:noFill/>
                    </a:lnB>
                    <a:noFill/>
                  </a:tcPr>
                </a:tc>
                <a:extLst>
                  <a:ext uri="{0D108BD9-81ED-4DB2-BD59-A6C34878D82A}">
                    <a16:rowId xmlns:a16="http://schemas.microsoft.com/office/drawing/2014/main" val="1136492429"/>
                  </a:ext>
                </a:extLst>
              </a:tr>
            </a:tbl>
          </a:graphicData>
        </a:graphic>
      </p:graphicFrame>
    </p:spTree>
    <p:extLst>
      <p:ext uri="{BB962C8B-B14F-4D97-AF65-F5344CB8AC3E}">
        <p14:creationId xmlns:p14="http://schemas.microsoft.com/office/powerpoint/2010/main" val="42428020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F1000D-1C8E-2F1B-B07B-51EF429F518A}"/>
              </a:ext>
            </a:extLst>
          </p:cNvPr>
          <p:cNvSpPr>
            <a:spLocks noGrp="1"/>
          </p:cNvSpPr>
          <p:nvPr>
            <p:ph type="title"/>
          </p:nvPr>
        </p:nvSpPr>
        <p:spPr>
          <a:xfrm>
            <a:off x="1043631" y="809898"/>
            <a:ext cx="10173010" cy="1554480"/>
          </a:xfrm>
        </p:spPr>
        <p:txBody>
          <a:bodyPr anchor="ctr">
            <a:normAutofit/>
          </a:bodyPr>
          <a:lstStyle/>
          <a:p>
            <a:r>
              <a:rPr lang="en-CA" sz="4800" b="1">
                <a:latin typeface="Times New Roman" panose="02020603050405020304" pitchFamily="18" charset="0"/>
                <a:cs typeface="Times New Roman" panose="02020603050405020304" pitchFamily="18" charset="0"/>
              </a:rPr>
              <a:t>Expected Impact</a:t>
            </a:r>
            <a:br>
              <a:rPr lang="en-CA" sz="4800" b="1">
                <a:latin typeface="Times New Roman" panose="02020603050405020304" pitchFamily="18" charset="0"/>
                <a:cs typeface="Times New Roman" panose="02020603050405020304" pitchFamily="18" charset="0"/>
              </a:rPr>
            </a:br>
            <a:endParaRPr lang="en-CA" sz="4800">
              <a:latin typeface="Times New Roman" panose="02020603050405020304" pitchFamily="18" charset="0"/>
              <a:cs typeface="Times New Roman" panose="02020603050405020304" pitchFamily="18" charset="0"/>
            </a:endParaRPr>
          </a:p>
        </p:txBody>
      </p:sp>
      <p:cxnSp>
        <p:nvCxnSpPr>
          <p:cNvPr id="18" name="Straight Connector 1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4B034FA6-CFEC-6BBB-BE60-D6D98D39226F}"/>
              </a:ext>
            </a:extLst>
          </p:cNvPr>
          <p:cNvGraphicFramePr>
            <a:graphicFrameLocks noGrp="1"/>
          </p:cNvGraphicFramePr>
          <p:nvPr>
            <p:ph idx="1"/>
            <p:extLst>
              <p:ext uri="{D42A27DB-BD31-4B8C-83A1-F6EECF244321}">
                <p14:modId xmlns:p14="http://schemas.microsoft.com/office/powerpoint/2010/main" val="2525633962"/>
              </p:ext>
            </p:extLst>
          </p:nvPr>
        </p:nvGraphicFramePr>
        <p:xfrm>
          <a:off x="904602" y="3017519"/>
          <a:ext cx="10378440" cy="3209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02439710"/>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577</TotalTime>
  <Words>1122</Words>
  <Application>Microsoft Office PowerPoint</Application>
  <PresentationFormat>Widescreen</PresentationFormat>
  <Paragraphs>234</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-apple-system</vt:lpstr>
      <vt:lpstr>Aptos</vt:lpstr>
      <vt:lpstr>Arial</vt:lpstr>
      <vt:lpstr>Calibri</vt:lpstr>
      <vt:lpstr>Calibri Light</vt:lpstr>
      <vt:lpstr>Times New Roman</vt:lpstr>
      <vt:lpstr>Office 2013 - 2022 Theme</vt:lpstr>
      <vt:lpstr>Single-Cell Gene Perturbation  Analysis Using Machine Learning</vt:lpstr>
      <vt:lpstr>Background</vt:lpstr>
      <vt:lpstr>Gaps in the Research</vt:lpstr>
      <vt:lpstr>Datasets</vt:lpstr>
      <vt:lpstr>Crispr Knockout</vt:lpstr>
      <vt:lpstr>Using Initialization Strategies to Address Nonlinearity in Developmental Biology </vt:lpstr>
      <vt:lpstr>Simulated Hardware and Software for Gene Perturbation Analysis</vt:lpstr>
      <vt:lpstr>RNA dataset Description</vt:lpstr>
      <vt:lpstr>Code link</vt:lpstr>
      <vt:lpstr>Results(Control sample with in-silico crispr knockout perturbation)</vt:lpstr>
      <vt:lpstr>Results(Experimentally perturb sample)</vt:lpstr>
      <vt:lpstr>Results(Trajectories Comparision hardware and Software)</vt:lpstr>
      <vt:lpstr>Expected Impact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Francis Boabang</dc:creator>
  <cp:lastModifiedBy>Francis Boabang</cp:lastModifiedBy>
  <cp:revision>25</cp:revision>
  <dcterms:created xsi:type="dcterms:W3CDTF">2025-11-12T22:28:05Z</dcterms:created>
  <dcterms:modified xsi:type="dcterms:W3CDTF">2025-11-21T18:18:21Z</dcterms:modified>
</cp:coreProperties>
</file>